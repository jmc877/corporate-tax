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6"/>
  </p:notesMasterIdLst>
  <p:sldIdLst>
    <p:sldId id="331" r:id="rId2"/>
    <p:sldId id="313" r:id="rId3"/>
    <p:sldId id="314" r:id="rId4"/>
    <p:sldId id="305" r:id="rId5"/>
    <p:sldId id="334" r:id="rId6"/>
    <p:sldId id="336" r:id="rId7"/>
    <p:sldId id="319" r:id="rId8"/>
    <p:sldId id="327" r:id="rId9"/>
    <p:sldId id="320" r:id="rId10"/>
    <p:sldId id="321" r:id="rId11"/>
    <p:sldId id="322" r:id="rId12"/>
    <p:sldId id="335" r:id="rId13"/>
    <p:sldId id="323" r:id="rId14"/>
    <p:sldId id="337" r:id="rId15"/>
    <p:sldId id="338" r:id="rId16"/>
    <p:sldId id="339" r:id="rId17"/>
    <p:sldId id="324" r:id="rId18"/>
    <p:sldId id="328" r:id="rId19"/>
    <p:sldId id="341" r:id="rId20"/>
    <p:sldId id="325" r:id="rId21"/>
    <p:sldId id="326" r:id="rId22"/>
    <p:sldId id="340" r:id="rId23"/>
    <p:sldId id="332" r:id="rId24"/>
    <p:sldId id="329" r:id="rId25"/>
  </p:sldIdLst>
  <p:sldSz cx="12192000" cy="6858000"/>
  <p:notesSz cx="7010400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D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42"/>
    <p:restoredTop sz="94710"/>
  </p:normalViewPr>
  <p:slideViewPr>
    <p:cSldViewPr snapToGrid="0" snapToObjects="1">
      <p:cViewPr varScale="1">
        <p:scale>
          <a:sx n="197" d="100"/>
          <a:sy n="197" d="100"/>
        </p:scale>
        <p:origin x="4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8" d="100"/>
        <a:sy n="158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3408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3408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r">
              <a:defRPr sz="1200"/>
            </a:lvl1pPr>
          </a:lstStyle>
          <a:p>
            <a:fld id="{F10024FF-F3BD-FE46-AA3D-5D319904FD4D}" type="datetimeFigureOut">
              <a:rPr lang="en-US" smtClean="0"/>
              <a:t>3/23/26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3425" y="1154113"/>
            <a:ext cx="5543550" cy="31194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830" tIns="46415" rIns="92830" bIns="4641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44863"/>
            <a:ext cx="5608320" cy="3636705"/>
          </a:xfrm>
          <a:prstGeom prst="rect">
            <a:avLst/>
          </a:prstGeom>
        </p:spPr>
        <p:txBody>
          <a:bodyPr vert="horz" lIns="92830" tIns="46415" rIns="92830" bIns="46415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71"/>
            <a:ext cx="3037840" cy="463407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772671"/>
            <a:ext cx="3037840" cy="463407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r">
              <a:defRPr sz="1200"/>
            </a:lvl1pPr>
          </a:lstStyle>
          <a:p>
            <a:fld id="{D677CC9A-0057-2743-8872-8C9F0C895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48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77CC9A-0057-2743-8872-8C9F0C8957E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8468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7817BDE9-CDFC-824B-B791-057AFA767550}" type="slidenum">
              <a:rPr lang="en-US" altLang="en-US" sz="1200">
                <a:latin typeface="Times" charset="0"/>
              </a:rPr>
              <a:pPr/>
              <a:t>4</a:t>
            </a:fld>
            <a:endParaRPr lang="en-US" altLang="en-US" sz="1200">
              <a:latin typeface="Times" charset="0"/>
            </a:endParaRPr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33314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77CC9A-0057-2743-8872-8C9F0C8957E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8205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77CC9A-0057-2743-8872-8C9F0C8957E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8688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77CC9A-0057-2743-8872-8C9F0C8957E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1324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77CC9A-0057-2743-8872-8C9F0C8957E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1493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1"/>
          <p:cNvSpPr txBox="1">
            <a:spLocks noChangeArrowheads="1"/>
          </p:cNvSpPr>
          <p:nvPr userDrawn="1"/>
        </p:nvSpPr>
        <p:spPr bwMode="auto">
          <a:xfrm>
            <a:off x="0" y="914400"/>
            <a:ext cx="12192000" cy="36988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alpha val="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3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22D706CB-156B-8643-9A07-D8448DABBCBD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474733"/>
            <a:ext cx="3860800" cy="2889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Taxable Acquisitions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59251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512064" y="533400"/>
            <a:ext cx="11277600" cy="5812064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spcBef>
                <a:spcPct val="20000"/>
              </a:spcBef>
              <a:buClr>
                <a:srgbClr val="B01C2E"/>
              </a:buClr>
              <a:buSzPct val="60000"/>
              <a:buFont typeface="Wingdings 2" pitchFamily="18" charset="2"/>
              <a:buChar char=""/>
              <a:defRPr lang="en-US" sz="2400" kern="12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indent="-228600" algn="just">
              <a:buClr>
                <a:srgbClr val="B01C2E"/>
              </a:buClr>
              <a:buSzPct val="60000"/>
              <a:buFont typeface="Wingdings" charset="2"/>
              <a:buChar char="Ø"/>
              <a:defRPr lang="en-US" sz="22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85800" indent="-228600" algn="just">
              <a:buClr>
                <a:srgbClr val="B01C2E"/>
              </a:buClr>
              <a:buSzPct val="60000"/>
              <a:buFont typeface="Courier New" charset="0"/>
              <a:buChar char="o"/>
              <a:defRPr lang="en-US" sz="2200" kern="1200" baseline="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914400" indent="-228600" algn="just">
              <a:buClr>
                <a:srgbClr val="B01C2E"/>
              </a:buClr>
              <a:buSzPct val="60000"/>
              <a:buFont typeface="Arial" charset="0"/>
              <a:buChar char="•"/>
              <a:defRPr lang="en-US" sz="2000" kern="1200" baseline="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1143000" algn="just">
              <a:buClr>
                <a:srgbClr val="B01C2E"/>
              </a:buClr>
              <a:buSzPct val="60000"/>
              <a:buFont typeface="Calibri" pitchFamily="34" charset="0"/>
              <a:buChar char="–"/>
              <a:defRPr lang="en-US" sz="20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12064" y="41933"/>
            <a:ext cx="11277600" cy="3651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marL="0" indent="0" algn="l">
              <a:tabLst>
                <a:tab pos="395288" algn="l"/>
              </a:tabLst>
              <a:defRPr sz="2200" b="1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0"/>
          </p:nvPr>
        </p:nvSpPr>
        <p:spPr>
          <a:xfrm>
            <a:off x="11180064" y="6471105"/>
            <a:ext cx="609600" cy="365125"/>
          </a:xfrm>
        </p:spPr>
        <p:txBody>
          <a:bodyPr/>
          <a:lstStyle>
            <a:lvl1pPr algn="r">
              <a:defRPr/>
            </a:lvl1pPr>
          </a:lstStyle>
          <a:p>
            <a:fld id="{7B3E355C-57B9-BC4B-95D8-406A1F834537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Taxable Acquisitions</a:t>
            </a:r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512064" y="407060"/>
            <a:ext cx="11277600" cy="91169"/>
          </a:xfrm>
          <a:prstGeom prst="rect">
            <a:avLst/>
          </a:prstGeom>
          <a:solidFill>
            <a:schemeClr val="accent1">
              <a:alpha val="69000"/>
            </a:schemeClr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1056713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08000" y="2"/>
            <a:ext cx="11281664" cy="38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 b="1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9" name="Content Placeholder 10"/>
          <p:cNvSpPr>
            <a:spLocks noGrp="1"/>
          </p:cNvSpPr>
          <p:nvPr>
            <p:ph sz="quarter" idx="16"/>
          </p:nvPr>
        </p:nvSpPr>
        <p:spPr>
          <a:xfrm>
            <a:off x="508000" y="835131"/>
            <a:ext cx="5486400" cy="5491091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60000"/>
              <a:buFont typeface="Wingdings 2" pitchFamily="18" charset="2"/>
              <a:buChar char=""/>
              <a:tabLst/>
              <a:defRPr sz="2000">
                <a:latin typeface="Calibri" charset="0"/>
                <a:ea typeface="Calibri" charset="0"/>
                <a:cs typeface="Calibri" charset="0"/>
              </a:defRPr>
            </a:lvl1pPr>
            <a:lvl2pPr marL="457200" indent="-228600">
              <a:buClr>
                <a:schemeClr val="accent1"/>
              </a:buClr>
              <a:buSzPct val="60000"/>
              <a:buFont typeface="Wingdings" charset="2"/>
              <a:buChar char="Ø"/>
              <a:defRPr lang="en-US" sz="20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85800" indent="-228600">
              <a:buClr>
                <a:schemeClr val="accent1"/>
              </a:buClr>
              <a:buSzPct val="60000"/>
              <a:buFont typeface="Courier New" charset="0"/>
              <a:buChar char="o"/>
              <a:defRPr sz="2000">
                <a:latin typeface="Calibri" charset="0"/>
                <a:ea typeface="Calibri" charset="0"/>
                <a:cs typeface="Calibri" charset="0"/>
              </a:defRPr>
            </a:lvl3pPr>
            <a:lvl4pPr marL="914400" indent="-228600">
              <a:buClr>
                <a:schemeClr val="accent1"/>
              </a:buClr>
              <a:buSzPct val="60000"/>
              <a:buFont typeface="Arial" charset="0"/>
              <a:buChar char="•"/>
              <a:defRPr sz="2000">
                <a:latin typeface="Calibri" charset="0"/>
                <a:ea typeface="Calibri" charset="0"/>
                <a:cs typeface="Calibri" charset="0"/>
              </a:defRPr>
            </a:lvl4pPr>
            <a:lvl5pPr marL="1143000">
              <a:buClr>
                <a:schemeClr val="accent1"/>
              </a:buClr>
              <a:buSzPct val="60000"/>
              <a:buFont typeface="Arial" pitchFamily="34" charset="0"/>
              <a:buChar char="–"/>
              <a:defRPr sz="200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10"/>
          <p:cNvSpPr>
            <a:spLocks noGrp="1"/>
          </p:cNvSpPr>
          <p:nvPr>
            <p:ph sz="quarter" idx="17"/>
          </p:nvPr>
        </p:nvSpPr>
        <p:spPr>
          <a:xfrm>
            <a:off x="6197600" y="835132"/>
            <a:ext cx="5592064" cy="5485238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60000"/>
              <a:buFont typeface="Wingdings 2" pitchFamily="18" charset="2"/>
              <a:buChar char=""/>
              <a:tabLst/>
              <a:defRPr sz="2000">
                <a:latin typeface="Calibri" charset="0"/>
                <a:ea typeface="Calibri" charset="0"/>
                <a:cs typeface="Calibri" charset="0"/>
              </a:defRPr>
            </a:lvl1pPr>
            <a:lvl2pPr marL="457200" indent="-228600">
              <a:buClr>
                <a:schemeClr val="accent1"/>
              </a:buClr>
              <a:buSzPct val="60000"/>
              <a:buFont typeface="Wingdings" charset="2"/>
              <a:buChar char="Ø"/>
              <a:defRPr lang="en-US" sz="20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85800" indent="-228600">
              <a:buClr>
                <a:schemeClr val="accent1"/>
              </a:buClr>
              <a:buSzPct val="60000"/>
              <a:buFont typeface="Courier New" charset="0"/>
              <a:buChar char="o"/>
              <a:defRPr sz="2000">
                <a:latin typeface="Calibri" charset="0"/>
                <a:ea typeface="Calibri" charset="0"/>
                <a:cs typeface="Calibri" charset="0"/>
              </a:defRPr>
            </a:lvl3pPr>
            <a:lvl4pPr marL="914400" indent="-228600">
              <a:buClr>
                <a:schemeClr val="accent1"/>
              </a:buClr>
              <a:buSzPct val="60000"/>
              <a:buFont typeface="Arial" charset="0"/>
              <a:buChar char="•"/>
              <a:defRPr sz="2000">
                <a:latin typeface="Calibri" charset="0"/>
                <a:ea typeface="Calibri" charset="0"/>
                <a:cs typeface="Calibri" charset="0"/>
              </a:defRPr>
            </a:lvl4pPr>
            <a:lvl5pPr marL="1143000">
              <a:buClr>
                <a:schemeClr val="accent1"/>
              </a:buClr>
              <a:buSzPct val="60000"/>
              <a:buFont typeface="Arial" pitchFamily="34" charset="0"/>
              <a:buChar char="–"/>
              <a:defRPr sz="200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fld id="{463EAD6B-1B79-144E-A805-1CA6FF1F03FA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6" name="Footer Placeholder 12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Taxable Acquisitions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2748039" y="5370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 dirty="0"/>
          </a:p>
        </p:txBody>
      </p:sp>
      <p:sp>
        <p:nvSpPr>
          <p:cNvPr id="8" name="Rectangle 7"/>
          <p:cNvSpPr/>
          <p:nvPr userDrawn="1"/>
        </p:nvSpPr>
        <p:spPr>
          <a:xfrm>
            <a:off x="512064" y="407060"/>
            <a:ext cx="11277600" cy="91169"/>
          </a:xfrm>
          <a:prstGeom prst="rect">
            <a:avLst/>
          </a:prstGeom>
          <a:solidFill>
            <a:schemeClr val="accent1">
              <a:alpha val="69000"/>
            </a:schemeClr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874899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op /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508000" y="1417320"/>
            <a:ext cx="54864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6197600" y="1417320"/>
            <a:ext cx="54864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508000" y="3886200"/>
            <a:ext cx="111760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/>
            </a:lvl1pPr>
          </a:lstStyle>
          <a:p>
            <a:fld id="{DBDD9035-58B9-F243-8D2E-5AB7C4167337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Taxable Acquisitions</a:t>
            </a:r>
          </a:p>
        </p:txBody>
      </p:sp>
    </p:spTree>
    <p:extLst>
      <p:ext uri="{BB962C8B-B14F-4D97-AF65-F5344CB8AC3E}">
        <p14:creationId xmlns:p14="http://schemas.microsoft.com/office/powerpoint/2010/main" val="1937507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Left / On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7"/>
          </p:nvPr>
        </p:nvSpPr>
        <p:spPr>
          <a:xfrm>
            <a:off x="6197600" y="1417320"/>
            <a:ext cx="5486400" cy="48006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8"/>
          </p:nvPr>
        </p:nvSpPr>
        <p:spPr>
          <a:xfrm>
            <a:off x="508000" y="1417320"/>
            <a:ext cx="54864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2"/>
          <p:cNvSpPr>
            <a:spLocks noGrp="1"/>
          </p:cNvSpPr>
          <p:nvPr>
            <p:ph sz="quarter" idx="19"/>
          </p:nvPr>
        </p:nvSpPr>
        <p:spPr>
          <a:xfrm>
            <a:off x="508000" y="3931920"/>
            <a:ext cx="54864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fld id="{6C93E8D5-2692-0D44-9EA4-C6015F0C54D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Taxable Acquisitions</a:t>
            </a:r>
          </a:p>
        </p:txBody>
      </p:sp>
    </p:spTree>
    <p:extLst>
      <p:ext uri="{BB962C8B-B14F-4D97-AF65-F5344CB8AC3E}">
        <p14:creationId xmlns:p14="http://schemas.microsoft.com/office/powerpoint/2010/main" val="620875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95527EB-3756-C241-BFD3-DBB1E111190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Taxable Acquisitions</a:t>
            </a:r>
          </a:p>
        </p:txBody>
      </p:sp>
    </p:spTree>
    <p:extLst>
      <p:ext uri="{BB962C8B-B14F-4D97-AF65-F5344CB8AC3E}">
        <p14:creationId xmlns:p14="http://schemas.microsoft.com/office/powerpoint/2010/main" val="898184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de by Side w/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2064" y="805002"/>
            <a:ext cx="5386917" cy="380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299200" y="814835"/>
            <a:ext cx="5386917" cy="380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195227"/>
            <a:ext cx="5388864" cy="4955707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1"/>
          </p:nvPr>
        </p:nvSpPr>
        <p:spPr>
          <a:xfrm>
            <a:off x="6299200" y="1195227"/>
            <a:ext cx="5388864" cy="4955707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856F0A94-AD2E-974D-AF6B-04AF335E854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Taxable Acquisitions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512064" y="407060"/>
            <a:ext cx="11277600" cy="91169"/>
          </a:xfrm>
          <a:prstGeom prst="rect">
            <a:avLst/>
          </a:prstGeom>
          <a:solidFill>
            <a:schemeClr val="accent1">
              <a:alpha val="69000"/>
            </a:schemeClr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12064" y="2"/>
            <a:ext cx="11277600" cy="3895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 b="1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70938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w/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05883" y="1371600"/>
            <a:ext cx="5386917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299200" y="1371600"/>
            <a:ext cx="5386917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807534"/>
            <a:ext cx="5388864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1"/>
          </p:nvPr>
        </p:nvSpPr>
        <p:spPr>
          <a:xfrm>
            <a:off x="6299200" y="1807534"/>
            <a:ext cx="5388864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856F0A94-AD2E-974D-AF6B-04AF335E854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Taxable Acquisitions</a:t>
            </a:r>
          </a:p>
        </p:txBody>
      </p:sp>
    </p:spTree>
    <p:extLst>
      <p:ext uri="{BB962C8B-B14F-4D97-AF65-F5344CB8AC3E}">
        <p14:creationId xmlns:p14="http://schemas.microsoft.com/office/powerpoint/2010/main" val="62543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Arrow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>
            <a:off x="5384800" y="3046413"/>
            <a:ext cx="1320800" cy="1009650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05883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705600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807534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21"/>
          </p:nvPr>
        </p:nvSpPr>
        <p:spPr>
          <a:xfrm>
            <a:off x="6705600" y="1828800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lide Number Placeholder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652385A1-7A9F-1D44-AA51-16856D64E5B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9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Taxable Acquisitions</a:t>
            </a:r>
          </a:p>
        </p:txBody>
      </p:sp>
    </p:spTree>
    <p:extLst>
      <p:ext uri="{BB962C8B-B14F-4D97-AF65-F5344CB8AC3E}">
        <p14:creationId xmlns:p14="http://schemas.microsoft.com/office/powerpoint/2010/main" val="2024520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Double 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Arrow 8"/>
          <p:cNvSpPr/>
          <p:nvPr userDrawn="1"/>
        </p:nvSpPr>
        <p:spPr bwMode="auto">
          <a:xfrm>
            <a:off x="5359125" y="2692959"/>
            <a:ext cx="1326383" cy="1022294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2" name="Right Arrow 11"/>
          <p:cNvSpPr/>
          <p:nvPr userDrawn="1"/>
        </p:nvSpPr>
        <p:spPr bwMode="auto">
          <a:xfrm rot="10800000">
            <a:off x="5427337" y="3778176"/>
            <a:ext cx="1353183" cy="102228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05883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705600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807534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0"/>
          <p:cNvSpPr>
            <a:spLocks noGrp="1"/>
          </p:cNvSpPr>
          <p:nvPr>
            <p:ph sz="quarter" idx="21"/>
          </p:nvPr>
        </p:nvSpPr>
        <p:spPr>
          <a:xfrm>
            <a:off x="6705600" y="1807534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lide Number Placeholder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0A6B8188-A85F-5349-B14D-08361E6A724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Taxable Acquisitions</a:t>
            </a:r>
          </a:p>
        </p:txBody>
      </p:sp>
    </p:spTree>
    <p:extLst>
      <p:ext uri="{BB962C8B-B14F-4D97-AF65-F5344CB8AC3E}">
        <p14:creationId xmlns:p14="http://schemas.microsoft.com/office/powerpoint/2010/main" val="1210112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op Arrow to Two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 rot="5400000">
            <a:off x="5768941" y="3106216"/>
            <a:ext cx="654118" cy="136305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609600" y="4479952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6400800" y="4479952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609600" y="1807534"/>
            <a:ext cx="109728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609600" y="1417320"/>
            <a:ext cx="109728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09600" y="4114800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0"/>
          </p:nvPr>
        </p:nvSpPr>
        <p:spPr>
          <a:xfrm>
            <a:off x="6400800" y="4114800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7C6F7C23-5FF9-2A4B-BF08-C1294322DB5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Taxable Acquisitions</a:t>
            </a:r>
          </a:p>
        </p:txBody>
      </p:sp>
    </p:spTree>
    <p:extLst>
      <p:ext uri="{BB962C8B-B14F-4D97-AF65-F5344CB8AC3E}">
        <p14:creationId xmlns:p14="http://schemas.microsoft.com/office/powerpoint/2010/main" val="507697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op Arrow to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 rot="5400000">
            <a:off x="5768941" y="3106216"/>
            <a:ext cx="654118" cy="136305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609600" y="1783080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6400800" y="1783080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609600" y="4505014"/>
            <a:ext cx="109728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609600" y="4114800"/>
            <a:ext cx="109728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09600" y="1417928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0"/>
          </p:nvPr>
        </p:nvSpPr>
        <p:spPr>
          <a:xfrm>
            <a:off x="6400800" y="1417928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06494A95-A7E5-E34F-8DB1-F10A4839B0B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Taxable Acquisitions</a:t>
            </a:r>
          </a:p>
        </p:txBody>
      </p:sp>
    </p:spTree>
    <p:extLst>
      <p:ext uri="{BB962C8B-B14F-4D97-AF65-F5344CB8AC3E}">
        <p14:creationId xmlns:p14="http://schemas.microsoft.com/office/powerpoint/2010/main" val="12760613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Six Pal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5"/>
          <p:cNvSpPr>
            <a:spLocks noGrp="1"/>
          </p:cNvSpPr>
          <p:nvPr>
            <p:ph type="body" sz="quarter" idx="30"/>
          </p:nvPr>
        </p:nvSpPr>
        <p:spPr>
          <a:xfrm>
            <a:off x="6191251" y="4627745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7"/>
          </p:nvPr>
        </p:nvSpPr>
        <p:spPr>
          <a:xfrm>
            <a:off x="501651" y="4627745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6"/>
          </p:nvPr>
        </p:nvSpPr>
        <p:spPr>
          <a:xfrm>
            <a:off x="501651" y="3015622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29"/>
          </p:nvPr>
        </p:nvSpPr>
        <p:spPr>
          <a:xfrm>
            <a:off x="6191251" y="3015622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8"/>
          </p:nvPr>
        </p:nvSpPr>
        <p:spPr>
          <a:xfrm>
            <a:off x="6191251" y="1403499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501651" y="1403499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501651" y="167640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501651" y="3302419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2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501651" y="491499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3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6191251" y="167640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4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6191251" y="3302418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Text Placeholder 5"/>
          <p:cNvSpPr>
            <a:spLocks noGrp="1"/>
          </p:cNvSpPr>
          <p:nvPr>
            <p:ph type="body" sz="quarter" idx="36"/>
          </p:nvPr>
        </p:nvSpPr>
        <p:spPr>
          <a:xfrm>
            <a:off x="6191251" y="491499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37"/>
          </p:nvPr>
        </p:nvSpPr>
        <p:spPr/>
        <p:txBody>
          <a:bodyPr/>
          <a:lstStyle>
            <a:lvl1pPr>
              <a:defRPr/>
            </a:lvl1pPr>
          </a:lstStyle>
          <a:p>
            <a:fld id="{A23329EE-AB34-E748-89A3-8E74FFF398F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2"/>
          <p:cNvSpPr>
            <a:spLocks noGrp="1"/>
          </p:cNvSpPr>
          <p:nvPr>
            <p:ph type="ftr" sz="quarter" idx="3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Taxable Acquisitions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9933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Five Pal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601565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2844800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36"/>
          </p:nvPr>
        </p:nvSpPr>
        <p:spPr>
          <a:xfrm>
            <a:off x="5130360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37"/>
          </p:nvPr>
        </p:nvSpPr>
        <p:spPr>
          <a:xfrm>
            <a:off x="7408972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38"/>
          </p:nvPr>
        </p:nvSpPr>
        <p:spPr>
          <a:xfrm>
            <a:off x="9747251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9"/>
          </p:nvPr>
        </p:nvSpPr>
        <p:spPr>
          <a:xfrm>
            <a:off x="601565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40"/>
          </p:nvPr>
        </p:nvSpPr>
        <p:spPr>
          <a:xfrm>
            <a:off x="2844800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41"/>
          </p:nvPr>
        </p:nvSpPr>
        <p:spPr>
          <a:xfrm>
            <a:off x="5130360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42"/>
          </p:nvPr>
        </p:nvSpPr>
        <p:spPr>
          <a:xfrm>
            <a:off x="7408972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43"/>
          </p:nvPr>
        </p:nvSpPr>
        <p:spPr>
          <a:xfrm>
            <a:off x="9747251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>
              <a:defRPr/>
            </a:lvl1pPr>
          </a:lstStyle>
          <a:p>
            <a:fld id="{1EB3DA79-8920-3645-A529-9AD16B41E65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9" name="Footer Placeholder 12"/>
          <p:cNvSpPr>
            <a:spLocks noGrp="1"/>
          </p:cNvSpPr>
          <p:nvPr>
            <p:ph type="ftr" sz="quarter" idx="4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Taxable Acquisitions</a:t>
            </a:r>
          </a:p>
        </p:txBody>
      </p:sp>
    </p:spTree>
    <p:extLst>
      <p:ext uri="{BB962C8B-B14F-4D97-AF65-F5344CB8AC3E}">
        <p14:creationId xmlns:p14="http://schemas.microsoft.com/office/powerpoint/2010/main" val="2448545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jor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609600" y="1417320"/>
            <a:ext cx="2243328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609600" y="3065544"/>
            <a:ext cx="2243328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609600" y="4713767"/>
            <a:ext cx="2243328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844800" y="1417320"/>
            <a:ext cx="874166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844800" y="3065543"/>
            <a:ext cx="874166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2844800" y="4713767"/>
            <a:ext cx="874166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055F7767-1EA1-1B4C-AF44-6A3FCE36527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1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Taxable Acquisitions</a:t>
            </a:r>
          </a:p>
        </p:txBody>
      </p:sp>
    </p:spTree>
    <p:extLst>
      <p:ext uri="{BB962C8B-B14F-4D97-AF65-F5344CB8AC3E}">
        <p14:creationId xmlns:p14="http://schemas.microsoft.com/office/powerpoint/2010/main" val="7416052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563034" y="1397000"/>
            <a:ext cx="2317751" cy="1155700"/>
          </a:xfrm>
          <a:prstGeom prst="homePlate">
            <a:avLst>
              <a:gd name="adj" fmla="val 19565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2747434" y="1397000"/>
            <a:ext cx="2315633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7114120" y="1397000"/>
            <a:ext cx="2317749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4931834" y="1397000"/>
            <a:ext cx="2315633" cy="1155700"/>
          </a:xfrm>
          <a:prstGeom prst="chevron">
            <a:avLst>
              <a:gd name="adj" fmla="val 18687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9298521" y="1397000"/>
            <a:ext cx="2315633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7"/>
          <p:cNvSpPr>
            <a:spLocks noGrp="1"/>
          </p:cNvSpPr>
          <p:nvPr>
            <p:ph type="body" sz="quarter" idx="18"/>
          </p:nvPr>
        </p:nvSpPr>
        <p:spPr>
          <a:xfrm>
            <a:off x="563033" y="2954338"/>
            <a:ext cx="2863851" cy="1155700"/>
          </a:xfrm>
          <a:prstGeom prst="homePlate">
            <a:avLst>
              <a:gd name="adj" fmla="val 19557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291418" y="2954338"/>
            <a:ext cx="2865967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9"/>
          <p:cNvSpPr>
            <a:spLocks noGrp="1"/>
          </p:cNvSpPr>
          <p:nvPr>
            <p:ph type="body" sz="quarter" idx="20"/>
          </p:nvPr>
        </p:nvSpPr>
        <p:spPr>
          <a:xfrm>
            <a:off x="8748186" y="2954338"/>
            <a:ext cx="2865967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6019802" y="2954338"/>
            <a:ext cx="2865967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1"/>
          <p:cNvSpPr>
            <a:spLocks noGrp="1"/>
          </p:cNvSpPr>
          <p:nvPr>
            <p:ph type="body" sz="quarter" idx="22"/>
          </p:nvPr>
        </p:nvSpPr>
        <p:spPr>
          <a:xfrm>
            <a:off x="575734" y="4497388"/>
            <a:ext cx="3754967" cy="1154112"/>
          </a:xfrm>
          <a:prstGeom prst="homePlate">
            <a:avLst>
              <a:gd name="adj" fmla="val 19565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/>
          <p:cNvSpPr>
            <a:spLocks noGrp="1"/>
          </p:cNvSpPr>
          <p:nvPr>
            <p:ph type="body" sz="quarter" idx="23"/>
          </p:nvPr>
        </p:nvSpPr>
        <p:spPr>
          <a:xfrm>
            <a:off x="4226985" y="4497388"/>
            <a:ext cx="3754967" cy="1154112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3"/>
          <p:cNvSpPr>
            <a:spLocks noGrp="1"/>
          </p:cNvSpPr>
          <p:nvPr>
            <p:ph type="body" sz="quarter" idx="25"/>
          </p:nvPr>
        </p:nvSpPr>
        <p:spPr>
          <a:xfrm>
            <a:off x="7878234" y="4497388"/>
            <a:ext cx="3754967" cy="1154112"/>
          </a:xfrm>
          <a:prstGeom prst="chevron">
            <a:avLst>
              <a:gd name="adj" fmla="val 1871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fld id="{48E524AC-D0C7-2340-84EA-A4DF70E8214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7" name="Footer Placeholder 12"/>
          <p:cNvSpPr>
            <a:spLocks noGrp="1"/>
          </p:cNvSpPr>
          <p:nvPr>
            <p:ph type="ftr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Taxable Acquisitions</a:t>
            </a:r>
          </a:p>
        </p:txBody>
      </p:sp>
    </p:spTree>
    <p:extLst>
      <p:ext uri="{BB962C8B-B14F-4D97-AF65-F5344CB8AC3E}">
        <p14:creationId xmlns:p14="http://schemas.microsoft.com/office/powerpoint/2010/main" val="3344818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 Blocks - Major Points -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844800" y="1344304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844800" y="2360778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2844800" y="3377252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2844800" y="4393726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2844800" y="5410200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9"/>
          <p:cNvSpPr>
            <a:spLocks noGrp="1"/>
          </p:cNvSpPr>
          <p:nvPr>
            <p:ph type="body" sz="quarter" idx="10"/>
          </p:nvPr>
        </p:nvSpPr>
        <p:spPr>
          <a:xfrm>
            <a:off x="609600" y="1344304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609600" y="2357366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24"/>
          </p:nvPr>
        </p:nvSpPr>
        <p:spPr>
          <a:xfrm>
            <a:off x="609600" y="3370428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9"/>
          <p:cNvSpPr>
            <a:spLocks noGrp="1"/>
          </p:cNvSpPr>
          <p:nvPr>
            <p:ph type="body" sz="quarter" idx="26"/>
          </p:nvPr>
        </p:nvSpPr>
        <p:spPr>
          <a:xfrm>
            <a:off x="609600" y="4383490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28"/>
          </p:nvPr>
        </p:nvSpPr>
        <p:spPr>
          <a:xfrm>
            <a:off x="609600" y="5396552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19846C2F-D19C-FA45-A159-B087F18BCDE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Taxable Acquisitions</a:t>
            </a:r>
          </a:p>
        </p:txBody>
      </p:sp>
    </p:spTree>
    <p:extLst>
      <p:ext uri="{BB962C8B-B14F-4D97-AF65-F5344CB8AC3E}">
        <p14:creationId xmlns:p14="http://schemas.microsoft.com/office/powerpoint/2010/main" val="8787942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Line 105"/>
          <p:cNvSpPr>
            <a:spLocks noChangeShapeType="1"/>
          </p:cNvSpPr>
          <p:nvPr/>
        </p:nvSpPr>
        <p:spPr bwMode="gray">
          <a:xfrm>
            <a:off x="5892800" y="3632201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16" name="Line 115"/>
          <p:cNvSpPr>
            <a:spLocks noChangeShapeType="1"/>
          </p:cNvSpPr>
          <p:nvPr userDrawn="1"/>
        </p:nvSpPr>
        <p:spPr bwMode="gray">
          <a:xfrm>
            <a:off x="3048000" y="3632201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17" name="Line 118"/>
          <p:cNvSpPr>
            <a:spLocks noChangeShapeType="1"/>
          </p:cNvSpPr>
          <p:nvPr/>
        </p:nvSpPr>
        <p:spPr bwMode="gray">
          <a:xfrm>
            <a:off x="9004300" y="3632201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grpSp>
        <p:nvGrpSpPr>
          <p:cNvPr id="18" name="Group 123"/>
          <p:cNvGrpSpPr>
            <a:grpSpLocks/>
          </p:cNvGrpSpPr>
          <p:nvPr userDrawn="1"/>
        </p:nvGrpSpPr>
        <p:grpSpPr bwMode="auto">
          <a:xfrm>
            <a:off x="611718" y="3478213"/>
            <a:ext cx="10358967" cy="182562"/>
            <a:chOff x="289" y="2191"/>
            <a:chExt cx="4894" cy="115"/>
          </a:xfrm>
        </p:grpSpPr>
        <p:grpSp>
          <p:nvGrpSpPr>
            <p:cNvPr id="19" name="Group 44"/>
            <p:cNvGrpSpPr>
              <a:grpSpLocks/>
            </p:cNvGrpSpPr>
            <p:nvPr/>
          </p:nvGrpSpPr>
          <p:grpSpPr bwMode="auto">
            <a:xfrm>
              <a:off x="289" y="2191"/>
              <a:ext cx="1470" cy="115"/>
              <a:chOff x="696" y="2508"/>
              <a:chExt cx="1470" cy="168"/>
            </a:xfrm>
          </p:grpSpPr>
          <p:sp>
            <p:nvSpPr>
              <p:cNvPr id="53" name="Line 45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4" name="Line 46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5" name="Line 47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6" name="Line 48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7" name="Line 49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8" name="Line 50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9" name="Line 51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0" name="Line 52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1" name="Line 53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2" name="Line 54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3" name="Line 55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4" name="Line 56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5" name="Line 57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grpSp>
          <p:nvGrpSpPr>
            <p:cNvPr id="20" name="Group 58"/>
            <p:cNvGrpSpPr>
              <a:grpSpLocks/>
            </p:cNvGrpSpPr>
            <p:nvPr/>
          </p:nvGrpSpPr>
          <p:grpSpPr bwMode="auto">
            <a:xfrm>
              <a:off x="1758" y="2191"/>
              <a:ext cx="1470" cy="115"/>
              <a:chOff x="696" y="2508"/>
              <a:chExt cx="1470" cy="168"/>
            </a:xfrm>
          </p:grpSpPr>
          <p:sp>
            <p:nvSpPr>
              <p:cNvPr id="40" name="Line 59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1" name="Line 60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2" name="Line 61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3" name="Line 62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4" name="Line 63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5" name="Line 64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6" name="Line 65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7" name="Line 66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8" name="Line 67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9" name="Line 68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0" name="Line 69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1" name="Line 70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2" name="Line 71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grpSp>
          <p:nvGrpSpPr>
            <p:cNvPr id="21" name="Group 72"/>
            <p:cNvGrpSpPr>
              <a:grpSpLocks/>
            </p:cNvGrpSpPr>
            <p:nvPr/>
          </p:nvGrpSpPr>
          <p:grpSpPr bwMode="auto">
            <a:xfrm>
              <a:off x="3227" y="2191"/>
              <a:ext cx="1470" cy="115"/>
              <a:chOff x="696" y="2508"/>
              <a:chExt cx="1470" cy="168"/>
            </a:xfrm>
          </p:grpSpPr>
          <p:sp>
            <p:nvSpPr>
              <p:cNvPr id="27" name="Line 73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28" name="Line 74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29" name="Line 75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0" name="Line 76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1" name="Line 77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2" name="Line 78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3" name="Line 79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4" name="Line 80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5" name="Line 81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6" name="Line 82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7" name="Line 83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8" name="Line 84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9" name="Line 85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sp>
          <p:nvSpPr>
            <p:cNvPr id="22" name="Line 90"/>
            <p:cNvSpPr>
              <a:spLocks noChangeShapeType="1"/>
            </p:cNvSpPr>
            <p:nvPr/>
          </p:nvSpPr>
          <p:spPr bwMode="gray">
            <a:xfrm>
              <a:off x="4698" y="2191"/>
              <a:ext cx="0" cy="11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3" name="Line 91"/>
            <p:cNvSpPr>
              <a:spLocks noChangeShapeType="1"/>
            </p:cNvSpPr>
            <p:nvPr/>
          </p:nvSpPr>
          <p:spPr bwMode="gray">
            <a:xfrm>
              <a:off x="4820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4" name="Line 92"/>
            <p:cNvSpPr>
              <a:spLocks noChangeShapeType="1"/>
            </p:cNvSpPr>
            <p:nvPr/>
          </p:nvSpPr>
          <p:spPr bwMode="gray">
            <a:xfrm>
              <a:off x="494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5" name="Line 93"/>
            <p:cNvSpPr>
              <a:spLocks noChangeShapeType="1"/>
            </p:cNvSpPr>
            <p:nvPr/>
          </p:nvSpPr>
          <p:spPr bwMode="gray">
            <a:xfrm>
              <a:off x="5065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6" name="Line 122"/>
            <p:cNvSpPr>
              <a:spLocks noChangeShapeType="1"/>
            </p:cNvSpPr>
            <p:nvPr/>
          </p:nvSpPr>
          <p:spPr bwMode="gray">
            <a:xfrm>
              <a:off x="518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</p:grpSp>
      <p:sp>
        <p:nvSpPr>
          <p:cNvPr id="66" name="Line 125"/>
          <p:cNvSpPr>
            <a:spLocks noChangeShapeType="1"/>
          </p:cNvSpPr>
          <p:nvPr userDrawn="1"/>
        </p:nvSpPr>
        <p:spPr bwMode="gray">
          <a:xfrm>
            <a:off x="4572000" y="3651251"/>
            <a:ext cx="0" cy="175736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67" name="Line 4"/>
          <p:cNvSpPr>
            <a:spLocks noChangeShapeType="1"/>
          </p:cNvSpPr>
          <p:nvPr userDrawn="1"/>
        </p:nvSpPr>
        <p:spPr bwMode="gray">
          <a:xfrm>
            <a:off x="22352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68" name="Line 108"/>
          <p:cNvSpPr>
            <a:spLocks noChangeShapeType="1"/>
          </p:cNvSpPr>
          <p:nvPr userDrawn="1"/>
        </p:nvSpPr>
        <p:spPr bwMode="gray">
          <a:xfrm>
            <a:off x="74168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69" name="Line 111"/>
          <p:cNvSpPr>
            <a:spLocks noChangeShapeType="1"/>
          </p:cNvSpPr>
          <p:nvPr userDrawn="1"/>
        </p:nvSpPr>
        <p:spPr bwMode="gray">
          <a:xfrm>
            <a:off x="102616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70" name="Line 139"/>
          <p:cNvSpPr>
            <a:spLocks noChangeShapeType="1"/>
          </p:cNvSpPr>
          <p:nvPr userDrawn="1"/>
        </p:nvSpPr>
        <p:spPr bwMode="gray">
          <a:xfrm>
            <a:off x="4375151" y="2074863"/>
            <a:ext cx="0" cy="14144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71" name="AutoShape 3"/>
          <p:cNvSpPr>
            <a:spLocks noChangeArrowheads="1"/>
          </p:cNvSpPr>
          <p:nvPr userDrawn="1"/>
        </p:nvSpPr>
        <p:spPr bwMode="gray">
          <a:xfrm>
            <a:off x="603251" y="3413125"/>
            <a:ext cx="10985500" cy="311150"/>
          </a:xfrm>
          <a:prstGeom prst="rightArrow">
            <a:avLst>
              <a:gd name="adj1" fmla="val 52037"/>
              <a:gd name="adj2" fmla="val 96479"/>
            </a:avLst>
          </a:pr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91440" bIns="91440" anchor="ctr"/>
          <a:lstStyle>
            <a:lvl1pPr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endParaRPr lang="nl-NL" altLang="en-US" sz="1000" b="1">
              <a:solidFill>
                <a:srgbClr val="4D4D4D"/>
              </a:solidFill>
              <a:latin typeface="Arial" charset="0"/>
            </a:endParaRPr>
          </a:p>
        </p:txBody>
      </p:sp>
      <p:grpSp>
        <p:nvGrpSpPr>
          <p:cNvPr id="72" name="Group 123"/>
          <p:cNvGrpSpPr>
            <a:grpSpLocks/>
          </p:cNvGrpSpPr>
          <p:nvPr userDrawn="1"/>
        </p:nvGrpSpPr>
        <p:grpSpPr bwMode="auto">
          <a:xfrm>
            <a:off x="814918" y="3460751"/>
            <a:ext cx="10358967" cy="182563"/>
            <a:chOff x="289" y="2191"/>
            <a:chExt cx="4894" cy="115"/>
          </a:xfrm>
        </p:grpSpPr>
        <p:grpSp>
          <p:nvGrpSpPr>
            <p:cNvPr id="73" name="Group 44"/>
            <p:cNvGrpSpPr>
              <a:grpSpLocks/>
            </p:cNvGrpSpPr>
            <p:nvPr/>
          </p:nvGrpSpPr>
          <p:grpSpPr bwMode="auto">
            <a:xfrm>
              <a:off x="289" y="2191"/>
              <a:ext cx="1470" cy="115"/>
              <a:chOff x="696" y="2508"/>
              <a:chExt cx="1470" cy="168"/>
            </a:xfrm>
          </p:grpSpPr>
          <p:sp>
            <p:nvSpPr>
              <p:cNvPr id="107" name="Line 45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8" name="Line 46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9" name="Line 47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0" name="Line 48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1" name="Line 49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2" name="Line 50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3" name="Line 51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4" name="Line 52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5" name="Line 53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6" name="Line 54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7" name="Line 55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8" name="Line 56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9" name="Line 57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grpSp>
          <p:nvGrpSpPr>
            <p:cNvPr id="74" name="Group 58"/>
            <p:cNvGrpSpPr>
              <a:grpSpLocks/>
            </p:cNvGrpSpPr>
            <p:nvPr/>
          </p:nvGrpSpPr>
          <p:grpSpPr bwMode="auto">
            <a:xfrm>
              <a:off x="1758" y="2191"/>
              <a:ext cx="1470" cy="115"/>
              <a:chOff x="696" y="2508"/>
              <a:chExt cx="1470" cy="168"/>
            </a:xfrm>
          </p:grpSpPr>
          <p:sp>
            <p:nvSpPr>
              <p:cNvPr id="94" name="Line 59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5" name="Line 60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6" name="Line 61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7" name="Line 62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8" name="Line 63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9" name="Line 64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0" name="Line 65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1" name="Line 66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2" name="Line 67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3" name="Line 68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4" name="Line 69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5" name="Line 70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6" name="Line 71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grpSp>
          <p:nvGrpSpPr>
            <p:cNvPr id="75" name="Group 72"/>
            <p:cNvGrpSpPr>
              <a:grpSpLocks/>
            </p:cNvGrpSpPr>
            <p:nvPr/>
          </p:nvGrpSpPr>
          <p:grpSpPr bwMode="auto">
            <a:xfrm>
              <a:off x="3227" y="2191"/>
              <a:ext cx="1470" cy="115"/>
              <a:chOff x="696" y="2508"/>
              <a:chExt cx="1470" cy="168"/>
            </a:xfrm>
          </p:grpSpPr>
          <p:sp>
            <p:nvSpPr>
              <p:cNvPr id="81" name="Line 73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2" name="Line 74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3" name="Line 75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4" name="Line 76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5" name="Line 77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6" name="Line 78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7" name="Line 79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8" name="Line 80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9" name="Line 81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0" name="Line 82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1" name="Line 83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2" name="Line 84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3" name="Line 85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sp>
          <p:nvSpPr>
            <p:cNvPr id="76" name="Line 90"/>
            <p:cNvSpPr>
              <a:spLocks noChangeShapeType="1"/>
            </p:cNvSpPr>
            <p:nvPr/>
          </p:nvSpPr>
          <p:spPr bwMode="gray">
            <a:xfrm>
              <a:off x="4698" y="2191"/>
              <a:ext cx="0" cy="11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77" name="Line 91"/>
            <p:cNvSpPr>
              <a:spLocks noChangeShapeType="1"/>
            </p:cNvSpPr>
            <p:nvPr/>
          </p:nvSpPr>
          <p:spPr bwMode="gray">
            <a:xfrm>
              <a:off x="4820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78" name="Line 92"/>
            <p:cNvSpPr>
              <a:spLocks noChangeShapeType="1"/>
            </p:cNvSpPr>
            <p:nvPr/>
          </p:nvSpPr>
          <p:spPr bwMode="gray">
            <a:xfrm>
              <a:off x="494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79" name="Line 93"/>
            <p:cNvSpPr>
              <a:spLocks noChangeShapeType="1"/>
            </p:cNvSpPr>
            <p:nvPr/>
          </p:nvSpPr>
          <p:spPr bwMode="gray">
            <a:xfrm>
              <a:off x="5065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80" name="Line 122"/>
            <p:cNvSpPr>
              <a:spLocks noChangeShapeType="1"/>
            </p:cNvSpPr>
            <p:nvPr/>
          </p:nvSpPr>
          <p:spPr bwMode="gray">
            <a:xfrm>
              <a:off x="518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</p:grpSp>
      <p:sp>
        <p:nvSpPr>
          <p:cNvPr id="248" name="Text Placeholder 246"/>
          <p:cNvSpPr>
            <a:spLocks noGrp="1"/>
          </p:cNvSpPr>
          <p:nvPr>
            <p:ph type="body" sz="quarter" idx="11"/>
          </p:nvPr>
        </p:nvSpPr>
        <p:spPr>
          <a:xfrm>
            <a:off x="3381155" y="12954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3" name="Text Placeholder 142"/>
          <p:cNvSpPr>
            <a:spLocks noGrp="1"/>
          </p:cNvSpPr>
          <p:nvPr>
            <p:ph type="body" sz="quarter" idx="19"/>
          </p:nvPr>
        </p:nvSpPr>
        <p:spPr>
          <a:xfrm>
            <a:off x="142240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4" name="Text Placeholder 142"/>
          <p:cNvSpPr>
            <a:spLocks noGrp="1"/>
          </p:cNvSpPr>
          <p:nvPr>
            <p:ph type="body" sz="quarter" idx="20"/>
          </p:nvPr>
        </p:nvSpPr>
        <p:spPr>
          <a:xfrm>
            <a:off x="477520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6" name="Text Placeholder 142"/>
          <p:cNvSpPr>
            <a:spLocks noGrp="1"/>
          </p:cNvSpPr>
          <p:nvPr>
            <p:ph type="body" sz="quarter" idx="21"/>
          </p:nvPr>
        </p:nvSpPr>
        <p:spPr>
          <a:xfrm>
            <a:off x="707136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7" name="Text Placeholder 142"/>
          <p:cNvSpPr>
            <a:spLocks noGrp="1"/>
          </p:cNvSpPr>
          <p:nvPr>
            <p:ph type="body" sz="quarter" idx="22"/>
          </p:nvPr>
        </p:nvSpPr>
        <p:spPr>
          <a:xfrm>
            <a:off x="963168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2" name="Text Placeholder 246"/>
          <p:cNvSpPr>
            <a:spLocks noGrp="1"/>
          </p:cNvSpPr>
          <p:nvPr>
            <p:ph type="body" sz="quarter" idx="23"/>
          </p:nvPr>
        </p:nvSpPr>
        <p:spPr>
          <a:xfrm>
            <a:off x="1219200" y="2133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8" name="Text Placeholder 246"/>
          <p:cNvSpPr>
            <a:spLocks noGrp="1"/>
          </p:cNvSpPr>
          <p:nvPr>
            <p:ph type="body" sz="quarter" idx="24"/>
          </p:nvPr>
        </p:nvSpPr>
        <p:spPr>
          <a:xfrm>
            <a:off x="9245600" y="2133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9" name="Text Placeholder 246"/>
          <p:cNvSpPr>
            <a:spLocks noGrp="1"/>
          </p:cNvSpPr>
          <p:nvPr>
            <p:ph type="body" sz="quarter" idx="25"/>
          </p:nvPr>
        </p:nvSpPr>
        <p:spPr>
          <a:xfrm>
            <a:off x="2032000" y="41148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0" name="Text Placeholder 246"/>
          <p:cNvSpPr>
            <a:spLocks noGrp="1"/>
          </p:cNvSpPr>
          <p:nvPr>
            <p:ph type="body" sz="quarter" idx="26"/>
          </p:nvPr>
        </p:nvSpPr>
        <p:spPr>
          <a:xfrm>
            <a:off x="6400800" y="2133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1" name="Text Placeholder 246"/>
          <p:cNvSpPr>
            <a:spLocks noGrp="1"/>
          </p:cNvSpPr>
          <p:nvPr>
            <p:ph type="body" sz="quarter" idx="27"/>
          </p:nvPr>
        </p:nvSpPr>
        <p:spPr>
          <a:xfrm>
            <a:off x="3556000" y="5181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2" name="Text Placeholder 246"/>
          <p:cNvSpPr>
            <a:spLocks noGrp="1"/>
          </p:cNvSpPr>
          <p:nvPr>
            <p:ph type="body" sz="quarter" idx="28"/>
          </p:nvPr>
        </p:nvSpPr>
        <p:spPr>
          <a:xfrm>
            <a:off x="7988300" y="41148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3" name="Text Placeholder 246"/>
          <p:cNvSpPr>
            <a:spLocks noGrp="1"/>
          </p:cNvSpPr>
          <p:nvPr>
            <p:ph type="body" sz="quarter" idx="29"/>
          </p:nvPr>
        </p:nvSpPr>
        <p:spPr>
          <a:xfrm>
            <a:off x="4876800" y="41148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0" name="Slide Number Placeholder 9"/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/>
            </a:lvl1pPr>
          </a:lstStyle>
          <a:p>
            <a:fld id="{132B4441-E44F-854A-A9C3-46F08E0FCFC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21" name="Footer Placeholder 133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Taxable Acquisitions</a:t>
            </a:r>
          </a:p>
        </p:txBody>
      </p:sp>
    </p:spTree>
    <p:extLst>
      <p:ext uri="{BB962C8B-B14F-4D97-AF65-F5344CB8AC3E}">
        <p14:creationId xmlns:p14="http://schemas.microsoft.com/office/powerpoint/2010/main" val="13170367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/ T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/>
          <p:cNvSpPr>
            <a:spLocks noGrp="1"/>
          </p:cNvSpPr>
          <p:nvPr>
            <p:ph type="body" sz="quarter" idx="21"/>
          </p:nvPr>
        </p:nvSpPr>
        <p:spPr>
          <a:xfrm>
            <a:off x="1219201" y="1295400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7"/>
          <p:cNvSpPr>
            <a:spLocks noGrp="1"/>
          </p:cNvSpPr>
          <p:nvPr>
            <p:ph type="body" sz="quarter" idx="22"/>
          </p:nvPr>
        </p:nvSpPr>
        <p:spPr>
          <a:xfrm>
            <a:off x="1219201" y="1800013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7"/>
          <p:cNvSpPr>
            <a:spLocks noGrp="1"/>
          </p:cNvSpPr>
          <p:nvPr>
            <p:ph type="body" sz="quarter" idx="23"/>
          </p:nvPr>
        </p:nvSpPr>
        <p:spPr>
          <a:xfrm>
            <a:off x="1219201" y="2304626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7"/>
          <p:cNvSpPr>
            <a:spLocks noGrp="1"/>
          </p:cNvSpPr>
          <p:nvPr>
            <p:ph type="body" sz="quarter" idx="24"/>
          </p:nvPr>
        </p:nvSpPr>
        <p:spPr>
          <a:xfrm>
            <a:off x="1219201" y="2809239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7"/>
          <p:cNvSpPr>
            <a:spLocks noGrp="1"/>
          </p:cNvSpPr>
          <p:nvPr>
            <p:ph type="body" sz="quarter" idx="25"/>
          </p:nvPr>
        </p:nvSpPr>
        <p:spPr>
          <a:xfrm>
            <a:off x="1219201" y="3313852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7"/>
          <p:cNvSpPr>
            <a:spLocks noGrp="1"/>
          </p:cNvSpPr>
          <p:nvPr>
            <p:ph type="body" sz="quarter" idx="26"/>
          </p:nvPr>
        </p:nvSpPr>
        <p:spPr>
          <a:xfrm>
            <a:off x="1219201" y="3818465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7"/>
          <p:cNvSpPr>
            <a:spLocks noGrp="1"/>
          </p:cNvSpPr>
          <p:nvPr>
            <p:ph type="body" sz="quarter" idx="27"/>
          </p:nvPr>
        </p:nvSpPr>
        <p:spPr>
          <a:xfrm>
            <a:off x="1219201" y="4323078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7"/>
          <p:cNvSpPr>
            <a:spLocks noGrp="1"/>
          </p:cNvSpPr>
          <p:nvPr>
            <p:ph type="body" sz="quarter" idx="28"/>
          </p:nvPr>
        </p:nvSpPr>
        <p:spPr>
          <a:xfrm>
            <a:off x="1219201" y="4827691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29"/>
          </p:nvPr>
        </p:nvSpPr>
        <p:spPr>
          <a:xfrm>
            <a:off x="609600" y="1295400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/>
          <p:cNvSpPr>
            <a:spLocks noGrp="1"/>
          </p:cNvSpPr>
          <p:nvPr>
            <p:ph type="body" sz="quarter" idx="30"/>
          </p:nvPr>
        </p:nvSpPr>
        <p:spPr>
          <a:xfrm>
            <a:off x="609600" y="1800013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/>
          <p:cNvSpPr>
            <a:spLocks noGrp="1"/>
          </p:cNvSpPr>
          <p:nvPr>
            <p:ph type="body" sz="quarter" idx="31"/>
          </p:nvPr>
        </p:nvSpPr>
        <p:spPr>
          <a:xfrm>
            <a:off x="609600" y="2304626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/>
          <p:cNvSpPr>
            <a:spLocks noGrp="1"/>
          </p:cNvSpPr>
          <p:nvPr>
            <p:ph type="body" sz="quarter" idx="32"/>
          </p:nvPr>
        </p:nvSpPr>
        <p:spPr>
          <a:xfrm>
            <a:off x="609600" y="2809239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2"/>
          <p:cNvSpPr>
            <a:spLocks noGrp="1"/>
          </p:cNvSpPr>
          <p:nvPr>
            <p:ph type="body" sz="quarter" idx="33"/>
          </p:nvPr>
        </p:nvSpPr>
        <p:spPr>
          <a:xfrm>
            <a:off x="609600" y="3313852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2"/>
          <p:cNvSpPr>
            <a:spLocks noGrp="1"/>
          </p:cNvSpPr>
          <p:nvPr>
            <p:ph type="body" sz="quarter" idx="34"/>
          </p:nvPr>
        </p:nvSpPr>
        <p:spPr>
          <a:xfrm>
            <a:off x="609600" y="3818465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35"/>
          </p:nvPr>
        </p:nvSpPr>
        <p:spPr>
          <a:xfrm>
            <a:off x="609600" y="4323078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2"/>
          <p:cNvSpPr>
            <a:spLocks noGrp="1"/>
          </p:cNvSpPr>
          <p:nvPr>
            <p:ph type="body" sz="quarter" idx="36"/>
          </p:nvPr>
        </p:nvSpPr>
        <p:spPr>
          <a:xfrm>
            <a:off x="609600" y="4827691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Text Placeholder 22"/>
          <p:cNvSpPr>
            <a:spLocks noGrp="1"/>
          </p:cNvSpPr>
          <p:nvPr>
            <p:ph type="body" sz="quarter" idx="37"/>
          </p:nvPr>
        </p:nvSpPr>
        <p:spPr>
          <a:xfrm>
            <a:off x="10972800" y="1295400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2"/>
          <p:cNvSpPr>
            <a:spLocks noGrp="1"/>
          </p:cNvSpPr>
          <p:nvPr>
            <p:ph type="body" sz="quarter" idx="38"/>
          </p:nvPr>
        </p:nvSpPr>
        <p:spPr>
          <a:xfrm>
            <a:off x="10972800" y="1800013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2"/>
          <p:cNvSpPr>
            <a:spLocks noGrp="1"/>
          </p:cNvSpPr>
          <p:nvPr>
            <p:ph type="body" sz="quarter" idx="39"/>
          </p:nvPr>
        </p:nvSpPr>
        <p:spPr>
          <a:xfrm>
            <a:off x="10972800" y="2304626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2"/>
          <p:cNvSpPr>
            <a:spLocks noGrp="1"/>
          </p:cNvSpPr>
          <p:nvPr>
            <p:ph type="body" sz="quarter" idx="40"/>
          </p:nvPr>
        </p:nvSpPr>
        <p:spPr>
          <a:xfrm>
            <a:off x="10972800" y="2809239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2"/>
          <p:cNvSpPr>
            <a:spLocks noGrp="1"/>
          </p:cNvSpPr>
          <p:nvPr>
            <p:ph type="body" sz="quarter" idx="41"/>
          </p:nvPr>
        </p:nvSpPr>
        <p:spPr>
          <a:xfrm>
            <a:off x="10972800" y="3313852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2"/>
          <p:cNvSpPr>
            <a:spLocks noGrp="1"/>
          </p:cNvSpPr>
          <p:nvPr>
            <p:ph type="body" sz="quarter" idx="42"/>
          </p:nvPr>
        </p:nvSpPr>
        <p:spPr>
          <a:xfrm>
            <a:off x="10972800" y="3818465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2"/>
          <p:cNvSpPr>
            <a:spLocks noGrp="1"/>
          </p:cNvSpPr>
          <p:nvPr>
            <p:ph type="body" sz="quarter" idx="43"/>
          </p:nvPr>
        </p:nvSpPr>
        <p:spPr>
          <a:xfrm>
            <a:off x="10972800" y="4323078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2"/>
          <p:cNvSpPr>
            <a:spLocks noGrp="1"/>
          </p:cNvSpPr>
          <p:nvPr>
            <p:ph type="body" sz="quarter" idx="44"/>
          </p:nvPr>
        </p:nvSpPr>
        <p:spPr>
          <a:xfrm>
            <a:off x="10972800" y="4827691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7"/>
          <p:cNvSpPr>
            <a:spLocks noGrp="1"/>
          </p:cNvSpPr>
          <p:nvPr>
            <p:ph type="body" sz="quarter" idx="45"/>
          </p:nvPr>
        </p:nvSpPr>
        <p:spPr>
          <a:xfrm>
            <a:off x="1215702" y="5332304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22"/>
          <p:cNvSpPr>
            <a:spLocks noGrp="1"/>
          </p:cNvSpPr>
          <p:nvPr>
            <p:ph type="body" sz="quarter" idx="46"/>
          </p:nvPr>
        </p:nvSpPr>
        <p:spPr>
          <a:xfrm>
            <a:off x="606100" y="5332304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2"/>
          <p:cNvSpPr>
            <a:spLocks noGrp="1"/>
          </p:cNvSpPr>
          <p:nvPr>
            <p:ph type="body" sz="quarter" idx="47"/>
          </p:nvPr>
        </p:nvSpPr>
        <p:spPr>
          <a:xfrm>
            <a:off x="10969300" y="5332304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7"/>
          <p:cNvSpPr>
            <a:spLocks noGrp="1"/>
          </p:cNvSpPr>
          <p:nvPr>
            <p:ph type="body" sz="quarter" idx="48"/>
          </p:nvPr>
        </p:nvSpPr>
        <p:spPr>
          <a:xfrm>
            <a:off x="1215702" y="5836920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22"/>
          <p:cNvSpPr>
            <a:spLocks noGrp="1"/>
          </p:cNvSpPr>
          <p:nvPr>
            <p:ph type="body" sz="quarter" idx="49"/>
          </p:nvPr>
        </p:nvSpPr>
        <p:spPr>
          <a:xfrm>
            <a:off x="606100" y="5836920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22"/>
          <p:cNvSpPr>
            <a:spLocks noGrp="1"/>
          </p:cNvSpPr>
          <p:nvPr>
            <p:ph type="body" sz="quarter" idx="50"/>
          </p:nvPr>
        </p:nvSpPr>
        <p:spPr>
          <a:xfrm>
            <a:off x="10969300" y="5836920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Slide Number Placeholder 9"/>
          <p:cNvSpPr>
            <a:spLocks noGrp="1"/>
          </p:cNvSpPr>
          <p:nvPr>
            <p:ph type="sldNum" sz="quarter" idx="51"/>
          </p:nvPr>
        </p:nvSpPr>
        <p:spPr/>
        <p:txBody>
          <a:bodyPr/>
          <a:lstStyle>
            <a:lvl1pPr>
              <a:defRPr/>
            </a:lvl1pPr>
          </a:lstStyle>
          <a:p>
            <a:fld id="{4A9EBD57-3091-C548-9F5E-83F63CC3338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3" name="Footer Placeholder 12"/>
          <p:cNvSpPr>
            <a:spLocks noGrp="1"/>
          </p:cNvSpPr>
          <p:nvPr>
            <p:ph type="ftr" sz="quarter" idx="5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Taxable Acquisitions</a:t>
            </a:r>
          </a:p>
        </p:txBody>
      </p:sp>
    </p:spTree>
    <p:extLst>
      <p:ext uri="{BB962C8B-B14F-4D97-AF65-F5344CB8AC3E}">
        <p14:creationId xmlns:p14="http://schemas.microsoft.com/office/powerpoint/2010/main" val="4455457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Major and Sub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/>
          <p:cNvSpPr>
            <a:spLocks noGrp="1"/>
          </p:cNvSpPr>
          <p:nvPr>
            <p:ph type="body" sz="quarter" idx="21"/>
          </p:nvPr>
        </p:nvSpPr>
        <p:spPr>
          <a:xfrm>
            <a:off x="609600" y="1335024"/>
            <a:ext cx="1828800" cy="2322576"/>
          </a:xfrm>
          <a:prstGeom prst="rect">
            <a:avLst/>
          </a:prstGeom>
          <a:solidFill>
            <a:srgbClr val="B01C2E"/>
          </a:solidFill>
        </p:spPr>
        <p:txBody>
          <a:bodyPr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5"/>
          <p:cNvSpPr>
            <a:spLocks noGrp="1"/>
          </p:cNvSpPr>
          <p:nvPr>
            <p:ph type="body" sz="quarter" idx="22"/>
          </p:nvPr>
        </p:nvSpPr>
        <p:spPr>
          <a:xfrm>
            <a:off x="609600" y="3744363"/>
            <a:ext cx="1828800" cy="2322576"/>
          </a:xfrm>
          <a:prstGeom prst="rect">
            <a:avLst/>
          </a:prstGeom>
          <a:solidFill>
            <a:srgbClr val="B01C2E"/>
          </a:solidFill>
        </p:spPr>
        <p:txBody>
          <a:bodyPr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23"/>
          </p:nvPr>
        </p:nvSpPr>
        <p:spPr>
          <a:xfrm>
            <a:off x="2540000" y="1348565"/>
            <a:ext cx="1219200" cy="7772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24"/>
          </p:nvPr>
        </p:nvSpPr>
        <p:spPr>
          <a:xfrm>
            <a:off x="2540000" y="3763963"/>
            <a:ext cx="1219200" cy="7772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5"/>
          <p:cNvSpPr>
            <a:spLocks noGrp="1"/>
          </p:cNvSpPr>
          <p:nvPr>
            <p:ph type="body" sz="quarter" idx="25"/>
          </p:nvPr>
        </p:nvSpPr>
        <p:spPr>
          <a:xfrm>
            <a:off x="2540000" y="2199167"/>
            <a:ext cx="1219200" cy="14630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5"/>
          <p:cNvSpPr>
            <a:spLocks noGrp="1"/>
          </p:cNvSpPr>
          <p:nvPr>
            <p:ph type="body" sz="quarter" idx="26"/>
          </p:nvPr>
        </p:nvSpPr>
        <p:spPr>
          <a:xfrm>
            <a:off x="2540000" y="4619625"/>
            <a:ext cx="1219200" cy="14630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3759200" y="1348565"/>
            <a:ext cx="7827264" cy="777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3759200" y="3763963"/>
            <a:ext cx="7827264" cy="777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3759200" y="2199167"/>
            <a:ext cx="7827264" cy="14630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3759200" y="4619625"/>
            <a:ext cx="7827264" cy="14630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1622A13A-1CFD-CA4E-A8DD-C641C07281E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3" name="Footer Placeholder 12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Taxable Acquisitions</a:t>
            </a:r>
          </a:p>
        </p:txBody>
      </p:sp>
    </p:spTree>
    <p:extLst>
      <p:ext uri="{BB962C8B-B14F-4D97-AF65-F5344CB8AC3E}">
        <p14:creationId xmlns:p14="http://schemas.microsoft.com/office/powerpoint/2010/main" val="17444763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Vertica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4"/>
          <p:cNvSpPr>
            <a:spLocks/>
          </p:cNvSpPr>
          <p:nvPr userDrawn="1"/>
        </p:nvSpPr>
        <p:spPr bwMode="auto">
          <a:xfrm>
            <a:off x="6195484" y="1914525"/>
            <a:ext cx="4876800" cy="4184650"/>
          </a:xfrm>
          <a:custGeom>
            <a:avLst/>
            <a:gdLst>
              <a:gd name="T0" fmla="*/ 2147483647 w 2475"/>
              <a:gd name="T1" fmla="*/ 2147483647 h 2469"/>
              <a:gd name="T2" fmla="*/ 2147483647 w 2475"/>
              <a:gd name="T3" fmla="*/ 0 h 2469"/>
              <a:gd name="T4" fmla="*/ 2147483647 w 2475"/>
              <a:gd name="T5" fmla="*/ 2147483647 h 2469"/>
              <a:gd name="T6" fmla="*/ 0 w 2475"/>
              <a:gd name="T7" fmla="*/ 2147483647 h 2469"/>
              <a:gd name="T8" fmla="*/ 0 w 2475"/>
              <a:gd name="T9" fmla="*/ 0 h 2469"/>
              <a:gd name="T10" fmla="*/ 2147483647 w 2475"/>
              <a:gd name="T11" fmla="*/ 2147483647 h 24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475" h="2469">
                <a:moveTo>
                  <a:pt x="1235" y="147"/>
                </a:moveTo>
                <a:lnTo>
                  <a:pt x="2475" y="0"/>
                </a:lnTo>
                <a:lnTo>
                  <a:pt x="2475" y="2469"/>
                </a:lnTo>
                <a:lnTo>
                  <a:pt x="0" y="2469"/>
                </a:lnTo>
                <a:lnTo>
                  <a:pt x="0" y="0"/>
                </a:lnTo>
                <a:lnTo>
                  <a:pt x="1235" y="147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82880" tIns="365760" rIns="182880" bIns="182880"/>
          <a:lstStyle/>
          <a:p>
            <a:endParaRPr lang="en-US" sz="1800"/>
          </a:p>
        </p:txBody>
      </p:sp>
      <p:sp>
        <p:nvSpPr>
          <p:cNvPr id="8" name="Freeform 4"/>
          <p:cNvSpPr>
            <a:spLocks/>
          </p:cNvSpPr>
          <p:nvPr userDrawn="1"/>
        </p:nvSpPr>
        <p:spPr bwMode="auto">
          <a:xfrm>
            <a:off x="1003300" y="1914525"/>
            <a:ext cx="4876800" cy="4184650"/>
          </a:xfrm>
          <a:custGeom>
            <a:avLst/>
            <a:gdLst>
              <a:gd name="T0" fmla="*/ 2147483647 w 2475"/>
              <a:gd name="T1" fmla="*/ 2147483647 h 2469"/>
              <a:gd name="T2" fmla="*/ 2147483647 w 2475"/>
              <a:gd name="T3" fmla="*/ 0 h 2469"/>
              <a:gd name="T4" fmla="*/ 2147483647 w 2475"/>
              <a:gd name="T5" fmla="*/ 2147483647 h 2469"/>
              <a:gd name="T6" fmla="*/ 0 w 2475"/>
              <a:gd name="T7" fmla="*/ 2147483647 h 2469"/>
              <a:gd name="T8" fmla="*/ 0 w 2475"/>
              <a:gd name="T9" fmla="*/ 0 h 2469"/>
              <a:gd name="T10" fmla="*/ 2147483647 w 2475"/>
              <a:gd name="T11" fmla="*/ 2147483647 h 24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475" h="2469">
                <a:moveTo>
                  <a:pt x="1235" y="147"/>
                </a:moveTo>
                <a:lnTo>
                  <a:pt x="2475" y="0"/>
                </a:lnTo>
                <a:lnTo>
                  <a:pt x="2475" y="2469"/>
                </a:lnTo>
                <a:lnTo>
                  <a:pt x="0" y="2469"/>
                </a:lnTo>
                <a:lnTo>
                  <a:pt x="0" y="0"/>
                </a:lnTo>
                <a:lnTo>
                  <a:pt x="1235" y="147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82880" tIns="365760" rIns="182880" bIns="182880"/>
          <a:lstStyle/>
          <a:p>
            <a:endParaRPr lang="en-US" sz="180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3122762" y="-699446"/>
            <a:ext cx="636898" cy="4876800"/>
          </a:xfrm>
          <a:prstGeom prst="homePlate">
            <a:avLst>
              <a:gd name="adj" fmla="val 35000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25"/>
          </p:nvPr>
        </p:nvSpPr>
        <p:spPr>
          <a:xfrm rot="5400000">
            <a:off x="8315844" y="-699446"/>
            <a:ext cx="636898" cy="4876800"/>
          </a:xfrm>
          <a:prstGeom prst="homePlate">
            <a:avLst>
              <a:gd name="adj" fmla="val 35000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1002811" y="2282953"/>
            <a:ext cx="4876800" cy="3813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6195893" y="2282953"/>
            <a:ext cx="4876800" cy="3813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lide Number Placeholder 9"/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/>
            </a:lvl1pPr>
          </a:lstStyle>
          <a:p>
            <a:fld id="{9B3A2EF8-18A0-3548-8284-3CDE95E84B9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10"/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Taxable Acquisitions</a:t>
            </a:r>
          </a:p>
        </p:txBody>
      </p:sp>
    </p:spTree>
    <p:extLst>
      <p:ext uri="{BB962C8B-B14F-4D97-AF65-F5344CB8AC3E}">
        <p14:creationId xmlns:p14="http://schemas.microsoft.com/office/powerpoint/2010/main" val="3240263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Vertical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4"/>
          <p:cNvSpPr>
            <a:spLocks/>
          </p:cNvSpPr>
          <p:nvPr userDrawn="1"/>
        </p:nvSpPr>
        <p:spPr bwMode="auto">
          <a:xfrm>
            <a:off x="588434" y="1911351"/>
            <a:ext cx="2561167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 sz="1800"/>
          </a:p>
        </p:txBody>
      </p:sp>
      <p:sp>
        <p:nvSpPr>
          <p:cNvPr id="12" name="Freeform 4"/>
          <p:cNvSpPr>
            <a:spLocks/>
          </p:cNvSpPr>
          <p:nvPr userDrawn="1"/>
        </p:nvSpPr>
        <p:spPr bwMode="auto">
          <a:xfrm>
            <a:off x="3403600" y="1911351"/>
            <a:ext cx="2559051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 sz="1800"/>
          </a:p>
        </p:txBody>
      </p:sp>
      <p:sp>
        <p:nvSpPr>
          <p:cNvPr id="13" name="Freeform 4"/>
          <p:cNvSpPr>
            <a:spLocks/>
          </p:cNvSpPr>
          <p:nvPr userDrawn="1"/>
        </p:nvSpPr>
        <p:spPr bwMode="auto">
          <a:xfrm>
            <a:off x="6197601" y="1911351"/>
            <a:ext cx="2561167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 sz="1800"/>
          </a:p>
        </p:txBody>
      </p:sp>
      <p:sp>
        <p:nvSpPr>
          <p:cNvPr id="14" name="Freeform 4"/>
          <p:cNvSpPr>
            <a:spLocks/>
          </p:cNvSpPr>
          <p:nvPr userDrawn="1"/>
        </p:nvSpPr>
        <p:spPr bwMode="auto">
          <a:xfrm>
            <a:off x="9027585" y="1911351"/>
            <a:ext cx="2561167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 sz="180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1563115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27"/>
          </p:nvPr>
        </p:nvSpPr>
        <p:spPr>
          <a:xfrm rot="5400000">
            <a:off x="4377013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8"/>
          <p:cNvSpPr>
            <a:spLocks noGrp="1"/>
          </p:cNvSpPr>
          <p:nvPr>
            <p:ph type="body" sz="quarter" idx="28"/>
          </p:nvPr>
        </p:nvSpPr>
        <p:spPr>
          <a:xfrm rot="5400000">
            <a:off x="7171436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8"/>
          <p:cNvSpPr>
            <a:spLocks noGrp="1"/>
          </p:cNvSpPr>
          <p:nvPr>
            <p:ph type="body" sz="quarter" idx="29"/>
          </p:nvPr>
        </p:nvSpPr>
        <p:spPr>
          <a:xfrm rot="5400000">
            <a:off x="10002267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589279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3403177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6197600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9028431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6D75ED15-758A-614E-A17B-56CD5E692F6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Taxable Acquisitions</a:t>
            </a:r>
          </a:p>
        </p:txBody>
      </p:sp>
    </p:spTree>
    <p:extLst>
      <p:ext uri="{BB962C8B-B14F-4D97-AF65-F5344CB8AC3E}">
        <p14:creationId xmlns:p14="http://schemas.microsoft.com/office/powerpoint/2010/main" val="2525267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451104" y="1450181"/>
            <a:ext cx="3462528" cy="457200"/>
          </a:xfrm>
          <a:prstGeom prst="homePlate">
            <a:avLst>
              <a:gd name="adj" fmla="val 33316"/>
            </a:avLst>
          </a:prstGeom>
          <a:solidFill>
            <a:srgbClr val="B01C2E"/>
          </a:solidFill>
          <a:ln w="6350">
            <a:solidFill>
              <a:srgbClr val="A9A9A9"/>
            </a:solidFill>
          </a:ln>
        </p:spPr>
        <p:txBody>
          <a:bodyPr lIns="137160" tIns="137160" rIns="274320" bIns="137160" anchor="ctr"/>
          <a:lstStyle>
            <a:lvl1pPr marL="0" indent="0" algn="l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3"/>
          <p:cNvSpPr>
            <a:spLocks noGrp="1"/>
          </p:cNvSpPr>
          <p:nvPr>
            <p:ph type="body" sz="quarter" idx="17"/>
          </p:nvPr>
        </p:nvSpPr>
        <p:spPr>
          <a:xfrm>
            <a:off x="4364739" y="1447805"/>
            <a:ext cx="3534833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29"/>
          </p:nvPr>
        </p:nvSpPr>
        <p:spPr>
          <a:xfrm>
            <a:off x="8278372" y="1447805"/>
            <a:ext cx="3534833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4364736" y="2057400"/>
            <a:ext cx="3364992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8278368" y="2057400"/>
            <a:ext cx="3364992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451104" y="2057402"/>
            <a:ext cx="3364992" cy="276999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>
            <a:spAutoFit/>
          </a:bodyPr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8A4AF9FF-8501-8442-BA34-6C86C862CF8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Taxable Acquisitions</a:t>
            </a:r>
          </a:p>
        </p:txBody>
      </p:sp>
    </p:spTree>
    <p:extLst>
      <p:ext uri="{BB962C8B-B14F-4D97-AF65-F5344CB8AC3E}">
        <p14:creationId xmlns:p14="http://schemas.microsoft.com/office/powerpoint/2010/main" val="17784782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rg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8"/>
          <p:cNvSpPr>
            <a:spLocks noGrp="1"/>
          </p:cNvSpPr>
          <p:nvPr>
            <p:ph type="body" sz="quarter" idx="29"/>
          </p:nvPr>
        </p:nvSpPr>
        <p:spPr>
          <a:xfrm>
            <a:off x="9505696" y="1493520"/>
            <a:ext cx="1975104" cy="47548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lIns="45720" anchor="t"/>
          <a:lstStyle>
            <a:lvl1pPr marL="164592" indent="-164592" algn="l">
              <a:lnSpc>
                <a:spcPts val="1400"/>
              </a:lnSpc>
              <a:spcBef>
                <a:spcPts val="0"/>
              </a:spcBef>
              <a:buClr>
                <a:schemeClr val="accent1"/>
              </a:buClr>
              <a:buFont typeface="Wingdings" pitchFamily="2" charset="2"/>
              <a:buChar char="§"/>
              <a:defRPr sz="1200" b="0">
                <a:solidFill>
                  <a:srgbClr val="000000"/>
                </a:solidFill>
              </a:defRPr>
            </a:lvl1pPr>
            <a:lvl2pPr marL="164592" indent="0" algn="l">
              <a:spcBef>
                <a:spcPts val="700"/>
              </a:spcBef>
              <a:buNone/>
              <a:defRPr sz="1200" b="0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21"/>
          </p:nvPr>
        </p:nvSpPr>
        <p:spPr>
          <a:xfrm>
            <a:off x="609600" y="1600200"/>
            <a:ext cx="21336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C0C0"/>
              </a:buClr>
              <a:buSzTx/>
              <a:buFont typeface="Wingdings 2" pitchFamily="18" charset="2"/>
              <a:buChar char="¡"/>
              <a:tabLst/>
              <a:defRPr sz="1200" b="1" baseline="0">
                <a:solidFill>
                  <a:srgbClr val="FFFFFF"/>
                </a:solidFill>
              </a:defRPr>
            </a:lvl1pPr>
            <a:lvl2pPr marL="117475" indent="0">
              <a:buFontTx/>
              <a:buNone/>
              <a:defRPr sz="10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3"/>
          </p:nvPr>
        </p:nvSpPr>
        <p:spPr>
          <a:xfrm>
            <a:off x="609600" y="4876800"/>
            <a:ext cx="21336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¡"/>
              <a:tabLst/>
              <a:defRPr lang="en-US" sz="1200" b="1" kern="1200" baseline="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117475" indent="0">
              <a:buFontTx/>
              <a:buNone/>
              <a:defRPr sz="10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4"/>
          </p:nvPr>
        </p:nvSpPr>
        <p:spPr>
          <a:xfrm>
            <a:off x="609600" y="3238500"/>
            <a:ext cx="21336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¡"/>
              <a:tabLst/>
              <a:defRPr lang="en-US" sz="1200" b="1" kern="1200" baseline="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117475" indent="0">
              <a:buFontTx/>
              <a:buNone/>
              <a:defRPr sz="10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30"/>
          </p:nvPr>
        </p:nvSpPr>
        <p:spPr>
          <a:xfrm>
            <a:off x="2922016" y="1600200"/>
            <a:ext cx="6486144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64592" marR="0" indent="-16459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64592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03504" indent="-164592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768096" indent="-164592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914400" indent="-164592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922016" y="3238500"/>
            <a:ext cx="6486144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64592" marR="0" indent="-16459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64592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03504" indent="-164592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768096" indent="-164592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914400" indent="-164592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922016" y="4876800"/>
            <a:ext cx="6486144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64592" marR="0" indent="-16459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64592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03504" indent="-164592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768096" indent="-164592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914400" indent="-164592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/>
            </a:lvl1pPr>
          </a:lstStyle>
          <a:p>
            <a:fld id="{00398512-78EB-D84B-88E3-8EFD360D49E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Taxable Acquisitions</a:t>
            </a:r>
          </a:p>
        </p:txBody>
      </p:sp>
    </p:spTree>
    <p:extLst>
      <p:ext uri="{BB962C8B-B14F-4D97-AF65-F5344CB8AC3E}">
        <p14:creationId xmlns:p14="http://schemas.microsoft.com/office/powerpoint/2010/main" val="4004918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Two palettes moving forw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3"/>
          <p:cNvSpPr>
            <a:spLocks noChangeArrowheads="1"/>
          </p:cNvSpPr>
          <p:nvPr userDrawn="1"/>
        </p:nvSpPr>
        <p:spPr bwMode="auto">
          <a:xfrm>
            <a:off x="912284" y="2635250"/>
            <a:ext cx="10369549" cy="1587500"/>
          </a:xfrm>
          <a:prstGeom prst="homePlate">
            <a:avLst>
              <a:gd name="adj" fmla="val 32592"/>
            </a:avLst>
          </a:prstGeom>
          <a:gradFill rotWithShape="1">
            <a:gsLst>
              <a:gs pos="0">
                <a:srgbClr val="9E9E9E"/>
              </a:gs>
              <a:gs pos="50000">
                <a:srgbClr val="C4C4C4"/>
              </a:gs>
              <a:gs pos="100000">
                <a:srgbClr val="E3E3E3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91440" bIns="9144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 sz="1800">
              <a:latin typeface="Arial" charset="0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402080" y="1417320"/>
            <a:ext cx="4389120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6096000" y="1417320"/>
            <a:ext cx="4389120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0"/>
          <p:cNvSpPr>
            <a:spLocks noGrp="1"/>
          </p:cNvSpPr>
          <p:nvPr>
            <p:ph sz="quarter" idx="20"/>
          </p:nvPr>
        </p:nvSpPr>
        <p:spPr>
          <a:xfrm>
            <a:off x="1402080" y="1874520"/>
            <a:ext cx="438912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10"/>
          <p:cNvSpPr>
            <a:spLocks noGrp="1"/>
          </p:cNvSpPr>
          <p:nvPr>
            <p:ph sz="quarter" idx="24"/>
          </p:nvPr>
        </p:nvSpPr>
        <p:spPr>
          <a:xfrm>
            <a:off x="6096000" y="1874520"/>
            <a:ext cx="438912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fld id="{6CB47071-B393-DC4F-9921-408D035EE57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Taxable Acquisitions</a:t>
            </a:r>
          </a:p>
        </p:txBody>
      </p:sp>
    </p:spTree>
    <p:extLst>
      <p:ext uri="{BB962C8B-B14F-4D97-AF65-F5344CB8AC3E}">
        <p14:creationId xmlns:p14="http://schemas.microsoft.com/office/powerpoint/2010/main" val="42098441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li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/>
          <p:cNvSpPr>
            <a:spLocks/>
          </p:cNvSpPr>
          <p:nvPr userDrawn="1"/>
        </p:nvSpPr>
        <p:spPr bwMode="auto">
          <a:xfrm>
            <a:off x="5846233" y="3341688"/>
            <a:ext cx="501651" cy="1403350"/>
          </a:xfrm>
          <a:custGeom>
            <a:avLst/>
            <a:gdLst>
              <a:gd name="T0" fmla="*/ 2147483647 w 176"/>
              <a:gd name="T1" fmla="*/ 0 h 608"/>
              <a:gd name="T2" fmla="*/ 0 w 176"/>
              <a:gd name="T3" fmla="*/ 2147483647 h 608"/>
              <a:gd name="T4" fmla="*/ 2147483647 w 176"/>
              <a:gd name="T5" fmla="*/ 2147483647 h 608"/>
              <a:gd name="T6" fmla="*/ 0 w 176"/>
              <a:gd name="T7" fmla="*/ 2147483647 h 608"/>
              <a:gd name="T8" fmla="*/ 2147483647 w 176"/>
              <a:gd name="T9" fmla="*/ 2147483647 h 608"/>
              <a:gd name="T10" fmla="*/ 2147483647 w 176"/>
              <a:gd name="T11" fmla="*/ 2147483647 h 608"/>
              <a:gd name="T12" fmla="*/ 0 w 176"/>
              <a:gd name="T13" fmla="*/ 2147483647 h 608"/>
              <a:gd name="T14" fmla="*/ 0 w 176"/>
              <a:gd name="T15" fmla="*/ 2147483647 h 608"/>
              <a:gd name="T16" fmla="*/ 2147483647 w 176"/>
              <a:gd name="T17" fmla="*/ 2147483647 h 608"/>
              <a:gd name="T18" fmla="*/ 2147483647 w 176"/>
              <a:gd name="T19" fmla="*/ 2147483647 h 608"/>
              <a:gd name="T20" fmla="*/ 2147483647 w 176"/>
              <a:gd name="T21" fmla="*/ 2147483647 h 608"/>
              <a:gd name="T22" fmla="*/ 2147483647 w 176"/>
              <a:gd name="T23" fmla="*/ 2147483647 h 608"/>
              <a:gd name="T24" fmla="*/ 2147483647 w 176"/>
              <a:gd name="T25" fmla="*/ 2147483647 h 608"/>
              <a:gd name="T26" fmla="*/ 2147483647 w 176"/>
              <a:gd name="T27" fmla="*/ 2147483647 h 608"/>
              <a:gd name="T28" fmla="*/ 2147483647 w 176"/>
              <a:gd name="T29" fmla="*/ 0 h 608"/>
              <a:gd name="T30" fmla="*/ 2147483647 w 176"/>
              <a:gd name="T31" fmla="*/ 0 h 608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176" h="608">
                <a:moveTo>
                  <a:pt x="72" y="0"/>
                </a:moveTo>
                <a:lnTo>
                  <a:pt x="0" y="232"/>
                </a:lnTo>
                <a:lnTo>
                  <a:pt x="48" y="232"/>
                </a:lnTo>
                <a:lnTo>
                  <a:pt x="0" y="376"/>
                </a:lnTo>
                <a:lnTo>
                  <a:pt x="72" y="376"/>
                </a:lnTo>
                <a:lnTo>
                  <a:pt x="32" y="504"/>
                </a:lnTo>
                <a:lnTo>
                  <a:pt x="0" y="504"/>
                </a:lnTo>
                <a:lnTo>
                  <a:pt x="0" y="608"/>
                </a:lnTo>
                <a:lnTo>
                  <a:pt x="96" y="496"/>
                </a:lnTo>
                <a:lnTo>
                  <a:pt x="48" y="504"/>
                </a:lnTo>
                <a:lnTo>
                  <a:pt x="144" y="336"/>
                </a:lnTo>
                <a:lnTo>
                  <a:pt x="72" y="336"/>
                </a:lnTo>
                <a:lnTo>
                  <a:pt x="144" y="192"/>
                </a:lnTo>
                <a:lnTo>
                  <a:pt x="88" y="192"/>
                </a:lnTo>
                <a:lnTo>
                  <a:pt x="176" y="0"/>
                </a:lnTo>
                <a:lnTo>
                  <a:pt x="72" y="0"/>
                </a:lnTo>
                <a:close/>
              </a:path>
            </a:pathLst>
          </a:custGeom>
          <a:solidFill>
            <a:srgbClr val="B01C2E"/>
          </a:solidFill>
          <a:ln w="6350" cap="flat" cmpd="sng">
            <a:solidFill>
              <a:srgbClr val="B01C2E"/>
            </a:solidFill>
            <a:prstDash val="solid"/>
            <a:round/>
            <a:headEnd/>
            <a:tailEnd/>
          </a:ln>
        </p:spPr>
        <p:txBody>
          <a:bodyPr lIns="72000" tIns="72000" rIns="72000" bIns="72000" anchor="ctr"/>
          <a:lstStyle/>
          <a:p>
            <a:endParaRPr lang="en-US" sz="180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13536" y="1417320"/>
            <a:ext cx="4047744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7022169" y="1417320"/>
            <a:ext cx="4072128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1113536" y="1874520"/>
            <a:ext cx="4389120" cy="4343400"/>
          </a:xfrm>
          <a:prstGeom prst="homePlate">
            <a:avLst>
              <a:gd name="adj" fmla="val 7684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4"/>
          </p:nvPr>
        </p:nvSpPr>
        <p:spPr>
          <a:xfrm flipH="1">
            <a:off x="6705177" y="1874520"/>
            <a:ext cx="4389120" cy="4343400"/>
          </a:xfrm>
          <a:prstGeom prst="homePlate">
            <a:avLst>
              <a:gd name="adj" fmla="val 7343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22860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fld id="{6C637242-61C1-4C47-AFEF-079B86936FE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" name="Footer Placeholder 12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Taxable Acquisitions</a:t>
            </a:r>
          </a:p>
        </p:txBody>
      </p:sp>
    </p:spTree>
    <p:extLst>
      <p:ext uri="{BB962C8B-B14F-4D97-AF65-F5344CB8AC3E}">
        <p14:creationId xmlns:p14="http://schemas.microsoft.com/office/powerpoint/2010/main" val="1179405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10"/>
          <p:cNvSpPr>
            <a:spLocks noGrp="1"/>
          </p:cNvSpPr>
          <p:nvPr>
            <p:ph sz="quarter" idx="35"/>
          </p:nvPr>
        </p:nvSpPr>
        <p:spPr>
          <a:xfrm>
            <a:off x="8242300" y="1577977"/>
            <a:ext cx="3316224" cy="3931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0" rIns="9144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Content Placeholder 10"/>
          <p:cNvSpPr>
            <a:spLocks noGrp="1"/>
          </p:cNvSpPr>
          <p:nvPr>
            <p:ph sz="quarter" idx="20"/>
          </p:nvPr>
        </p:nvSpPr>
        <p:spPr>
          <a:xfrm>
            <a:off x="646176" y="1577977"/>
            <a:ext cx="3316224" cy="3931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0"/>
          </p:nvPr>
        </p:nvSpPr>
        <p:spPr>
          <a:xfrm>
            <a:off x="3556000" y="182880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3"/>
          <p:cNvSpPr>
            <a:spLocks noGrp="1"/>
          </p:cNvSpPr>
          <p:nvPr>
            <p:ph type="body" sz="quarter" idx="21"/>
          </p:nvPr>
        </p:nvSpPr>
        <p:spPr>
          <a:xfrm>
            <a:off x="3556000" y="242316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3"/>
          <p:cNvSpPr>
            <a:spLocks noGrp="1"/>
          </p:cNvSpPr>
          <p:nvPr>
            <p:ph type="body" sz="quarter" idx="22"/>
          </p:nvPr>
        </p:nvSpPr>
        <p:spPr>
          <a:xfrm>
            <a:off x="3556000" y="301752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3"/>
          <p:cNvSpPr>
            <a:spLocks noGrp="1"/>
          </p:cNvSpPr>
          <p:nvPr>
            <p:ph type="body" sz="quarter" idx="23"/>
          </p:nvPr>
        </p:nvSpPr>
        <p:spPr>
          <a:xfrm>
            <a:off x="3556000" y="361188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3"/>
          <p:cNvSpPr>
            <a:spLocks noGrp="1"/>
          </p:cNvSpPr>
          <p:nvPr>
            <p:ph type="body" sz="quarter" idx="24"/>
          </p:nvPr>
        </p:nvSpPr>
        <p:spPr>
          <a:xfrm>
            <a:off x="3556000" y="420624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3"/>
          <p:cNvSpPr>
            <a:spLocks noGrp="1"/>
          </p:cNvSpPr>
          <p:nvPr>
            <p:ph type="body" sz="quarter" idx="25"/>
          </p:nvPr>
        </p:nvSpPr>
        <p:spPr>
          <a:xfrm>
            <a:off x="3556000" y="480060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2"/>
          <p:cNvSpPr>
            <a:spLocks noGrp="1"/>
          </p:cNvSpPr>
          <p:nvPr>
            <p:ph type="body" sz="quarter" idx="29"/>
          </p:nvPr>
        </p:nvSpPr>
        <p:spPr>
          <a:xfrm>
            <a:off x="3352800" y="1981200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2"/>
          <p:cNvSpPr>
            <a:spLocks noGrp="1"/>
          </p:cNvSpPr>
          <p:nvPr>
            <p:ph type="body" sz="quarter" idx="30"/>
          </p:nvPr>
        </p:nvSpPr>
        <p:spPr>
          <a:xfrm>
            <a:off x="3352800" y="2570074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2"/>
          <p:cNvSpPr>
            <a:spLocks noGrp="1"/>
          </p:cNvSpPr>
          <p:nvPr>
            <p:ph type="body" sz="quarter" idx="31"/>
          </p:nvPr>
        </p:nvSpPr>
        <p:spPr>
          <a:xfrm>
            <a:off x="3352800" y="3158948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32"/>
          </p:nvPr>
        </p:nvSpPr>
        <p:spPr>
          <a:xfrm>
            <a:off x="3352800" y="3747822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2"/>
          <p:cNvSpPr>
            <a:spLocks noGrp="1"/>
          </p:cNvSpPr>
          <p:nvPr>
            <p:ph type="body" sz="quarter" idx="33"/>
          </p:nvPr>
        </p:nvSpPr>
        <p:spPr>
          <a:xfrm>
            <a:off x="3352800" y="4336696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2"/>
          <p:cNvSpPr>
            <a:spLocks noGrp="1"/>
          </p:cNvSpPr>
          <p:nvPr>
            <p:ph type="body" sz="quarter" idx="34"/>
          </p:nvPr>
        </p:nvSpPr>
        <p:spPr>
          <a:xfrm>
            <a:off x="3352800" y="4925568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6F716D94-026E-1240-A247-91A0127FD88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Taxable Acquisitions</a:t>
            </a:r>
          </a:p>
        </p:txBody>
      </p:sp>
    </p:spTree>
    <p:extLst>
      <p:ext uri="{BB962C8B-B14F-4D97-AF65-F5344CB8AC3E}">
        <p14:creationId xmlns:p14="http://schemas.microsoft.com/office/powerpoint/2010/main" val="8477543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Horizontal chevron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9"/>
          <p:cNvSpPr>
            <a:spLocks noGrp="1"/>
          </p:cNvSpPr>
          <p:nvPr>
            <p:ph type="body" sz="quarter" idx="10"/>
          </p:nvPr>
        </p:nvSpPr>
        <p:spPr>
          <a:xfrm>
            <a:off x="528320" y="160020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3495040" y="160020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30"/>
          </p:nvPr>
        </p:nvSpPr>
        <p:spPr>
          <a:xfrm>
            <a:off x="528320" y="274828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31"/>
          </p:nvPr>
        </p:nvSpPr>
        <p:spPr>
          <a:xfrm>
            <a:off x="3495040" y="274828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528320" y="389636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33"/>
          </p:nvPr>
        </p:nvSpPr>
        <p:spPr>
          <a:xfrm>
            <a:off x="3495040" y="389636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536355" y="504444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35"/>
          </p:nvPr>
        </p:nvSpPr>
        <p:spPr>
          <a:xfrm>
            <a:off x="3503075" y="504444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DDD5FA0E-3EAB-CB47-B428-C2E5915BFD6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Taxable Acquisitions</a:t>
            </a:r>
          </a:p>
        </p:txBody>
      </p:sp>
    </p:spTree>
    <p:extLst>
      <p:ext uri="{BB962C8B-B14F-4D97-AF65-F5344CB8AC3E}">
        <p14:creationId xmlns:p14="http://schemas.microsoft.com/office/powerpoint/2010/main" val="8657053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Vertical chevron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3"/>
          <p:cNvSpPr>
            <a:spLocks noGrp="1"/>
          </p:cNvSpPr>
          <p:nvPr>
            <p:ph type="body" sz="quarter" idx="17"/>
          </p:nvPr>
        </p:nvSpPr>
        <p:spPr>
          <a:xfrm rot="5400000">
            <a:off x="1187196" y="794005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3149600" y="1371600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ext Placeholder 19"/>
          <p:cNvSpPr>
            <a:spLocks noGrp="1"/>
          </p:cNvSpPr>
          <p:nvPr>
            <p:ph type="body" sz="quarter" idx="30"/>
          </p:nvPr>
        </p:nvSpPr>
        <p:spPr>
          <a:xfrm>
            <a:off x="3149600" y="2474977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31"/>
          </p:nvPr>
        </p:nvSpPr>
        <p:spPr>
          <a:xfrm>
            <a:off x="3149600" y="3578353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3149600" y="4681728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13"/>
          <p:cNvSpPr>
            <a:spLocks noGrp="1"/>
          </p:cNvSpPr>
          <p:nvPr>
            <p:ph type="body" sz="quarter" idx="33"/>
          </p:nvPr>
        </p:nvSpPr>
        <p:spPr>
          <a:xfrm rot="5400000">
            <a:off x="1187196" y="1897381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3"/>
          <p:cNvSpPr>
            <a:spLocks noGrp="1"/>
          </p:cNvSpPr>
          <p:nvPr>
            <p:ph type="body" sz="quarter" idx="34"/>
          </p:nvPr>
        </p:nvSpPr>
        <p:spPr>
          <a:xfrm rot="5400000">
            <a:off x="1187196" y="3000757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3"/>
          <p:cNvSpPr>
            <a:spLocks noGrp="1"/>
          </p:cNvSpPr>
          <p:nvPr>
            <p:ph type="body" sz="quarter" idx="35"/>
          </p:nvPr>
        </p:nvSpPr>
        <p:spPr>
          <a:xfrm rot="5400000">
            <a:off x="1187196" y="4104132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4835DA82-056E-9542-8819-BE1B86DFF07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2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Taxable Acquisitions</a:t>
            </a:r>
          </a:p>
        </p:txBody>
      </p:sp>
    </p:spTree>
    <p:extLst>
      <p:ext uri="{BB962C8B-B14F-4D97-AF65-F5344CB8AC3E}">
        <p14:creationId xmlns:p14="http://schemas.microsoft.com/office/powerpoint/2010/main" val="1131279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tr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8"/>
          <p:cNvSpPr>
            <a:spLocks noChangeArrowheads="1"/>
          </p:cNvSpPr>
          <p:nvPr userDrawn="1"/>
        </p:nvSpPr>
        <p:spPr bwMode="auto">
          <a:xfrm rot="5400000">
            <a:off x="7797801" y="3117850"/>
            <a:ext cx="4406900" cy="1828800"/>
          </a:xfrm>
          <a:prstGeom prst="homePlate">
            <a:avLst>
              <a:gd name="adj" fmla="val 19772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2" name="AutoShape 4"/>
          <p:cNvSpPr>
            <a:spLocks noChangeArrowheads="1"/>
          </p:cNvSpPr>
          <p:nvPr userDrawn="1"/>
        </p:nvSpPr>
        <p:spPr bwMode="auto">
          <a:xfrm rot="5400000">
            <a:off x="-277813" y="3122613"/>
            <a:ext cx="4416425" cy="18288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3" name="AutoShape 5"/>
          <p:cNvSpPr>
            <a:spLocks noChangeArrowheads="1"/>
          </p:cNvSpPr>
          <p:nvPr userDrawn="1"/>
        </p:nvSpPr>
        <p:spPr bwMode="auto">
          <a:xfrm rot="5400000">
            <a:off x="1741488" y="3122613"/>
            <a:ext cx="4416425" cy="18288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4" name="AutoShape 6"/>
          <p:cNvSpPr>
            <a:spLocks noChangeArrowheads="1"/>
          </p:cNvSpPr>
          <p:nvPr userDrawn="1"/>
        </p:nvSpPr>
        <p:spPr bwMode="auto">
          <a:xfrm rot="5400000">
            <a:off x="3758672" y="3122613"/>
            <a:ext cx="4416425" cy="1828800"/>
          </a:xfrm>
          <a:prstGeom prst="homePlate">
            <a:avLst>
              <a:gd name="adj" fmla="val 19772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5" name="AutoShape 7"/>
          <p:cNvSpPr>
            <a:spLocks noChangeArrowheads="1"/>
          </p:cNvSpPr>
          <p:nvPr userDrawn="1"/>
        </p:nvSpPr>
        <p:spPr bwMode="auto">
          <a:xfrm rot="5400000">
            <a:off x="5777972" y="3122613"/>
            <a:ext cx="4416425" cy="18288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/>
          </p:nvPr>
        </p:nvSpPr>
        <p:spPr>
          <a:xfrm>
            <a:off x="1016000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6"/>
          <p:cNvSpPr>
            <a:spLocks noGrp="1"/>
          </p:cNvSpPr>
          <p:nvPr>
            <p:ph type="body" sz="quarter" idx="11"/>
          </p:nvPr>
        </p:nvSpPr>
        <p:spPr>
          <a:xfrm>
            <a:off x="3035300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052484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6"/>
          <p:cNvSpPr>
            <a:spLocks noGrp="1"/>
          </p:cNvSpPr>
          <p:nvPr>
            <p:ph type="body" sz="quarter" idx="13"/>
          </p:nvPr>
        </p:nvSpPr>
        <p:spPr>
          <a:xfrm>
            <a:off x="7071784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9086851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812800" y="2133601"/>
            <a:ext cx="10521696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19"/>
          <p:cNvSpPr>
            <a:spLocks noGrp="1"/>
          </p:cNvSpPr>
          <p:nvPr>
            <p:ph type="body" sz="quarter" idx="21"/>
          </p:nvPr>
        </p:nvSpPr>
        <p:spPr>
          <a:xfrm>
            <a:off x="812800" y="3390901"/>
            <a:ext cx="10521696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  <a:lvl4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812800" y="4648200"/>
            <a:ext cx="10521696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  <a:lvl4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fld id="{4755A724-3117-D848-90FF-6F79FEC2065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Taxable Acquisitions</a:t>
            </a:r>
          </a:p>
        </p:txBody>
      </p:sp>
    </p:spTree>
    <p:extLst>
      <p:ext uri="{BB962C8B-B14F-4D97-AF65-F5344CB8AC3E}">
        <p14:creationId xmlns:p14="http://schemas.microsoft.com/office/powerpoint/2010/main" val="187194213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Chevrons resulting Fr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4364736" y="1444752"/>
            <a:ext cx="3462528" cy="3968496"/>
          </a:xfrm>
          <a:prstGeom prst="rect">
            <a:avLst/>
          </a:prstGeom>
        </p:spPr>
        <p:txBody>
          <a:bodyPr wrap="square" lIns="640080" rIns="640080" anchor="ctr" anchorCtr="1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7160768" y="152400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31"/>
          </p:nvPr>
        </p:nvSpPr>
        <p:spPr>
          <a:xfrm flipH="1">
            <a:off x="812800" y="152400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7160768" y="255016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33"/>
          </p:nvPr>
        </p:nvSpPr>
        <p:spPr>
          <a:xfrm flipH="1">
            <a:off x="812800" y="255016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7160768" y="357632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35"/>
          </p:nvPr>
        </p:nvSpPr>
        <p:spPr>
          <a:xfrm flipH="1">
            <a:off x="812800" y="357632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Text Placeholder 19"/>
          <p:cNvSpPr>
            <a:spLocks noGrp="1"/>
          </p:cNvSpPr>
          <p:nvPr>
            <p:ph type="body" sz="quarter" idx="36"/>
          </p:nvPr>
        </p:nvSpPr>
        <p:spPr>
          <a:xfrm>
            <a:off x="7160768" y="460248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4" name="Text Placeholder 19"/>
          <p:cNvSpPr>
            <a:spLocks noGrp="1"/>
          </p:cNvSpPr>
          <p:nvPr>
            <p:ph type="body" sz="quarter" idx="37"/>
          </p:nvPr>
        </p:nvSpPr>
        <p:spPr>
          <a:xfrm flipH="1">
            <a:off x="812800" y="460248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lide Number Placeholder 9"/>
          <p:cNvSpPr>
            <a:spLocks noGrp="1"/>
          </p:cNvSpPr>
          <p:nvPr>
            <p:ph type="sldNum" sz="quarter" idx="38"/>
          </p:nvPr>
        </p:nvSpPr>
        <p:spPr/>
        <p:txBody>
          <a:bodyPr/>
          <a:lstStyle>
            <a:lvl1pPr>
              <a:defRPr/>
            </a:lvl1pPr>
          </a:lstStyle>
          <a:p>
            <a:fld id="{BA6B416F-5AE6-D74C-AE38-5D34E63DFA9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5" name="Footer Placeholder 12"/>
          <p:cNvSpPr>
            <a:spLocks noGrp="1"/>
          </p:cNvSpPr>
          <p:nvPr>
            <p:ph type="ftr" sz="quarter" idx="3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Taxable Acquisitions</a:t>
            </a:r>
          </a:p>
        </p:txBody>
      </p:sp>
    </p:spTree>
    <p:extLst>
      <p:ext uri="{BB962C8B-B14F-4D97-AF65-F5344CB8AC3E}">
        <p14:creationId xmlns:p14="http://schemas.microsoft.com/office/powerpoint/2010/main" val="123541069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Chevrons leading 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8331200" y="1420504"/>
            <a:ext cx="3450336" cy="480060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2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2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1115568">
              <a:buClr>
                <a:srgbClr val="B01C1A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670560" y="15544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21"/>
          </p:nvPr>
        </p:nvSpPr>
        <p:spPr>
          <a:xfrm>
            <a:off x="670560" y="27482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670560" y="39420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23"/>
          </p:nvPr>
        </p:nvSpPr>
        <p:spPr>
          <a:xfrm>
            <a:off x="670560" y="51358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/>
            </a:lvl1pPr>
          </a:lstStyle>
          <a:p>
            <a:fld id="{12EFD6B5-614C-464C-AC16-8E45A0815BB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Taxable Acquisitions</a:t>
            </a:r>
          </a:p>
        </p:txBody>
      </p:sp>
    </p:spTree>
    <p:extLst>
      <p:ext uri="{BB962C8B-B14F-4D97-AF65-F5344CB8AC3E}">
        <p14:creationId xmlns:p14="http://schemas.microsoft.com/office/powerpoint/2010/main" val="170695512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ases and threads with ar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406400" y="2362200"/>
            <a:ext cx="8156448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1000" b="1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9"/>
          <p:cNvSpPr>
            <a:spLocks noGrp="1"/>
          </p:cNvSpPr>
          <p:nvPr>
            <p:ph type="body" sz="quarter" idx="33"/>
          </p:nvPr>
        </p:nvSpPr>
        <p:spPr>
          <a:xfrm>
            <a:off x="406400" y="3491484"/>
            <a:ext cx="8128000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1000" b="1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406400" y="4620768"/>
            <a:ext cx="8128000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1000" b="1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21"/>
          </p:nvPr>
        </p:nvSpPr>
        <p:spPr>
          <a:xfrm>
            <a:off x="8548577" y="1417320"/>
            <a:ext cx="2804160" cy="429768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7"/>
          </p:nvPr>
        </p:nvSpPr>
        <p:spPr>
          <a:xfrm>
            <a:off x="5854700" y="2136788"/>
            <a:ext cx="1975104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0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0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0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28"/>
          </p:nvPr>
        </p:nvSpPr>
        <p:spPr>
          <a:xfrm>
            <a:off x="3698748" y="2136788"/>
            <a:ext cx="1975104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0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0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0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29"/>
          </p:nvPr>
        </p:nvSpPr>
        <p:spPr>
          <a:xfrm>
            <a:off x="1542796" y="2136788"/>
            <a:ext cx="1975104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0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0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0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5"/>
          <p:cNvSpPr>
            <a:spLocks noGrp="1"/>
          </p:cNvSpPr>
          <p:nvPr>
            <p:ph type="body" sz="quarter" idx="30"/>
          </p:nvPr>
        </p:nvSpPr>
        <p:spPr>
          <a:xfrm>
            <a:off x="1542796" y="1738919"/>
            <a:ext cx="1975104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5"/>
          <p:cNvSpPr>
            <a:spLocks noGrp="1"/>
          </p:cNvSpPr>
          <p:nvPr>
            <p:ph type="body" sz="quarter" idx="31"/>
          </p:nvPr>
        </p:nvSpPr>
        <p:spPr>
          <a:xfrm>
            <a:off x="3698748" y="1738919"/>
            <a:ext cx="1975104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5"/>
          <p:cNvSpPr>
            <a:spLocks noGrp="1"/>
          </p:cNvSpPr>
          <p:nvPr>
            <p:ph type="body" sz="quarter" idx="32"/>
          </p:nvPr>
        </p:nvSpPr>
        <p:spPr>
          <a:xfrm>
            <a:off x="5854700" y="1738919"/>
            <a:ext cx="1975104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0"/>
          <p:cNvSpPr>
            <a:spLocks noGrp="1"/>
          </p:cNvSpPr>
          <p:nvPr>
            <p:ph sz="quarter" idx="20"/>
          </p:nvPr>
        </p:nvSpPr>
        <p:spPr>
          <a:xfrm>
            <a:off x="8548577" y="1861185"/>
            <a:ext cx="280416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08AE5534-AA48-F74E-87DE-645A72BA9DD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2" name="Footer Placeholder 12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Taxable Acquisitions</a:t>
            </a:r>
          </a:p>
        </p:txBody>
      </p:sp>
    </p:spTree>
    <p:extLst>
      <p:ext uri="{BB962C8B-B14F-4D97-AF65-F5344CB8AC3E}">
        <p14:creationId xmlns:p14="http://schemas.microsoft.com/office/powerpoint/2010/main" val="16318878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Pha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1"/>
          <p:cNvSpPr>
            <a:spLocks/>
          </p:cNvSpPr>
          <p:nvPr userDrawn="1"/>
        </p:nvSpPr>
        <p:spPr bwMode="auto">
          <a:xfrm>
            <a:off x="4091518" y="1981201"/>
            <a:ext cx="3382433" cy="339725"/>
          </a:xfrm>
          <a:custGeom>
            <a:avLst/>
            <a:gdLst>
              <a:gd name="T0" fmla="*/ 0 w 2536891"/>
              <a:gd name="T1" fmla="*/ 0 h 488372"/>
              <a:gd name="T2" fmla="*/ 1942613 w 2536891"/>
              <a:gd name="T3" fmla="*/ 0 h 488372"/>
              <a:gd name="T4" fmla="*/ 2455867 w 2536891"/>
              <a:gd name="T5" fmla="*/ 200 h 488372"/>
              <a:gd name="T6" fmla="*/ 2536627 w 2536891"/>
              <a:gd name="T7" fmla="*/ 114356 h 488372"/>
              <a:gd name="T8" fmla="*/ 131751 w 2536891"/>
              <a:gd name="T9" fmla="*/ 114356 h 488372"/>
              <a:gd name="T10" fmla="*/ 81090 w 2536891"/>
              <a:gd name="T11" fmla="*/ 113442 h 488372"/>
              <a:gd name="T12" fmla="*/ 0 w 2536891"/>
              <a:gd name="T13" fmla="*/ 0 h 4883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536891" h="488372">
                <a:moveTo>
                  <a:pt x="0" y="0"/>
                </a:moveTo>
                <a:lnTo>
                  <a:pt x="1942817" y="0"/>
                </a:lnTo>
                <a:lnTo>
                  <a:pt x="2456123" y="856"/>
                </a:lnTo>
                <a:lnTo>
                  <a:pt x="2536891" y="488372"/>
                </a:lnTo>
                <a:lnTo>
                  <a:pt x="131763" y="488372"/>
                </a:lnTo>
                <a:lnTo>
                  <a:pt x="81098" y="484467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800"/>
          </a:p>
        </p:txBody>
      </p:sp>
      <p:sp>
        <p:nvSpPr>
          <p:cNvPr id="17" name="Freeform 13"/>
          <p:cNvSpPr>
            <a:spLocks/>
          </p:cNvSpPr>
          <p:nvPr userDrawn="1"/>
        </p:nvSpPr>
        <p:spPr bwMode="auto">
          <a:xfrm>
            <a:off x="609601" y="1982789"/>
            <a:ext cx="3373967" cy="339725"/>
          </a:xfrm>
          <a:custGeom>
            <a:avLst/>
            <a:gdLst>
              <a:gd name="T0" fmla="*/ 0 w 2529680"/>
              <a:gd name="T1" fmla="*/ 0 h 488372"/>
              <a:gd name="T2" fmla="*/ 1945261 w 2529680"/>
              <a:gd name="T3" fmla="*/ 0 h 488372"/>
              <a:gd name="T4" fmla="*/ 2463980 w 2529680"/>
              <a:gd name="T5" fmla="*/ 200 h 488372"/>
              <a:gd name="T6" fmla="*/ 2532861 w 2529680"/>
              <a:gd name="T7" fmla="*/ 113442 h 488372"/>
              <a:gd name="T8" fmla="*/ 0 w 2529680"/>
              <a:gd name="T9" fmla="*/ 114356 h 488372"/>
              <a:gd name="T10" fmla="*/ 0 w 2529680"/>
              <a:gd name="T11" fmla="*/ 0 h 488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529680" h="488372">
                <a:moveTo>
                  <a:pt x="0" y="0"/>
                </a:moveTo>
                <a:lnTo>
                  <a:pt x="1942817" y="0"/>
                </a:lnTo>
                <a:lnTo>
                  <a:pt x="2460885" y="856"/>
                </a:lnTo>
                <a:lnTo>
                  <a:pt x="2529680" y="484467"/>
                </a:lnTo>
                <a:lnTo>
                  <a:pt x="0" y="488372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800"/>
          </a:p>
        </p:txBody>
      </p:sp>
      <p:sp>
        <p:nvSpPr>
          <p:cNvPr id="21" name="Freeform 14"/>
          <p:cNvSpPr>
            <a:spLocks/>
          </p:cNvSpPr>
          <p:nvPr userDrawn="1"/>
        </p:nvSpPr>
        <p:spPr bwMode="auto">
          <a:xfrm>
            <a:off x="7579785" y="1981201"/>
            <a:ext cx="3829049" cy="339725"/>
          </a:xfrm>
          <a:custGeom>
            <a:avLst/>
            <a:gdLst>
              <a:gd name="T0" fmla="*/ 0 w 2996886"/>
              <a:gd name="T1" fmla="*/ 0 h 488372"/>
              <a:gd name="T2" fmla="*/ 1638173 w 2996886"/>
              <a:gd name="T3" fmla="*/ 0 h 488372"/>
              <a:gd name="T4" fmla="*/ 2526959 w 2996886"/>
              <a:gd name="T5" fmla="*/ 200 h 488372"/>
              <a:gd name="T6" fmla="*/ 2525539 w 2996886"/>
              <a:gd name="T7" fmla="*/ 114356 h 488372"/>
              <a:gd name="T8" fmla="*/ 60236 w 2996886"/>
              <a:gd name="T9" fmla="*/ 114356 h 488372"/>
              <a:gd name="T10" fmla="*/ 0 w 2996886"/>
              <a:gd name="T11" fmla="*/ 0 h 488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996886" h="488372">
                <a:moveTo>
                  <a:pt x="0" y="0"/>
                </a:moveTo>
                <a:lnTo>
                  <a:pt x="1942817" y="0"/>
                </a:lnTo>
                <a:lnTo>
                  <a:pt x="2996886" y="855"/>
                </a:lnTo>
                <a:cubicBezTo>
                  <a:pt x="2996325" y="163361"/>
                  <a:pt x="2995763" y="325866"/>
                  <a:pt x="2995202" y="488372"/>
                </a:cubicBezTo>
                <a:lnTo>
                  <a:pt x="71438" y="488372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800"/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16"/>
          </p:nvPr>
        </p:nvSpPr>
        <p:spPr bwMode="gray">
          <a:xfrm>
            <a:off x="7574514" y="1983087"/>
            <a:ext cx="3834321" cy="1903112"/>
          </a:xfrm>
          <a:custGeom>
            <a:avLst/>
            <a:gdLst>
              <a:gd name="connsiteX0" fmla="*/ 0 w 2674468"/>
              <a:gd name="connsiteY0" fmla="*/ 0 h 1724992"/>
              <a:gd name="connsiteX1" fmla="*/ 2472747 w 2674468"/>
              <a:gd name="connsiteY1" fmla="*/ 0 h 1724992"/>
              <a:gd name="connsiteX2" fmla="*/ 2674468 w 2674468"/>
              <a:gd name="connsiteY2" fmla="*/ 862496 h 1724992"/>
              <a:gd name="connsiteX3" fmla="*/ 2472747 w 2674468"/>
              <a:gd name="connsiteY3" fmla="*/ 1724992 h 1724992"/>
              <a:gd name="connsiteX4" fmla="*/ 0 w 2674468"/>
              <a:gd name="connsiteY4" fmla="*/ 1724992 h 1724992"/>
              <a:gd name="connsiteX5" fmla="*/ 201721 w 2674468"/>
              <a:gd name="connsiteY5" fmla="*/ 862496 h 1724992"/>
              <a:gd name="connsiteX6" fmla="*/ 0 w 2674468"/>
              <a:gd name="connsiteY6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201721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2747" h="1724992">
                <a:moveTo>
                  <a:pt x="0" y="0"/>
                </a:moveTo>
                <a:lnTo>
                  <a:pt x="2472747" y="0"/>
                </a:lnTo>
                <a:lnTo>
                  <a:pt x="2472747" y="1724992"/>
                </a:lnTo>
                <a:lnTo>
                  <a:pt x="0" y="1724992"/>
                </a:lnTo>
                <a:lnTo>
                  <a:pt x="169327" y="862496"/>
                </a:lnTo>
                <a:lnTo>
                  <a:pt x="0" y="0"/>
                </a:lnTo>
                <a:close/>
              </a:path>
            </a:pathLst>
          </a:custGeom>
          <a:noFill/>
          <a:ln w="6350">
            <a:solidFill>
              <a:srgbClr val="A9A9A9"/>
            </a:solidFill>
            <a:miter lim="800000"/>
            <a:headEnd/>
            <a:tailEnd/>
          </a:ln>
        </p:spPr>
        <p:txBody>
          <a:bodyPr lIns="411480" tIns="457200" rIns="137160" bIns="13716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20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2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2625" indent="-169863">
              <a:buClr>
                <a:srgbClr val="B01C2E"/>
              </a:buClr>
              <a:defRPr sz="12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4091412" y="1983087"/>
            <a:ext cx="3565957" cy="1903112"/>
          </a:xfrm>
          <a:prstGeom prst="chevron">
            <a:avLst>
              <a:gd name="adj" fmla="val 10431"/>
            </a:avLst>
          </a:prstGeom>
          <a:ln w="6350">
            <a:solidFill>
              <a:srgbClr val="A9A9A9"/>
            </a:solidFill>
          </a:ln>
        </p:spPr>
        <p:txBody>
          <a:bodyPr lIns="137160" tIns="457200" rIns="137160" bIns="13716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2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2625" indent="-169863">
              <a:buClr>
                <a:srgbClr val="B01C2E"/>
              </a:buClr>
              <a:defRPr sz="12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1"/>
          </p:nvPr>
        </p:nvSpPr>
        <p:spPr>
          <a:xfrm>
            <a:off x="609600" y="4038600"/>
            <a:ext cx="10769600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0"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23"/>
          </p:nvPr>
        </p:nvSpPr>
        <p:spPr>
          <a:xfrm>
            <a:off x="609600" y="5937504"/>
            <a:ext cx="5266944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173736" algn="l">
              <a:buClr>
                <a:schemeClr val="accent1"/>
              </a:buClr>
              <a:buFont typeface="Wingdings" pitchFamily="2" charset="2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24"/>
          </p:nvPr>
        </p:nvSpPr>
        <p:spPr>
          <a:xfrm>
            <a:off x="6114371" y="5937504"/>
            <a:ext cx="5266944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173736" algn="l">
              <a:buClr>
                <a:schemeClr val="accent1"/>
              </a:buClr>
              <a:buFont typeface="Wingdings" pitchFamily="2" charset="2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609600" y="1417320"/>
            <a:ext cx="6925056" cy="457200"/>
          </a:xfrm>
          <a:prstGeom prst="homePlate">
            <a:avLst>
              <a:gd name="adj" fmla="val 33316"/>
            </a:avLst>
          </a:prstGeom>
          <a:solidFill>
            <a:srgbClr val="B01C2E"/>
          </a:solidFill>
          <a:ln w="6350">
            <a:solidFill>
              <a:srgbClr val="A9A9A9"/>
            </a:solidFill>
          </a:ln>
        </p:spPr>
        <p:txBody>
          <a:bodyPr lIns="137160" tIns="137160" rIns="27432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3"/>
          <p:cNvSpPr>
            <a:spLocks noGrp="1"/>
          </p:cNvSpPr>
          <p:nvPr>
            <p:ph type="body" sz="quarter" idx="17"/>
          </p:nvPr>
        </p:nvSpPr>
        <p:spPr>
          <a:xfrm>
            <a:off x="7541684" y="1417325"/>
            <a:ext cx="4047744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 marL="342900" marR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609600" y="1983087"/>
            <a:ext cx="3565957" cy="1903112"/>
          </a:xfrm>
          <a:prstGeom prst="homePlate">
            <a:avLst>
              <a:gd name="adj" fmla="val 11448"/>
            </a:avLst>
          </a:prstGeom>
          <a:ln w="6350">
            <a:solidFill>
              <a:srgbClr val="A9A9A9"/>
            </a:solidFill>
          </a:ln>
        </p:spPr>
        <p:txBody>
          <a:bodyPr lIns="137160" tIns="457200" rIns="137160" bIns="13716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2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2625" indent="-169863">
              <a:buClr>
                <a:srgbClr val="B01C2E"/>
              </a:buClr>
              <a:defRPr sz="12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29"/>
          <p:cNvSpPr>
            <a:spLocks noGrp="1"/>
          </p:cNvSpPr>
          <p:nvPr>
            <p:ph type="body" sz="quarter" idx="13"/>
          </p:nvPr>
        </p:nvSpPr>
        <p:spPr>
          <a:xfrm>
            <a:off x="609600" y="1981200"/>
            <a:ext cx="3297573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9"/>
          <p:cNvSpPr>
            <a:spLocks noGrp="1"/>
          </p:cNvSpPr>
          <p:nvPr>
            <p:ph type="body" sz="quarter" idx="15"/>
          </p:nvPr>
        </p:nvSpPr>
        <p:spPr>
          <a:xfrm>
            <a:off x="4192430" y="1988239"/>
            <a:ext cx="3183381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Content Placeholder 10"/>
          <p:cNvSpPr>
            <a:spLocks noGrp="1"/>
          </p:cNvSpPr>
          <p:nvPr>
            <p:ph sz="quarter" idx="18"/>
          </p:nvPr>
        </p:nvSpPr>
        <p:spPr>
          <a:xfrm>
            <a:off x="609600" y="4343400"/>
            <a:ext cx="10769600" cy="14813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3736" indent="-173736">
              <a:lnSpc>
                <a:spcPct val="95000"/>
              </a:lnSpc>
              <a:spcBef>
                <a:spcPts val="720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7472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521208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914400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Text Placeholder 29"/>
          <p:cNvSpPr>
            <a:spLocks noGrp="1"/>
          </p:cNvSpPr>
          <p:nvPr>
            <p:ph type="body" sz="quarter" idx="34"/>
          </p:nvPr>
        </p:nvSpPr>
        <p:spPr>
          <a:xfrm>
            <a:off x="7683241" y="1987175"/>
            <a:ext cx="3725596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E70D8206-912D-3041-8A60-C5747B4B98E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Taxable Acquisitions</a:t>
            </a:r>
          </a:p>
        </p:txBody>
      </p:sp>
    </p:spTree>
    <p:extLst>
      <p:ext uri="{BB962C8B-B14F-4D97-AF65-F5344CB8AC3E}">
        <p14:creationId xmlns:p14="http://schemas.microsoft.com/office/powerpoint/2010/main" val="93213104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Workstreams and outcom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entagon 32"/>
          <p:cNvSpPr/>
          <p:nvPr userDrawn="1"/>
        </p:nvSpPr>
        <p:spPr bwMode="auto">
          <a:xfrm>
            <a:off x="7342718" y="1755775"/>
            <a:ext cx="905933" cy="4343400"/>
          </a:xfrm>
          <a:prstGeom prst="homePlate">
            <a:avLst>
              <a:gd name="adj" fmla="val 98835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indent="-117475" eaLnBrk="0" hangingPunct="0">
              <a:lnSpc>
                <a:spcPct val="95000"/>
              </a:lnSpc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6" name="Text Placeholder 2"/>
          <p:cNvSpPr>
            <a:spLocks noGrp="1"/>
          </p:cNvSpPr>
          <p:nvPr>
            <p:ph type="body" idx="38"/>
          </p:nvPr>
        </p:nvSpPr>
        <p:spPr>
          <a:xfrm>
            <a:off x="3991647" y="1290639"/>
            <a:ext cx="3169920" cy="48085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39"/>
          </p:nvPr>
        </p:nvSpPr>
        <p:spPr>
          <a:xfrm>
            <a:off x="637117" y="1290639"/>
            <a:ext cx="3169920" cy="48085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5"/>
          </p:nvPr>
        </p:nvSpPr>
        <p:spPr>
          <a:xfrm>
            <a:off x="3991647" y="1290638"/>
            <a:ext cx="3169920" cy="38039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1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2"/>
          </p:nvPr>
        </p:nvSpPr>
        <p:spPr>
          <a:xfrm>
            <a:off x="8400511" y="1290638"/>
            <a:ext cx="316992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1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30"/>
          </p:nvPr>
        </p:nvSpPr>
        <p:spPr>
          <a:xfrm>
            <a:off x="637117" y="1290638"/>
            <a:ext cx="3169920" cy="380392"/>
          </a:xfrm>
          <a:prstGeom prst="rect">
            <a:avLst/>
          </a:prstGeom>
          <a:solidFill>
            <a:srgbClr val="4D4D4D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1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40"/>
          </p:nvPr>
        </p:nvSpPr>
        <p:spPr>
          <a:xfrm>
            <a:off x="759037" y="1731264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0" rIns="45720" bIns="0" anchor="ctr" anchorCtr="0"/>
          <a:lstStyle>
            <a:lvl1pPr marL="0" indent="-118872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9"/>
          <p:cNvSpPr>
            <a:spLocks noGrp="1"/>
          </p:cNvSpPr>
          <p:nvPr>
            <p:ph type="body" sz="quarter" idx="41"/>
          </p:nvPr>
        </p:nvSpPr>
        <p:spPr>
          <a:xfrm>
            <a:off x="759037" y="2357120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9"/>
          <p:cNvSpPr>
            <a:spLocks noGrp="1"/>
          </p:cNvSpPr>
          <p:nvPr>
            <p:ph type="body" sz="quarter" idx="42"/>
          </p:nvPr>
        </p:nvSpPr>
        <p:spPr>
          <a:xfrm>
            <a:off x="759037" y="2982976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43"/>
          </p:nvPr>
        </p:nvSpPr>
        <p:spPr>
          <a:xfrm>
            <a:off x="759037" y="3608832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9"/>
          <p:cNvSpPr>
            <a:spLocks noGrp="1"/>
          </p:cNvSpPr>
          <p:nvPr>
            <p:ph type="body" sz="quarter" idx="44"/>
          </p:nvPr>
        </p:nvSpPr>
        <p:spPr>
          <a:xfrm>
            <a:off x="759037" y="4234688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45"/>
          </p:nvPr>
        </p:nvSpPr>
        <p:spPr>
          <a:xfrm>
            <a:off x="759037" y="5486400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46"/>
          </p:nvPr>
        </p:nvSpPr>
        <p:spPr>
          <a:xfrm>
            <a:off x="759037" y="4860544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47"/>
          </p:nvPr>
        </p:nvSpPr>
        <p:spPr>
          <a:xfrm>
            <a:off x="4113567" y="1743456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48"/>
          </p:nvPr>
        </p:nvSpPr>
        <p:spPr>
          <a:xfrm>
            <a:off x="4113567" y="2369312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49"/>
          </p:nvPr>
        </p:nvSpPr>
        <p:spPr>
          <a:xfrm>
            <a:off x="4113567" y="2995168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50"/>
          </p:nvPr>
        </p:nvSpPr>
        <p:spPr>
          <a:xfrm>
            <a:off x="4113567" y="3621024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9"/>
          <p:cNvSpPr>
            <a:spLocks noGrp="1"/>
          </p:cNvSpPr>
          <p:nvPr>
            <p:ph type="body" sz="quarter" idx="51"/>
          </p:nvPr>
        </p:nvSpPr>
        <p:spPr>
          <a:xfrm>
            <a:off x="4113567" y="4246880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9"/>
          <p:cNvSpPr>
            <a:spLocks noGrp="1"/>
          </p:cNvSpPr>
          <p:nvPr>
            <p:ph type="body" sz="quarter" idx="52"/>
          </p:nvPr>
        </p:nvSpPr>
        <p:spPr>
          <a:xfrm>
            <a:off x="4113567" y="5498592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53"/>
          </p:nvPr>
        </p:nvSpPr>
        <p:spPr>
          <a:xfrm>
            <a:off x="4113567" y="4872736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9"/>
          <p:cNvSpPr>
            <a:spLocks noGrp="1"/>
          </p:cNvSpPr>
          <p:nvPr>
            <p:ph type="body" sz="quarter" idx="54"/>
          </p:nvPr>
        </p:nvSpPr>
        <p:spPr>
          <a:xfrm>
            <a:off x="8400511" y="1743456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55"/>
          </p:nvPr>
        </p:nvSpPr>
        <p:spPr>
          <a:xfrm>
            <a:off x="8400511" y="2369312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9"/>
          <p:cNvSpPr>
            <a:spLocks noGrp="1"/>
          </p:cNvSpPr>
          <p:nvPr>
            <p:ph type="body" sz="quarter" idx="56"/>
          </p:nvPr>
        </p:nvSpPr>
        <p:spPr>
          <a:xfrm>
            <a:off x="8400511" y="2995168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57"/>
          </p:nvPr>
        </p:nvSpPr>
        <p:spPr>
          <a:xfrm>
            <a:off x="8400511" y="3621024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9"/>
          <p:cNvSpPr>
            <a:spLocks noGrp="1"/>
          </p:cNvSpPr>
          <p:nvPr>
            <p:ph type="body" sz="quarter" idx="58"/>
          </p:nvPr>
        </p:nvSpPr>
        <p:spPr>
          <a:xfrm>
            <a:off x="8400511" y="4246880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9"/>
          <p:cNvSpPr>
            <a:spLocks noGrp="1"/>
          </p:cNvSpPr>
          <p:nvPr>
            <p:ph type="body" sz="quarter" idx="59"/>
          </p:nvPr>
        </p:nvSpPr>
        <p:spPr>
          <a:xfrm>
            <a:off x="8400511" y="5498592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9"/>
          <p:cNvSpPr>
            <a:spLocks noGrp="1"/>
          </p:cNvSpPr>
          <p:nvPr>
            <p:ph type="body" sz="quarter" idx="60"/>
          </p:nvPr>
        </p:nvSpPr>
        <p:spPr>
          <a:xfrm>
            <a:off x="8400511" y="4872736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4" name="Slide Number Placeholder 9"/>
          <p:cNvSpPr>
            <a:spLocks noGrp="1"/>
          </p:cNvSpPr>
          <p:nvPr>
            <p:ph type="sldNum" sz="quarter" idx="61"/>
          </p:nvPr>
        </p:nvSpPr>
        <p:spPr/>
        <p:txBody>
          <a:bodyPr/>
          <a:lstStyle>
            <a:lvl1pPr>
              <a:defRPr/>
            </a:lvl1pPr>
          </a:lstStyle>
          <a:p>
            <a:fld id="{250D9D91-D592-1043-AF8D-0FC015913F1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5" name="Footer Placeholder 33"/>
          <p:cNvSpPr>
            <a:spLocks noGrp="1"/>
          </p:cNvSpPr>
          <p:nvPr>
            <p:ph type="ftr" sz="quarter" idx="6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Taxable Acquisitions</a:t>
            </a:r>
          </a:p>
        </p:txBody>
      </p:sp>
    </p:spTree>
    <p:extLst>
      <p:ext uri="{BB962C8B-B14F-4D97-AF65-F5344CB8AC3E}">
        <p14:creationId xmlns:p14="http://schemas.microsoft.com/office/powerpoint/2010/main" val="84337482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Elements Leading 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entagon 14"/>
          <p:cNvSpPr/>
          <p:nvPr userDrawn="1"/>
        </p:nvSpPr>
        <p:spPr bwMode="auto">
          <a:xfrm>
            <a:off x="7133167" y="1497014"/>
            <a:ext cx="905933" cy="4352925"/>
          </a:xfrm>
          <a:prstGeom prst="homePlate">
            <a:avLst>
              <a:gd name="adj" fmla="val 98835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9549384" y="-97536"/>
            <a:ext cx="640080" cy="3425952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8156448" y="1981200"/>
            <a:ext cx="3425952" cy="411480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" pitchFamily="2" charset="2"/>
              <a:buChar char="§"/>
              <a:defRPr sz="1200" b="1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200" b="1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="1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200" b="1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3"/>
          <p:cNvSpPr>
            <a:spLocks noGrp="1"/>
          </p:cNvSpPr>
          <p:nvPr>
            <p:ph sz="half" idx="12"/>
          </p:nvPr>
        </p:nvSpPr>
        <p:spPr>
          <a:xfrm>
            <a:off x="508004" y="1497016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22"/>
          </p:nvPr>
        </p:nvSpPr>
        <p:spPr>
          <a:xfrm>
            <a:off x="508004" y="298543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23"/>
          </p:nvPr>
        </p:nvSpPr>
        <p:spPr>
          <a:xfrm>
            <a:off x="508004" y="447385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24"/>
          </p:nvPr>
        </p:nvSpPr>
        <p:spPr>
          <a:xfrm>
            <a:off x="2743204" y="1497016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25"/>
          </p:nvPr>
        </p:nvSpPr>
        <p:spPr>
          <a:xfrm>
            <a:off x="2743204" y="298543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half" idx="26"/>
          </p:nvPr>
        </p:nvSpPr>
        <p:spPr>
          <a:xfrm>
            <a:off x="2743204" y="447385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ontent Placeholder 3"/>
          <p:cNvSpPr>
            <a:spLocks noGrp="1"/>
          </p:cNvSpPr>
          <p:nvPr>
            <p:ph sz="half" idx="27"/>
          </p:nvPr>
        </p:nvSpPr>
        <p:spPr>
          <a:xfrm>
            <a:off x="4978404" y="1497016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ontent Placeholder 3"/>
          <p:cNvSpPr>
            <a:spLocks noGrp="1"/>
          </p:cNvSpPr>
          <p:nvPr>
            <p:ph sz="half" idx="28"/>
          </p:nvPr>
        </p:nvSpPr>
        <p:spPr>
          <a:xfrm>
            <a:off x="4978404" y="298543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29"/>
          </p:nvPr>
        </p:nvSpPr>
        <p:spPr>
          <a:xfrm>
            <a:off x="4978404" y="447385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9"/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/>
            </a:lvl1pPr>
          </a:lstStyle>
          <a:p>
            <a:fld id="{09CF501B-85A3-0748-9525-578425C4928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Taxable Acquisitions</a:t>
            </a:r>
          </a:p>
        </p:txBody>
      </p:sp>
    </p:spTree>
    <p:extLst>
      <p:ext uri="{BB962C8B-B14F-4D97-AF65-F5344CB8AC3E}">
        <p14:creationId xmlns:p14="http://schemas.microsoft.com/office/powerpoint/2010/main" val="198554645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lated Text Blocks - Sequ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Elbow Connector 24"/>
          <p:cNvCxnSpPr>
            <a:cxnSpLocks noChangeShapeType="1"/>
          </p:cNvCxnSpPr>
          <p:nvPr userDrawn="1"/>
        </p:nvCxnSpPr>
        <p:spPr bwMode="auto">
          <a:xfrm rot="16200000" flipH="1">
            <a:off x="1340909" y="2289175"/>
            <a:ext cx="768350" cy="850900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Elbow Connector 28"/>
          <p:cNvCxnSpPr>
            <a:cxnSpLocks noChangeShapeType="1"/>
          </p:cNvCxnSpPr>
          <p:nvPr userDrawn="1"/>
        </p:nvCxnSpPr>
        <p:spPr bwMode="auto">
          <a:xfrm rot="16200000" flipH="1">
            <a:off x="2881313" y="3486680"/>
            <a:ext cx="752475" cy="833967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Elbow Connector 39"/>
          <p:cNvCxnSpPr>
            <a:cxnSpLocks noChangeShapeType="1"/>
          </p:cNvCxnSpPr>
          <p:nvPr userDrawn="1"/>
        </p:nvCxnSpPr>
        <p:spPr bwMode="auto">
          <a:xfrm rot="16200000" flipH="1">
            <a:off x="4429126" y="4714875"/>
            <a:ext cx="698500" cy="793751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Content Placeholder 3"/>
          <p:cNvSpPr>
            <a:spLocks noGrp="1"/>
          </p:cNvSpPr>
          <p:nvPr>
            <p:ph sz="half" idx="17"/>
          </p:nvPr>
        </p:nvSpPr>
        <p:spPr>
          <a:xfrm>
            <a:off x="5175608" y="4986243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14"/>
          </p:nvPr>
        </p:nvSpPr>
        <p:spPr>
          <a:xfrm>
            <a:off x="638822" y="1441358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15"/>
          </p:nvPr>
        </p:nvSpPr>
        <p:spPr>
          <a:xfrm>
            <a:off x="2150310" y="2622986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6"/>
          </p:nvPr>
        </p:nvSpPr>
        <p:spPr>
          <a:xfrm>
            <a:off x="3674314" y="3804614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fld id="{0C10D6D8-3B97-854D-B9A2-DD1E2B17F6F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3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Taxable Acquisitions</a:t>
            </a:r>
          </a:p>
        </p:txBody>
      </p:sp>
    </p:spTree>
    <p:extLst>
      <p:ext uri="{BB962C8B-B14F-4D97-AF65-F5344CB8AC3E}">
        <p14:creationId xmlns:p14="http://schemas.microsoft.com/office/powerpoint/2010/main" val="61958301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uide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rallelogram 6"/>
          <p:cNvSpPr/>
          <p:nvPr userDrawn="1"/>
        </p:nvSpPr>
        <p:spPr bwMode="auto">
          <a:xfrm>
            <a:off x="950384" y="1782764"/>
            <a:ext cx="10625667" cy="528637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8" name="Parallelogram 7"/>
          <p:cNvSpPr/>
          <p:nvPr userDrawn="1"/>
        </p:nvSpPr>
        <p:spPr bwMode="auto">
          <a:xfrm>
            <a:off x="950384" y="5300664"/>
            <a:ext cx="10625667" cy="530225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4" name="Parallelogram 13"/>
          <p:cNvSpPr/>
          <p:nvPr userDrawn="1"/>
        </p:nvSpPr>
        <p:spPr bwMode="auto">
          <a:xfrm>
            <a:off x="950384" y="4129089"/>
            <a:ext cx="10625667" cy="528637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5" name="Parallelogram 14"/>
          <p:cNvSpPr/>
          <p:nvPr userDrawn="1"/>
        </p:nvSpPr>
        <p:spPr bwMode="auto">
          <a:xfrm>
            <a:off x="950384" y="2955925"/>
            <a:ext cx="10625667" cy="528638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9" name="Content Placeholder 3"/>
          <p:cNvSpPr>
            <a:spLocks noGrp="1"/>
          </p:cNvSpPr>
          <p:nvPr>
            <p:ph sz="half" idx="12"/>
          </p:nvPr>
        </p:nvSpPr>
        <p:spPr>
          <a:xfrm>
            <a:off x="944921" y="1501649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indent="-176213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13"/>
          </p:nvPr>
        </p:nvSpPr>
        <p:spPr>
          <a:xfrm>
            <a:off x="944921" y="5019703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marR="0" indent="-176213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/>
          </p:nvPr>
        </p:nvSpPr>
        <p:spPr>
          <a:xfrm>
            <a:off x="944921" y="3847016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indent="-176213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15"/>
          </p:nvPr>
        </p:nvSpPr>
        <p:spPr>
          <a:xfrm>
            <a:off x="944921" y="2674335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indent="-176213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97E92AD8-7AD1-8240-8596-9839AB315E2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7" name="Footer Placeholder 14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Taxable Acquisitions</a:t>
            </a:r>
          </a:p>
        </p:txBody>
      </p:sp>
    </p:spTree>
    <p:extLst>
      <p:ext uri="{BB962C8B-B14F-4D97-AF65-F5344CB8AC3E}">
        <p14:creationId xmlns:p14="http://schemas.microsoft.com/office/powerpoint/2010/main" val="49958287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ases and threads with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8"/>
          <p:cNvCxnSpPr>
            <a:cxnSpLocks noChangeShapeType="1"/>
          </p:cNvCxnSpPr>
          <p:nvPr userDrawn="1"/>
        </p:nvCxnSpPr>
        <p:spPr bwMode="auto">
          <a:xfrm>
            <a:off x="637117" y="3294064"/>
            <a:ext cx="10651067" cy="1587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Straight Connector 9"/>
          <p:cNvCxnSpPr>
            <a:cxnSpLocks noChangeShapeType="1"/>
          </p:cNvCxnSpPr>
          <p:nvPr userDrawn="1"/>
        </p:nvCxnSpPr>
        <p:spPr bwMode="auto">
          <a:xfrm>
            <a:off x="637117" y="4670425"/>
            <a:ext cx="10651067" cy="1588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10"/>
          <p:cNvCxnSpPr>
            <a:cxnSpLocks noChangeShapeType="1"/>
          </p:cNvCxnSpPr>
          <p:nvPr userDrawn="1"/>
        </p:nvCxnSpPr>
        <p:spPr bwMode="auto">
          <a:xfrm>
            <a:off x="637117" y="6046789"/>
            <a:ext cx="10651067" cy="1587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2110661" y="1290643"/>
            <a:ext cx="2494291" cy="600507"/>
          </a:xfrm>
          <a:prstGeom prst="homePlate">
            <a:avLst>
              <a:gd name="adj" fmla="val 31973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9195340" y="1290643"/>
            <a:ext cx="2538493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0"/>
          </p:nvPr>
        </p:nvSpPr>
        <p:spPr>
          <a:xfrm>
            <a:off x="6819046" y="1290643"/>
            <a:ext cx="2538493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1"/>
          </p:nvPr>
        </p:nvSpPr>
        <p:spPr>
          <a:xfrm>
            <a:off x="4442752" y="1290643"/>
            <a:ext cx="2538493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609600" y="2068960"/>
            <a:ext cx="134112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609600" y="3436667"/>
            <a:ext cx="134112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609600" y="4802487"/>
            <a:ext cx="134112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110661" y="2068960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2110661" y="3441508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2110661" y="4807328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4442752" y="2066925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4442752" y="343947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4442752" y="480529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6819045" y="2066925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6819045" y="343947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6819045" y="480529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9195340" y="2066925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/>
          <p:cNvSpPr>
            <a:spLocks noGrp="1"/>
          </p:cNvSpPr>
          <p:nvPr>
            <p:ph type="body" sz="quarter" idx="44"/>
          </p:nvPr>
        </p:nvSpPr>
        <p:spPr>
          <a:xfrm>
            <a:off x="9195340" y="343947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9195340" y="480529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Slide Number Placeholder 9"/>
          <p:cNvSpPr>
            <a:spLocks noGrp="1"/>
          </p:cNvSpPr>
          <p:nvPr>
            <p:ph type="sldNum" sz="quarter" idx="46"/>
          </p:nvPr>
        </p:nvSpPr>
        <p:spPr/>
        <p:txBody>
          <a:bodyPr/>
          <a:lstStyle>
            <a:lvl1pPr>
              <a:defRPr/>
            </a:lvl1pPr>
          </a:lstStyle>
          <a:p>
            <a:fld id="{BC9105C1-E9DE-DA45-BFF7-4F496C07EBD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6" name="Footer Placeholder 37"/>
          <p:cNvSpPr>
            <a:spLocks noGrp="1"/>
          </p:cNvSpPr>
          <p:nvPr>
            <p:ph type="ftr" sz="quarter" idx="47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Taxable Acquisitions</a:t>
            </a:r>
          </a:p>
        </p:txBody>
      </p:sp>
    </p:spTree>
    <p:extLst>
      <p:ext uri="{BB962C8B-B14F-4D97-AF65-F5344CB8AC3E}">
        <p14:creationId xmlns:p14="http://schemas.microsoft.com/office/powerpoint/2010/main" val="23327755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entagon 11"/>
          <p:cNvSpPr>
            <a:spLocks noChangeArrowheads="1"/>
          </p:cNvSpPr>
          <p:nvPr userDrawn="1"/>
        </p:nvSpPr>
        <p:spPr bwMode="auto">
          <a:xfrm>
            <a:off x="2868085" y="1277938"/>
            <a:ext cx="8824383" cy="582612"/>
          </a:xfrm>
          <a:prstGeom prst="homePlate">
            <a:avLst>
              <a:gd name="adj" fmla="val 39286"/>
            </a:avLst>
          </a:prstGeom>
          <a:solidFill>
            <a:schemeClr val="accent1"/>
          </a:solidFill>
          <a:ln w="12700">
            <a:solidFill>
              <a:srgbClr val="A9A9A9"/>
            </a:solidFill>
            <a:miter lim="800000"/>
            <a:headEnd/>
            <a:tailEnd/>
          </a:ln>
        </p:spPr>
        <p:txBody>
          <a:bodyPr lIns="137160" tIns="137160" rIns="228600" bIns="13716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800" b="1">
              <a:solidFill>
                <a:schemeClr val="bg1"/>
              </a:solidFill>
              <a:latin typeface="Arial" charset="0"/>
            </a:endParaRPr>
          </a:p>
        </p:txBody>
      </p:sp>
      <p:cxnSp>
        <p:nvCxnSpPr>
          <p:cNvPr id="23" name="Straight Connector 9"/>
          <p:cNvCxnSpPr>
            <a:cxnSpLocks noChangeShapeType="1"/>
          </p:cNvCxnSpPr>
          <p:nvPr userDrawn="1"/>
        </p:nvCxnSpPr>
        <p:spPr bwMode="auto">
          <a:xfrm>
            <a:off x="2880784" y="1568450"/>
            <a:ext cx="8811683" cy="0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10"/>
          <p:cNvCxnSpPr>
            <a:cxnSpLocks noChangeShapeType="1"/>
          </p:cNvCxnSpPr>
          <p:nvPr userDrawn="1"/>
        </p:nvCxnSpPr>
        <p:spPr bwMode="auto">
          <a:xfrm rot="16200000" flipH="1">
            <a:off x="554302" y="3602303"/>
            <a:ext cx="4665662" cy="16933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5" name="Group 115"/>
          <p:cNvGrpSpPr>
            <a:grpSpLocks/>
          </p:cNvGrpSpPr>
          <p:nvPr userDrawn="1"/>
        </p:nvGrpSpPr>
        <p:grpSpPr bwMode="auto">
          <a:xfrm>
            <a:off x="3445933" y="1576388"/>
            <a:ext cx="7374467" cy="4367212"/>
            <a:chOff x="2585007" y="1576462"/>
            <a:chExt cx="5530617" cy="4041195"/>
          </a:xfrm>
        </p:grpSpPr>
        <p:cxnSp>
          <p:nvCxnSpPr>
            <p:cNvPr id="42" name="Straight Connector 12"/>
            <p:cNvCxnSpPr>
              <a:cxnSpLocks noChangeShapeType="1"/>
            </p:cNvCxnSpPr>
            <p:nvPr userDrawn="1"/>
          </p:nvCxnSpPr>
          <p:spPr bwMode="auto">
            <a:xfrm rot="5400000">
              <a:off x="564416" y="3597053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" name="Straight Connector 13"/>
            <p:cNvCxnSpPr>
              <a:cxnSpLocks noChangeShapeType="1"/>
            </p:cNvCxnSpPr>
            <p:nvPr userDrawn="1"/>
          </p:nvCxnSpPr>
          <p:spPr bwMode="auto">
            <a:xfrm rot="5400000">
              <a:off x="1415280" y="3597055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8" name="Straight Connector 14"/>
            <p:cNvCxnSpPr>
              <a:cxnSpLocks noChangeShapeType="1"/>
            </p:cNvCxnSpPr>
            <p:nvPr userDrawn="1"/>
          </p:nvCxnSpPr>
          <p:spPr bwMode="auto">
            <a:xfrm rot="5400000">
              <a:off x="989848" y="3597056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9" name="Straight Connector 15"/>
            <p:cNvCxnSpPr>
              <a:cxnSpLocks noChangeShapeType="1"/>
            </p:cNvCxnSpPr>
            <p:nvPr userDrawn="1"/>
          </p:nvCxnSpPr>
          <p:spPr bwMode="auto">
            <a:xfrm rot="5400000">
              <a:off x="2266144" y="3597056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" name="Straight Connector 16"/>
            <p:cNvCxnSpPr>
              <a:cxnSpLocks noChangeShapeType="1"/>
            </p:cNvCxnSpPr>
            <p:nvPr userDrawn="1"/>
          </p:nvCxnSpPr>
          <p:spPr bwMode="auto">
            <a:xfrm rot="5400000">
              <a:off x="1840712" y="3597058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" name="Straight Connector 17"/>
            <p:cNvCxnSpPr>
              <a:cxnSpLocks noChangeShapeType="1"/>
            </p:cNvCxnSpPr>
            <p:nvPr userDrawn="1"/>
          </p:nvCxnSpPr>
          <p:spPr bwMode="auto">
            <a:xfrm rot="5400000">
              <a:off x="3117008" y="3597058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" name="Straight Connector 18"/>
            <p:cNvCxnSpPr>
              <a:cxnSpLocks noChangeShapeType="1"/>
            </p:cNvCxnSpPr>
            <p:nvPr userDrawn="1"/>
          </p:nvCxnSpPr>
          <p:spPr bwMode="auto">
            <a:xfrm rot="5400000">
              <a:off x="2691576" y="3597059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" name="Straight Connector 19"/>
            <p:cNvCxnSpPr>
              <a:cxnSpLocks noChangeShapeType="1"/>
            </p:cNvCxnSpPr>
            <p:nvPr userDrawn="1"/>
          </p:nvCxnSpPr>
          <p:spPr bwMode="auto">
            <a:xfrm rot="5400000">
              <a:off x="3967872" y="3597059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4" name="Straight Connector 20"/>
            <p:cNvCxnSpPr>
              <a:cxnSpLocks noChangeShapeType="1"/>
            </p:cNvCxnSpPr>
            <p:nvPr userDrawn="1"/>
          </p:nvCxnSpPr>
          <p:spPr bwMode="auto">
            <a:xfrm rot="5400000">
              <a:off x="3542440" y="3597061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" name="Straight Connector 21"/>
            <p:cNvCxnSpPr>
              <a:cxnSpLocks noChangeShapeType="1"/>
            </p:cNvCxnSpPr>
            <p:nvPr userDrawn="1"/>
          </p:nvCxnSpPr>
          <p:spPr bwMode="auto">
            <a:xfrm rot="5400000">
              <a:off x="4818736" y="3597061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6" name="Straight Connector 22"/>
            <p:cNvCxnSpPr>
              <a:cxnSpLocks noChangeShapeType="1"/>
            </p:cNvCxnSpPr>
            <p:nvPr userDrawn="1"/>
          </p:nvCxnSpPr>
          <p:spPr bwMode="auto">
            <a:xfrm rot="5400000">
              <a:off x="4393304" y="3597062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" name="Straight Connector 23"/>
            <p:cNvCxnSpPr>
              <a:cxnSpLocks noChangeShapeType="1"/>
            </p:cNvCxnSpPr>
            <p:nvPr userDrawn="1"/>
          </p:nvCxnSpPr>
          <p:spPr bwMode="auto">
            <a:xfrm rot="5400000">
              <a:off x="5669600" y="3597062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" name="Straight Connector 24"/>
            <p:cNvCxnSpPr>
              <a:cxnSpLocks noChangeShapeType="1"/>
            </p:cNvCxnSpPr>
            <p:nvPr userDrawn="1"/>
          </p:nvCxnSpPr>
          <p:spPr bwMode="auto">
            <a:xfrm rot="5400000">
              <a:off x="5244168" y="3597064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9" name="Straight Connector 25"/>
            <p:cNvCxnSpPr>
              <a:cxnSpLocks noChangeShapeType="1"/>
            </p:cNvCxnSpPr>
            <p:nvPr userDrawn="1"/>
          </p:nvCxnSpPr>
          <p:spPr bwMode="auto">
            <a:xfrm rot="5400000">
              <a:off x="6095032" y="3597065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60" name="Rectangle 30"/>
          <p:cNvSpPr>
            <a:spLocks noChangeArrowheads="1"/>
          </p:cNvSpPr>
          <p:nvPr userDrawn="1"/>
        </p:nvSpPr>
        <p:spPr bwMode="auto">
          <a:xfrm>
            <a:off x="624417" y="1860550"/>
            <a:ext cx="10759016" cy="4083050"/>
          </a:xfrm>
          <a:prstGeom prst="rect">
            <a:avLst/>
          </a:prstGeom>
          <a:noFill/>
          <a:ln w="12700">
            <a:solidFill>
              <a:srgbClr val="A9A9A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37160" tIns="137160" rIns="228600" bIns="13716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800" b="1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61" name="Rectangle 31"/>
          <p:cNvSpPr>
            <a:spLocks noChangeArrowheads="1"/>
          </p:cNvSpPr>
          <p:nvPr userDrawn="1"/>
        </p:nvSpPr>
        <p:spPr bwMode="auto">
          <a:xfrm>
            <a:off x="624418" y="1277938"/>
            <a:ext cx="2256367" cy="582612"/>
          </a:xfrm>
          <a:prstGeom prst="rect">
            <a:avLst/>
          </a:prstGeom>
          <a:solidFill>
            <a:srgbClr val="4D4D4D"/>
          </a:solidFill>
          <a:ln w="12700">
            <a:solidFill>
              <a:srgbClr val="A9A9A9"/>
            </a:solidFill>
            <a:miter lim="800000"/>
            <a:headEnd/>
            <a:tailEnd/>
          </a:ln>
        </p:spPr>
        <p:txBody>
          <a:bodyPr lIns="137160" tIns="137160" rIns="228600" bIns="13716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800" b="1">
              <a:solidFill>
                <a:schemeClr val="bg1"/>
              </a:solidFill>
              <a:latin typeface="Arial" charset="0"/>
            </a:endParaRPr>
          </a:p>
        </p:txBody>
      </p:sp>
      <p:cxnSp>
        <p:nvCxnSpPr>
          <p:cNvPr id="62" name="Straight Connector 28"/>
          <p:cNvCxnSpPr>
            <a:cxnSpLocks noChangeShapeType="1"/>
          </p:cNvCxnSpPr>
          <p:nvPr userDrawn="1"/>
        </p:nvCxnSpPr>
        <p:spPr bwMode="auto">
          <a:xfrm>
            <a:off x="630767" y="1277938"/>
            <a:ext cx="2235200" cy="582612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Text Placeholder 12"/>
          <p:cNvSpPr>
            <a:spLocks noGrp="1"/>
          </p:cNvSpPr>
          <p:nvPr>
            <p:ph type="body" sz="quarter" idx="28"/>
          </p:nvPr>
        </p:nvSpPr>
        <p:spPr>
          <a:xfrm>
            <a:off x="2879952" y="1282930"/>
            <a:ext cx="8496387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2"/>
          <p:cNvSpPr>
            <a:spLocks noGrp="1"/>
          </p:cNvSpPr>
          <p:nvPr>
            <p:ph type="body" sz="quarter" idx="31"/>
          </p:nvPr>
        </p:nvSpPr>
        <p:spPr>
          <a:xfrm>
            <a:off x="4021495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4588796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2886892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3454193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6290700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6858001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5156097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5723399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8559905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9127207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7425303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7992604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9694508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44"/>
          </p:nvPr>
        </p:nvSpPr>
        <p:spPr>
          <a:xfrm>
            <a:off x="10261809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10829111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2"/>
          <p:cNvSpPr>
            <a:spLocks noGrp="1"/>
          </p:cNvSpPr>
          <p:nvPr>
            <p:ph type="body" sz="quarter" idx="46"/>
          </p:nvPr>
        </p:nvSpPr>
        <p:spPr>
          <a:xfrm>
            <a:off x="730741" y="1548247"/>
            <a:ext cx="860776" cy="280554"/>
          </a:xfrm>
          <a:prstGeom prst="rect">
            <a:avLst/>
          </a:prstGeom>
          <a:ln w="6350">
            <a:noFill/>
          </a:ln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/>
          <p:cNvSpPr>
            <a:spLocks noGrp="1"/>
          </p:cNvSpPr>
          <p:nvPr>
            <p:ph type="body" sz="quarter" idx="47"/>
          </p:nvPr>
        </p:nvSpPr>
        <p:spPr>
          <a:xfrm>
            <a:off x="1868569" y="1278088"/>
            <a:ext cx="860776" cy="561107"/>
          </a:xfrm>
          <a:prstGeom prst="rect">
            <a:avLst/>
          </a:prstGeom>
          <a:ln w="6350">
            <a:noFill/>
          </a:ln>
        </p:spPr>
        <p:txBody>
          <a:bodyPr lIns="0" tIns="0" rIns="0" bIns="0" anchor="ctr"/>
          <a:lstStyle>
            <a:lvl1pPr marL="0" marR="0" indent="0" algn="r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7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711200" y="1905000"/>
            <a:ext cx="2072640" cy="3977640"/>
          </a:xfrm>
          <a:prstGeom prst="rect">
            <a:avLst/>
          </a:prstGeom>
          <a:noFill/>
          <a:ln>
            <a:noFill/>
          </a:ln>
        </p:spPr>
        <p:txBody>
          <a:bodyPr wrap="square" lIns="91440" anchor="t" anchorCtr="0">
            <a:noAutofit/>
          </a:bodyPr>
          <a:lstStyle>
            <a:lvl1pPr marL="173736" indent="-173736" algn="l">
              <a:spcBef>
                <a:spcPts val="200"/>
              </a:spcBef>
              <a:buClr>
                <a:srgbClr val="B01C2E"/>
              </a:buClr>
              <a:buFont typeface="Wingdings" pitchFamily="2" charset="2"/>
              <a:buChar char="§"/>
              <a:defRPr sz="12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2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2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3" name="Slide Number Placeholder 9"/>
          <p:cNvSpPr>
            <a:spLocks noGrp="1"/>
          </p:cNvSpPr>
          <p:nvPr>
            <p:ph type="sldNum" sz="quarter" idx="48"/>
          </p:nvPr>
        </p:nvSpPr>
        <p:spPr/>
        <p:txBody>
          <a:bodyPr/>
          <a:lstStyle>
            <a:lvl1pPr>
              <a:defRPr/>
            </a:lvl1pPr>
          </a:lstStyle>
          <a:p>
            <a:fld id="{A2AEA599-6C77-BA4A-9F89-7B2425581CA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4" name="Footer Placeholder 47"/>
          <p:cNvSpPr>
            <a:spLocks noGrp="1"/>
          </p:cNvSpPr>
          <p:nvPr>
            <p:ph type="ftr" sz="quarter" idx="49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Taxable Acquisitions</a:t>
            </a:r>
          </a:p>
        </p:txBody>
      </p:sp>
    </p:spTree>
    <p:extLst>
      <p:ext uri="{BB962C8B-B14F-4D97-AF65-F5344CB8AC3E}">
        <p14:creationId xmlns:p14="http://schemas.microsoft.com/office/powerpoint/2010/main" val="130598318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nt chart or Timelin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11"/>
          <p:cNvSpPr>
            <a:spLocks noChangeArrowheads="1"/>
          </p:cNvSpPr>
          <p:nvPr userDrawn="1"/>
        </p:nvSpPr>
        <p:spPr bwMode="auto">
          <a:xfrm>
            <a:off x="2074333" y="1828801"/>
            <a:ext cx="9508067" cy="379413"/>
          </a:xfrm>
          <a:prstGeom prst="rect">
            <a:avLst/>
          </a:pr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endParaRPr lang="en-US" altLang="en-US" sz="1800">
              <a:latin typeface="Arial" charset="0"/>
            </a:endParaRPr>
          </a:p>
        </p:txBody>
      </p:sp>
      <p:sp>
        <p:nvSpPr>
          <p:cNvPr id="71" name="Rectangle 13"/>
          <p:cNvSpPr>
            <a:spLocks noChangeArrowheads="1"/>
          </p:cNvSpPr>
          <p:nvPr userDrawn="1"/>
        </p:nvSpPr>
        <p:spPr bwMode="auto">
          <a:xfrm>
            <a:off x="596900" y="2189163"/>
            <a:ext cx="1464733" cy="3287712"/>
          </a:xfrm>
          <a:prstGeom prst="rect">
            <a:avLst/>
          </a:pr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endParaRPr lang="en-US" altLang="en-US" sz="1800">
              <a:latin typeface="Arial" charset="0"/>
            </a:endParaRPr>
          </a:p>
        </p:txBody>
      </p:sp>
      <p:grpSp>
        <p:nvGrpSpPr>
          <p:cNvPr id="72" name="Group 84"/>
          <p:cNvGrpSpPr>
            <a:grpSpLocks/>
          </p:cNvGrpSpPr>
          <p:nvPr userDrawn="1"/>
        </p:nvGrpSpPr>
        <p:grpSpPr bwMode="auto">
          <a:xfrm>
            <a:off x="590551" y="1819275"/>
            <a:ext cx="10979149" cy="3657600"/>
            <a:chOff x="443344" y="1819866"/>
            <a:chExt cx="8234523" cy="3657600"/>
          </a:xfrm>
        </p:grpSpPr>
        <p:grpSp>
          <p:nvGrpSpPr>
            <p:cNvPr id="73" name="Group 83"/>
            <p:cNvGrpSpPr>
              <a:grpSpLocks/>
            </p:cNvGrpSpPr>
            <p:nvPr userDrawn="1"/>
          </p:nvGrpSpPr>
          <p:grpSpPr bwMode="auto">
            <a:xfrm>
              <a:off x="443344" y="2565862"/>
              <a:ext cx="8229600" cy="2556366"/>
              <a:chOff x="443344" y="2565862"/>
              <a:chExt cx="8229600" cy="2556366"/>
            </a:xfrm>
          </p:grpSpPr>
          <p:cxnSp>
            <p:nvCxnSpPr>
              <p:cNvPr id="87" name="Straight Connector 27"/>
              <p:cNvCxnSpPr>
                <a:cxnSpLocks noChangeShapeType="1"/>
              </p:cNvCxnSpPr>
              <p:nvPr userDrawn="1"/>
            </p:nvCxnSpPr>
            <p:spPr bwMode="auto">
              <a:xfrm>
                <a:off x="443344" y="512064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8" name="Straight Connector 28"/>
              <p:cNvCxnSpPr>
                <a:cxnSpLocks noChangeShapeType="1"/>
              </p:cNvCxnSpPr>
              <p:nvPr userDrawn="1"/>
            </p:nvCxnSpPr>
            <p:spPr bwMode="auto">
              <a:xfrm>
                <a:off x="443344" y="475488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9" name="Straight Connector 29"/>
              <p:cNvCxnSpPr>
                <a:cxnSpLocks noChangeShapeType="1"/>
              </p:cNvCxnSpPr>
              <p:nvPr userDrawn="1"/>
            </p:nvCxnSpPr>
            <p:spPr bwMode="auto">
              <a:xfrm>
                <a:off x="443344" y="438912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0" name="Straight Connector 30"/>
              <p:cNvCxnSpPr>
                <a:cxnSpLocks noChangeShapeType="1"/>
              </p:cNvCxnSpPr>
              <p:nvPr userDrawn="1"/>
            </p:nvCxnSpPr>
            <p:spPr bwMode="auto">
              <a:xfrm>
                <a:off x="443344" y="402890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1" name="Straight Connector 31"/>
              <p:cNvCxnSpPr>
                <a:cxnSpLocks noChangeShapeType="1"/>
              </p:cNvCxnSpPr>
              <p:nvPr userDrawn="1"/>
            </p:nvCxnSpPr>
            <p:spPr bwMode="auto">
              <a:xfrm>
                <a:off x="443344" y="366314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2" name="Straight Connector 32"/>
              <p:cNvCxnSpPr>
                <a:cxnSpLocks noChangeShapeType="1"/>
              </p:cNvCxnSpPr>
              <p:nvPr userDrawn="1"/>
            </p:nvCxnSpPr>
            <p:spPr bwMode="auto">
              <a:xfrm>
                <a:off x="443344" y="3302924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3" name="Straight Connector 33"/>
              <p:cNvCxnSpPr>
                <a:cxnSpLocks noChangeShapeType="1"/>
              </p:cNvCxnSpPr>
              <p:nvPr userDrawn="1"/>
            </p:nvCxnSpPr>
            <p:spPr bwMode="auto">
              <a:xfrm>
                <a:off x="443344" y="292608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4" name="Straight Connector 34"/>
              <p:cNvCxnSpPr>
                <a:cxnSpLocks noChangeShapeType="1"/>
              </p:cNvCxnSpPr>
              <p:nvPr userDrawn="1"/>
            </p:nvCxnSpPr>
            <p:spPr bwMode="auto">
              <a:xfrm>
                <a:off x="443344" y="256586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74" name="Group 82"/>
            <p:cNvGrpSpPr>
              <a:grpSpLocks/>
            </p:cNvGrpSpPr>
            <p:nvPr userDrawn="1"/>
          </p:nvGrpSpPr>
          <p:grpSpPr bwMode="auto">
            <a:xfrm>
              <a:off x="2202964" y="1819866"/>
              <a:ext cx="6474903" cy="3657600"/>
              <a:chOff x="2202964" y="1819866"/>
              <a:chExt cx="6474903" cy="3657600"/>
            </a:xfrm>
          </p:grpSpPr>
          <p:cxnSp>
            <p:nvCxnSpPr>
              <p:cNvPr id="75" name="Straight Connector 16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374958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6" name="Straight Connector 17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1022290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7" name="Straight Connector 18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1669622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9" name="Straight Connector 19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2316954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0" name="Straight Connector 20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2964286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1" name="Straight Connector 21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3611618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" name="Straight Connector 22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4258950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3" name="Straight Connector 23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4906282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4" name="Straight Connector 24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5553614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5" name="Straight Connector 25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6200946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6" name="Straight Connector 26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6848273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sp>
        <p:nvSpPr>
          <p:cNvPr id="95" name="TextBox 36"/>
          <p:cNvSpPr txBox="1">
            <a:spLocks noChangeArrowheads="1"/>
          </p:cNvSpPr>
          <p:nvPr userDrawn="1"/>
        </p:nvSpPr>
        <p:spPr bwMode="auto">
          <a:xfrm>
            <a:off x="683685" y="1566864"/>
            <a:ext cx="1178983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lnSpc>
                <a:spcPts val="1400"/>
              </a:lnSpc>
              <a:spcBef>
                <a:spcPts val="1500"/>
              </a:spcBef>
              <a:buClr>
                <a:schemeClr val="accent1"/>
              </a:buClr>
              <a:buFont typeface="Wingdings 2" pitchFamily="18" charset="2"/>
              <a:buNone/>
              <a:defRPr/>
            </a:pPr>
            <a:r>
              <a:rPr lang="en-US" sz="800" b="1">
                <a:solidFill>
                  <a:srgbClr val="000000"/>
                </a:solidFill>
                <a:latin typeface="Arial" charset="0"/>
                <a:ea typeface="+mn-ea"/>
              </a:rPr>
              <a:t>WEEK NUMBER</a:t>
            </a:r>
          </a:p>
        </p:txBody>
      </p:sp>
      <p:sp>
        <p:nvSpPr>
          <p:cNvPr id="96" name="TextBox 37"/>
          <p:cNvSpPr txBox="1">
            <a:spLocks noChangeArrowheads="1"/>
          </p:cNvSpPr>
          <p:nvPr userDrawn="1"/>
        </p:nvSpPr>
        <p:spPr bwMode="auto">
          <a:xfrm>
            <a:off x="683685" y="1939925"/>
            <a:ext cx="1178983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lnSpc>
                <a:spcPts val="1400"/>
              </a:lnSpc>
              <a:spcBef>
                <a:spcPts val="1500"/>
              </a:spcBef>
              <a:buClr>
                <a:schemeClr val="accent1"/>
              </a:buClr>
              <a:buFont typeface="Wingdings 2" pitchFamily="18" charset="2"/>
              <a:buNone/>
              <a:defRPr/>
            </a:pPr>
            <a:r>
              <a:rPr lang="en-US" sz="800" b="1">
                <a:solidFill>
                  <a:srgbClr val="000000"/>
                </a:solidFill>
                <a:latin typeface="Arial" charset="0"/>
                <a:ea typeface="+mn-ea"/>
              </a:rPr>
              <a:t>STARTS ON</a:t>
            </a:r>
          </a:p>
        </p:txBody>
      </p:sp>
      <p:cxnSp>
        <p:nvCxnSpPr>
          <p:cNvPr id="97" name="Straight Connector 39"/>
          <p:cNvCxnSpPr>
            <a:cxnSpLocks noChangeShapeType="1"/>
          </p:cNvCxnSpPr>
          <p:nvPr userDrawn="1"/>
        </p:nvCxnSpPr>
        <p:spPr bwMode="auto">
          <a:xfrm>
            <a:off x="590551" y="2200275"/>
            <a:ext cx="10972800" cy="1588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8" name="Straight Connector 40"/>
          <p:cNvCxnSpPr>
            <a:cxnSpLocks noChangeShapeType="1"/>
          </p:cNvCxnSpPr>
          <p:nvPr userDrawn="1"/>
        </p:nvCxnSpPr>
        <p:spPr bwMode="auto">
          <a:xfrm>
            <a:off x="590551" y="5486400"/>
            <a:ext cx="10972800" cy="1588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9" name="Freeform 40"/>
          <p:cNvSpPr>
            <a:spLocks/>
          </p:cNvSpPr>
          <p:nvPr userDrawn="1"/>
        </p:nvSpPr>
        <p:spPr bwMode="auto">
          <a:xfrm>
            <a:off x="2074334" y="1468439"/>
            <a:ext cx="9469967" cy="4027487"/>
          </a:xfrm>
          <a:custGeom>
            <a:avLst/>
            <a:gdLst>
              <a:gd name="T0" fmla="*/ 0 w 7101191"/>
              <a:gd name="T1" fmla="*/ 4028195 h 4027251"/>
              <a:gd name="T2" fmla="*/ 0 w 7101191"/>
              <a:gd name="T3" fmla="*/ 0 h 4027251"/>
              <a:gd name="T4" fmla="*/ 7106328 w 7101191"/>
              <a:gd name="T5" fmla="*/ 0 h 402725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101191" h="4027251">
                <a:moveTo>
                  <a:pt x="0" y="4027251"/>
                </a:moveTo>
                <a:lnTo>
                  <a:pt x="0" y="0"/>
                </a:lnTo>
                <a:lnTo>
                  <a:pt x="7101191" y="0"/>
                </a:lnTo>
              </a:path>
            </a:pathLst>
          </a:cu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cxnSp>
        <p:nvCxnSpPr>
          <p:cNvPr id="100" name="Straight Connector 42"/>
          <p:cNvCxnSpPr>
            <a:cxnSpLocks noChangeShapeType="1"/>
          </p:cNvCxnSpPr>
          <p:nvPr userDrawn="1"/>
        </p:nvCxnSpPr>
        <p:spPr bwMode="auto">
          <a:xfrm>
            <a:off x="2061634" y="1828800"/>
            <a:ext cx="865717" cy="228600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2061633" y="1835813"/>
            <a:ext cx="861216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937751" y="1835813"/>
            <a:ext cx="862519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3800274" y="1835813"/>
            <a:ext cx="869005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4662791" y="1835813"/>
            <a:ext cx="856035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5518824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6394315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7250347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8112867" y="1835813"/>
            <a:ext cx="869005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8975387" y="1835813"/>
            <a:ext cx="862520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9844389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10700427" y="1835813"/>
            <a:ext cx="87089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625653" y="223026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12"/>
          <p:cNvSpPr>
            <a:spLocks noGrp="1"/>
          </p:cNvSpPr>
          <p:nvPr>
            <p:ph type="body" sz="quarter" idx="46"/>
          </p:nvPr>
        </p:nvSpPr>
        <p:spPr>
          <a:xfrm>
            <a:off x="625653" y="259557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12"/>
          <p:cNvSpPr>
            <a:spLocks noGrp="1"/>
          </p:cNvSpPr>
          <p:nvPr>
            <p:ph type="body" sz="quarter" idx="47"/>
          </p:nvPr>
        </p:nvSpPr>
        <p:spPr>
          <a:xfrm>
            <a:off x="625653" y="296088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2"/>
          <p:cNvSpPr>
            <a:spLocks noGrp="1"/>
          </p:cNvSpPr>
          <p:nvPr>
            <p:ph type="body" sz="quarter" idx="48"/>
          </p:nvPr>
        </p:nvSpPr>
        <p:spPr>
          <a:xfrm>
            <a:off x="625653" y="332619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12"/>
          <p:cNvSpPr>
            <a:spLocks noGrp="1"/>
          </p:cNvSpPr>
          <p:nvPr>
            <p:ph type="body" sz="quarter" idx="49"/>
          </p:nvPr>
        </p:nvSpPr>
        <p:spPr>
          <a:xfrm>
            <a:off x="625653" y="369150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12"/>
          <p:cNvSpPr>
            <a:spLocks noGrp="1"/>
          </p:cNvSpPr>
          <p:nvPr>
            <p:ph type="body" sz="quarter" idx="50"/>
          </p:nvPr>
        </p:nvSpPr>
        <p:spPr>
          <a:xfrm>
            <a:off x="625653" y="405681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2"/>
          <p:cNvSpPr>
            <a:spLocks noGrp="1"/>
          </p:cNvSpPr>
          <p:nvPr>
            <p:ph type="body" sz="quarter" idx="51"/>
          </p:nvPr>
        </p:nvSpPr>
        <p:spPr>
          <a:xfrm>
            <a:off x="625653" y="5152742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12"/>
          <p:cNvSpPr>
            <a:spLocks noGrp="1"/>
          </p:cNvSpPr>
          <p:nvPr>
            <p:ph type="body" sz="quarter" idx="52"/>
          </p:nvPr>
        </p:nvSpPr>
        <p:spPr>
          <a:xfrm>
            <a:off x="625653" y="442212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12"/>
          <p:cNvSpPr>
            <a:spLocks noGrp="1"/>
          </p:cNvSpPr>
          <p:nvPr>
            <p:ph type="body" sz="quarter" idx="53"/>
          </p:nvPr>
        </p:nvSpPr>
        <p:spPr>
          <a:xfrm>
            <a:off x="625653" y="478743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Text Placeholder 12"/>
          <p:cNvSpPr>
            <a:spLocks noGrp="1"/>
          </p:cNvSpPr>
          <p:nvPr>
            <p:ph type="body" sz="quarter" idx="54"/>
          </p:nvPr>
        </p:nvSpPr>
        <p:spPr>
          <a:xfrm>
            <a:off x="2083023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94301C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0" name="Text Placeholder 12"/>
          <p:cNvSpPr>
            <a:spLocks noGrp="1"/>
          </p:cNvSpPr>
          <p:nvPr>
            <p:ph type="body" sz="quarter" idx="55"/>
          </p:nvPr>
        </p:nvSpPr>
        <p:spPr>
          <a:xfrm>
            <a:off x="2937751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2"/>
          <p:cNvSpPr>
            <a:spLocks noGrp="1"/>
          </p:cNvSpPr>
          <p:nvPr>
            <p:ph type="body" sz="quarter" idx="56"/>
          </p:nvPr>
        </p:nvSpPr>
        <p:spPr>
          <a:xfrm>
            <a:off x="3800271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2"/>
          <p:cNvSpPr>
            <a:spLocks noGrp="1"/>
          </p:cNvSpPr>
          <p:nvPr>
            <p:ph type="body" sz="quarter" idx="57"/>
          </p:nvPr>
        </p:nvSpPr>
        <p:spPr>
          <a:xfrm>
            <a:off x="4662791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2"/>
          <p:cNvSpPr>
            <a:spLocks noGrp="1"/>
          </p:cNvSpPr>
          <p:nvPr>
            <p:ph type="body" sz="quarter" idx="58"/>
          </p:nvPr>
        </p:nvSpPr>
        <p:spPr>
          <a:xfrm>
            <a:off x="5518824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Text Placeholder 12"/>
          <p:cNvSpPr>
            <a:spLocks noGrp="1"/>
          </p:cNvSpPr>
          <p:nvPr>
            <p:ph type="body" sz="quarter" idx="59"/>
          </p:nvPr>
        </p:nvSpPr>
        <p:spPr>
          <a:xfrm>
            <a:off x="6394315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Text Placeholder 12"/>
          <p:cNvSpPr>
            <a:spLocks noGrp="1"/>
          </p:cNvSpPr>
          <p:nvPr>
            <p:ph type="body" sz="quarter" idx="60"/>
          </p:nvPr>
        </p:nvSpPr>
        <p:spPr>
          <a:xfrm>
            <a:off x="7250347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Text Placeholder 12"/>
          <p:cNvSpPr>
            <a:spLocks noGrp="1"/>
          </p:cNvSpPr>
          <p:nvPr>
            <p:ph type="body" sz="quarter" idx="61"/>
          </p:nvPr>
        </p:nvSpPr>
        <p:spPr>
          <a:xfrm>
            <a:off x="8112867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7" name="Text Placeholder 12"/>
          <p:cNvSpPr>
            <a:spLocks noGrp="1"/>
          </p:cNvSpPr>
          <p:nvPr>
            <p:ph type="body" sz="quarter" idx="62"/>
          </p:nvPr>
        </p:nvSpPr>
        <p:spPr>
          <a:xfrm>
            <a:off x="8975387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2"/>
          <p:cNvSpPr>
            <a:spLocks noGrp="1"/>
          </p:cNvSpPr>
          <p:nvPr>
            <p:ph type="body" sz="quarter" idx="63"/>
          </p:nvPr>
        </p:nvSpPr>
        <p:spPr>
          <a:xfrm>
            <a:off x="9844389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12"/>
          <p:cNvSpPr>
            <a:spLocks noGrp="1"/>
          </p:cNvSpPr>
          <p:nvPr>
            <p:ph type="body" sz="quarter" idx="64"/>
          </p:nvPr>
        </p:nvSpPr>
        <p:spPr>
          <a:xfrm>
            <a:off x="10700424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9" name="Text Placeholder 178"/>
          <p:cNvSpPr>
            <a:spLocks noGrp="1"/>
          </p:cNvSpPr>
          <p:nvPr>
            <p:ph type="body" sz="quarter" idx="65"/>
          </p:nvPr>
        </p:nvSpPr>
        <p:spPr>
          <a:xfrm>
            <a:off x="2061633" y="2321700"/>
            <a:ext cx="12192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0" name="Text Placeholder 178"/>
          <p:cNvSpPr>
            <a:spLocks noGrp="1"/>
          </p:cNvSpPr>
          <p:nvPr>
            <p:ph type="body" sz="quarter" idx="66"/>
          </p:nvPr>
        </p:nvSpPr>
        <p:spPr>
          <a:xfrm>
            <a:off x="2061633" y="2687010"/>
            <a:ext cx="24384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1" name="Text Placeholder 178"/>
          <p:cNvSpPr>
            <a:spLocks noGrp="1"/>
          </p:cNvSpPr>
          <p:nvPr>
            <p:ph type="body" sz="quarter" idx="67"/>
          </p:nvPr>
        </p:nvSpPr>
        <p:spPr>
          <a:xfrm>
            <a:off x="2061633" y="3052320"/>
            <a:ext cx="36576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2" name="Text Placeholder 178"/>
          <p:cNvSpPr>
            <a:spLocks noGrp="1"/>
          </p:cNvSpPr>
          <p:nvPr>
            <p:ph type="body" sz="quarter" idx="68"/>
          </p:nvPr>
        </p:nvSpPr>
        <p:spPr>
          <a:xfrm>
            <a:off x="2061633" y="3417630"/>
            <a:ext cx="48768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3" name="Text Placeholder 178"/>
          <p:cNvSpPr>
            <a:spLocks noGrp="1"/>
          </p:cNvSpPr>
          <p:nvPr>
            <p:ph type="body" sz="quarter" idx="69"/>
          </p:nvPr>
        </p:nvSpPr>
        <p:spPr>
          <a:xfrm>
            <a:off x="2061633" y="3782940"/>
            <a:ext cx="60960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4" name="Text Placeholder 178"/>
          <p:cNvSpPr>
            <a:spLocks noGrp="1"/>
          </p:cNvSpPr>
          <p:nvPr>
            <p:ph type="body" sz="quarter" idx="70"/>
          </p:nvPr>
        </p:nvSpPr>
        <p:spPr>
          <a:xfrm>
            <a:off x="2061633" y="4148250"/>
            <a:ext cx="12192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5" name="Text Placeholder 178"/>
          <p:cNvSpPr>
            <a:spLocks noGrp="1"/>
          </p:cNvSpPr>
          <p:nvPr>
            <p:ph type="body" sz="quarter" idx="71"/>
          </p:nvPr>
        </p:nvSpPr>
        <p:spPr>
          <a:xfrm>
            <a:off x="2061633" y="4513560"/>
            <a:ext cx="24384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6" name="Text Placeholder 178"/>
          <p:cNvSpPr>
            <a:spLocks noGrp="1"/>
          </p:cNvSpPr>
          <p:nvPr>
            <p:ph type="body" sz="quarter" idx="72"/>
          </p:nvPr>
        </p:nvSpPr>
        <p:spPr>
          <a:xfrm>
            <a:off x="2061633" y="4878870"/>
            <a:ext cx="36576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7" name="Text Placeholder 178"/>
          <p:cNvSpPr>
            <a:spLocks noGrp="1"/>
          </p:cNvSpPr>
          <p:nvPr>
            <p:ph type="body" sz="quarter" idx="73"/>
          </p:nvPr>
        </p:nvSpPr>
        <p:spPr>
          <a:xfrm>
            <a:off x="2061633" y="5244182"/>
            <a:ext cx="48768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8" name="Text Placeholder 178"/>
          <p:cNvSpPr>
            <a:spLocks noGrp="1"/>
          </p:cNvSpPr>
          <p:nvPr>
            <p:ph type="body" sz="quarter" idx="74"/>
          </p:nvPr>
        </p:nvSpPr>
        <p:spPr>
          <a:xfrm>
            <a:off x="4582160" y="5562600"/>
            <a:ext cx="182880" cy="137160"/>
          </a:xfrm>
          <a:prstGeom prst="flowChartExtra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>
              <a:buNone/>
              <a:defRPr sz="8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0" name="Text Placeholder 12"/>
          <p:cNvSpPr>
            <a:spLocks noGrp="1"/>
          </p:cNvSpPr>
          <p:nvPr>
            <p:ph type="body" sz="quarter" idx="76"/>
          </p:nvPr>
        </p:nvSpPr>
        <p:spPr>
          <a:xfrm>
            <a:off x="4064000" y="5817472"/>
            <a:ext cx="1219200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1" name="Text Placeholder 178"/>
          <p:cNvSpPr>
            <a:spLocks noGrp="1"/>
          </p:cNvSpPr>
          <p:nvPr>
            <p:ph type="body" sz="quarter" idx="77"/>
          </p:nvPr>
        </p:nvSpPr>
        <p:spPr>
          <a:xfrm>
            <a:off x="7140089" y="5562600"/>
            <a:ext cx="182880" cy="137160"/>
          </a:xfrm>
          <a:prstGeom prst="flowChartExtra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>
              <a:buNone/>
              <a:defRPr sz="8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2" name="Text Placeholder 12"/>
          <p:cNvSpPr>
            <a:spLocks noGrp="1"/>
          </p:cNvSpPr>
          <p:nvPr>
            <p:ph type="body" sz="quarter" idx="78"/>
          </p:nvPr>
        </p:nvSpPr>
        <p:spPr>
          <a:xfrm>
            <a:off x="6621929" y="5817472"/>
            <a:ext cx="1219200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1" name="Slide Number Placeholder 9"/>
          <p:cNvSpPr>
            <a:spLocks noGrp="1"/>
          </p:cNvSpPr>
          <p:nvPr>
            <p:ph type="sldNum" sz="quarter" idx="79"/>
          </p:nvPr>
        </p:nvSpPr>
        <p:spPr/>
        <p:txBody>
          <a:bodyPr/>
          <a:lstStyle>
            <a:lvl1pPr>
              <a:defRPr/>
            </a:lvl1pPr>
          </a:lstStyle>
          <a:p>
            <a:fld id="{D003C6ED-C4A5-154D-A951-DFA096D6467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2" name="Footer Placeholder 79"/>
          <p:cNvSpPr>
            <a:spLocks noGrp="1"/>
          </p:cNvSpPr>
          <p:nvPr>
            <p:ph type="ftr" sz="quarter" idx="8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Taxable Acquisitions</a:t>
            </a:r>
          </a:p>
        </p:txBody>
      </p:sp>
    </p:spTree>
    <p:extLst>
      <p:ext uri="{BB962C8B-B14F-4D97-AF65-F5344CB8AC3E}">
        <p14:creationId xmlns:p14="http://schemas.microsoft.com/office/powerpoint/2010/main" val="80644388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7"/>
          <p:cNvCxnSpPr>
            <a:cxnSpLocks noChangeShapeType="1"/>
          </p:cNvCxnSpPr>
          <p:nvPr userDrawn="1"/>
        </p:nvCxnSpPr>
        <p:spPr bwMode="auto">
          <a:xfrm>
            <a:off x="2372785" y="5981700"/>
            <a:ext cx="7327900" cy="1588"/>
          </a:xfrm>
          <a:prstGeom prst="line">
            <a:avLst/>
          </a:prstGeom>
          <a:noFill/>
          <a:ln w="9525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389717" y="5453936"/>
            <a:ext cx="7315200" cy="474325"/>
          </a:xfrm>
          <a:prstGeom prst="rect">
            <a:avLst/>
          </a:prstGeom>
        </p:spPr>
        <p:txBody>
          <a:bodyPr/>
          <a:lstStyle>
            <a:lvl1pPr algn="l">
              <a:defRPr sz="1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166755"/>
            <a:ext cx="7315200" cy="41926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6042020"/>
            <a:ext cx="7315200" cy="3112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i="1">
                <a:solidFill>
                  <a:srgbClr val="4D4D4D"/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1026004" y="0"/>
            <a:ext cx="10139992" cy="896112"/>
          </a:xfrm>
          <a:prstGeom prst="rect">
            <a:avLst/>
          </a:prstGeom>
        </p:spPr>
        <p:txBody>
          <a:bodyPr anchor="b"/>
          <a:lstStyle>
            <a:lvl1pPr>
              <a:buNone/>
              <a:defRPr sz="22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14CE4E3-D3DE-AB41-A281-30813EB5473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2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Taxable Acquisitions</a:t>
            </a:r>
          </a:p>
        </p:txBody>
      </p:sp>
    </p:spTree>
    <p:extLst>
      <p:ext uri="{BB962C8B-B14F-4D97-AF65-F5344CB8AC3E}">
        <p14:creationId xmlns:p14="http://schemas.microsoft.com/office/powerpoint/2010/main" val="135593479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1"/>
          </p:nvPr>
        </p:nvSpPr>
        <p:spPr>
          <a:xfrm>
            <a:off x="603254" y="14478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1"/>
          <p:cNvSpPr>
            <a:spLocks noGrp="1"/>
          </p:cNvSpPr>
          <p:nvPr>
            <p:ph type="body" sz="quarter" idx="12"/>
          </p:nvPr>
        </p:nvSpPr>
        <p:spPr>
          <a:xfrm>
            <a:off x="603254" y="26670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603254" y="51054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9337923" y="14478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9337923" y="26670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6"/>
          </p:nvPr>
        </p:nvSpPr>
        <p:spPr>
          <a:xfrm>
            <a:off x="9337923" y="38862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7"/>
          </p:nvPr>
        </p:nvSpPr>
        <p:spPr>
          <a:xfrm>
            <a:off x="9337923" y="51054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8"/>
          </p:nvPr>
        </p:nvSpPr>
        <p:spPr>
          <a:xfrm>
            <a:off x="603254" y="38862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/>
            </a:lvl1pPr>
          </a:lstStyle>
          <a:p>
            <a:fld id="{1B28FF10-2575-714D-9D0B-AB6D45C94EA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7" name="Footer Placeholder 12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Taxable Acquisitions</a:t>
            </a:r>
          </a:p>
        </p:txBody>
      </p:sp>
    </p:spTree>
    <p:extLst>
      <p:ext uri="{BB962C8B-B14F-4D97-AF65-F5344CB8AC3E}">
        <p14:creationId xmlns:p14="http://schemas.microsoft.com/office/powerpoint/2010/main" val="70181634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ith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212506" y="1419225"/>
            <a:ext cx="3376247" cy="48006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B01C2E"/>
              </a:buClr>
              <a:buFont typeface="Wingdings 2" pitchFamily="18" charset="2"/>
              <a:buChar char=""/>
              <a:defRPr sz="1100"/>
            </a:lvl1pPr>
            <a:lvl2pPr marL="457200" indent="-228600">
              <a:buClr>
                <a:srgbClr val="B01C2E"/>
              </a:buClr>
              <a:buSzPct val="125000"/>
              <a:buFont typeface="Arial" pitchFamily="34" charset="0"/>
              <a:buChar char="•"/>
              <a:defRPr sz="1100"/>
            </a:lvl2pPr>
            <a:lvl3pPr marL="685800">
              <a:buClr>
                <a:srgbClr val="B01C2E"/>
              </a:buClr>
              <a:buFont typeface="Arial" pitchFamily="34" charset="0"/>
              <a:buChar char="–"/>
              <a:defRPr sz="1100"/>
            </a:lvl3pPr>
            <a:lvl4pPr marL="914400">
              <a:buClr>
                <a:srgbClr val="B01C2E"/>
              </a:buClr>
              <a:buFont typeface="Arial" pitchFamily="34" charset="0"/>
              <a:buChar char="–"/>
              <a:defRPr sz="1100"/>
            </a:lvl4pPr>
            <a:lvl5pPr marL="1143000">
              <a:buClr>
                <a:srgbClr val="B01C2E"/>
              </a:buClr>
              <a:buFont typeface="Arial" pitchFamily="34" charset="0"/>
              <a:buChar char="–"/>
              <a:defRPr sz="11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B598768-D1F4-594C-B51E-99B1ED06033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Taxable Acquisitions</a:t>
            </a:r>
          </a:p>
        </p:txBody>
      </p:sp>
    </p:spTree>
    <p:extLst>
      <p:ext uri="{BB962C8B-B14F-4D97-AF65-F5344CB8AC3E}">
        <p14:creationId xmlns:p14="http://schemas.microsoft.com/office/powerpoint/2010/main" val="94692366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66735" y="1419225"/>
            <a:ext cx="6815667" cy="4706938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B01C2E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rgbClr val="B01C2E"/>
              </a:buClr>
              <a:buSzPct val="125000"/>
              <a:buFont typeface="Arial" pitchFamily="34" charset="0"/>
              <a:buChar char="•"/>
              <a:defRPr sz="1200"/>
            </a:lvl2pPr>
            <a:lvl3pPr marL="68580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19226"/>
            <a:ext cx="3891064" cy="470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i="1">
                <a:solidFill>
                  <a:srgbClr val="666666"/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19B113F-1BA8-CA4E-A6B3-92D1D8C0C88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Taxable Acquisitions</a:t>
            </a:r>
          </a:p>
        </p:txBody>
      </p:sp>
    </p:spTree>
    <p:extLst>
      <p:ext uri="{BB962C8B-B14F-4D97-AF65-F5344CB8AC3E}">
        <p14:creationId xmlns:p14="http://schemas.microsoft.com/office/powerpoint/2010/main" val="65065046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09601" y="1419225"/>
            <a:ext cx="6815667" cy="4706938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B01C2E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rgbClr val="B01C2E"/>
              </a:buClr>
              <a:buSzPct val="125000"/>
              <a:buFont typeface="Arial" pitchFamily="34" charset="0"/>
              <a:buChar char="•"/>
              <a:defRPr sz="1200"/>
            </a:lvl2pPr>
            <a:lvl3pPr marL="68580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7697687" y="1419226"/>
            <a:ext cx="3891064" cy="470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i="1">
                <a:solidFill>
                  <a:srgbClr val="666666"/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24011BE-5C53-0E48-93A9-5E9857491FB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Taxable Acquisitions</a:t>
            </a:r>
          </a:p>
        </p:txBody>
      </p:sp>
    </p:spTree>
    <p:extLst>
      <p:ext uri="{BB962C8B-B14F-4D97-AF65-F5344CB8AC3E}">
        <p14:creationId xmlns:p14="http://schemas.microsoft.com/office/powerpoint/2010/main" val="89128295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torney 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 22"/>
          <p:cNvSpPr>
            <a:spLocks noChangeShapeType="1"/>
          </p:cNvSpPr>
          <p:nvPr/>
        </p:nvSpPr>
        <p:spPr bwMode="auto">
          <a:xfrm>
            <a:off x="2768600" y="2667000"/>
            <a:ext cx="88392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13" name="TextBox 13"/>
          <p:cNvSpPr txBox="1">
            <a:spLocks noChangeArrowheads="1"/>
          </p:cNvSpPr>
          <p:nvPr userDrawn="1"/>
        </p:nvSpPr>
        <p:spPr bwMode="auto">
          <a:xfrm>
            <a:off x="2755900" y="1108076"/>
            <a:ext cx="42672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n-US" sz="1000" b="1">
                <a:solidFill>
                  <a:srgbClr val="B01C2E"/>
                </a:solidFill>
                <a:latin typeface="Arial" charset="0"/>
                <a:ea typeface="+mn-ea"/>
              </a:rPr>
              <a:t>Specialization</a:t>
            </a:r>
          </a:p>
        </p:txBody>
      </p:sp>
      <p:sp>
        <p:nvSpPr>
          <p:cNvPr id="14" name="TextBox 14"/>
          <p:cNvSpPr txBox="1">
            <a:spLocks noChangeArrowheads="1"/>
          </p:cNvSpPr>
          <p:nvPr userDrawn="1"/>
        </p:nvSpPr>
        <p:spPr bwMode="auto">
          <a:xfrm>
            <a:off x="7340600" y="1108076"/>
            <a:ext cx="42672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n-US" sz="1000" b="1">
                <a:solidFill>
                  <a:srgbClr val="B01C2E"/>
                </a:solidFill>
                <a:latin typeface="Arial" charset="0"/>
                <a:ea typeface="+mn-ea"/>
              </a:rPr>
              <a:t>Education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2756408" y="2743200"/>
            <a:ext cx="8851392" cy="3429000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ts val="12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 "/>
              <a:defRPr sz="1000" b="0" baseline="0">
                <a:latin typeface="+mn-lt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spcAft>
                <a:spcPts val="1200"/>
              </a:spcAft>
              <a:buFont typeface="Arial" pitchFamily="34" charset="0"/>
              <a:buChar char=" "/>
              <a:defRPr sz="1000" b="1" baseline="0">
                <a:solidFill>
                  <a:srgbClr val="666666"/>
                </a:solidFill>
                <a:latin typeface="Arial" pitchFamily="34" charset="0"/>
              </a:defRPr>
            </a:lvl2pPr>
            <a:lvl3pPr marL="228600" indent="-228600">
              <a:buClr>
                <a:srgbClr val="B01C2E"/>
              </a:buClr>
              <a:buFont typeface="Wingdings 2" pitchFamily="18" charset="2"/>
              <a:buChar char="¡"/>
              <a:defRPr sz="1000" baseline="0">
                <a:latin typeface="Arial" pitchFamily="34" charset="0"/>
              </a:defRPr>
            </a:lvl3pPr>
            <a:lvl4pPr marL="457200" indent="-228600">
              <a:buClr>
                <a:srgbClr val="B01C2E"/>
              </a:buClr>
              <a:buFont typeface="Arial" pitchFamily="34" charset="0"/>
              <a:buChar char="–"/>
              <a:defRPr sz="1000" baseline="0">
                <a:latin typeface="Arial" pitchFamily="34" charset="0"/>
              </a:defRPr>
            </a:lvl4pPr>
            <a:lvl5pPr marL="685800" indent="-228600">
              <a:buClr>
                <a:srgbClr val="B01C2E"/>
              </a:buClr>
              <a:buFont typeface="Arial" pitchFamily="34" charset="0"/>
              <a:buChar char="–"/>
              <a:defRPr sz="10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 baseline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07483" y="1108074"/>
            <a:ext cx="1560576" cy="1563624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607487" y="2722996"/>
            <a:ext cx="2034116" cy="553604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1000"/>
              </a:lnSpc>
              <a:buNone/>
              <a:defRPr sz="1000" b="0" baseline="0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7340600" y="2144554"/>
            <a:ext cx="4267200" cy="246888"/>
          </a:xfrm>
          <a:prstGeom prst="rect">
            <a:avLst/>
          </a:prstGeom>
          <a:ln w="6350">
            <a:noFill/>
          </a:ln>
        </p:spPr>
        <p:txBody>
          <a:bodyPr lIns="27432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1pPr>
            <a:lvl2pPr marL="118872" indent="-118872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2pPr>
            <a:lvl3pPr marL="0" indent="-118872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Clr>
                <a:srgbClr val="B01C2E"/>
              </a:buClr>
              <a:buFont typeface="Wingdings 2" pitchFamily="18" charset="2"/>
              <a:buNone/>
              <a:defRPr lang="en-US" sz="1000" b="1" kern="1200" baseline="0" dirty="0" smtClean="0">
                <a:solidFill>
                  <a:srgbClr val="B01C2E"/>
                </a:solidFill>
                <a:latin typeface="+mn-lt"/>
                <a:ea typeface="+mn-ea"/>
                <a:cs typeface="+mn-cs"/>
              </a:defRPr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2756408" y="2144554"/>
            <a:ext cx="4267200" cy="246888"/>
          </a:xfrm>
          <a:prstGeom prst="rect">
            <a:avLst/>
          </a:prstGeom>
          <a:ln w="6350">
            <a:noFill/>
          </a:ln>
        </p:spPr>
        <p:txBody>
          <a:bodyPr lIns="27432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1pPr>
            <a:lvl2pPr marL="118872" indent="-118872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2pPr>
            <a:lvl3pPr marL="0" indent="-118872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Clr>
                <a:srgbClr val="B01C2E"/>
              </a:buClr>
              <a:buFont typeface="Wingdings 2" pitchFamily="18" charset="2"/>
              <a:buNone/>
              <a:defRPr lang="en-US" sz="1000" b="1" kern="1200" baseline="0" dirty="0" smtClean="0">
                <a:solidFill>
                  <a:srgbClr val="B01C2E"/>
                </a:solidFill>
                <a:latin typeface="+mn-lt"/>
                <a:ea typeface="+mn-ea"/>
                <a:cs typeface="+mn-cs"/>
              </a:defRPr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6"/>
          <p:cNvSpPr>
            <a:spLocks noGrp="1"/>
          </p:cNvSpPr>
          <p:nvPr>
            <p:ph type="body" sz="quarter" idx="41"/>
          </p:nvPr>
        </p:nvSpPr>
        <p:spPr>
          <a:xfrm>
            <a:off x="2756408" y="2308860"/>
            <a:ext cx="4267200" cy="347472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None/>
              <a:defRPr sz="1000" b="0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6"/>
          <p:cNvSpPr>
            <a:spLocks noGrp="1"/>
          </p:cNvSpPr>
          <p:nvPr>
            <p:ph type="body" sz="quarter" idx="42"/>
          </p:nvPr>
        </p:nvSpPr>
        <p:spPr>
          <a:xfrm>
            <a:off x="7340600" y="2308860"/>
            <a:ext cx="4267200" cy="347472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None/>
              <a:defRPr sz="1000" b="0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2756408" y="1295400"/>
            <a:ext cx="42672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7432" tIns="45720" rIns="45720" bIns="45720" anchor="t">
            <a:noAutofit/>
          </a:bodyPr>
          <a:lstStyle>
            <a:lvl1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Font typeface="Wingdings 2" pitchFamily="18" charset="2"/>
              <a:buChar char=""/>
              <a:defRPr sz="1000" baseline="0">
                <a:solidFill>
                  <a:schemeClr val="tx1"/>
                </a:solidFill>
              </a:defRPr>
            </a:lvl1pPr>
            <a:lvl2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NSimSun" pitchFamily="49" charset="-122"/>
              <a:buChar char=" "/>
              <a:defRPr sz="1000" baseline="0"/>
            </a:lvl2pPr>
            <a:lvl3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Wingdings 2" pitchFamily="18" charset="2"/>
              <a:buChar char="¡"/>
              <a:defRPr sz="10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9"/>
          <p:cNvSpPr>
            <a:spLocks noGrp="1"/>
          </p:cNvSpPr>
          <p:nvPr>
            <p:ph type="body" sz="quarter" idx="43"/>
          </p:nvPr>
        </p:nvSpPr>
        <p:spPr>
          <a:xfrm>
            <a:off x="7340600" y="1295400"/>
            <a:ext cx="42672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7432" tIns="45720" rIns="45720" bIns="45720" anchor="t">
            <a:noAutofit/>
          </a:bodyPr>
          <a:lstStyle>
            <a:lvl1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Font typeface="Wingdings 2" pitchFamily="18" charset="2"/>
              <a:buChar char=""/>
              <a:defRPr sz="1000" baseline="0">
                <a:solidFill>
                  <a:schemeClr val="tx1"/>
                </a:solidFill>
              </a:defRPr>
            </a:lvl1pPr>
            <a:lvl2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Arial" pitchFamily="34" charset="0"/>
              <a:buChar char=" "/>
              <a:defRPr sz="1000" baseline="0"/>
            </a:lvl2pPr>
            <a:lvl3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Wingdings 2" pitchFamily="18" charset="2"/>
              <a:buChar char="¡"/>
              <a:defRPr sz="10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>
              <a:defRPr/>
            </a:lvl1pPr>
          </a:lstStyle>
          <a:p>
            <a:fld id="{3D17329F-BDC0-3444-A6CB-5CFB4AFF00F8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45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Taxable Acquisitions</a:t>
            </a:r>
          </a:p>
        </p:txBody>
      </p:sp>
    </p:spTree>
    <p:extLst>
      <p:ext uri="{BB962C8B-B14F-4D97-AF65-F5344CB8AC3E}">
        <p14:creationId xmlns:p14="http://schemas.microsoft.com/office/powerpoint/2010/main" val="211366941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 Team with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769315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 baseline="0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769313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7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623842" y="1246188"/>
            <a:ext cx="10917767" cy="2286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1200" b="1" cap="all" baseline="0">
                <a:solidFill>
                  <a:srgbClr val="C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2930625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spcBef>
                <a:spcPts val="0"/>
              </a:spcBef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2930622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7"/>
          </p:nvPr>
        </p:nvSpPr>
        <p:spPr>
          <a:xfrm>
            <a:off x="5133498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8"/>
          </p:nvPr>
        </p:nvSpPr>
        <p:spPr>
          <a:xfrm>
            <a:off x="5133498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7322517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Picture Placeholder 9"/>
          <p:cNvSpPr>
            <a:spLocks noGrp="1"/>
          </p:cNvSpPr>
          <p:nvPr>
            <p:ph type="pic" sz="quarter" idx="21"/>
          </p:nvPr>
        </p:nvSpPr>
        <p:spPr>
          <a:xfrm>
            <a:off x="7322514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9525389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Picture Placeholder 9"/>
          <p:cNvSpPr>
            <a:spLocks noGrp="1"/>
          </p:cNvSpPr>
          <p:nvPr>
            <p:ph type="pic" sz="quarter" idx="23"/>
          </p:nvPr>
        </p:nvSpPr>
        <p:spPr>
          <a:xfrm>
            <a:off x="9525389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4"/>
          </p:nvPr>
        </p:nvSpPr>
        <p:spPr>
          <a:xfrm>
            <a:off x="769315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Picture Placeholder 9"/>
          <p:cNvSpPr>
            <a:spLocks noGrp="1"/>
          </p:cNvSpPr>
          <p:nvPr>
            <p:ph type="pic" sz="quarter" idx="25"/>
          </p:nvPr>
        </p:nvSpPr>
        <p:spPr>
          <a:xfrm>
            <a:off x="769313" y="3927187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26"/>
          </p:nvPr>
        </p:nvSpPr>
        <p:spPr>
          <a:xfrm>
            <a:off x="2930625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spcBef>
                <a:spcPts val="0"/>
              </a:spcBef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9"/>
          <p:cNvSpPr>
            <a:spLocks noGrp="1"/>
          </p:cNvSpPr>
          <p:nvPr>
            <p:ph type="pic" sz="quarter" idx="27"/>
          </p:nvPr>
        </p:nvSpPr>
        <p:spPr>
          <a:xfrm>
            <a:off x="2930622" y="3927187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0" name="Text Placeholder 7"/>
          <p:cNvSpPr>
            <a:spLocks noGrp="1"/>
          </p:cNvSpPr>
          <p:nvPr>
            <p:ph type="body" sz="quarter" idx="28"/>
          </p:nvPr>
        </p:nvSpPr>
        <p:spPr>
          <a:xfrm>
            <a:off x="5133498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9"/>
          <p:cNvSpPr>
            <a:spLocks noGrp="1"/>
          </p:cNvSpPr>
          <p:nvPr>
            <p:ph type="pic" sz="quarter" idx="29"/>
          </p:nvPr>
        </p:nvSpPr>
        <p:spPr>
          <a:xfrm>
            <a:off x="5133498" y="3927187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30"/>
          </p:nvPr>
        </p:nvSpPr>
        <p:spPr>
          <a:xfrm>
            <a:off x="7322517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Picture Placeholder 9"/>
          <p:cNvSpPr>
            <a:spLocks noGrp="1"/>
          </p:cNvSpPr>
          <p:nvPr>
            <p:ph type="pic" sz="quarter" idx="31"/>
          </p:nvPr>
        </p:nvSpPr>
        <p:spPr>
          <a:xfrm>
            <a:off x="7322514" y="3927187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4" name="Text Placeholder 7"/>
          <p:cNvSpPr>
            <a:spLocks noGrp="1"/>
          </p:cNvSpPr>
          <p:nvPr>
            <p:ph type="body" sz="quarter" idx="32"/>
          </p:nvPr>
        </p:nvSpPr>
        <p:spPr>
          <a:xfrm>
            <a:off x="9525389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Picture Placeholder 9"/>
          <p:cNvSpPr>
            <a:spLocks noGrp="1"/>
          </p:cNvSpPr>
          <p:nvPr>
            <p:ph type="pic" sz="quarter" idx="33"/>
          </p:nvPr>
        </p:nvSpPr>
        <p:spPr>
          <a:xfrm>
            <a:off x="9525389" y="3962401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7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516D5A61-1BB2-3C40-A809-0A00CE29D5F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8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Taxable Acquisitions</a:t>
            </a:r>
          </a:p>
        </p:txBody>
      </p:sp>
    </p:spTree>
    <p:extLst>
      <p:ext uri="{BB962C8B-B14F-4D97-AF65-F5344CB8AC3E}">
        <p14:creationId xmlns:p14="http://schemas.microsoft.com/office/powerpoint/2010/main" val="12298893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 Team -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12"/>
          <p:cNvSpPr txBox="1">
            <a:spLocks noChangeArrowheads="1"/>
          </p:cNvSpPr>
          <p:nvPr/>
        </p:nvSpPr>
        <p:spPr bwMode="auto">
          <a:xfrm>
            <a:off x="588433" y="1439863"/>
            <a:ext cx="11133667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b="1" dirty="0">
                <a:solidFill>
                  <a:srgbClr val="C00000"/>
                </a:solidFill>
                <a:latin typeface="Arial" charset="0"/>
                <a:ea typeface="+mn-ea"/>
                <a:cs typeface="+mn-cs"/>
              </a:rPr>
              <a:t>PARTNERS</a:t>
            </a:r>
          </a:p>
        </p:txBody>
      </p:sp>
      <p:sp>
        <p:nvSpPr>
          <p:cNvPr id="11" name="Line 22"/>
          <p:cNvSpPr>
            <a:spLocks noChangeShapeType="1"/>
          </p:cNvSpPr>
          <p:nvPr/>
        </p:nvSpPr>
        <p:spPr bwMode="auto">
          <a:xfrm>
            <a:off x="584201" y="1897063"/>
            <a:ext cx="111379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12" name="Text Box 23"/>
          <p:cNvSpPr txBox="1">
            <a:spLocks noChangeArrowheads="1"/>
          </p:cNvSpPr>
          <p:nvPr/>
        </p:nvSpPr>
        <p:spPr bwMode="auto">
          <a:xfrm>
            <a:off x="588433" y="3268663"/>
            <a:ext cx="11133667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b="1" dirty="0">
                <a:solidFill>
                  <a:srgbClr val="C00000"/>
                </a:solidFill>
                <a:latin typeface="Arial" charset="0"/>
                <a:ea typeface="+mn-ea"/>
                <a:cs typeface="+mn-cs"/>
              </a:rPr>
              <a:t>ASSOCIATES</a:t>
            </a:r>
          </a:p>
        </p:txBody>
      </p:sp>
      <p:sp>
        <p:nvSpPr>
          <p:cNvPr id="13" name="Line 24"/>
          <p:cNvSpPr>
            <a:spLocks noChangeShapeType="1"/>
          </p:cNvSpPr>
          <p:nvPr/>
        </p:nvSpPr>
        <p:spPr bwMode="auto">
          <a:xfrm>
            <a:off x="584201" y="3725863"/>
            <a:ext cx="111379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10"/>
          </p:nvPr>
        </p:nvSpPr>
        <p:spPr>
          <a:xfrm>
            <a:off x="3478108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11"/>
          </p:nvPr>
        </p:nvSpPr>
        <p:spPr>
          <a:xfrm>
            <a:off x="6372015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3"/>
          <p:cNvSpPr>
            <a:spLocks noGrp="1"/>
          </p:cNvSpPr>
          <p:nvPr>
            <p:ph type="body" sz="quarter" idx="12"/>
          </p:nvPr>
        </p:nvSpPr>
        <p:spPr>
          <a:xfrm>
            <a:off x="9265920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1975104" y="3886200"/>
            <a:ext cx="3962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8"/>
          </p:nvPr>
        </p:nvSpPr>
        <p:spPr>
          <a:xfrm>
            <a:off x="6299200" y="3886200"/>
            <a:ext cx="3962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1975104" y="4800600"/>
            <a:ext cx="8290560" cy="54864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7"/>
          <p:cNvSpPr>
            <a:spLocks noGrp="1"/>
          </p:cNvSpPr>
          <p:nvPr>
            <p:ph type="body" sz="quarter" idx="20"/>
          </p:nvPr>
        </p:nvSpPr>
        <p:spPr>
          <a:xfrm>
            <a:off x="584201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B0AC1651-679E-F444-9932-326657929C5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Taxable Acquisitions</a:t>
            </a:r>
          </a:p>
        </p:txBody>
      </p:sp>
    </p:spTree>
    <p:extLst>
      <p:ext uri="{BB962C8B-B14F-4D97-AF65-F5344CB8AC3E}">
        <p14:creationId xmlns:p14="http://schemas.microsoft.com/office/powerpoint/2010/main" val="158711758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HIGHLIGHT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6"/>
          <p:cNvSpPr>
            <a:spLocks noGrp="1"/>
          </p:cNvSpPr>
          <p:nvPr>
            <p:ph type="body" sz="quarter" idx="102"/>
          </p:nvPr>
        </p:nvSpPr>
        <p:spPr>
          <a:xfrm>
            <a:off x="601133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6"/>
          <p:cNvSpPr>
            <a:spLocks noGrp="1"/>
          </p:cNvSpPr>
          <p:nvPr>
            <p:ph type="body" sz="quarter" idx="103"/>
          </p:nvPr>
        </p:nvSpPr>
        <p:spPr>
          <a:xfrm>
            <a:off x="601133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6"/>
          <p:cNvSpPr>
            <a:spLocks noGrp="1"/>
          </p:cNvSpPr>
          <p:nvPr>
            <p:ph type="body" sz="quarter" idx="104"/>
          </p:nvPr>
        </p:nvSpPr>
        <p:spPr>
          <a:xfrm>
            <a:off x="2815275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36"/>
          <p:cNvSpPr>
            <a:spLocks noGrp="1"/>
          </p:cNvSpPr>
          <p:nvPr>
            <p:ph type="body" sz="quarter" idx="105"/>
          </p:nvPr>
        </p:nvSpPr>
        <p:spPr>
          <a:xfrm>
            <a:off x="2815275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6"/>
          <p:cNvSpPr>
            <a:spLocks noGrp="1"/>
          </p:cNvSpPr>
          <p:nvPr>
            <p:ph type="body" sz="quarter" idx="106"/>
          </p:nvPr>
        </p:nvSpPr>
        <p:spPr>
          <a:xfrm>
            <a:off x="5029416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36"/>
          <p:cNvSpPr>
            <a:spLocks noGrp="1"/>
          </p:cNvSpPr>
          <p:nvPr>
            <p:ph type="body" sz="quarter" idx="107"/>
          </p:nvPr>
        </p:nvSpPr>
        <p:spPr>
          <a:xfrm>
            <a:off x="5029416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6"/>
          <p:cNvSpPr>
            <a:spLocks noGrp="1"/>
          </p:cNvSpPr>
          <p:nvPr>
            <p:ph type="body" sz="quarter" idx="108"/>
          </p:nvPr>
        </p:nvSpPr>
        <p:spPr>
          <a:xfrm>
            <a:off x="7243557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6"/>
          <p:cNvSpPr>
            <a:spLocks noGrp="1"/>
          </p:cNvSpPr>
          <p:nvPr>
            <p:ph type="body" sz="quarter" idx="109"/>
          </p:nvPr>
        </p:nvSpPr>
        <p:spPr>
          <a:xfrm>
            <a:off x="7243557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6"/>
          <p:cNvSpPr>
            <a:spLocks noGrp="1"/>
          </p:cNvSpPr>
          <p:nvPr>
            <p:ph type="body" sz="quarter" idx="110"/>
          </p:nvPr>
        </p:nvSpPr>
        <p:spPr>
          <a:xfrm>
            <a:off x="9474200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6"/>
          <p:cNvSpPr>
            <a:spLocks noGrp="1"/>
          </p:cNvSpPr>
          <p:nvPr>
            <p:ph type="body" sz="quarter" idx="111"/>
          </p:nvPr>
        </p:nvSpPr>
        <p:spPr>
          <a:xfrm>
            <a:off x="9474200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6"/>
          <p:cNvSpPr>
            <a:spLocks noGrp="1"/>
          </p:cNvSpPr>
          <p:nvPr>
            <p:ph type="body" sz="quarter" idx="112"/>
          </p:nvPr>
        </p:nvSpPr>
        <p:spPr>
          <a:xfrm>
            <a:off x="601133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36"/>
          <p:cNvSpPr>
            <a:spLocks noGrp="1"/>
          </p:cNvSpPr>
          <p:nvPr>
            <p:ph type="body" sz="quarter" idx="113"/>
          </p:nvPr>
        </p:nvSpPr>
        <p:spPr>
          <a:xfrm>
            <a:off x="601133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6"/>
          <p:cNvSpPr>
            <a:spLocks noGrp="1"/>
          </p:cNvSpPr>
          <p:nvPr>
            <p:ph type="body" sz="quarter" idx="114"/>
          </p:nvPr>
        </p:nvSpPr>
        <p:spPr>
          <a:xfrm>
            <a:off x="2815275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3" name="Text Placeholder 36"/>
          <p:cNvSpPr>
            <a:spLocks noGrp="1"/>
          </p:cNvSpPr>
          <p:nvPr>
            <p:ph type="body" sz="quarter" idx="115"/>
          </p:nvPr>
        </p:nvSpPr>
        <p:spPr>
          <a:xfrm>
            <a:off x="2815275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36"/>
          <p:cNvSpPr>
            <a:spLocks noGrp="1"/>
          </p:cNvSpPr>
          <p:nvPr>
            <p:ph type="body" sz="quarter" idx="116"/>
          </p:nvPr>
        </p:nvSpPr>
        <p:spPr>
          <a:xfrm>
            <a:off x="5029416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Text Placeholder 36"/>
          <p:cNvSpPr>
            <a:spLocks noGrp="1"/>
          </p:cNvSpPr>
          <p:nvPr>
            <p:ph type="body" sz="quarter" idx="117"/>
          </p:nvPr>
        </p:nvSpPr>
        <p:spPr>
          <a:xfrm>
            <a:off x="5029416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36"/>
          <p:cNvSpPr>
            <a:spLocks noGrp="1"/>
          </p:cNvSpPr>
          <p:nvPr>
            <p:ph type="body" sz="quarter" idx="118"/>
          </p:nvPr>
        </p:nvSpPr>
        <p:spPr>
          <a:xfrm>
            <a:off x="7243557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7" name="Text Placeholder 36"/>
          <p:cNvSpPr>
            <a:spLocks noGrp="1"/>
          </p:cNvSpPr>
          <p:nvPr>
            <p:ph type="body" sz="quarter" idx="119"/>
          </p:nvPr>
        </p:nvSpPr>
        <p:spPr>
          <a:xfrm>
            <a:off x="7243557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36"/>
          <p:cNvSpPr>
            <a:spLocks noGrp="1"/>
          </p:cNvSpPr>
          <p:nvPr>
            <p:ph type="body" sz="quarter" idx="120"/>
          </p:nvPr>
        </p:nvSpPr>
        <p:spPr>
          <a:xfrm>
            <a:off x="9474200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Text Placeholder 36"/>
          <p:cNvSpPr>
            <a:spLocks noGrp="1"/>
          </p:cNvSpPr>
          <p:nvPr>
            <p:ph type="body" sz="quarter" idx="121"/>
          </p:nvPr>
        </p:nvSpPr>
        <p:spPr>
          <a:xfrm>
            <a:off x="9474200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36"/>
          <p:cNvSpPr>
            <a:spLocks noGrp="1"/>
          </p:cNvSpPr>
          <p:nvPr>
            <p:ph type="body" sz="quarter" idx="122"/>
          </p:nvPr>
        </p:nvSpPr>
        <p:spPr>
          <a:xfrm>
            <a:off x="601133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1" name="Text Placeholder 36"/>
          <p:cNvSpPr>
            <a:spLocks noGrp="1"/>
          </p:cNvSpPr>
          <p:nvPr>
            <p:ph type="body" sz="quarter" idx="123"/>
          </p:nvPr>
        </p:nvSpPr>
        <p:spPr>
          <a:xfrm>
            <a:off x="601133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36"/>
          <p:cNvSpPr>
            <a:spLocks noGrp="1"/>
          </p:cNvSpPr>
          <p:nvPr>
            <p:ph type="body" sz="quarter" idx="124"/>
          </p:nvPr>
        </p:nvSpPr>
        <p:spPr>
          <a:xfrm>
            <a:off x="2815275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3" name="Text Placeholder 36"/>
          <p:cNvSpPr>
            <a:spLocks noGrp="1"/>
          </p:cNvSpPr>
          <p:nvPr>
            <p:ph type="body" sz="quarter" idx="125"/>
          </p:nvPr>
        </p:nvSpPr>
        <p:spPr>
          <a:xfrm>
            <a:off x="2815275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36"/>
          <p:cNvSpPr>
            <a:spLocks noGrp="1"/>
          </p:cNvSpPr>
          <p:nvPr>
            <p:ph type="body" sz="quarter" idx="126"/>
          </p:nvPr>
        </p:nvSpPr>
        <p:spPr>
          <a:xfrm>
            <a:off x="5029416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5" name="Text Placeholder 36"/>
          <p:cNvSpPr>
            <a:spLocks noGrp="1"/>
          </p:cNvSpPr>
          <p:nvPr>
            <p:ph type="body" sz="quarter" idx="127"/>
          </p:nvPr>
        </p:nvSpPr>
        <p:spPr>
          <a:xfrm>
            <a:off x="5029416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36"/>
          <p:cNvSpPr>
            <a:spLocks noGrp="1"/>
          </p:cNvSpPr>
          <p:nvPr>
            <p:ph type="body" sz="quarter" idx="128"/>
          </p:nvPr>
        </p:nvSpPr>
        <p:spPr>
          <a:xfrm>
            <a:off x="7243557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7" name="Text Placeholder 36"/>
          <p:cNvSpPr>
            <a:spLocks noGrp="1"/>
          </p:cNvSpPr>
          <p:nvPr>
            <p:ph type="body" sz="quarter" idx="129"/>
          </p:nvPr>
        </p:nvSpPr>
        <p:spPr>
          <a:xfrm>
            <a:off x="7243557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36"/>
          <p:cNvSpPr>
            <a:spLocks noGrp="1"/>
          </p:cNvSpPr>
          <p:nvPr>
            <p:ph type="body" sz="quarter" idx="130"/>
          </p:nvPr>
        </p:nvSpPr>
        <p:spPr>
          <a:xfrm>
            <a:off x="9474200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Text Placeholder 36"/>
          <p:cNvSpPr>
            <a:spLocks noGrp="1"/>
          </p:cNvSpPr>
          <p:nvPr>
            <p:ph type="body" sz="quarter" idx="131"/>
          </p:nvPr>
        </p:nvSpPr>
        <p:spPr>
          <a:xfrm>
            <a:off x="9474200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3" name="Slide Number Placeholder 9"/>
          <p:cNvSpPr>
            <a:spLocks noGrp="1"/>
          </p:cNvSpPr>
          <p:nvPr>
            <p:ph type="sldNum" sz="quarter" idx="132"/>
          </p:nvPr>
        </p:nvSpPr>
        <p:spPr/>
        <p:txBody>
          <a:bodyPr/>
          <a:lstStyle>
            <a:lvl1pPr>
              <a:defRPr/>
            </a:lvl1pPr>
          </a:lstStyle>
          <a:p>
            <a:fld id="{77461BCF-BBA5-5E4A-ABD5-3E5D9382F9D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4" name="Footer Placeholder 12"/>
          <p:cNvSpPr>
            <a:spLocks noGrp="1"/>
          </p:cNvSpPr>
          <p:nvPr>
            <p:ph type="ftr" sz="quarter" idx="13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Taxable Acquisitions</a:t>
            </a:r>
          </a:p>
        </p:txBody>
      </p:sp>
    </p:spTree>
    <p:extLst>
      <p:ext uri="{BB962C8B-B14F-4D97-AF65-F5344CB8AC3E}">
        <p14:creationId xmlns:p14="http://schemas.microsoft.com/office/powerpoint/2010/main" val="38692242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HIGHLIGHT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6"/>
          <p:cNvSpPr>
            <a:spLocks noGrp="1"/>
          </p:cNvSpPr>
          <p:nvPr>
            <p:ph type="body" sz="quarter" idx="102"/>
          </p:nvPr>
        </p:nvSpPr>
        <p:spPr>
          <a:xfrm>
            <a:off x="601133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6"/>
          <p:cNvSpPr>
            <a:spLocks noGrp="1"/>
          </p:cNvSpPr>
          <p:nvPr>
            <p:ph type="body" sz="quarter" idx="103"/>
          </p:nvPr>
        </p:nvSpPr>
        <p:spPr>
          <a:xfrm>
            <a:off x="601133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6"/>
          <p:cNvSpPr>
            <a:spLocks noGrp="1"/>
          </p:cNvSpPr>
          <p:nvPr>
            <p:ph type="body" sz="quarter" idx="104"/>
          </p:nvPr>
        </p:nvSpPr>
        <p:spPr>
          <a:xfrm>
            <a:off x="2815275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36"/>
          <p:cNvSpPr>
            <a:spLocks noGrp="1"/>
          </p:cNvSpPr>
          <p:nvPr>
            <p:ph type="body" sz="quarter" idx="105"/>
          </p:nvPr>
        </p:nvSpPr>
        <p:spPr>
          <a:xfrm>
            <a:off x="2815275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6"/>
          <p:cNvSpPr>
            <a:spLocks noGrp="1"/>
          </p:cNvSpPr>
          <p:nvPr>
            <p:ph type="body" sz="quarter" idx="106"/>
          </p:nvPr>
        </p:nvSpPr>
        <p:spPr>
          <a:xfrm>
            <a:off x="5029416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36"/>
          <p:cNvSpPr>
            <a:spLocks noGrp="1"/>
          </p:cNvSpPr>
          <p:nvPr>
            <p:ph type="body" sz="quarter" idx="107"/>
          </p:nvPr>
        </p:nvSpPr>
        <p:spPr>
          <a:xfrm>
            <a:off x="5029416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6"/>
          <p:cNvSpPr>
            <a:spLocks noGrp="1"/>
          </p:cNvSpPr>
          <p:nvPr>
            <p:ph type="body" sz="quarter" idx="108"/>
          </p:nvPr>
        </p:nvSpPr>
        <p:spPr>
          <a:xfrm>
            <a:off x="7243557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6"/>
          <p:cNvSpPr>
            <a:spLocks noGrp="1"/>
          </p:cNvSpPr>
          <p:nvPr>
            <p:ph type="body" sz="quarter" idx="109"/>
          </p:nvPr>
        </p:nvSpPr>
        <p:spPr>
          <a:xfrm>
            <a:off x="7243557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6"/>
          <p:cNvSpPr>
            <a:spLocks noGrp="1"/>
          </p:cNvSpPr>
          <p:nvPr>
            <p:ph type="body" sz="quarter" idx="110"/>
          </p:nvPr>
        </p:nvSpPr>
        <p:spPr>
          <a:xfrm>
            <a:off x="9474200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6"/>
          <p:cNvSpPr>
            <a:spLocks noGrp="1"/>
          </p:cNvSpPr>
          <p:nvPr>
            <p:ph type="body" sz="quarter" idx="111"/>
          </p:nvPr>
        </p:nvSpPr>
        <p:spPr>
          <a:xfrm>
            <a:off x="9474200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6"/>
          <p:cNvSpPr>
            <a:spLocks noGrp="1"/>
          </p:cNvSpPr>
          <p:nvPr>
            <p:ph type="body" sz="quarter" idx="112"/>
          </p:nvPr>
        </p:nvSpPr>
        <p:spPr>
          <a:xfrm>
            <a:off x="601133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36"/>
          <p:cNvSpPr>
            <a:spLocks noGrp="1"/>
          </p:cNvSpPr>
          <p:nvPr>
            <p:ph type="body" sz="quarter" idx="113"/>
          </p:nvPr>
        </p:nvSpPr>
        <p:spPr>
          <a:xfrm>
            <a:off x="601133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6"/>
          <p:cNvSpPr>
            <a:spLocks noGrp="1"/>
          </p:cNvSpPr>
          <p:nvPr>
            <p:ph type="body" sz="quarter" idx="114"/>
          </p:nvPr>
        </p:nvSpPr>
        <p:spPr>
          <a:xfrm>
            <a:off x="601133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36"/>
          <p:cNvSpPr>
            <a:spLocks noGrp="1"/>
          </p:cNvSpPr>
          <p:nvPr>
            <p:ph type="body" sz="quarter" idx="115"/>
          </p:nvPr>
        </p:nvSpPr>
        <p:spPr>
          <a:xfrm>
            <a:off x="601133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6"/>
          <p:cNvSpPr>
            <a:spLocks noGrp="1"/>
          </p:cNvSpPr>
          <p:nvPr>
            <p:ph type="body" sz="quarter" idx="116"/>
          </p:nvPr>
        </p:nvSpPr>
        <p:spPr>
          <a:xfrm>
            <a:off x="2815275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36"/>
          <p:cNvSpPr>
            <a:spLocks noGrp="1"/>
          </p:cNvSpPr>
          <p:nvPr>
            <p:ph type="body" sz="quarter" idx="117"/>
          </p:nvPr>
        </p:nvSpPr>
        <p:spPr>
          <a:xfrm>
            <a:off x="2815275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6"/>
          <p:cNvSpPr>
            <a:spLocks noGrp="1"/>
          </p:cNvSpPr>
          <p:nvPr>
            <p:ph type="body" sz="quarter" idx="118"/>
          </p:nvPr>
        </p:nvSpPr>
        <p:spPr>
          <a:xfrm>
            <a:off x="2815275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36"/>
          <p:cNvSpPr>
            <a:spLocks noGrp="1"/>
          </p:cNvSpPr>
          <p:nvPr>
            <p:ph type="body" sz="quarter" idx="119"/>
          </p:nvPr>
        </p:nvSpPr>
        <p:spPr>
          <a:xfrm>
            <a:off x="2815275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6"/>
          <p:cNvSpPr>
            <a:spLocks noGrp="1"/>
          </p:cNvSpPr>
          <p:nvPr>
            <p:ph type="body" sz="quarter" idx="120"/>
          </p:nvPr>
        </p:nvSpPr>
        <p:spPr>
          <a:xfrm>
            <a:off x="5029416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5" name="Text Placeholder 36"/>
          <p:cNvSpPr>
            <a:spLocks noGrp="1"/>
          </p:cNvSpPr>
          <p:nvPr>
            <p:ph type="body" sz="quarter" idx="121"/>
          </p:nvPr>
        </p:nvSpPr>
        <p:spPr>
          <a:xfrm>
            <a:off x="5029416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36"/>
          <p:cNvSpPr>
            <a:spLocks noGrp="1"/>
          </p:cNvSpPr>
          <p:nvPr>
            <p:ph type="body" sz="quarter" idx="122"/>
          </p:nvPr>
        </p:nvSpPr>
        <p:spPr>
          <a:xfrm>
            <a:off x="5029416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7" name="Text Placeholder 36"/>
          <p:cNvSpPr>
            <a:spLocks noGrp="1"/>
          </p:cNvSpPr>
          <p:nvPr>
            <p:ph type="body" sz="quarter" idx="123"/>
          </p:nvPr>
        </p:nvSpPr>
        <p:spPr>
          <a:xfrm>
            <a:off x="5029416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6"/>
          <p:cNvSpPr>
            <a:spLocks noGrp="1"/>
          </p:cNvSpPr>
          <p:nvPr>
            <p:ph type="body" sz="quarter" idx="124"/>
          </p:nvPr>
        </p:nvSpPr>
        <p:spPr>
          <a:xfrm>
            <a:off x="7243557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Text Placeholder 36"/>
          <p:cNvSpPr>
            <a:spLocks noGrp="1"/>
          </p:cNvSpPr>
          <p:nvPr>
            <p:ph type="body" sz="quarter" idx="125"/>
          </p:nvPr>
        </p:nvSpPr>
        <p:spPr>
          <a:xfrm>
            <a:off x="7243557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6"/>
          <p:cNvSpPr>
            <a:spLocks noGrp="1"/>
          </p:cNvSpPr>
          <p:nvPr>
            <p:ph type="body" sz="quarter" idx="126"/>
          </p:nvPr>
        </p:nvSpPr>
        <p:spPr>
          <a:xfrm>
            <a:off x="7243557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ext Placeholder 36"/>
          <p:cNvSpPr>
            <a:spLocks noGrp="1"/>
          </p:cNvSpPr>
          <p:nvPr>
            <p:ph type="body" sz="quarter" idx="127"/>
          </p:nvPr>
        </p:nvSpPr>
        <p:spPr>
          <a:xfrm>
            <a:off x="7243557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6"/>
          <p:cNvSpPr>
            <a:spLocks noGrp="1"/>
          </p:cNvSpPr>
          <p:nvPr>
            <p:ph type="body" sz="quarter" idx="128"/>
          </p:nvPr>
        </p:nvSpPr>
        <p:spPr>
          <a:xfrm>
            <a:off x="9474200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3" name="Text Placeholder 36"/>
          <p:cNvSpPr>
            <a:spLocks noGrp="1"/>
          </p:cNvSpPr>
          <p:nvPr>
            <p:ph type="body" sz="quarter" idx="129"/>
          </p:nvPr>
        </p:nvSpPr>
        <p:spPr>
          <a:xfrm>
            <a:off x="9474200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6"/>
          <p:cNvSpPr>
            <a:spLocks noGrp="1"/>
          </p:cNvSpPr>
          <p:nvPr>
            <p:ph type="body" sz="quarter" idx="130"/>
          </p:nvPr>
        </p:nvSpPr>
        <p:spPr>
          <a:xfrm>
            <a:off x="9474200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Text Placeholder 36"/>
          <p:cNvSpPr>
            <a:spLocks noGrp="1"/>
          </p:cNvSpPr>
          <p:nvPr>
            <p:ph type="body" sz="quarter" idx="131"/>
          </p:nvPr>
        </p:nvSpPr>
        <p:spPr>
          <a:xfrm>
            <a:off x="9474200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2"/>
          </p:nvPr>
        </p:nvSpPr>
        <p:spPr/>
        <p:txBody>
          <a:bodyPr/>
          <a:lstStyle>
            <a:lvl1pPr>
              <a:defRPr/>
            </a:lvl1pPr>
          </a:lstStyle>
          <a:p>
            <a:fld id="{31BEBA66-216E-7243-B012-B44CAA5F986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Taxable Acquisitions</a:t>
            </a:r>
          </a:p>
        </p:txBody>
      </p:sp>
    </p:spTree>
    <p:extLst>
      <p:ext uri="{BB962C8B-B14F-4D97-AF65-F5344CB8AC3E}">
        <p14:creationId xmlns:p14="http://schemas.microsoft.com/office/powerpoint/2010/main" val="12302434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601133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8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601133" y="46228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9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601133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0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818451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5035768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2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7253085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3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9470400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4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818451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818451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 u="none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 u="none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 u="none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 u="none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 u="none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6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5035768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7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5035768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8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7253085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7253085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0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9470400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1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9470400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8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601133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601133" y="6020181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0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601133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1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2818451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2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5035768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3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7253085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4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9470400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5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2818451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6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2818451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7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5035768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5035768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7253085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7253085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1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9470400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2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9470400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3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44A3DAED-98CA-ED44-BD8D-010557C4E8A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4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Taxable Acquisitions</a:t>
            </a:r>
          </a:p>
        </p:txBody>
      </p:sp>
    </p:spTree>
    <p:extLst>
      <p:ext uri="{BB962C8B-B14F-4D97-AF65-F5344CB8AC3E}">
        <p14:creationId xmlns:p14="http://schemas.microsoft.com/office/powerpoint/2010/main" val="192079638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601133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601133" y="462280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601133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818451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5035768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7253085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9470400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818451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818451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5035768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5035768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7253085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7253085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9470400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9470400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601133" y="25123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2818449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5035765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7253081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9470400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601133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2818449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5035765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7253081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9470400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601133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2818449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5035765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7253081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9470400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465CD288-24B3-4B48-8EA0-67784588A8A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Taxable Acquisitions</a:t>
            </a:r>
          </a:p>
        </p:txBody>
      </p:sp>
    </p:spTree>
    <p:extLst>
      <p:ext uri="{BB962C8B-B14F-4D97-AF65-F5344CB8AC3E}">
        <p14:creationId xmlns:p14="http://schemas.microsoft.com/office/powerpoint/2010/main" val="148866573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601133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601133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601133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818451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5035768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7253085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9470400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818451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818451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5035768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5035768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7253085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7253085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9470400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9470400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601133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2818449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5035765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7253081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9470400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601133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2818449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5035765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7253081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9470400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601133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2818449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5035765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7253081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9470400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90FE7E78-F63E-6945-90BC-87516667A72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Taxable Acquisitions</a:t>
            </a:r>
          </a:p>
        </p:txBody>
      </p:sp>
    </p:spTree>
    <p:extLst>
      <p:ext uri="{BB962C8B-B14F-4D97-AF65-F5344CB8AC3E}">
        <p14:creationId xmlns:p14="http://schemas.microsoft.com/office/powerpoint/2010/main" val="99006345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52400"/>
            <a:ext cx="10363200" cy="609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914400"/>
            <a:ext cx="10363200" cy="5410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Taxable Acquisitions</a:t>
            </a:r>
            <a:endParaRPr 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latin typeface="Calibri"/>
            </a:endParaRPr>
          </a:p>
          <a:p>
            <a:fld id="{32A47CA8-1D40-3C49-82CF-CF2201A41E4F}" type="slidenum">
              <a:rPr lang="en-US" smtClean="0">
                <a:latin typeface="Calibri"/>
              </a:rPr>
              <a:pPr/>
              <a:t>‹#›</a:t>
            </a:fld>
            <a:endParaRPr lang="en-US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546976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11277600" cy="609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838200"/>
            <a:ext cx="5537200" cy="5410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045200" y="838200"/>
            <a:ext cx="5537200" cy="26289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045200" y="3619500"/>
            <a:ext cx="5537200" cy="26289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Taxable Acquisitions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2C4C756-7A50-674A-9077-94CB1A736BC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720359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838200"/>
            <a:ext cx="5537200" cy="5410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45200" y="838200"/>
            <a:ext cx="5537200" cy="5410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04800" y="152400"/>
            <a:ext cx="11277600" cy="609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Taxable Acquisitions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DEAFEB1-6434-3F44-A249-27DCAE44D34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9763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11277600" cy="609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838200"/>
            <a:ext cx="5537200" cy="54102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45200" y="838200"/>
            <a:ext cx="5537200" cy="54102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Taxable Acquisitions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1D370D-31FF-8A4E-9407-85A21F4FDD6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8445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Line 88"/>
          <p:cNvSpPr>
            <a:spLocks noChangeShapeType="1"/>
          </p:cNvSpPr>
          <p:nvPr/>
        </p:nvSpPr>
        <p:spPr bwMode="gray">
          <a:xfrm>
            <a:off x="0" y="6423027"/>
            <a:ext cx="12192000" cy="0"/>
          </a:xfrm>
          <a:prstGeom prst="line">
            <a:avLst/>
          </a:prstGeom>
          <a:noFill/>
          <a:ln w="158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11480800" y="6436634"/>
            <a:ext cx="609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800" b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algn="r"/>
            <a:fld id="{D9D5F7EB-196B-A148-8812-2A4F7A2FBBD6}" type="slidenum">
              <a:rPr lang="en-US" altLang="en-US" smtClean="0"/>
              <a:pPr algn="r"/>
              <a:t>‹#›</a:t>
            </a:fld>
            <a:endParaRPr lang="en-US" alt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3"/>
          </p:nvPr>
        </p:nvSpPr>
        <p:spPr>
          <a:xfrm>
            <a:off x="4165600" y="6442487"/>
            <a:ext cx="386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000" b="1" smtClean="0">
                <a:solidFill>
                  <a:srgbClr val="898989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/>
              <a:t>Taxable Acquisitions</a:t>
            </a:r>
            <a:endParaRPr lang="en-US" dirty="0"/>
          </a:p>
        </p:txBody>
      </p:sp>
      <p:sp>
        <p:nvSpPr>
          <p:cNvPr id="9" name="Footer Placeholder 3"/>
          <p:cNvSpPr txBox="1">
            <a:spLocks/>
          </p:cNvSpPr>
          <p:nvPr userDrawn="1"/>
        </p:nvSpPr>
        <p:spPr>
          <a:xfrm>
            <a:off x="96545" y="6423028"/>
            <a:ext cx="3149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l">
              <a:defRPr/>
            </a:pPr>
            <a:r>
              <a:rPr lang="en-US" sz="800" dirty="0">
                <a:latin typeface="+mn-lt"/>
              </a:rPr>
              <a:t>CT</a:t>
            </a:r>
            <a:r>
              <a:rPr lang="en-US" sz="800" baseline="0" dirty="0">
                <a:latin typeface="+mn-lt"/>
              </a:rPr>
              <a:t>_TaxAcq_2026S</a:t>
            </a:r>
            <a:endParaRPr lang="en-US" sz="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1776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715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  <p:sldLayoutId id="2147483690" r:id="rId31"/>
    <p:sldLayoutId id="2147483691" r:id="rId32"/>
    <p:sldLayoutId id="2147483692" r:id="rId33"/>
    <p:sldLayoutId id="2147483693" r:id="rId34"/>
    <p:sldLayoutId id="2147483694" r:id="rId35"/>
    <p:sldLayoutId id="2147483695" r:id="rId36"/>
    <p:sldLayoutId id="2147483696" r:id="rId37"/>
    <p:sldLayoutId id="2147483697" r:id="rId38"/>
    <p:sldLayoutId id="2147483698" r:id="rId39"/>
    <p:sldLayoutId id="2147483699" r:id="rId40"/>
    <p:sldLayoutId id="2147483700" r:id="rId41"/>
    <p:sldLayoutId id="2147483701" r:id="rId42"/>
    <p:sldLayoutId id="2147483702" r:id="rId43"/>
    <p:sldLayoutId id="2147483703" r:id="rId44"/>
    <p:sldLayoutId id="2147483704" r:id="rId45"/>
    <p:sldLayoutId id="2147483705" r:id="rId46"/>
    <p:sldLayoutId id="2147483706" r:id="rId47"/>
    <p:sldLayoutId id="2147483707" r:id="rId48"/>
    <p:sldLayoutId id="2147483708" r:id="rId49"/>
    <p:sldLayoutId id="2147483709" r:id="rId50"/>
    <p:sldLayoutId id="2147483710" r:id="rId51"/>
    <p:sldLayoutId id="2147483711" r:id="rId52"/>
    <p:sldLayoutId id="2147483712" r:id="rId53"/>
    <p:sldLayoutId id="2147483713" r:id="rId54"/>
    <p:sldLayoutId id="2147483714" r:id="rId55"/>
    <p:sldLayoutId id="2147483716" r:id="rId56"/>
    <p:sldLayoutId id="2147483717" r:id="rId57"/>
    <p:sldLayoutId id="2147483718" r:id="rId58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C30303F-F3A7-0D49-835F-674212185C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800" b="1" dirty="0"/>
              <a:t>Corporate asset sale</a:t>
            </a:r>
            <a:r>
              <a:rPr lang="en-US" sz="2800" dirty="0"/>
              <a:t>: </a:t>
            </a:r>
            <a:r>
              <a:rPr lang="en-US" sz="2800" b="1" dirty="0"/>
              <a:t>Acquiring</a:t>
            </a:r>
            <a:r>
              <a:rPr lang="en-US" sz="2800" dirty="0"/>
              <a:t> purchases </a:t>
            </a:r>
            <a:r>
              <a:rPr lang="en-US" sz="2800" b="1" dirty="0"/>
              <a:t>Target</a:t>
            </a:r>
            <a:r>
              <a:rPr lang="en-US" sz="2800" dirty="0"/>
              <a:t> </a:t>
            </a:r>
            <a:r>
              <a:rPr lang="en-US" sz="2800" b="1" dirty="0"/>
              <a:t>assets</a:t>
            </a:r>
            <a:r>
              <a:rPr lang="en-US" sz="2800" dirty="0"/>
              <a:t> and Target may be liquidated </a:t>
            </a:r>
          </a:p>
          <a:p>
            <a:r>
              <a:rPr lang="en-US" sz="2800" b="1" dirty="0"/>
              <a:t>Corporate stock sale</a:t>
            </a:r>
            <a:r>
              <a:rPr lang="en-US" sz="2800" dirty="0"/>
              <a:t>: </a:t>
            </a:r>
            <a:r>
              <a:rPr lang="en-US" sz="2800" b="1" dirty="0"/>
              <a:t>Acquiring</a:t>
            </a:r>
            <a:r>
              <a:rPr lang="en-US" sz="2800" dirty="0"/>
              <a:t> purchases </a:t>
            </a:r>
            <a:r>
              <a:rPr lang="en-US" sz="2800" b="1" dirty="0"/>
              <a:t>Target stock </a:t>
            </a:r>
            <a:r>
              <a:rPr lang="en-US" sz="2800" dirty="0"/>
              <a:t>and Target may be liquidated</a:t>
            </a:r>
          </a:p>
          <a:p>
            <a:r>
              <a:rPr lang="en-US" sz="2800" b="1" dirty="0"/>
              <a:t>Shareholder asset sale</a:t>
            </a:r>
            <a:r>
              <a:rPr lang="en-US" sz="2800" dirty="0"/>
              <a:t>: Target liquidates and Acquiring purchases former Target assets </a:t>
            </a:r>
          </a:p>
          <a:p>
            <a:endParaRPr lang="en-US" sz="2800" dirty="0"/>
          </a:p>
          <a:p>
            <a:r>
              <a:rPr lang="en-US" sz="2800" b="1" dirty="0"/>
              <a:t>Taxable acquisitions vs. Tax-free reorganizations</a:t>
            </a:r>
          </a:p>
          <a:p>
            <a:pPr marL="0" indent="0">
              <a:buNone/>
            </a:pPr>
            <a:endParaRPr lang="en-US" sz="2800" dirty="0"/>
          </a:p>
          <a:p>
            <a:r>
              <a:rPr lang="en-US" sz="2800" b="1" dirty="0"/>
              <a:t>Liquidations (non Parent SH – Subsidiary)</a:t>
            </a:r>
            <a:r>
              <a:rPr lang="en-US" sz="2800" dirty="0"/>
              <a:t>: </a:t>
            </a:r>
            <a:r>
              <a:rPr lang="en-US" altLang="en-US" sz="2800" dirty="0"/>
              <a:t>§§331 and 336</a:t>
            </a:r>
            <a:endParaRPr lang="en-US" sz="2800" dirty="0"/>
          </a:p>
          <a:p>
            <a:r>
              <a:rPr lang="en-US" sz="2800" b="1" dirty="0"/>
              <a:t>Liquidations (Parent – Subsidiary)</a:t>
            </a:r>
            <a:r>
              <a:rPr lang="en-US" sz="2800" dirty="0"/>
              <a:t>: </a:t>
            </a:r>
            <a:r>
              <a:rPr lang="en-US" altLang="en-US" sz="2800" dirty="0"/>
              <a:t>§§332 and 337</a:t>
            </a:r>
            <a:endParaRPr lang="en-US" sz="2800" dirty="0"/>
          </a:p>
          <a:p>
            <a:r>
              <a:rPr lang="en-US" sz="2800" b="1" dirty="0"/>
              <a:t>Assets acquisitions (allocations of purchase price)</a:t>
            </a:r>
            <a:r>
              <a:rPr lang="en-US" sz="2800" dirty="0"/>
              <a:t>: </a:t>
            </a:r>
            <a:r>
              <a:rPr lang="en-US" altLang="en-US" sz="2800" dirty="0"/>
              <a:t>§§1060, 197, and </a:t>
            </a:r>
            <a:r>
              <a:rPr lang="en-US" altLang="en-US" sz="2800" b="1" dirty="0"/>
              <a:t>new 168(k)</a:t>
            </a:r>
          </a:p>
          <a:p>
            <a:r>
              <a:rPr lang="en-US" sz="2800" b="1" dirty="0"/>
              <a:t>Stock acquisitions and dispositions</a:t>
            </a:r>
            <a:r>
              <a:rPr lang="en-US" sz="2800" dirty="0"/>
              <a:t>: </a:t>
            </a:r>
            <a:r>
              <a:rPr lang="en-US" altLang="en-US" sz="2800" dirty="0"/>
              <a:t>§§338(g) and (h)(10); and 336(e)</a:t>
            </a:r>
            <a:endParaRPr lang="en-US" sz="2800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7C46204-7C3B-AF44-B2F5-9A6E9189D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Taxable Asset Acquisitions: Overview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E3FD9E-DE70-4D44-963A-01BB771293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</a:t>
            </a:fld>
            <a:endParaRPr lang="en-US" alt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0D5072-A246-5946-8612-70808DB17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Taxable Acquisitions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332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Taxable Corporate Acquisitions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D706CB-156B-8643-9A07-D8448DABBCBD}" type="slidenum">
              <a:rPr lang="en-US" altLang="en-US" smtClean="0"/>
              <a:pPr/>
              <a:t>2</a:t>
            </a:fld>
            <a:endParaRPr lang="en-US" altLang="en-US" dirty="0"/>
          </a:p>
        </p:txBody>
      </p:sp>
      <p:sp>
        <p:nvSpPr>
          <p:cNvPr id="6" name="Rectangle 5"/>
          <p:cNvSpPr/>
          <p:nvPr/>
        </p:nvSpPr>
        <p:spPr>
          <a:xfrm>
            <a:off x="569296" y="2325400"/>
            <a:ext cx="957585" cy="51378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Target</a:t>
            </a:r>
          </a:p>
        </p:txBody>
      </p:sp>
      <p:sp>
        <p:nvSpPr>
          <p:cNvPr id="10" name="Oval 9"/>
          <p:cNvSpPr/>
          <p:nvPr/>
        </p:nvSpPr>
        <p:spPr>
          <a:xfrm>
            <a:off x="620141" y="1518193"/>
            <a:ext cx="867266" cy="42133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SHs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3" name="Oval 22"/>
          <p:cNvSpPr/>
          <p:nvPr/>
        </p:nvSpPr>
        <p:spPr>
          <a:xfrm>
            <a:off x="524701" y="3177384"/>
            <a:ext cx="1041674" cy="301022"/>
          </a:xfrm>
          <a:prstGeom prst="ellipse">
            <a:avLst/>
          </a:prstGeom>
          <a:noFill/>
          <a:ln w="28575">
            <a:solidFill>
              <a:schemeClr val="accent3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 Assets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62583" y="2325400"/>
            <a:ext cx="1069025" cy="51378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Acquiring</a:t>
            </a:r>
          </a:p>
        </p:txBody>
      </p:sp>
      <p:cxnSp>
        <p:nvCxnSpPr>
          <p:cNvPr id="31" name="Straight Connector 30"/>
          <p:cNvCxnSpPr/>
          <p:nvPr/>
        </p:nvCxnSpPr>
        <p:spPr>
          <a:xfrm flipH="1" flipV="1">
            <a:off x="1411355" y="3070346"/>
            <a:ext cx="999336" cy="13677"/>
          </a:xfrm>
          <a:prstGeom prst="line">
            <a:avLst/>
          </a:prstGeom>
          <a:ln w="317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1501852" y="3399906"/>
            <a:ext cx="835908" cy="7583"/>
          </a:xfrm>
          <a:prstGeom prst="line">
            <a:avLst/>
          </a:prstGeom>
          <a:ln w="317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/>
          <p:cNvCxnSpPr>
            <a:endCxn id="10" idx="2"/>
          </p:cNvCxnSpPr>
          <p:nvPr/>
        </p:nvCxnSpPr>
        <p:spPr>
          <a:xfrm rot="5400000" flipH="1" flipV="1">
            <a:off x="-233128" y="2401409"/>
            <a:ext cx="1525816" cy="180722"/>
          </a:xfrm>
          <a:prstGeom prst="bentConnector2">
            <a:avLst/>
          </a:prstGeom>
          <a:ln w="254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cxnSpLocks/>
            <a:stCxn id="6" idx="2"/>
            <a:endCxn id="23" idx="0"/>
          </p:cNvCxnSpPr>
          <p:nvPr/>
        </p:nvCxnSpPr>
        <p:spPr>
          <a:xfrm flipH="1">
            <a:off x="1045538" y="2839180"/>
            <a:ext cx="2551" cy="3382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1740445" y="3137272"/>
            <a:ext cx="283216" cy="195708"/>
          </a:xfrm>
          <a:prstGeom prst="ellipse">
            <a:avLst/>
          </a:prstGeom>
          <a:solidFill>
            <a:schemeClr val="bg1"/>
          </a:solidFill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6" name="Oval 55"/>
          <p:cNvSpPr/>
          <p:nvPr/>
        </p:nvSpPr>
        <p:spPr>
          <a:xfrm>
            <a:off x="697730" y="2049771"/>
            <a:ext cx="283216" cy="181798"/>
          </a:xfrm>
          <a:prstGeom prst="ellipse">
            <a:avLst/>
          </a:prstGeom>
          <a:solidFill>
            <a:schemeClr val="bg1"/>
          </a:solidFill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59" name="Straight Connector 58"/>
          <p:cNvCxnSpPr>
            <a:stCxn id="10" idx="4"/>
            <a:endCxn id="6" idx="0"/>
          </p:cNvCxnSpPr>
          <p:nvPr/>
        </p:nvCxnSpPr>
        <p:spPr>
          <a:xfrm flipH="1">
            <a:off x="1048089" y="1939531"/>
            <a:ext cx="5685" cy="3858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Oval 77"/>
          <p:cNvSpPr/>
          <p:nvPr/>
        </p:nvSpPr>
        <p:spPr>
          <a:xfrm>
            <a:off x="2163462" y="1535452"/>
            <a:ext cx="867266" cy="42133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Acq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SHs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79" name="Straight Connector 78"/>
          <p:cNvCxnSpPr>
            <a:stCxn id="78" idx="4"/>
            <a:endCxn id="24" idx="0"/>
          </p:cNvCxnSpPr>
          <p:nvPr/>
        </p:nvCxnSpPr>
        <p:spPr>
          <a:xfrm>
            <a:off x="2597095" y="1956790"/>
            <a:ext cx="1" cy="3686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1692683" y="275260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$</a:t>
            </a:r>
            <a:endParaRPr lang="en-US" b="1" dirty="0"/>
          </a:p>
        </p:txBody>
      </p:sp>
      <p:sp>
        <p:nvSpPr>
          <p:cNvPr id="84" name="Rectangle 83"/>
          <p:cNvSpPr/>
          <p:nvPr/>
        </p:nvSpPr>
        <p:spPr>
          <a:xfrm>
            <a:off x="4844809" y="2264819"/>
            <a:ext cx="957585" cy="51378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Target</a:t>
            </a:r>
          </a:p>
        </p:txBody>
      </p:sp>
      <p:sp>
        <p:nvSpPr>
          <p:cNvPr id="85" name="Oval 84"/>
          <p:cNvSpPr/>
          <p:nvPr/>
        </p:nvSpPr>
        <p:spPr>
          <a:xfrm>
            <a:off x="4895654" y="1457612"/>
            <a:ext cx="867266" cy="42133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SHs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86" name="Oval 85"/>
          <p:cNvSpPr/>
          <p:nvPr/>
        </p:nvSpPr>
        <p:spPr>
          <a:xfrm>
            <a:off x="4814374" y="3117319"/>
            <a:ext cx="1034179" cy="301022"/>
          </a:xfrm>
          <a:prstGeom prst="ellipse">
            <a:avLst/>
          </a:prstGeom>
          <a:noFill/>
          <a:ln w="28575">
            <a:solidFill>
              <a:schemeClr val="accent3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 Assets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338096" y="2264819"/>
            <a:ext cx="1069025" cy="51378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Acquiring</a:t>
            </a:r>
          </a:p>
        </p:txBody>
      </p:sp>
      <p:cxnSp>
        <p:nvCxnSpPr>
          <p:cNvPr id="88" name="Straight Connector 87"/>
          <p:cNvCxnSpPr/>
          <p:nvPr/>
        </p:nvCxnSpPr>
        <p:spPr>
          <a:xfrm>
            <a:off x="5593291" y="1888145"/>
            <a:ext cx="621539" cy="454003"/>
          </a:xfrm>
          <a:prstGeom prst="line">
            <a:avLst/>
          </a:prstGeom>
          <a:ln w="317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 flipH="1" flipV="1">
            <a:off x="5860308" y="1685540"/>
            <a:ext cx="765768" cy="548874"/>
          </a:xfrm>
          <a:prstGeom prst="line">
            <a:avLst/>
          </a:prstGeom>
          <a:ln w="317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Elbow Connector 89"/>
          <p:cNvCxnSpPr>
            <a:cxnSpLocks/>
          </p:cNvCxnSpPr>
          <p:nvPr/>
        </p:nvCxnSpPr>
        <p:spPr>
          <a:xfrm rot="16200000" flipV="1">
            <a:off x="3803359" y="5427459"/>
            <a:ext cx="1032650" cy="341460"/>
          </a:xfrm>
          <a:prstGeom prst="bentConnector3">
            <a:avLst>
              <a:gd name="adj1" fmla="val -599"/>
            </a:avLst>
          </a:prstGeom>
          <a:ln w="254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Oval 91"/>
          <p:cNvSpPr/>
          <p:nvPr/>
        </p:nvSpPr>
        <p:spPr>
          <a:xfrm>
            <a:off x="5890676" y="1946344"/>
            <a:ext cx="283216" cy="168802"/>
          </a:xfrm>
          <a:prstGeom prst="ellipse">
            <a:avLst/>
          </a:prstGeom>
          <a:solidFill>
            <a:schemeClr val="bg1"/>
          </a:solidFill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3" name="Oval 92"/>
          <p:cNvSpPr/>
          <p:nvPr/>
        </p:nvSpPr>
        <p:spPr>
          <a:xfrm>
            <a:off x="3972573" y="4753891"/>
            <a:ext cx="283216" cy="278292"/>
          </a:xfrm>
          <a:prstGeom prst="ellipse">
            <a:avLst/>
          </a:prstGeom>
          <a:solidFill>
            <a:schemeClr val="bg1"/>
          </a:solidFill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5" name="Oval 94"/>
          <p:cNvSpPr/>
          <p:nvPr/>
        </p:nvSpPr>
        <p:spPr>
          <a:xfrm>
            <a:off x="6438975" y="1474871"/>
            <a:ext cx="867266" cy="42133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Acq</a:t>
            </a:r>
            <a:endParaRPr lang="en-US" sz="1400" dirty="0">
              <a:solidFill>
                <a:schemeClr val="tx1"/>
              </a:solidFill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SHs</a:t>
            </a:r>
          </a:p>
        </p:txBody>
      </p:sp>
      <p:cxnSp>
        <p:nvCxnSpPr>
          <p:cNvPr id="96" name="Straight Connector 95"/>
          <p:cNvCxnSpPr/>
          <p:nvPr/>
        </p:nvCxnSpPr>
        <p:spPr>
          <a:xfrm>
            <a:off x="6872608" y="1896209"/>
            <a:ext cx="1" cy="3686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6165110" y="169115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$</a:t>
            </a:r>
            <a:endParaRPr lang="en-US" b="1" dirty="0"/>
          </a:p>
        </p:txBody>
      </p:sp>
      <p:cxnSp>
        <p:nvCxnSpPr>
          <p:cNvPr id="747" name="Straight Connector 746"/>
          <p:cNvCxnSpPr>
            <a:cxnSpLocks/>
            <a:stCxn id="84" idx="2"/>
            <a:endCxn id="86" idx="0"/>
          </p:cNvCxnSpPr>
          <p:nvPr/>
        </p:nvCxnSpPr>
        <p:spPr>
          <a:xfrm>
            <a:off x="5323602" y="2778599"/>
            <a:ext cx="7862" cy="3387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2" name="Straight Connector 751"/>
          <p:cNvCxnSpPr>
            <a:stCxn id="85" idx="4"/>
            <a:endCxn id="84" idx="0"/>
          </p:cNvCxnSpPr>
          <p:nvPr/>
        </p:nvCxnSpPr>
        <p:spPr>
          <a:xfrm flipH="1">
            <a:off x="5323602" y="1878950"/>
            <a:ext cx="5685" cy="3858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56" name="Picture 75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25" y="2209295"/>
            <a:ext cx="317500" cy="358948"/>
          </a:xfrm>
          <a:prstGeom prst="rect">
            <a:avLst/>
          </a:prstGeom>
        </p:spPr>
      </p:pic>
      <p:sp>
        <p:nvSpPr>
          <p:cNvPr id="757" name="Rectangle 756"/>
          <p:cNvSpPr/>
          <p:nvPr/>
        </p:nvSpPr>
        <p:spPr>
          <a:xfrm>
            <a:off x="1167213" y="4627261"/>
            <a:ext cx="1069025" cy="51378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Acquiring</a:t>
            </a:r>
          </a:p>
        </p:txBody>
      </p:sp>
      <p:sp>
        <p:nvSpPr>
          <p:cNvPr id="758" name="Oval 757"/>
          <p:cNvSpPr/>
          <p:nvPr/>
        </p:nvSpPr>
        <p:spPr>
          <a:xfrm>
            <a:off x="1268092" y="3837313"/>
            <a:ext cx="867266" cy="42133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Acq</a:t>
            </a:r>
            <a:endParaRPr lang="en-US" sz="1400" dirty="0">
              <a:solidFill>
                <a:schemeClr val="tx1"/>
              </a:solidFill>
            </a:endParaRPr>
          </a:p>
          <a:p>
            <a:pPr algn="ctr"/>
            <a:r>
              <a:rPr lang="en-US" sz="1400" dirty="0" err="1">
                <a:solidFill>
                  <a:schemeClr val="tx1"/>
                </a:solidFill>
              </a:rPr>
              <a:t>SHs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759" name="Straight Connector 758"/>
          <p:cNvCxnSpPr/>
          <p:nvPr/>
        </p:nvCxnSpPr>
        <p:spPr>
          <a:xfrm>
            <a:off x="1701725" y="4258651"/>
            <a:ext cx="1" cy="3686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0" name="Oval 759"/>
          <p:cNvSpPr/>
          <p:nvPr/>
        </p:nvSpPr>
        <p:spPr>
          <a:xfrm>
            <a:off x="1176573" y="5497379"/>
            <a:ext cx="1139221" cy="301022"/>
          </a:xfrm>
          <a:prstGeom prst="ellipse">
            <a:avLst/>
          </a:prstGeom>
          <a:noFill/>
          <a:ln w="28575">
            <a:solidFill>
              <a:schemeClr val="accent3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 T Assets</a:t>
            </a:r>
          </a:p>
        </p:txBody>
      </p:sp>
      <p:cxnSp>
        <p:nvCxnSpPr>
          <p:cNvPr id="761" name="Straight Connector 760"/>
          <p:cNvCxnSpPr/>
          <p:nvPr/>
        </p:nvCxnSpPr>
        <p:spPr>
          <a:xfrm flipH="1">
            <a:off x="1700846" y="5141059"/>
            <a:ext cx="1539" cy="3382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2" name="Rectangle 761"/>
          <p:cNvSpPr/>
          <p:nvPr/>
        </p:nvSpPr>
        <p:spPr>
          <a:xfrm>
            <a:off x="4476268" y="4476614"/>
            <a:ext cx="1069025" cy="56879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Acquiring</a:t>
            </a:r>
          </a:p>
        </p:txBody>
      </p:sp>
      <p:sp>
        <p:nvSpPr>
          <p:cNvPr id="763" name="Oval 762"/>
          <p:cNvSpPr/>
          <p:nvPr/>
        </p:nvSpPr>
        <p:spPr>
          <a:xfrm>
            <a:off x="4587399" y="3728454"/>
            <a:ext cx="867266" cy="42133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Acq</a:t>
            </a:r>
            <a:endParaRPr lang="en-US" sz="1400" dirty="0">
              <a:solidFill>
                <a:schemeClr val="tx1"/>
              </a:solidFill>
            </a:endParaRPr>
          </a:p>
          <a:p>
            <a:pPr algn="ctr"/>
            <a:r>
              <a:rPr lang="en-US" sz="1400" dirty="0" err="1">
                <a:solidFill>
                  <a:schemeClr val="tx1"/>
                </a:solidFill>
              </a:rPr>
              <a:t>SHs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764" name="Straight Connector 763"/>
          <p:cNvCxnSpPr>
            <a:stCxn id="763" idx="4"/>
            <a:endCxn id="762" idx="0"/>
          </p:cNvCxnSpPr>
          <p:nvPr/>
        </p:nvCxnSpPr>
        <p:spPr>
          <a:xfrm flipH="1">
            <a:off x="5010781" y="4149792"/>
            <a:ext cx="10251" cy="32682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5" name="Rectangle 764"/>
          <p:cNvSpPr/>
          <p:nvPr/>
        </p:nvSpPr>
        <p:spPr>
          <a:xfrm>
            <a:off x="4467995" y="5260266"/>
            <a:ext cx="1090542" cy="51378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Target</a:t>
            </a:r>
          </a:p>
        </p:txBody>
      </p:sp>
      <p:sp>
        <p:nvSpPr>
          <p:cNvPr id="766" name="Oval 765"/>
          <p:cNvSpPr/>
          <p:nvPr/>
        </p:nvSpPr>
        <p:spPr>
          <a:xfrm>
            <a:off x="4512514" y="5975553"/>
            <a:ext cx="1017035" cy="301022"/>
          </a:xfrm>
          <a:prstGeom prst="ellipse">
            <a:avLst/>
          </a:prstGeom>
          <a:noFill/>
          <a:ln w="28575">
            <a:solidFill>
              <a:schemeClr val="accent3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 Assets</a:t>
            </a:r>
          </a:p>
        </p:txBody>
      </p:sp>
      <p:cxnSp>
        <p:nvCxnSpPr>
          <p:cNvPr id="767" name="Straight Connector 766"/>
          <p:cNvCxnSpPr>
            <a:cxnSpLocks/>
            <a:stCxn id="765" idx="2"/>
            <a:endCxn id="766" idx="0"/>
          </p:cNvCxnSpPr>
          <p:nvPr/>
        </p:nvCxnSpPr>
        <p:spPr>
          <a:xfrm>
            <a:off x="5013266" y="5774046"/>
            <a:ext cx="7766" cy="2015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8" name="Straight Connector 767"/>
          <p:cNvCxnSpPr>
            <a:stCxn id="762" idx="2"/>
            <a:endCxn id="765" idx="0"/>
          </p:cNvCxnSpPr>
          <p:nvPr/>
        </p:nvCxnSpPr>
        <p:spPr>
          <a:xfrm>
            <a:off x="5010781" y="5045407"/>
            <a:ext cx="2485" cy="2148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3" name="Rectangle 782"/>
          <p:cNvSpPr/>
          <p:nvPr/>
        </p:nvSpPr>
        <p:spPr>
          <a:xfrm>
            <a:off x="8795636" y="2349899"/>
            <a:ext cx="957585" cy="51378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Target</a:t>
            </a:r>
          </a:p>
        </p:txBody>
      </p:sp>
      <p:sp>
        <p:nvSpPr>
          <p:cNvPr id="784" name="Oval 783"/>
          <p:cNvSpPr/>
          <p:nvPr/>
        </p:nvSpPr>
        <p:spPr>
          <a:xfrm>
            <a:off x="8846481" y="1542692"/>
            <a:ext cx="867266" cy="42133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SHs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785" name="Oval 784"/>
          <p:cNvSpPr/>
          <p:nvPr/>
        </p:nvSpPr>
        <p:spPr>
          <a:xfrm>
            <a:off x="8617997" y="3201883"/>
            <a:ext cx="1191543" cy="301022"/>
          </a:xfrm>
          <a:prstGeom prst="ellipse">
            <a:avLst/>
          </a:prstGeom>
          <a:noFill/>
          <a:ln w="28575">
            <a:solidFill>
              <a:schemeClr val="accent3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 Assets</a:t>
            </a:r>
          </a:p>
        </p:txBody>
      </p:sp>
      <p:sp>
        <p:nvSpPr>
          <p:cNvPr id="786" name="Rectangle 785"/>
          <p:cNvSpPr/>
          <p:nvPr/>
        </p:nvSpPr>
        <p:spPr>
          <a:xfrm>
            <a:off x="10288923" y="2349899"/>
            <a:ext cx="1069025" cy="51378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Acquiring</a:t>
            </a:r>
          </a:p>
        </p:txBody>
      </p:sp>
      <p:cxnSp>
        <p:nvCxnSpPr>
          <p:cNvPr id="788" name="Straight Connector 787"/>
          <p:cNvCxnSpPr/>
          <p:nvPr/>
        </p:nvCxnSpPr>
        <p:spPr>
          <a:xfrm>
            <a:off x="9596751" y="2095222"/>
            <a:ext cx="591661" cy="414023"/>
          </a:xfrm>
          <a:prstGeom prst="line">
            <a:avLst/>
          </a:prstGeom>
          <a:ln w="317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9" name="Elbow Connector 788"/>
          <p:cNvCxnSpPr/>
          <p:nvPr/>
        </p:nvCxnSpPr>
        <p:spPr>
          <a:xfrm rot="5400000" flipH="1" flipV="1">
            <a:off x="7945450" y="2473158"/>
            <a:ext cx="1525816" cy="180722"/>
          </a:xfrm>
          <a:prstGeom prst="bentConnector2">
            <a:avLst/>
          </a:prstGeom>
          <a:ln w="254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0" name="Straight Connector 789"/>
          <p:cNvCxnSpPr/>
          <p:nvPr/>
        </p:nvCxnSpPr>
        <p:spPr>
          <a:xfrm flipH="1">
            <a:off x="9272890" y="2863679"/>
            <a:ext cx="1539" cy="3382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2" name="Oval 791"/>
          <p:cNvSpPr/>
          <p:nvPr/>
        </p:nvSpPr>
        <p:spPr>
          <a:xfrm>
            <a:off x="9901113" y="1520704"/>
            <a:ext cx="283216" cy="181798"/>
          </a:xfrm>
          <a:prstGeom prst="ellipse">
            <a:avLst/>
          </a:prstGeom>
          <a:solidFill>
            <a:schemeClr val="bg1"/>
          </a:solidFill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793" name="Straight Connector 792"/>
          <p:cNvCxnSpPr/>
          <p:nvPr/>
        </p:nvCxnSpPr>
        <p:spPr>
          <a:xfrm flipH="1">
            <a:off x="9226667" y="2011280"/>
            <a:ext cx="5685" cy="3858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4" name="Oval 793"/>
          <p:cNvSpPr/>
          <p:nvPr/>
        </p:nvSpPr>
        <p:spPr>
          <a:xfrm>
            <a:off x="10389802" y="1559951"/>
            <a:ext cx="867266" cy="42133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Acq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SHs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795" name="Straight Connector 794"/>
          <p:cNvCxnSpPr/>
          <p:nvPr/>
        </p:nvCxnSpPr>
        <p:spPr>
          <a:xfrm>
            <a:off x="10823435" y="1981289"/>
            <a:ext cx="1" cy="3686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6" name="TextBox 795"/>
          <p:cNvSpPr txBox="1"/>
          <p:nvPr/>
        </p:nvSpPr>
        <p:spPr>
          <a:xfrm>
            <a:off x="9912374" y="171529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$</a:t>
            </a:r>
            <a:endParaRPr lang="en-US" b="1" dirty="0"/>
          </a:p>
        </p:txBody>
      </p:sp>
      <p:sp>
        <p:nvSpPr>
          <p:cNvPr id="800" name="Oval 799"/>
          <p:cNvSpPr/>
          <p:nvPr/>
        </p:nvSpPr>
        <p:spPr>
          <a:xfrm>
            <a:off x="8228762" y="2418824"/>
            <a:ext cx="283216" cy="168802"/>
          </a:xfrm>
          <a:prstGeom prst="ellipse">
            <a:avLst/>
          </a:prstGeom>
          <a:solidFill>
            <a:schemeClr val="bg1"/>
          </a:solidFill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801" name="Straight Connector 800"/>
          <p:cNvCxnSpPr/>
          <p:nvPr/>
        </p:nvCxnSpPr>
        <p:spPr>
          <a:xfrm flipH="1" flipV="1">
            <a:off x="9713747" y="1971242"/>
            <a:ext cx="513667" cy="344727"/>
          </a:xfrm>
          <a:prstGeom prst="line">
            <a:avLst/>
          </a:prstGeom>
          <a:ln w="317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3" name="Rectangle 812"/>
          <p:cNvSpPr/>
          <p:nvPr/>
        </p:nvSpPr>
        <p:spPr>
          <a:xfrm>
            <a:off x="9616480" y="4759629"/>
            <a:ext cx="1069025" cy="51378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Acquiring</a:t>
            </a:r>
          </a:p>
        </p:txBody>
      </p:sp>
      <p:sp>
        <p:nvSpPr>
          <p:cNvPr id="814" name="Oval 813"/>
          <p:cNvSpPr/>
          <p:nvPr/>
        </p:nvSpPr>
        <p:spPr>
          <a:xfrm>
            <a:off x="9717359" y="3969681"/>
            <a:ext cx="867266" cy="42133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Acq</a:t>
            </a:r>
            <a:endParaRPr lang="en-US" sz="1400" dirty="0">
              <a:solidFill>
                <a:schemeClr val="tx1"/>
              </a:solidFill>
            </a:endParaRPr>
          </a:p>
          <a:p>
            <a:pPr algn="ctr"/>
            <a:r>
              <a:rPr lang="en-US" sz="1400" dirty="0" err="1">
                <a:solidFill>
                  <a:schemeClr val="tx1"/>
                </a:solidFill>
              </a:rPr>
              <a:t>SHs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815" name="Straight Connector 814"/>
          <p:cNvCxnSpPr/>
          <p:nvPr/>
        </p:nvCxnSpPr>
        <p:spPr>
          <a:xfrm>
            <a:off x="10150992" y="4391019"/>
            <a:ext cx="1" cy="3686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6" name="Oval 815"/>
          <p:cNvSpPr/>
          <p:nvPr/>
        </p:nvSpPr>
        <p:spPr>
          <a:xfrm>
            <a:off x="9568419" y="5611630"/>
            <a:ext cx="1117086" cy="369069"/>
          </a:xfrm>
          <a:prstGeom prst="ellipse">
            <a:avLst/>
          </a:prstGeom>
          <a:noFill/>
          <a:ln w="28575">
            <a:solidFill>
              <a:schemeClr val="accent3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 Assets</a:t>
            </a:r>
          </a:p>
        </p:txBody>
      </p:sp>
      <p:cxnSp>
        <p:nvCxnSpPr>
          <p:cNvPr id="817" name="Straight Connector 816"/>
          <p:cNvCxnSpPr/>
          <p:nvPr/>
        </p:nvCxnSpPr>
        <p:spPr>
          <a:xfrm flipH="1">
            <a:off x="10150113" y="5273427"/>
            <a:ext cx="1539" cy="3382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8" name="TextBox 817"/>
          <p:cNvSpPr txBox="1"/>
          <p:nvPr/>
        </p:nvSpPr>
        <p:spPr>
          <a:xfrm>
            <a:off x="1258314" y="622096"/>
            <a:ext cx="11482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Asset Sale</a:t>
            </a:r>
          </a:p>
        </p:txBody>
      </p:sp>
      <p:sp>
        <p:nvSpPr>
          <p:cNvPr id="819" name="TextBox 818"/>
          <p:cNvSpPr txBox="1"/>
          <p:nvPr/>
        </p:nvSpPr>
        <p:spPr>
          <a:xfrm>
            <a:off x="5458152" y="575737"/>
            <a:ext cx="1149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Stock Sale</a:t>
            </a:r>
          </a:p>
        </p:txBody>
      </p:sp>
      <p:sp>
        <p:nvSpPr>
          <p:cNvPr id="820" name="TextBox 819"/>
          <p:cNvSpPr txBox="1"/>
          <p:nvPr/>
        </p:nvSpPr>
        <p:spPr>
          <a:xfrm>
            <a:off x="9371213" y="535116"/>
            <a:ext cx="1456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 err="1"/>
              <a:t>SH</a:t>
            </a:r>
            <a:r>
              <a:rPr lang="en-US" b="1" u="sng" dirty="0"/>
              <a:t> Asset Sale</a:t>
            </a:r>
          </a:p>
        </p:txBody>
      </p:sp>
      <p:sp>
        <p:nvSpPr>
          <p:cNvPr id="821" name="Rectangle 820"/>
          <p:cNvSpPr/>
          <p:nvPr/>
        </p:nvSpPr>
        <p:spPr>
          <a:xfrm>
            <a:off x="6291372" y="4476615"/>
            <a:ext cx="1069025" cy="57511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Acquiring</a:t>
            </a:r>
          </a:p>
        </p:txBody>
      </p:sp>
      <p:sp>
        <p:nvSpPr>
          <p:cNvPr id="822" name="Oval 821"/>
          <p:cNvSpPr/>
          <p:nvPr/>
        </p:nvSpPr>
        <p:spPr>
          <a:xfrm>
            <a:off x="6391228" y="3733446"/>
            <a:ext cx="867266" cy="42133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Acq</a:t>
            </a:r>
            <a:endParaRPr lang="en-US" sz="1400" dirty="0">
              <a:solidFill>
                <a:schemeClr val="tx1"/>
              </a:solidFill>
            </a:endParaRPr>
          </a:p>
          <a:p>
            <a:pPr algn="ctr"/>
            <a:r>
              <a:rPr lang="en-US" sz="1400" dirty="0" err="1">
                <a:solidFill>
                  <a:schemeClr val="tx1"/>
                </a:solidFill>
              </a:rPr>
              <a:t>SHs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823" name="Straight Connector 822"/>
          <p:cNvCxnSpPr>
            <a:endCxn id="821" idx="0"/>
          </p:cNvCxnSpPr>
          <p:nvPr/>
        </p:nvCxnSpPr>
        <p:spPr>
          <a:xfrm>
            <a:off x="6825884" y="4169339"/>
            <a:ext cx="1" cy="3072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4" name="Oval 823"/>
          <p:cNvSpPr/>
          <p:nvPr/>
        </p:nvSpPr>
        <p:spPr>
          <a:xfrm>
            <a:off x="6391515" y="5389951"/>
            <a:ext cx="999057" cy="301022"/>
          </a:xfrm>
          <a:prstGeom prst="ellipse">
            <a:avLst/>
          </a:prstGeom>
          <a:noFill/>
          <a:ln w="28575">
            <a:solidFill>
              <a:schemeClr val="accent3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 Assets</a:t>
            </a:r>
          </a:p>
        </p:txBody>
      </p:sp>
      <p:cxnSp>
        <p:nvCxnSpPr>
          <p:cNvPr id="825" name="Straight Connector 824"/>
          <p:cNvCxnSpPr/>
          <p:nvPr/>
        </p:nvCxnSpPr>
        <p:spPr>
          <a:xfrm flipH="1">
            <a:off x="6825005" y="5051747"/>
            <a:ext cx="1539" cy="3382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2" name="Straight Connector 831"/>
          <p:cNvCxnSpPr/>
          <p:nvPr/>
        </p:nvCxnSpPr>
        <p:spPr>
          <a:xfrm>
            <a:off x="3807229" y="1097280"/>
            <a:ext cx="24938" cy="50133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4" name="Straight Connector 833"/>
          <p:cNvCxnSpPr/>
          <p:nvPr/>
        </p:nvCxnSpPr>
        <p:spPr>
          <a:xfrm>
            <a:off x="8026400" y="1180407"/>
            <a:ext cx="0" cy="49302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6" name="Straight Connector 835"/>
          <p:cNvCxnSpPr/>
          <p:nvPr/>
        </p:nvCxnSpPr>
        <p:spPr>
          <a:xfrm>
            <a:off x="412625" y="3589441"/>
            <a:ext cx="285427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7" name="Straight Connector 836"/>
          <p:cNvCxnSpPr/>
          <p:nvPr/>
        </p:nvCxnSpPr>
        <p:spPr>
          <a:xfrm>
            <a:off x="4451964" y="3573929"/>
            <a:ext cx="285427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8" name="Straight Connector 837"/>
          <p:cNvCxnSpPr/>
          <p:nvPr/>
        </p:nvCxnSpPr>
        <p:spPr>
          <a:xfrm>
            <a:off x="8437418" y="3657600"/>
            <a:ext cx="3241964" cy="83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1BF892-0908-0848-99E6-495027CDA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Taxable Acquisitions</a:t>
            </a:r>
            <a:endParaRPr lang="en-US" dirty="0"/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5662077F-7B47-EA07-EE2F-2358C63BD102}"/>
              </a:ext>
            </a:extLst>
          </p:cNvPr>
          <p:cNvSpPr/>
          <p:nvPr/>
        </p:nvSpPr>
        <p:spPr>
          <a:xfrm>
            <a:off x="5710800" y="5032183"/>
            <a:ext cx="528452" cy="2148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656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23" grpId="0" animBg="1"/>
      <p:bldP spid="24" grpId="0" animBg="1"/>
      <p:bldP spid="55" grpId="0" animBg="1"/>
      <p:bldP spid="56" grpId="0" animBg="1"/>
      <p:bldP spid="78" grpId="0" animBg="1"/>
      <p:bldP spid="83" grpId="0"/>
      <p:bldP spid="84" grpId="0" animBg="1"/>
      <p:bldP spid="85" grpId="0" animBg="1"/>
      <p:bldP spid="86" grpId="0" animBg="1"/>
      <p:bldP spid="87" grpId="0" animBg="1"/>
      <p:bldP spid="92" grpId="0" animBg="1"/>
      <p:bldP spid="93" grpId="0" animBg="1"/>
      <p:bldP spid="95" grpId="0" animBg="1"/>
      <p:bldP spid="97" grpId="0"/>
      <p:bldP spid="757" grpId="0" animBg="1"/>
      <p:bldP spid="758" grpId="0" animBg="1"/>
      <p:bldP spid="760" grpId="0" animBg="1"/>
      <p:bldP spid="762" grpId="0" animBg="1"/>
      <p:bldP spid="763" grpId="0" animBg="1"/>
      <p:bldP spid="765" grpId="0" animBg="1"/>
      <p:bldP spid="766" grpId="0" animBg="1"/>
      <p:bldP spid="783" grpId="0" animBg="1"/>
      <p:bldP spid="784" grpId="0" animBg="1"/>
      <p:bldP spid="785" grpId="0" animBg="1"/>
      <p:bldP spid="786" grpId="0" animBg="1"/>
      <p:bldP spid="792" grpId="0" animBg="1"/>
      <p:bldP spid="794" grpId="0" animBg="1"/>
      <p:bldP spid="796" grpId="0"/>
      <p:bldP spid="800" grpId="0" animBg="1"/>
      <p:bldP spid="813" grpId="0" animBg="1"/>
      <p:bldP spid="814" grpId="0" animBg="1"/>
      <p:bldP spid="816" grpId="0" animBg="1"/>
      <p:bldP spid="821" grpId="0" animBg="1"/>
      <p:bldP spid="822" grpId="0" animBg="1"/>
      <p:bldP spid="824" grpId="0" animBg="1"/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Taxable Acquisitions: Rev. </a:t>
            </a:r>
            <a:r>
              <a:rPr lang="en-US" dirty="0" err="1"/>
              <a:t>Ruls</a:t>
            </a:r>
            <a:r>
              <a:rPr lang="en-US" dirty="0"/>
              <a:t>. 69-6 and 73-427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3</a:t>
            </a:fld>
            <a:endParaRPr lang="en-US" altLang="en-US" dirty="0"/>
          </a:p>
        </p:txBody>
      </p:sp>
      <p:sp>
        <p:nvSpPr>
          <p:cNvPr id="6" name="Rectangle 5"/>
          <p:cNvSpPr/>
          <p:nvPr/>
        </p:nvSpPr>
        <p:spPr>
          <a:xfrm>
            <a:off x="569296" y="1776760"/>
            <a:ext cx="957585" cy="51378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Target</a:t>
            </a:r>
          </a:p>
        </p:txBody>
      </p:sp>
      <p:sp>
        <p:nvSpPr>
          <p:cNvPr id="7" name="Oval 6"/>
          <p:cNvSpPr/>
          <p:nvPr/>
        </p:nvSpPr>
        <p:spPr>
          <a:xfrm>
            <a:off x="612917" y="979219"/>
            <a:ext cx="867266" cy="42133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T </a:t>
            </a:r>
            <a:r>
              <a:rPr lang="en-US" sz="1400" dirty="0" err="1">
                <a:solidFill>
                  <a:schemeClr val="tx1"/>
                </a:solidFill>
              </a:rPr>
              <a:t>SHs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550902" y="2501822"/>
            <a:ext cx="991296" cy="301022"/>
          </a:xfrm>
          <a:prstGeom prst="ellipse">
            <a:avLst/>
          </a:prstGeom>
          <a:noFill/>
          <a:ln w="28575">
            <a:solidFill>
              <a:schemeClr val="accent3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 Assets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2062583" y="1776760"/>
            <a:ext cx="1069025" cy="51378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Acquiring</a:t>
            </a:r>
          </a:p>
        </p:txBody>
      </p:sp>
      <p:cxnSp>
        <p:nvCxnSpPr>
          <p:cNvPr id="10" name="Straight Connector 9"/>
          <p:cNvCxnSpPr/>
          <p:nvPr/>
        </p:nvCxnSpPr>
        <p:spPr>
          <a:xfrm flipH="1" flipV="1">
            <a:off x="1427130" y="1408150"/>
            <a:ext cx="840136" cy="286012"/>
          </a:xfrm>
          <a:prstGeom prst="line">
            <a:avLst/>
          </a:prstGeom>
          <a:ln w="317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9009946" y="2821540"/>
            <a:ext cx="835908" cy="7583"/>
          </a:xfrm>
          <a:prstGeom prst="line">
            <a:avLst/>
          </a:prstGeom>
          <a:ln w="317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/>
          <p:nvPr/>
        </p:nvCxnSpPr>
        <p:spPr>
          <a:xfrm rot="5400000" flipH="1" flipV="1">
            <a:off x="7141305" y="1999310"/>
            <a:ext cx="1525816" cy="180722"/>
          </a:xfrm>
          <a:prstGeom prst="bentConnector2">
            <a:avLst/>
          </a:prstGeom>
          <a:ln w="254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9888283" y="2572850"/>
            <a:ext cx="283216" cy="195708"/>
          </a:xfrm>
          <a:prstGeom prst="ellipse">
            <a:avLst/>
          </a:prstGeom>
          <a:solidFill>
            <a:schemeClr val="bg1"/>
          </a:solidFill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7417422" y="1373070"/>
            <a:ext cx="283216" cy="181798"/>
          </a:xfrm>
          <a:prstGeom prst="ellipse">
            <a:avLst/>
          </a:prstGeom>
          <a:solidFill>
            <a:schemeClr val="bg1"/>
          </a:solidFill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2163462" y="986812"/>
            <a:ext cx="867266" cy="42133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Acq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SHs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2597095" y="1408150"/>
            <a:ext cx="1" cy="3686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754083" y="125046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$</a:t>
            </a:r>
            <a:endParaRPr lang="en-US" b="1" dirty="0"/>
          </a:p>
        </p:txBody>
      </p:sp>
      <p:sp>
        <p:nvSpPr>
          <p:cNvPr id="20" name="Oval 19"/>
          <p:cNvSpPr/>
          <p:nvPr/>
        </p:nvSpPr>
        <p:spPr>
          <a:xfrm>
            <a:off x="2062583" y="2516880"/>
            <a:ext cx="1064943" cy="301022"/>
          </a:xfrm>
          <a:prstGeom prst="ellipse">
            <a:avLst/>
          </a:prstGeom>
          <a:noFill/>
          <a:ln w="28575">
            <a:solidFill>
              <a:schemeClr val="accent3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 Assets</a:t>
            </a:r>
          </a:p>
        </p:txBody>
      </p:sp>
      <p:sp>
        <p:nvSpPr>
          <p:cNvPr id="21" name="Left-Right Arrow 20"/>
          <p:cNvSpPr/>
          <p:nvPr/>
        </p:nvSpPr>
        <p:spPr>
          <a:xfrm>
            <a:off x="1559342" y="1965099"/>
            <a:ext cx="470779" cy="175947"/>
          </a:xfrm>
          <a:prstGeom prst="leftRightArrow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/>
          <p:cNvCxnSpPr>
            <a:stCxn id="7" idx="4"/>
            <a:endCxn id="6" idx="0"/>
          </p:cNvCxnSpPr>
          <p:nvPr/>
        </p:nvCxnSpPr>
        <p:spPr>
          <a:xfrm>
            <a:off x="1046550" y="1400557"/>
            <a:ext cx="1539" cy="3762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/>
          <p:cNvCxnSpPr/>
          <p:nvPr/>
        </p:nvCxnSpPr>
        <p:spPr>
          <a:xfrm flipH="1">
            <a:off x="2595054" y="2290540"/>
            <a:ext cx="2041" cy="2263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/>
          <p:cNvCxnSpPr>
            <a:stCxn id="6" idx="2"/>
            <a:endCxn id="8" idx="0"/>
          </p:cNvCxnSpPr>
          <p:nvPr/>
        </p:nvCxnSpPr>
        <p:spPr>
          <a:xfrm flipH="1">
            <a:off x="1046550" y="2290540"/>
            <a:ext cx="1539" cy="2112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Rectangle 225"/>
          <p:cNvSpPr/>
          <p:nvPr/>
        </p:nvSpPr>
        <p:spPr>
          <a:xfrm>
            <a:off x="4953021" y="1644173"/>
            <a:ext cx="1069025" cy="57511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Acquiring</a:t>
            </a:r>
          </a:p>
        </p:txBody>
      </p:sp>
      <p:sp>
        <p:nvSpPr>
          <p:cNvPr id="227" name="Oval 226"/>
          <p:cNvSpPr/>
          <p:nvPr/>
        </p:nvSpPr>
        <p:spPr>
          <a:xfrm>
            <a:off x="5052877" y="901004"/>
            <a:ext cx="867266" cy="42133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Acq</a:t>
            </a:r>
            <a:endParaRPr lang="en-US" sz="1400" dirty="0">
              <a:solidFill>
                <a:schemeClr val="tx1"/>
              </a:solidFill>
            </a:endParaRPr>
          </a:p>
          <a:p>
            <a:pPr algn="ctr"/>
            <a:r>
              <a:rPr lang="en-US" sz="1400" dirty="0" err="1">
                <a:solidFill>
                  <a:schemeClr val="tx1"/>
                </a:solidFill>
              </a:rPr>
              <a:t>SHs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28" name="Straight Connector 227"/>
          <p:cNvCxnSpPr/>
          <p:nvPr/>
        </p:nvCxnSpPr>
        <p:spPr>
          <a:xfrm>
            <a:off x="5487533" y="1336897"/>
            <a:ext cx="1" cy="3072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Oval 228"/>
          <p:cNvSpPr/>
          <p:nvPr/>
        </p:nvSpPr>
        <p:spPr>
          <a:xfrm>
            <a:off x="5053164" y="2557508"/>
            <a:ext cx="866979" cy="393510"/>
          </a:xfrm>
          <a:prstGeom prst="ellipse">
            <a:avLst/>
          </a:prstGeom>
          <a:noFill/>
          <a:ln w="28575">
            <a:solidFill>
              <a:schemeClr val="accent3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(T &amp; A) Assets</a:t>
            </a:r>
          </a:p>
        </p:txBody>
      </p:sp>
      <p:cxnSp>
        <p:nvCxnSpPr>
          <p:cNvPr id="230" name="Straight Connector 229"/>
          <p:cNvCxnSpPr/>
          <p:nvPr/>
        </p:nvCxnSpPr>
        <p:spPr>
          <a:xfrm flipH="1">
            <a:off x="5486654" y="2219305"/>
            <a:ext cx="1539" cy="3382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Rectangle 230"/>
          <p:cNvSpPr/>
          <p:nvPr/>
        </p:nvSpPr>
        <p:spPr>
          <a:xfrm>
            <a:off x="7998656" y="1909658"/>
            <a:ext cx="957585" cy="51378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Target</a:t>
            </a:r>
          </a:p>
        </p:txBody>
      </p:sp>
      <p:sp>
        <p:nvSpPr>
          <p:cNvPr id="232" name="Oval 231"/>
          <p:cNvSpPr/>
          <p:nvPr/>
        </p:nvSpPr>
        <p:spPr>
          <a:xfrm>
            <a:off x="8042277" y="1112117"/>
            <a:ext cx="867266" cy="42133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T </a:t>
            </a:r>
            <a:r>
              <a:rPr lang="en-US" sz="1400" dirty="0" err="1">
                <a:solidFill>
                  <a:schemeClr val="tx1"/>
                </a:solidFill>
              </a:rPr>
              <a:t>SHs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33" name="Rectangle 232"/>
          <p:cNvSpPr/>
          <p:nvPr/>
        </p:nvSpPr>
        <p:spPr>
          <a:xfrm>
            <a:off x="9491943" y="1909658"/>
            <a:ext cx="1069025" cy="51378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Acquiring</a:t>
            </a:r>
          </a:p>
        </p:txBody>
      </p:sp>
      <p:cxnSp>
        <p:nvCxnSpPr>
          <p:cNvPr id="234" name="Straight Connector 233"/>
          <p:cNvCxnSpPr/>
          <p:nvPr/>
        </p:nvCxnSpPr>
        <p:spPr>
          <a:xfrm flipH="1" flipV="1">
            <a:off x="8930267" y="2564052"/>
            <a:ext cx="849949" cy="11764"/>
          </a:xfrm>
          <a:prstGeom prst="line">
            <a:avLst/>
          </a:prstGeom>
          <a:ln w="317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Oval 234"/>
          <p:cNvSpPr/>
          <p:nvPr/>
        </p:nvSpPr>
        <p:spPr>
          <a:xfrm>
            <a:off x="9592822" y="1119710"/>
            <a:ext cx="867266" cy="42133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Acq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SHs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36" name="Straight Connector 235"/>
          <p:cNvCxnSpPr/>
          <p:nvPr/>
        </p:nvCxnSpPr>
        <p:spPr>
          <a:xfrm>
            <a:off x="10026455" y="1541048"/>
            <a:ext cx="1" cy="3686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TextBox 236"/>
          <p:cNvSpPr txBox="1"/>
          <p:nvPr/>
        </p:nvSpPr>
        <p:spPr>
          <a:xfrm>
            <a:off x="9150670" y="2298987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$</a:t>
            </a:r>
            <a:endParaRPr lang="en-US" b="1" dirty="0"/>
          </a:p>
        </p:txBody>
      </p:sp>
      <p:sp>
        <p:nvSpPr>
          <p:cNvPr id="238" name="Oval 237"/>
          <p:cNvSpPr/>
          <p:nvPr/>
        </p:nvSpPr>
        <p:spPr>
          <a:xfrm>
            <a:off x="7923759" y="2642528"/>
            <a:ext cx="1064943" cy="301022"/>
          </a:xfrm>
          <a:prstGeom prst="ellipse">
            <a:avLst/>
          </a:prstGeom>
          <a:noFill/>
          <a:ln w="28575">
            <a:solidFill>
              <a:schemeClr val="accent3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 Assets</a:t>
            </a:r>
          </a:p>
        </p:txBody>
      </p:sp>
      <p:cxnSp>
        <p:nvCxnSpPr>
          <p:cNvPr id="240" name="Straight Connector 239"/>
          <p:cNvCxnSpPr>
            <a:stCxn id="236" idx="4"/>
            <a:endCxn id="235" idx="0"/>
          </p:cNvCxnSpPr>
          <p:nvPr/>
        </p:nvCxnSpPr>
        <p:spPr>
          <a:xfrm>
            <a:off x="8475910" y="1533455"/>
            <a:ext cx="1539" cy="3762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TextBox 242"/>
          <p:cNvSpPr txBox="1"/>
          <p:nvPr/>
        </p:nvSpPr>
        <p:spPr>
          <a:xfrm>
            <a:off x="966592" y="590568"/>
            <a:ext cx="1879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Corporate Lawyer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8665924" y="635397"/>
            <a:ext cx="1238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Tax Lawyer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7538173" y="174659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$</a:t>
            </a:r>
            <a:endParaRPr lang="en-US" b="1" dirty="0"/>
          </a:p>
        </p:txBody>
      </p:sp>
      <p:sp>
        <p:nvSpPr>
          <p:cNvPr id="248" name="Rectangle 247"/>
          <p:cNvSpPr/>
          <p:nvPr/>
        </p:nvSpPr>
        <p:spPr>
          <a:xfrm>
            <a:off x="704356" y="4672874"/>
            <a:ext cx="1069025" cy="51378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Acquiring</a:t>
            </a:r>
          </a:p>
        </p:txBody>
      </p:sp>
      <p:sp>
        <p:nvSpPr>
          <p:cNvPr id="249" name="Oval 248"/>
          <p:cNvSpPr/>
          <p:nvPr/>
        </p:nvSpPr>
        <p:spPr>
          <a:xfrm>
            <a:off x="807277" y="3982165"/>
            <a:ext cx="867266" cy="42133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Acq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SHs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50" name="Straight Connector 249"/>
          <p:cNvCxnSpPr>
            <a:endCxn id="248" idx="0"/>
          </p:cNvCxnSpPr>
          <p:nvPr/>
        </p:nvCxnSpPr>
        <p:spPr>
          <a:xfrm flipH="1">
            <a:off x="1238869" y="4421573"/>
            <a:ext cx="274" cy="2513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Connector 251"/>
          <p:cNvCxnSpPr>
            <a:stCxn id="248" idx="2"/>
            <a:endCxn id="254" idx="0"/>
          </p:cNvCxnSpPr>
          <p:nvPr/>
        </p:nvCxnSpPr>
        <p:spPr>
          <a:xfrm>
            <a:off x="1238869" y="5186654"/>
            <a:ext cx="0" cy="1652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4" name="Rectangle 253"/>
          <p:cNvSpPr/>
          <p:nvPr/>
        </p:nvSpPr>
        <p:spPr>
          <a:xfrm>
            <a:off x="704356" y="5351865"/>
            <a:ext cx="1069025" cy="51378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MergeCo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8" name="Rectangle 257"/>
          <p:cNvSpPr/>
          <p:nvPr/>
        </p:nvSpPr>
        <p:spPr>
          <a:xfrm>
            <a:off x="2258247" y="4706126"/>
            <a:ext cx="972902" cy="51378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Target</a:t>
            </a:r>
          </a:p>
        </p:txBody>
      </p:sp>
      <p:sp>
        <p:nvSpPr>
          <p:cNvPr id="259" name="Oval 258"/>
          <p:cNvSpPr/>
          <p:nvPr/>
        </p:nvSpPr>
        <p:spPr>
          <a:xfrm>
            <a:off x="2301868" y="3908585"/>
            <a:ext cx="867266" cy="42133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T </a:t>
            </a:r>
            <a:r>
              <a:rPr lang="en-US" sz="1400" dirty="0" err="1">
                <a:solidFill>
                  <a:schemeClr val="tx1"/>
                </a:solidFill>
              </a:rPr>
              <a:t>SHs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60" name="Oval 259"/>
          <p:cNvSpPr/>
          <p:nvPr/>
        </p:nvSpPr>
        <p:spPr>
          <a:xfrm>
            <a:off x="2249050" y="5458244"/>
            <a:ext cx="991296" cy="301022"/>
          </a:xfrm>
          <a:prstGeom prst="ellipse">
            <a:avLst/>
          </a:prstGeom>
          <a:noFill/>
          <a:ln w="28575">
            <a:solidFill>
              <a:schemeClr val="accent3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 Assets</a:t>
            </a:r>
          </a:p>
        </p:txBody>
      </p:sp>
      <p:cxnSp>
        <p:nvCxnSpPr>
          <p:cNvPr id="261" name="Straight Connector 260"/>
          <p:cNvCxnSpPr/>
          <p:nvPr/>
        </p:nvCxnSpPr>
        <p:spPr>
          <a:xfrm>
            <a:off x="2735501" y="4329923"/>
            <a:ext cx="0" cy="3600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261"/>
          <p:cNvCxnSpPr>
            <a:stCxn id="258" idx="2"/>
            <a:endCxn id="260" idx="0"/>
          </p:cNvCxnSpPr>
          <p:nvPr/>
        </p:nvCxnSpPr>
        <p:spPr>
          <a:xfrm>
            <a:off x="2744698" y="5219906"/>
            <a:ext cx="0" cy="2383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Elbow Connector 271"/>
          <p:cNvCxnSpPr/>
          <p:nvPr/>
        </p:nvCxnSpPr>
        <p:spPr>
          <a:xfrm rot="16200000" flipH="1">
            <a:off x="-224652" y="4770047"/>
            <a:ext cx="1552511" cy="250924"/>
          </a:xfrm>
          <a:prstGeom prst="bentConnector3">
            <a:avLst>
              <a:gd name="adj1" fmla="val 101402"/>
            </a:avLst>
          </a:prstGeom>
          <a:ln w="254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0" name="TextBox 279"/>
          <p:cNvSpPr txBox="1"/>
          <p:nvPr/>
        </p:nvSpPr>
        <p:spPr>
          <a:xfrm>
            <a:off x="393220" y="442559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$</a:t>
            </a:r>
            <a:endParaRPr lang="en-US" b="1" dirty="0"/>
          </a:p>
        </p:txBody>
      </p:sp>
      <p:sp>
        <p:nvSpPr>
          <p:cNvPr id="281" name="Oval 280"/>
          <p:cNvSpPr/>
          <p:nvPr/>
        </p:nvSpPr>
        <p:spPr>
          <a:xfrm>
            <a:off x="77359" y="4122619"/>
            <a:ext cx="283216" cy="195708"/>
          </a:xfrm>
          <a:prstGeom prst="ellipse">
            <a:avLst/>
          </a:prstGeom>
          <a:solidFill>
            <a:schemeClr val="bg1"/>
          </a:solidFill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2" name="Left-Right Arrow 281"/>
          <p:cNvSpPr/>
          <p:nvPr/>
        </p:nvSpPr>
        <p:spPr>
          <a:xfrm rot="19230423">
            <a:off x="1726085" y="5288576"/>
            <a:ext cx="478381" cy="174127"/>
          </a:xfrm>
          <a:prstGeom prst="leftRightArrow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3" name="Rectangle 282"/>
          <p:cNvSpPr/>
          <p:nvPr/>
        </p:nvSpPr>
        <p:spPr>
          <a:xfrm>
            <a:off x="5051859" y="4409268"/>
            <a:ext cx="1069025" cy="51378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Acquiring</a:t>
            </a:r>
          </a:p>
        </p:txBody>
      </p:sp>
      <p:sp>
        <p:nvSpPr>
          <p:cNvPr id="284" name="Oval 283"/>
          <p:cNvSpPr/>
          <p:nvPr/>
        </p:nvSpPr>
        <p:spPr>
          <a:xfrm>
            <a:off x="5154780" y="3718559"/>
            <a:ext cx="867266" cy="42133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Acq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SHs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85" name="Straight Connector 284"/>
          <p:cNvCxnSpPr/>
          <p:nvPr/>
        </p:nvCxnSpPr>
        <p:spPr>
          <a:xfrm flipH="1">
            <a:off x="5586372" y="4157967"/>
            <a:ext cx="274" cy="2513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/>
          <p:cNvCxnSpPr/>
          <p:nvPr/>
        </p:nvCxnSpPr>
        <p:spPr>
          <a:xfrm>
            <a:off x="5586372" y="4923048"/>
            <a:ext cx="0" cy="1652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7" name="Rectangle 286"/>
          <p:cNvSpPr/>
          <p:nvPr/>
        </p:nvSpPr>
        <p:spPr>
          <a:xfrm>
            <a:off x="5051859" y="5088259"/>
            <a:ext cx="1069025" cy="51378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Target</a:t>
            </a:r>
          </a:p>
        </p:txBody>
      </p:sp>
      <p:sp>
        <p:nvSpPr>
          <p:cNvPr id="288" name="Oval 287"/>
          <p:cNvSpPr/>
          <p:nvPr/>
        </p:nvSpPr>
        <p:spPr>
          <a:xfrm>
            <a:off x="5090724" y="5846395"/>
            <a:ext cx="991296" cy="301022"/>
          </a:xfrm>
          <a:prstGeom prst="ellipse">
            <a:avLst/>
          </a:prstGeom>
          <a:noFill/>
          <a:ln w="28575">
            <a:solidFill>
              <a:schemeClr val="accent3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 Assets</a:t>
            </a:r>
          </a:p>
        </p:txBody>
      </p:sp>
      <p:cxnSp>
        <p:nvCxnSpPr>
          <p:cNvPr id="289" name="Straight Connector 288"/>
          <p:cNvCxnSpPr/>
          <p:nvPr/>
        </p:nvCxnSpPr>
        <p:spPr>
          <a:xfrm>
            <a:off x="5586372" y="5608057"/>
            <a:ext cx="0" cy="2383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0" name="TextBox 289"/>
          <p:cNvSpPr txBox="1"/>
          <p:nvPr/>
        </p:nvSpPr>
        <p:spPr>
          <a:xfrm>
            <a:off x="952293" y="3355827"/>
            <a:ext cx="1879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Corporate Lawyer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8475910" y="3363827"/>
            <a:ext cx="1238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Tax Lawyer</a:t>
            </a:r>
          </a:p>
        </p:txBody>
      </p:sp>
      <p:cxnSp>
        <p:nvCxnSpPr>
          <p:cNvPr id="292" name="Straight Connector 291"/>
          <p:cNvCxnSpPr>
            <a:endCxn id="300" idx="3"/>
          </p:cNvCxnSpPr>
          <p:nvPr/>
        </p:nvCxnSpPr>
        <p:spPr>
          <a:xfrm flipV="1">
            <a:off x="8756914" y="4311110"/>
            <a:ext cx="862036" cy="378695"/>
          </a:xfrm>
          <a:prstGeom prst="line">
            <a:avLst/>
          </a:prstGeom>
          <a:ln w="317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6" name="Rectangle 295"/>
          <p:cNvSpPr/>
          <p:nvPr/>
        </p:nvSpPr>
        <p:spPr>
          <a:xfrm>
            <a:off x="7822880" y="4741424"/>
            <a:ext cx="1103928" cy="51378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Acquiring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7" name="Oval 296"/>
          <p:cNvSpPr/>
          <p:nvPr/>
        </p:nvSpPr>
        <p:spPr>
          <a:xfrm>
            <a:off x="7941397" y="3943883"/>
            <a:ext cx="867266" cy="42133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Acq</a:t>
            </a:r>
            <a:r>
              <a:rPr lang="en-US" sz="1400" dirty="0">
                <a:solidFill>
                  <a:schemeClr val="tx1"/>
                </a:solidFill>
              </a:rPr>
              <a:t> SHs</a:t>
            </a:r>
          </a:p>
        </p:txBody>
      </p:sp>
      <p:sp>
        <p:nvSpPr>
          <p:cNvPr id="298" name="Rectangle 297"/>
          <p:cNvSpPr/>
          <p:nvPr/>
        </p:nvSpPr>
        <p:spPr>
          <a:xfrm>
            <a:off x="9391063" y="4741424"/>
            <a:ext cx="1069025" cy="51378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Target</a:t>
            </a:r>
          </a:p>
        </p:txBody>
      </p:sp>
      <p:cxnSp>
        <p:nvCxnSpPr>
          <p:cNvPr id="299" name="Straight Connector 298"/>
          <p:cNvCxnSpPr/>
          <p:nvPr/>
        </p:nvCxnSpPr>
        <p:spPr>
          <a:xfrm flipH="1">
            <a:off x="8936004" y="4442916"/>
            <a:ext cx="844212" cy="361840"/>
          </a:xfrm>
          <a:prstGeom prst="line">
            <a:avLst/>
          </a:prstGeom>
          <a:ln w="317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Oval 299"/>
          <p:cNvSpPr/>
          <p:nvPr/>
        </p:nvSpPr>
        <p:spPr>
          <a:xfrm>
            <a:off x="9491942" y="3951476"/>
            <a:ext cx="867266" cy="42133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T SHs</a:t>
            </a:r>
          </a:p>
        </p:txBody>
      </p:sp>
      <p:cxnSp>
        <p:nvCxnSpPr>
          <p:cNvPr id="301" name="Straight Connector 300"/>
          <p:cNvCxnSpPr/>
          <p:nvPr/>
        </p:nvCxnSpPr>
        <p:spPr>
          <a:xfrm>
            <a:off x="9925575" y="4372814"/>
            <a:ext cx="1" cy="3686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Connector 303"/>
          <p:cNvCxnSpPr/>
          <p:nvPr/>
        </p:nvCxnSpPr>
        <p:spPr>
          <a:xfrm>
            <a:off x="8375030" y="4365221"/>
            <a:ext cx="1539" cy="3762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" name="TextBox 306"/>
          <p:cNvSpPr txBox="1"/>
          <p:nvPr/>
        </p:nvSpPr>
        <p:spPr>
          <a:xfrm>
            <a:off x="9067137" y="413513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$</a:t>
            </a:r>
            <a:endParaRPr lang="en-US" b="1" dirty="0"/>
          </a:p>
        </p:txBody>
      </p:sp>
      <p:sp>
        <p:nvSpPr>
          <p:cNvPr id="310" name="Oval 309"/>
          <p:cNvSpPr/>
          <p:nvPr/>
        </p:nvSpPr>
        <p:spPr>
          <a:xfrm>
            <a:off x="9429927" y="5474294"/>
            <a:ext cx="991296" cy="301022"/>
          </a:xfrm>
          <a:prstGeom prst="ellipse">
            <a:avLst/>
          </a:prstGeom>
          <a:noFill/>
          <a:ln w="28575">
            <a:solidFill>
              <a:schemeClr val="accent3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 Assets</a:t>
            </a:r>
          </a:p>
        </p:txBody>
      </p:sp>
      <p:cxnSp>
        <p:nvCxnSpPr>
          <p:cNvPr id="311" name="Straight Connector 310"/>
          <p:cNvCxnSpPr/>
          <p:nvPr/>
        </p:nvCxnSpPr>
        <p:spPr>
          <a:xfrm>
            <a:off x="9925575" y="5235956"/>
            <a:ext cx="0" cy="2383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2" name="Oval 311"/>
          <p:cNvSpPr/>
          <p:nvPr/>
        </p:nvSpPr>
        <p:spPr>
          <a:xfrm>
            <a:off x="1945224" y="4955940"/>
            <a:ext cx="283216" cy="181798"/>
          </a:xfrm>
          <a:prstGeom prst="ellipse">
            <a:avLst/>
          </a:prstGeom>
          <a:solidFill>
            <a:schemeClr val="bg1"/>
          </a:solidFill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13" name="Straight Connector 312"/>
          <p:cNvCxnSpPr/>
          <p:nvPr/>
        </p:nvCxnSpPr>
        <p:spPr>
          <a:xfrm flipV="1">
            <a:off x="1624981" y="4346034"/>
            <a:ext cx="955956" cy="975969"/>
          </a:xfrm>
          <a:prstGeom prst="line">
            <a:avLst/>
          </a:prstGeom>
          <a:ln w="317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TextBox 314"/>
          <p:cNvSpPr txBox="1"/>
          <p:nvPr/>
        </p:nvSpPr>
        <p:spPr>
          <a:xfrm>
            <a:off x="2014191" y="444340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$</a:t>
            </a:r>
            <a:endParaRPr lang="en-US" b="1" dirty="0"/>
          </a:p>
        </p:txBody>
      </p:sp>
      <p:cxnSp>
        <p:nvCxnSpPr>
          <p:cNvPr id="318" name="Straight Connector 317"/>
          <p:cNvCxnSpPr/>
          <p:nvPr/>
        </p:nvCxnSpPr>
        <p:spPr>
          <a:xfrm flipV="1">
            <a:off x="161616" y="3193446"/>
            <a:ext cx="11460728" cy="415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A2A381A-4539-8C4F-9919-24BE0E06D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Taxable Acquisitions</a:t>
            </a:r>
            <a:endParaRPr lang="en-US" dirty="0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BC8640F-DDD7-724A-B39F-4743877094AE}"/>
              </a:ext>
            </a:extLst>
          </p:cNvPr>
          <p:cNvCxnSpPr/>
          <p:nvPr/>
        </p:nvCxnSpPr>
        <p:spPr>
          <a:xfrm>
            <a:off x="4096598" y="1041802"/>
            <a:ext cx="24938" cy="50133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AB312C34-61E3-E94E-B939-78B59DCAD13B}"/>
              </a:ext>
            </a:extLst>
          </p:cNvPr>
          <p:cNvCxnSpPr/>
          <p:nvPr/>
        </p:nvCxnSpPr>
        <p:spPr>
          <a:xfrm>
            <a:off x="7097389" y="1008881"/>
            <a:ext cx="24938" cy="50133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259A7F5-8BDE-6948-8FF0-6C1C13AAF1CA}"/>
              </a:ext>
            </a:extLst>
          </p:cNvPr>
          <p:cNvSpPr txBox="1"/>
          <p:nvPr/>
        </p:nvSpPr>
        <p:spPr>
          <a:xfrm>
            <a:off x="3657600" y="61373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8249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4" grpId="0" animBg="1"/>
      <p:bldP spid="15" grpId="0" animBg="1"/>
      <p:bldP spid="17" grpId="0" animBg="1"/>
      <p:bldP spid="19" grpId="0"/>
      <p:bldP spid="20" grpId="0" animBg="1"/>
      <p:bldP spid="21" grpId="0" animBg="1"/>
      <p:bldP spid="226" grpId="0" animBg="1"/>
      <p:bldP spid="227" grpId="0" animBg="1"/>
      <p:bldP spid="229" grpId="0" animBg="1"/>
      <p:bldP spid="231" grpId="0" animBg="1"/>
      <p:bldP spid="232" grpId="0" animBg="1"/>
      <p:bldP spid="233" grpId="0" animBg="1"/>
      <p:bldP spid="235" grpId="0" animBg="1"/>
      <p:bldP spid="237" grpId="0"/>
      <p:bldP spid="238" grpId="0" animBg="1"/>
      <p:bldP spid="244" grpId="0"/>
      <p:bldP spid="246" grpId="0"/>
      <p:bldP spid="248" grpId="0" animBg="1"/>
      <p:bldP spid="249" grpId="0" animBg="1"/>
      <p:bldP spid="254" grpId="0" animBg="1"/>
      <p:bldP spid="258" grpId="0" animBg="1"/>
      <p:bldP spid="259" grpId="0" animBg="1"/>
      <p:bldP spid="260" grpId="0" animBg="1"/>
      <p:bldP spid="280" grpId="0"/>
      <p:bldP spid="281" grpId="0" animBg="1"/>
      <p:bldP spid="282" grpId="0" animBg="1"/>
      <p:bldP spid="283" grpId="0" animBg="1"/>
      <p:bldP spid="284" grpId="0" animBg="1"/>
      <p:bldP spid="287" grpId="0" animBg="1"/>
      <p:bldP spid="288" grpId="0" animBg="1"/>
      <p:bldP spid="291" grpId="0"/>
      <p:bldP spid="296" grpId="0" animBg="1"/>
      <p:bldP spid="297" grpId="0" animBg="1"/>
      <p:bldP spid="298" grpId="0" animBg="1"/>
      <p:bldP spid="300" grpId="0" animBg="1"/>
      <p:bldP spid="307" grpId="0"/>
      <p:bldP spid="310" grpId="0" animBg="1"/>
      <p:bldP spid="312" grpId="0" animBg="1"/>
      <p:bldP spid="3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>
                <a:ea typeface="ＭＳ Ｐゴシック" charset="-128"/>
              </a:rPr>
              <a:t>Stock Sale: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>
                <a:ea typeface="ＭＳ Ｐゴシック" charset="-128"/>
              </a:rPr>
              <a:t>G/L (Amount realized </a:t>
            </a:r>
            <a:r>
              <a:rPr lang="mr-IN" altLang="en-US" sz="2400" dirty="0">
                <a:ea typeface="ＭＳ Ｐゴシック" charset="-128"/>
              </a:rPr>
              <a:t>–</a:t>
            </a:r>
            <a:r>
              <a:rPr lang="en-US" altLang="en-US" sz="2400" dirty="0">
                <a:ea typeface="ＭＳ Ｐゴシック" charset="-128"/>
              </a:rPr>
              <a:t> adjusted basis). </a:t>
            </a:r>
            <a:r>
              <a:rPr lang="en-US" altLang="en-US" sz="2400" dirty="0"/>
              <a:t>§1001.</a:t>
            </a:r>
          </a:p>
          <a:p>
            <a:pPr>
              <a:lnSpc>
                <a:spcPct val="90000"/>
              </a:lnSpc>
            </a:pPr>
            <a:endParaRPr lang="en-US" altLang="en-US" sz="2800" dirty="0"/>
          </a:p>
          <a:p>
            <a:pPr>
              <a:lnSpc>
                <a:spcPct val="90000"/>
              </a:lnSpc>
            </a:pPr>
            <a:endParaRPr lang="en-US" altLang="en-US" sz="2800" dirty="0"/>
          </a:p>
          <a:p>
            <a:pPr>
              <a:lnSpc>
                <a:spcPct val="90000"/>
              </a:lnSpc>
            </a:pPr>
            <a:r>
              <a:rPr lang="en-US" altLang="en-US" sz="2800" dirty="0"/>
              <a:t>Asset sale: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No </a:t>
            </a:r>
            <a:r>
              <a:rPr lang="en-US" altLang="en-US" sz="2400" dirty="0" err="1"/>
              <a:t>SH</a:t>
            </a:r>
            <a:r>
              <a:rPr lang="en-US" altLang="en-US" sz="2400" dirty="0"/>
              <a:t>-level effects, </a:t>
            </a:r>
            <a:r>
              <a:rPr lang="en-US" altLang="en-US" sz="2400" i="1" dirty="0"/>
              <a:t>unless</a:t>
            </a:r>
            <a:r>
              <a:rPr lang="en-US" altLang="en-US" sz="2400" dirty="0"/>
              <a:t> asset sale followed by liquidation of (or redemption or dividend from) Target</a:t>
            </a:r>
          </a:p>
          <a:p>
            <a:pPr lvl="1">
              <a:lnSpc>
                <a:spcPct val="90000"/>
              </a:lnSpc>
            </a:pPr>
            <a:endParaRPr lang="en-US" altLang="en-US" sz="2400" dirty="0">
              <a:ea typeface="ＭＳ Ｐゴシック" charset="-128"/>
            </a:endParaRPr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000" b="1" dirty="0">
                <a:ea typeface="ＭＳ Ｐゴシック" charset="-128"/>
              </a:rPr>
              <a:t>Taxable Acquisition: Shareholder-level Effects</a:t>
            </a:r>
            <a:endParaRPr lang="en-US" altLang="en-US" sz="2000" dirty="0">
              <a:ea typeface="ＭＳ Ｐゴシック" charset="-128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4</a:t>
            </a:fld>
            <a:endParaRPr lang="en-US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FF2B59-9781-2F4D-B9F0-937366239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Taxable Acquisitions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5346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5B987B-4D8B-1C4B-B1F2-F2FEAF3DA8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Corporate asset sale</a:t>
            </a:r>
          </a:p>
          <a:p>
            <a:pPr lvl="1"/>
            <a:r>
              <a:rPr lang="en-US" dirty="0"/>
              <a:t>G/L recognized at the corporate level (</a:t>
            </a:r>
            <a:r>
              <a:rPr lang="en-US" altLang="en-US" sz="2000" dirty="0"/>
              <a:t>§1001(c))</a:t>
            </a:r>
          </a:p>
          <a:p>
            <a:pPr lvl="1"/>
            <a:r>
              <a:rPr lang="en-US" dirty="0"/>
              <a:t>If selling corporation liquidated, G/L at SH level (</a:t>
            </a:r>
            <a:r>
              <a:rPr lang="en-US" altLang="en-US" dirty="0"/>
              <a:t>§331(a))</a:t>
            </a:r>
          </a:p>
          <a:p>
            <a:pPr lvl="2"/>
            <a:r>
              <a:rPr lang="en-US" altLang="en-US" dirty="0"/>
              <a:t>If SH is 80% V/V corporate SH, no G/L recognized on liquidation (§332(a))</a:t>
            </a:r>
          </a:p>
          <a:p>
            <a:r>
              <a:rPr lang="en-US" b="1" dirty="0"/>
              <a:t>SH asset sale</a:t>
            </a:r>
          </a:p>
          <a:p>
            <a:pPr lvl="1"/>
            <a:r>
              <a:rPr lang="en-US" dirty="0"/>
              <a:t>If corporation liquidated and assets distributed to SH:</a:t>
            </a:r>
          </a:p>
          <a:p>
            <a:pPr lvl="2"/>
            <a:r>
              <a:rPr lang="en-US" dirty="0"/>
              <a:t>G/L at the corporate level (</a:t>
            </a:r>
            <a:r>
              <a:rPr lang="en-US" altLang="en-US" dirty="0"/>
              <a:t>§336(a))</a:t>
            </a:r>
          </a:p>
          <a:p>
            <a:pPr lvl="2"/>
            <a:r>
              <a:rPr lang="en-US" dirty="0"/>
              <a:t>G/L at the SH level (</a:t>
            </a:r>
            <a:r>
              <a:rPr lang="en-US" altLang="en-US" dirty="0"/>
              <a:t>§331(a))</a:t>
            </a:r>
          </a:p>
          <a:p>
            <a:pPr lvl="2"/>
            <a:r>
              <a:rPr lang="en-US" altLang="en-US" dirty="0"/>
              <a:t>Since assets will have a FMV basis (§334(a)), no G/L to selling shareholder</a:t>
            </a:r>
          </a:p>
          <a:p>
            <a:pPr lvl="2"/>
            <a:r>
              <a:rPr lang="en-US" altLang="en-US" dirty="0"/>
              <a:t>If SH is 80% V/V corporate SH, no G/L recognized on liquidation at either corporate or SH level (§§332(a) and 337(a)), but G/L recognized on sale of assets </a:t>
            </a:r>
            <a:r>
              <a:rPr lang="en-US" dirty="0"/>
              <a:t>(</a:t>
            </a:r>
            <a:r>
              <a:rPr lang="en-US" altLang="en-US" dirty="0"/>
              <a:t>§1001(c))</a:t>
            </a:r>
          </a:p>
          <a:p>
            <a:r>
              <a:rPr lang="en-US" altLang="en-US" sz="2200" b="1" dirty="0"/>
              <a:t>Stock Sale</a:t>
            </a:r>
          </a:p>
          <a:p>
            <a:pPr lvl="1"/>
            <a:r>
              <a:rPr lang="en-US" dirty="0"/>
              <a:t>G/L recognized by selling SH (</a:t>
            </a:r>
            <a:r>
              <a:rPr lang="en-US" altLang="en-US" sz="2000" dirty="0"/>
              <a:t>§1001(c))</a:t>
            </a:r>
          </a:p>
          <a:p>
            <a:pPr lvl="1"/>
            <a:r>
              <a:rPr lang="en-US" altLang="en-US" dirty="0"/>
              <a:t>Purchaser takes a FMV basis in T shares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cs typeface="Calibri" charset="0"/>
              </a:rPr>
              <a:t> (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cs typeface="Calibri" charset="0"/>
              </a:rPr>
              <a:t>§1012(a)), and T’s tax attributes survive, subject to certain limitations, e.g., NOLs, credits, and CLCOs.</a:t>
            </a:r>
            <a:endParaRPr lang="en-US" altLang="en-US" dirty="0"/>
          </a:p>
          <a:p>
            <a:pPr lvl="1"/>
            <a:r>
              <a:rPr lang="en-US" altLang="en-US" dirty="0"/>
              <a:t>T has COB in its assets</a:t>
            </a:r>
          </a:p>
          <a:p>
            <a:pPr lvl="2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9E2257B-9B96-4B4F-88AB-470CFF906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Picture: Asset Sales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2399C9-6868-9841-8744-D058A688A5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5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301AB-3354-BF40-A586-1F3159B18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Taxable Acquisitions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144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1066284"/>
              </p:ext>
            </p:extLst>
          </p:nvPr>
        </p:nvGraphicFramePr>
        <p:xfrm>
          <a:off x="512064" y="567983"/>
          <a:ext cx="10280853" cy="4978378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204119">
                  <a:extLst>
                    <a:ext uri="{9D8B030D-6E8A-4147-A177-3AD203B41FA5}">
                      <a16:colId xmlns:a16="http://schemas.microsoft.com/office/drawing/2014/main" val="2815027957"/>
                    </a:ext>
                  </a:extLst>
                </a:gridCol>
                <a:gridCol w="1537949">
                  <a:extLst>
                    <a:ext uri="{9D8B030D-6E8A-4147-A177-3AD203B41FA5}">
                      <a16:colId xmlns:a16="http://schemas.microsoft.com/office/drawing/2014/main" val="1190337391"/>
                    </a:ext>
                  </a:extLst>
                </a:gridCol>
                <a:gridCol w="2005878">
                  <a:extLst>
                    <a:ext uri="{9D8B030D-6E8A-4147-A177-3AD203B41FA5}">
                      <a16:colId xmlns:a16="http://schemas.microsoft.com/office/drawing/2014/main" val="3498623903"/>
                    </a:ext>
                  </a:extLst>
                </a:gridCol>
                <a:gridCol w="229537">
                  <a:extLst>
                    <a:ext uri="{9D8B030D-6E8A-4147-A177-3AD203B41FA5}">
                      <a16:colId xmlns:a16="http://schemas.microsoft.com/office/drawing/2014/main" val="1831701755"/>
                    </a:ext>
                  </a:extLst>
                </a:gridCol>
                <a:gridCol w="2263250">
                  <a:extLst>
                    <a:ext uri="{9D8B030D-6E8A-4147-A177-3AD203B41FA5}">
                      <a16:colId xmlns:a16="http://schemas.microsoft.com/office/drawing/2014/main" val="407643372"/>
                    </a:ext>
                  </a:extLst>
                </a:gridCol>
                <a:gridCol w="2040120">
                  <a:extLst>
                    <a:ext uri="{9D8B030D-6E8A-4147-A177-3AD203B41FA5}">
                      <a16:colId xmlns:a16="http://schemas.microsoft.com/office/drawing/2014/main" val="1328523505"/>
                    </a:ext>
                  </a:extLst>
                </a:gridCol>
              </a:tblGrid>
              <a:tr h="529993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Asset Acquisition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Stock Acquisition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463417"/>
                  </a:ext>
                </a:extLst>
              </a:tr>
              <a:tr h="700139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W/out  Liquidation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W/ Liquidation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b="1" dirty="0">
                        <a:solidFill>
                          <a:srgbClr val="FF0000"/>
                        </a:solidFill>
                        <a:highlight>
                          <a:srgbClr val="00FFFF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W/out 338(g) Election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6767826"/>
                  </a:ext>
                </a:extLst>
              </a:tr>
              <a:tr h="49466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Consideration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Cash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Cash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solidFill>
                          <a:srgbClr val="FF0000"/>
                        </a:solidFill>
                        <a:highlight>
                          <a:srgbClr val="00FFFF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Cash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4680920"/>
                  </a:ext>
                </a:extLst>
              </a:tr>
              <a:tr h="67368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Gain at Target 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solidFill>
                          <a:srgbClr val="FF0000"/>
                        </a:solidFill>
                        <a:highlight>
                          <a:srgbClr val="00FFFF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2821024"/>
                  </a:ext>
                </a:extLst>
              </a:tr>
              <a:tr h="67368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Gain</a:t>
                      </a:r>
                      <a:r>
                        <a:rPr lang="en-US" sz="1800" b="1" baseline="0" dirty="0"/>
                        <a:t> at SH Level</a:t>
                      </a:r>
                      <a:endParaRPr 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solidFill>
                          <a:srgbClr val="FF0000"/>
                        </a:solidFill>
                        <a:highlight>
                          <a:srgbClr val="00FFFF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9023050"/>
                  </a:ext>
                </a:extLst>
              </a:tr>
              <a:tr h="529993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SUB T</a:t>
                      </a:r>
                      <a:r>
                        <a:rPr lang="en-US" sz="1800" b="1" baseline="0" dirty="0"/>
                        <a:t> Assets</a:t>
                      </a:r>
                      <a:endParaRPr 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solidFill>
                          <a:srgbClr val="FF0000"/>
                        </a:solidFill>
                        <a:highlight>
                          <a:srgbClr val="00FFFF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615036"/>
                  </a:ext>
                </a:extLst>
              </a:tr>
              <a:tr h="702553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T’s Tax Attributes Survive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solidFill>
                          <a:srgbClr val="FF0000"/>
                        </a:solidFill>
                        <a:highlight>
                          <a:srgbClr val="00FFFF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0421233"/>
                  </a:ext>
                </a:extLst>
              </a:tr>
              <a:tr h="67368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GW Amortizable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solidFill>
                          <a:srgbClr val="FF0000"/>
                        </a:solidFill>
                        <a:highlight>
                          <a:srgbClr val="00FFFF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072816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Taxable Acquisition Structures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6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Taxable Acquisitions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1273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64" y="533399"/>
            <a:ext cx="11277600" cy="5937705"/>
          </a:xfrm>
        </p:spPr>
        <p:txBody>
          <a:bodyPr>
            <a:normAutofit fontScale="85000" lnSpcReduction="10000"/>
          </a:bodyPr>
          <a:lstStyle/>
          <a:p>
            <a:r>
              <a:rPr lang="en-US" sz="2800" dirty="0"/>
              <a:t>P gets SUB in T assets</a:t>
            </a:r>
          </a:p>
          <a:p>
            <a:pPr lvl="1"/>
            <a:r>
              <a:rPr lang="en-US" sz="2400" b="1" dirty="0"/>
              <a:t>Q</a:t>
            </a:r>
            <a:r>
              <a:rPr lang="en-US" sz="2400" dirty="0"/>
              <a:t>:  Why does P generally want a SUB in T assets?</a:t>
            </a:r>
          </a:p>
          <a:p>
            <a:pPr lvl="1"/>
            <a:r>
              <a:rPr lang="en-US" sz="2400" b="1" dirty="0"/>
              <a:t>Q:  </a:t>
            </a:r>
            <a:r>
              <a:rPr lang="en-US" sz="2400" dirty="0"/>
              <a:t>What’s T’s basis in GW and self-created software (intangibles) prior to T’s sale of its assets?</a:t>
            </a:r>
            <a:endParaRPr lang="en-US" sz="2400" b="1" dirty="0"/>
          </a:p>
          <a:p>
            <a:r>
              <a:rPr lang="en-US" sz="2800" dirty="0"/>
              <a:t>P does not directly assume any of T’s unwanted liabilities (maybe)</a:t>
            </a:r>
          </a:p>
          <a:p>
            <a:pPr lvl="1"/>
            <a:r>
              <a:rPr lang="en-US" sz="2800" dirty="0"/>
              <a:t>Use P subsidiary (or even DRE) to segregate any liabilities in merger.</a:t>
            </a:r>
          </a:p>
          <a:p>
            <a:r>
              <a:rPr lang="en-US" sz="2800" dirty="0"/>
              <a:t>P does </a:t>
            </a:r>
            <a:r>
              <a:rPr lang="en-US" sz="2800" b="1" dirty="0"/>
              <a:t>not</a:t>
            </a:r>
            <a:r>
              <a:rPr lang="en-US" sz="2800" dirty="0"/>
              <a:t> inherit any of T’s tax attributes, e.g., NOLs, CLCOs, FTCs, or E&amp;Ps</a:t>
            </a:r>
          </a:p>
          <a:p>
            <a:r>
              <a:rPr lang="en-US" sz="2800" dirty="0"/>
              <a:t>Asset transfers may generate local transfer taxes, may raise issues under debt covenants, and some lenders may be concerned with P’s assumptions of T’s liabilities</a:t>
            </a:r>
          </a:p>
          <a:p>
            <a:pPr lvl="1"/>
            <a:r>
              <a:rPr lang="en-US" sz="2800" dirty="0"/>
              <a:t>Corporate Law Voting: “Sale of </a:t>
            </a:r>
            <a:r>
              <a:rPr lang="en-US" sz="2800"/>
              <a:t>substantially all of </a:t>
            </a:r>
            <a:r>
              <a:rPr lang="en-US" sz="2800" dirty="0"/>
              <a:t>T’s assets” vs. Merger</a:t>
            </a:r>
          </a:p>
          <a:p>
            <a:r>
              <a:rPr lang="en-US" sz="2800" dirty="0"/>
              <a:t>T can use its NOLs, etc., to offset gain on asset sales.</a:t>
            </a:r>
          </a:p>
          <a:p>
            <a:r>
              <a:rPr lang="en-US" sz="2800" dirty="0"/>
              <a:t>For US transactions, T </a:t>
            </a:r>
            <a:r>
              <a:rPr lang="en-US" sz="2800" b="1" dirty="0"/>
              <a:t>sale of corporate assets followed by liquidation </a:t>
            </a:r>
            <a:r>
              <a:rPr lang="en-US" sz="2800" dirty="0"/>
              <a:t>generally generates </a:t>
            </a:r>
            <a:r>
              <a:rPr lang="en-US" sz="2800" b="1" dirty="0"/>
              <a:t>2 levels of tax</a:t>
            </a:r>
            <a:r>
              <a:rPr lang="en-US" sz="2800" dirty="0"/>
              <a:t>, one at the T level and the other at the </a:t>
            </a:r>
            <a:r>
              <a:rPr lang="en-US" sz="2800" dirty="0" err="1"/>
              <a:t>SH</a:t>
            </a:r>
            <a:r>
              <a:rPr lang="en-US" sz="2800" dirty="0"/>
              <a:t> level.   </a:t>
            </a:r>
          </a:p>
          <a:p>
            <a:pPr lvl="1"/>
            <a:r>
              <a:rPr lang="en-US" sz="2800" dirty="0"/>
              <a:t>But if T is owned by a US 80% V&amp;&amp;V </a:t>
            </a:r>
            <a:r>
              <a:rPr lang="en-US" sz="2800" dirty="0" err="1"/>
              <a:t>corp</a:t>
            </a:r>
            <a:r>
              <a:rPr lang="en-US" sz="2800" dirty="0"/>
              <a:t>, the liquidation of T is tax-free .</a:t>
            </a:r>
          </a:p>
          <a:p>
            <a:r>
              <a:rPr lang="en-US" sz="2800" dirty="0"/>
              <a:t>Ordinary Income:  depreciation recapture, sale of inventory, gain from non-QEF PFIC stock, some gain from sale of CFC stock (</a:t>
            </a:r>
            <a:r>
              <a:rPr lang="en-US" sz="2800" dirty="0">
                <a:solidFill>
                  <a:prstClr val="black"/>
                </a:solidFill>
              </a:rPr>
              <a:t>§1248) </a:t>
            </a:r>
            <a:r>
              <a:rPr lang="en-US" sz="2800" dirty="0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 b="1" dirty="0"/>
              <a:t>P Acquires T’s Assets in a Taxable Acquisition, including Direct </a:t>
            </a:r>
            <a:r>
              <a:rPr lang="en-US" sz="2000" dirty="0"/>
              <a:t>P</a:t>
            </a:r>
            <a:r>
              <a:rPr lang="en-US" sz="2000" b="1" dirty="0"/>
              <a:t>urchase or Forward </a:t>
            </a:r>
            <a:r>
              <a:rPr lang="en-US" sz="2000" dirty="0"/>
              <a:t>C</a:t>
            </a:r>
            <a:r>
              <a:rPr lang="en-US" sz="2000" b="1" dirty="0"/>
              <a:t>ash </a:t>
            </a:r>
            <a:r>
              <a:rPr lang="en-US" sz="2000" dirty="0"/>
              <a:t>M</a:t>
            </a:r>
            <a:r>
              <a:rPr lang="en-US" sz="2000" b="1" dirty="0"/>
              <a:t>erger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prstGeom prst="rect">
            <a:avLst/>
          </a:prstGeom>
        </p:spPr>
        <p:txBody>
          <a:bodyPr/>
          <a:lstStyle/>
          <a:p>
            <a:fld id="{CD3EE3A8-BA96-5F48-9F71-52F49F31FE2D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20817B-824D-924C-BC36-FDDF89413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Taxable Acquisitions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0450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Seller computes G/L on each asset sold.</a:t>
            </a:r>
          </a:p>
          <a:p>
            <a:endParaRPr lang="en-US" sz="2800" dirty="0"/>
          </a:p>
          <a:p>
            <a:r>
              <a:rPr lang="en-US" sz="2800" dirty="0"/>
              <a:t>Buyer must allocate purchase price to each asset purchased for purposes of determining future  depreciation, deductions, income, gain, and loss.</a:t>
            </a:r>
          </a:p>
          <a:p>
            <a:endParaRPr lang="en-US" sz="2800" dirty="0"/>
          </a:p>
          <a:p>
            <a:r>
              <a:rPr lang="en-US" sz="2800" dirty="0"/>
              <a:t>When can conflicts between Buyer and Seller arise?</a:t>
            </a:r>
          </a:p>
          <a:p>
            <a:pPr lvl="1"/>
            <a:r>
              <a:rPr lang="en-US" sz="2400" dirty="0"/>
              <a:t>Seller’s concerns?</a:t>
            </a:r>
          </a:p>
          <a:p>
            <a:pPr lvl="1"/>
            <a:r>
              <a:rPr lang="en-US" sz="2400" dirty="0"/>
              <a:t>Buyer’s concerns?</a:t>
            </a:r>
          </a:p>
          <a:p>
            <a:pPr lvl="1"/>
            <a:endParaRPr lang="en-US" sz="2400" dirty="0"/>
          </a:p>
          <a:p>
            <a:r>
              <a:rPr lang="en-US" sz="2800" dirty="0"/>
              <a:t>What’s the </a:t>
            </a:r>
            <a:r>
              <a:rPr lang="en-US" sz="2800" i="1" dirty="0"/>
              <a:t>Danielson </a:t>
            </a:r>
            <a:r>
              <a:rPr lang="en-US" sz="2800" dirty="0"/>
              <a:t>rule?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Taxable Transfer of Assets:  Allocation of Purchase Price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8</a:t>
            </a:fld>
            <a:endParaRPr lang="en-US" alt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D02232-2523-DC4C-916A-9F8088043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Taxable Acquisitions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021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If T’s assets constitute a trade/business, and P’s basis in the assets is determined by reference to P’s purchase price, the purchase price is allocated to T’s assets under the rules of </a:t>
            </a:r>
            <a:r>
              <a:rPr lang="en-US" dirty="0">
                <a:solidFill>
                  <a:prstClr val="black"/>
                </a:solidFill>
              </a:rPr>
              <a:t>§</a:t>
            </a:r>
            <a:r>
              <a:rPr lang="en-US" sz="2400" dirty="0"/>
              <a:t>1060 and Reg. </a:t>
            </a:r>
            <a:r>
              <a:rPr lang="en-US" sz="2400" dirty="0">
                <a:solidFill>
                  <a:prstClr val="black"/>
                </a:solidFill>
              </a:rPr>
              <a:t>§1.338-6.  These rules also apply to stock purchases accompanied by a §338(g) election.</a:t>
            </a:r>
          </a:p>
          <a:p>
            <a:r>
              <a:rPr lang="en-US" dirty="0">
                <a:solidFill>
                  <a:prstClr val="black"/>
                </a:solidFill>
              </a:rPr>
              <a:t>P and S are generally bound to written allocations of consideration or the FMV of assets.</a:t>
            </a:r>
            <a:endParaRPr lang="en-US" sz="2400" dirty="0">
              <a:solidFill>
                <a:prstClr val="black"/>
              </a:solidFill>
            </a:endParaRPr>
          </a:p>
          <a:p>
            <a:endParaRPr lang="en-US" sz="2400" dirty="0">
              <a:solidFill>
                <a:prstClr val="black"/>
              </a:solidFill>
            </a:endParaRPr>
          </a:p>
          <a:p>
            <a:r>
              <a:rPr lang="en-US" sz="2400" dirty="0">
                <a:solidFill>
                  <a:prstClr val="black"/>
                </a:solidFill>
              </a:rPr>
              <a:t>Purchase price (plus acquisition costs) are </a:t>
            </a:r>
            <a:r>
              <a:rPr lang="en-US" sz="2400" b="1" dirty="0">
                <a:solidFill>
                  <a:prstClr val="black"/>
                </a:solidFill>
              </a:rPr>
              <a:t>allocated based on gross FMV </a:t>
            </a:r>
            <a:r>
              <a:rPr lang="en-US" sz="2400" dirty="0">
                <a:solidFill>
                  <a:prstClr val="black"/>
                </a:solidFill>
              </a:rPr>
              <a:t>(not reduced by mortgages, etc.) among 7 classes:</a:t>
            </a:r>
          </a:p>
          <a:p>
            <a:pPr lvl="1"/>
            <a:r>
              <a:rPr lang="en-US" sz="1800" dirty="0">
                <a:solidFill>
                  <a:prstClr val="black"/>
                </a:solidFill>
              </a:rPr>
              <a:t>Class I:  	cash and cash equivalents</a:t>
            </a:r>
          </a:p>
          <a:p>
            <a:pPr lvl="1"/>
            <a:r>
              <a:rPr lang="en-US" sz="1800" dirty="0">
                <a:solidFill>
                  <a:prstClr val="black"/>
                </a:solidFill>
              </a:rPr>
              <a:t>Class II: 	actively traded personal property</a:t>
            </a:r>
          </a:p>
          <a:p>
            <a:pPr lvl="1"/>
            <a:r>
              <a:rPr lang="en-US" sz="1800" dirty="0">
                <a:solidFill>
                  <a:prstClr val="black"/>
                </a:solidFill>
              </a:rPr>
              <a:t>Class III:	MTM property and debt instruments (including accounts receivable)</a:t>
            </a:r>
          </a:p>
          <a:p>
            <a:pPr lvl="1"/>
            <a:r>
              <a:rPr lang="en-US" sz="1800" dirty="0">
                <a:solidFill>
                  <a:prstClr val="black"/>
                </a:solidFill>
              </a:rPr>
              <a:t>Class IV: 	Inventory</a:t>
            </a:r>
          </a:p>
          <a:p>
            <a:pPr lvl="1"/>
            <a:r>
              <a:rPr lang="en-US" sz="1800" dirty="0">
                <a:solidFill>
                  <a:prstClr val="black"/>
                </a:solidFill>
              </a:rPr>
              <a:t>Class V:	All assets other than those in Classes I-IV (machinery, equipment, real estate)</a:t>
            </a:r>
          </a:p>
          <a:p>
            <a:pPr lvl="1"/>
            <a:r>
              <a:rPr lang="en-US" sz="1800" dirty="0">
                <a:solidFill>
                  <a:prstClr val="black"/>
                </a:solidFill>
              </a:rPr>
              <a:t>Class VI: 	§197 intangibles (workforce in place, patent, CR, TM, etc.), </a:t>
            </a:r>
            <a:r>
              <a:rPr lang="en-US" sz="1800" b="1" dirty="0">
                <a:solidFill>
                  <a:prstClr val="black"/>
                </a:solidFill>
              </a:rPr>
              <a:t>except</a:t>
            </a:r>
            <a:r>
              <a:rPr lang="en-US" sz="1800" dirty="0">
                <a:solidFill>
                  <a:prstClr val="black"/>
                </a:solidFill>
              </a:rPr>
              <a:t> goodwill and going concern value</a:t>
            </a:r>
          </a:p>
          <a:p>
            <a:pPr lvl="1"/>
            <a:r>
              <a:rPr lang="en-US" sz="1800" dirty="0">
                <a:solidFill>
                  <a:prstClr val="black"/>
                </a:solidFill>
              </a:rPr>
              <a:t>Class VII:	GW and GCV, to the extent of any remaining basis (residual category)</a:t>
            </a:r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Allocation of Purchase Price to Assets: Section 1060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prstGeom prst="rect">
            <a:avLst/>
          </a:prstGeom>
        </p:spPr>
        <p:txBody>
          <a:bodyPr/>
          <a:lstStyle/>
          <a:p>
            <a:fld id="{CD3EE3A8-BA96-5F48-9F71-52F49F31FE2D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B75934-7663-D941-83B2-D382A6EC8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Taxable Acquisitions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954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P takes SUB in T shares (</a:t>
            </a:r>
            <a:r>
              <a:rPr lang="en-US" altLang="en-US" sz="2800" dirty="0"/>
              <a:t>§1001(c))</a:t>
            </a:r>
            <a:endParaRPr lang="en-US" sz="2800" dirty="0"/>
          </a:p>
          <a:p>
            <a:r>
              <a:rPr lang="en-US" sz="2800" dirty="0"/>
              <a:t>T’s assets have COB, even if P subsequently liquidates T (</a:t>
            </a:r>
            <a:r>
              <a:rPr lang="en-US" altLang="en-US" sz="2800" dirty="0"/>
              <a:t>§§332, 334(b), and 337)</a:t>
            </a:r>
            <a:endParaRPr lang="en-US" sz="2800" dirty="0"/>
          </a:p>
          <a:p>
            <a:r>
              <a:rPr lang="en-US" sz="2800" dirty="0"/>
              <a:t>T retains its tax attributes, </a:t>
            </a:r>
            <a:r>
              <a:rPr lang="en-US" sz="2800" i="1" dirty="0"/>
              <a:t>e.g</a:t>
            </a:r>
            <a:r>
              <a:rPr lang="en-US" sz="2800" dirty="0"/>
              <a:t>., NOLs, CLCOs, FTCs, or E&amp;Ps, but some limits may apply to T’s use of the attributes after P’s purchase. </a:t>
            </a:r>
            <a:r>
              <a:rPr lang="en-US" sz="2800" i="1" dirty="0"/>
              <a:t>See,</a:t>
            </a:r>
            <a:r>
              <a:rPr lang="en-US" sz="2800" dirty="0"/>
              <a:t> </a:t>
            </a:r>
            <a:r>
              <a:rPr lang="en-US" sz="2800" i="1" dirty="0"/>
              <a:t>e.g</a:t>
            </a:r>
            <a:r>
              <a:rPr lang="en-US" sz="2800" dirty="0"/>
              <a:t>., </a:t>
            </a:r>
            <a:r>
              <a:rPr lang="en-US" sz="2800" dirty="0">
                <a:solidFill>
                  <a:prstClr val="black"/>
                </a:solidFill>
              </a:rPr>
              <a:t>§§269, 382-384 </a:t>
            </a:r>
            <a:r>
              <a:rPr lang="en-US" sz="2800" dirty="0"/>
              <a:t> </a:t>
            </a:r>
          </a:p>
          <a:p>
            <a:r>
              <a:rPr lang="en-US" sz="2800" dirty="0"/>
              <a:t>If T’s assets have BIG, T’s post-acquisition E&amp;Ps will be higher than they would have been if T’s assets had been purchased because of lower depreciation.</a:t>
            </a:r>
          </a:p>
          <a:p>
            <a:r>
              <a:rPr lang="en-US" sz="2800" dirty="0"/>
              <a:t>If T’s assets have BIL, T’s post-acquisition E&amp;Ps will be lower than they would have been if assets purchased because of higher depreciation.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/>
              <a:t>P Acquires T’s Stock in a Taxable Acquisition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prstGeom prst="rect">
            <a:avLst/>
          </a:prstGeom>
        </p:spPr>
        <p:txBody>
          <a:bodyPr/>
          <a:lstStyle/>
          <a:p>
            <a:fld id="{CD3EE3A8-BA96-5F48-9F71-52F49F31FE2D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7FA97B-41CF-074B-B5BB-BB753791C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Taxable Acquisitions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413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In </a:t>
            </a:r>
            <a:r>
              <a:rPr lang="en-US" sz="2800" i="1" dirty="0" err="1"/>
              <a:t>Kimbell</a:t>
            </a:r>
            <a:r>
              <a:rPr lang="en-US" sz="2800" i="1" dirty="0"/>
              <a:t>-Diamond Milling Co. v. CIR</a:t>
            </a:r>
            <a:r>
              <a:rPr lang="en-US" sz="2800" dirty="0"/>
              <a:t>, 14 TC 74 (1950), </a:t>
            </a:r>
            <a:r>
              <a:rPr lang="en-US" sz="2800" i="1" dirty="0"/>
              <a:t>aff’d per </a:t>
            </a:r>
            <a:r>
              <a:rPr lang="en-US" sz="2800" i="1" dirty="0" err="1"/>
              <a:t>curiam</a:t>
            </a:r>
            <a:r>
              <a:rPr lang="en-US" sz="2800" dirty="0"/>
              <a:t>, 187 F.2d 718 (5</a:t>
            </a:r>
            <a:r>
              <a:rPr lang="en-US" sz="2800" baseline="30000" dirty="0"/>
              <a:t>th</a:t>
            </a:r>
            <a:r>
              <a:rPr lang="en-US" sz="2800" dirty="0"/>
              <a:t> Cir. 1951), taxable purchase of T stock followed by a prompt liquidation of T was treated as an acquisition of T’s assets by P.</a:t>
            </a:r>
          </a:p>
          <a:p>
            <a:pPr marL="0" indent="0">
              <a:buNone/>
            </a:pPr>
            <a:endParaRPr lang="en-US" sz="2800" dirty="0"/>
          </a:p>
          <a:p>
            <a:r>
              <a:rPr lang="en-US" sz="2800" dirty="0"/>
              <a:t>Under </a:t>
            </a:r>
            <a:r>
              <a:rPr lang="en-US" sz="2800" b="1" dirty="0"/>
              <a:t>former §334(b)(2), </a:t>
            </a:r>
            <a:r>
              <a:rPr lang="en-US" sz="2800" dirty="0"/>
              <a:t>P’s taxable purchase of 80% or more of T’s stock within 12 months was treated as a purchase of T’s assets if T was liquidated within two years of the stock purchase.  Although selling shareholder recognized G/L, under old §337, </a:t>
            </a:r>
            <a:r>
              <a:rPr lang="en-US" sz="2800" b="1" dirty="0"/>
              <a:t>T generally didn’t recognize G/L on the deemed sale of its assets.</a:t>
            </a:r>
          </a:p>
          <a:p>
            <a:pPr lvl="1"/>
            <a:r>
              <a:rPr lang="en-US" sz="2400" dirty="0"/>
              <a:t>T SHs taxed on G/L from sale of shares, but</a:t>
            </a:r>
          </a:p>
          <a:p>
            <a:pPr lvl="1"/>
            <a:r>
              <a:rPr lang="en-US" sz="2400" dirty="0"/>
              <a:t>P got a SUB in assets w/out any corporate-level tax and didn’t inherit T’s E&amp;Ps and other tax attributes</a:t>
            </a:r>
          </a:p>
          <a:p>
            <a:pPr lvl="1"/>
            <a:endParaRPr lang="en-US" sz="2400" dirty="0"/>
          </a:p>
          <a:p>
            <a:endParaRPr lang="en-US" sz="2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Section 338: Background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prstGeom prst="rect">
            <a:avLst/>
          </a:prstGeom>
        </p:spPr>
        <p:txBody>
          <a:bodyPr/>
          <a:lstStyle/>
          <a:p>
            <a:fld id="{CD3EE3A8-BA96-5F48-9F71-52F49F31FE2D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285895-AAA7-094E-858B-7A74F8EC5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Taxable Acquisitions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08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72B8949-1200-7141-A0D1-9BA4F16699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Current §338 </a:t>
            </a:r>
            <a:r>
              <a:rPr lang="en-US" dirty="0"/>
              <a:t>was enacted in 1982; among other changes, the requirement that T liquidate was eliminated.  </a:t>
            </a:r>
          </a:p>
          <a:p>
            <a:r>
              <a:rPr lang="en-US" dirty="0"/>
              <a:t>As an alternative to a direct taxable asset acquisition, if </a:t>
            </a:r>
            <a:r>
              <a:rPr lang="en-US" b="1" dirty="0"/>
              <a:t>corporation P</a:t>
            </a:r>
            <a:r>
              <a:rPr lang="en-US" dirty="0"/>
              <a:t> purchases the stock of T in a </a:t>
            </a:r>
            <a:r>
              <a:rPr lang="en-US" b="1" dirty="0"/>
              <a:t>taxable transaction</a:t>
            </a:r>
            <a:r>
              <a:rPr lang="en-US" dirty="0"/>
              <a:t>, </a:t>
            </a:r>
            <a:r>
              <a:rPr lang="en-US" b="1" i="1" dirty="0"/>
              <a:t>P can make an election </a:t>
            </a:r>
            <a:r>
              <a:rPr lang="en-US" b="1" dirty="0"/>
              <a:t>under §338(g)</a:t>
            </a:r>
            <a:r>
              <a:rPr lang="en-US" dirty="0"/>
              <a:t> in which case </a:t>
            </a:r>
            <a:r>
              <a:rPr lang="en-US" i="1" dirty="0"/>
              <a:t>old </a:t>
            </a:r>
            <a:r>
              <a:rPr lang="en-US" dirty="0"/>
              <a:t>T will be treated as having sold all its assets for their FMV to </a:t>
            </a:r>
            <a:r>
              <a:rPr lang="en-US" i="1" dirty="0"/>
              <a:t>new </a:t>
            </a:r>
            <a:r>
              <a:rPr lang="en-US" dirty="0"/>
              <a:t>T. §§338(a) and (g). </a:t>
            </a:r>
          </a:p>
          <a:p>
            <a:r>
              <a:rPr lang="en-US" dirty="0"/>
              <a:t>Even though P acquires T stock, if a §338(g) election is made, P gets a SUB in the assets.</a:t>
            </a:r>
          </a:p>
          <a:p>
            <a:r>
              <a:rPr lang="en-US" dirty="0"/>
              <a:t>If P makes a §338(g) election, after GU repeal in ‘86, there will be potentially </a:t>
            </a:r>
            <a:r>
              <a:rPr lang="en-US" b="1" dirty="0"/>
              <a:t>two levels </a:t>
            </a:r>
            <a:r>
              <a:rPr lang="en-US" dirty="0"/>
              <a:t>of tax:</a:t>
            </a:r>
          </a:p>
          <a:p>
            <a:pPr lvl="1"/>
            <a:r>
              <a:rPr lang="en-US" b="1" dirty="0"/>
              <a:t>(1) Selling shareholder, and (2) Target</a:t>
            </a:r>
          </a:p>
          <a:p>
            <a:r>
              <a:rPr lang="en-US" dirty="0"/>
              <a:t> The cost of a $1 SUB is an additional $1 of TI; the tax is paid today, but the SUB is generally recovered by increased depreciation over time.  </a:t>
            </a:r>
            <a:r>
              <a:rPr lang="en-US" b="1" i="1" dirty="0"/>
              <a:t>But see</a:t>
            </a:r>
            <a:r>
              <a:rPr lang="en-US" b="1" dirty="0"/>
              <a:t> §168(k).</a:t>
            </a:r>
          </a:p>
          <a:p>
            <a:pPr lvl="1"/>
            <a:r>
              <a:rPr lang="en-US" dirty="0"/>
              <a:t>When it is not desirable to make a §338(g) election?  </a:t>
            </a:r>
          </a:p>
          <a:p>
            <a:pPr lvl="1"/>
            <a:r>
              <a:rPr lang="en-US" dirty="0"/>
              <a:t>When can it be desirable to make a §338(g) election?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F4D633D-4467-A54C-9836-113F27D59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Sections 338(a) and 338(g)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42C6D2-4569-1F4E-85CA-9796B85E33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12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42EDF5-390C-E641-8E5E-9BE654F48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Taxable Acquisitions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332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i="1" dirty="0"/>
              <a:t>Qualified Stock Purchase</a:t>
            </a:r>
            <a:r>
              <a:rPr lang="en-US" dirty="0"/>
              <a:t>:  Corporate P, which makes the 338(g) election, must acquire by purchase at least 80% of the V&amp;&amp;V of T during a 12-month period.  Certain preferred stock is ignored. §338(d)(3).  This permits P and T (if P and T are US corporations) to file a consolidated return. </a:t>
            </a:r>
          </a:p>
          <a:p>
            <a:r>
              <a:rPr lang="en-US" b="1" i="1" dirty="0"/>
              <a:t>Purchase</a:t>
            </a:r>
            <a:r>
              <a:rPr lang="en-US" dirty="0"/>
              <a:t>: P must have SUB in the T stock; the T stock can’t be acquired in an exchange under §§351, 354-356 (reorgs); and the T stock generally can’t be acquired from a related (under §318) person. §338(h)(3).</a:t>
            </a:r>
          </a:p>
          <a:p>
            <a:r>
              <a:rPr lang="en-US" b="1" dirty="0"/>
              <a:t>Old T </a:t>
            </a:r>
            <a:r>
              <a:rPr lang="en-US" dirty="0"/>
              <a:t>is treated as selling its assets for their “aggregate deemed sales price” (</a:t>
            </a:r>
            <a:r>
              <a:rPr lang="en-US" b="1" dirty="0"/>
              <a:t>ADSP</a:t>
            </a:r>
            <a:r>
              <a:rPr lang="en-US" dirty="0"/>
              <a:t>), which is generally the </a:t>
            </a:r>
            <a:r>
              <a:rPr lang="en-US" b="1" dirty="0"/>
              <a:t>price paid to purchase the T stock plus T liabilities, including tax liabilities</a:t>
            </a:r>
            <a:r>
              <a:rPr lang="en-US" dirty="0"/>
              <a:t>.</a:t>
            </a:r>
          </a:p>
          <a:p>
            <a:pPr lvl="1"/>
            <a:r>
              <a:rPr lang="en-US" sz="2000" i="1" dirty="0"/>
              <a:t>ADSP = G + L + Tax Rate *(ADSP – Basis)</a:t>
            </a:r>
            <a:r>
              <a:rPr lang="en-US" sz="2000" dirty="0"/>
              <a:t>, where G is the grossed-up amount realized on the sale to P on P’s recently purchased stock and L, T’s non-tax liabilities. Reg.  1.338-4(g), Ex. 1.</a:t>
            </a:r>
          </a:p>
          <a:p>
            <a:pPr lvl="1"/>
            <a:r>
              <a:rPr lang="en-US" sz="2000" dirty="0"/>
              <a:t>Ex: P pays $75 for 100% of T stock, which has $25 of bank debt, and an asset with an AB of $50.</a:t>
            </a:r>
          </a:p>
          <a:p>
            <a:pPr lvl="2"/>
            <a:r>
              <a:rPr lang="en-US" sz="2000" dirty="0"/>
              <a:t>ADSP = 75 + 25 + 21%*(ADSP – 50)</a:t>
            </a:r>
            <a:r>
              <a:rPr lang="en-US" sz="2000" dirty="0">
                <a:sym typeface="Wingdings" pitchFamily="2" charset="2"/>
              </a:rPr>
              <a:t>113.29</a:t>
            </a:r>
          </a:p>
          <a:p>
            <a:pPr lvl="2"/>
            <a:r>
              <a:rPr lang="en-US" sz="2000" dirty="0">
                <a:sym typeface="Wingdings" pitchFamily="2" charset="2"/>
              </a:rPr>
              <a:t>T’s gain on deemed sale: 113.29 – 50 = 63.29, with the resulting tax of 21% * 63.29 =  13.29</a:t>
            </a:r>
            <a:endParaRPr lang="en-US" sz="20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Section 338(a) and (g)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prstGeom prst="rect">
            <a:avLst/>
          </a:prstGeom>
        </p:spPr>
        <p:txBody>
          <a:bodyPr/>
          <a:lstStyle/>
          <a:p>
            <a:fld id="{CD3EE3A8-BA96-5F48-9F71-52F49F31FE2D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B16267-4340-7446-903B-DAC27DB5C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Taxable Acquisitions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710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i="1" dirty="0"/>
              <a:t>Old</a:t>
            </a:r>
            <a:r>
              <a:rPr lang="en-US" sz="2800" dirty="0"/>
              <a:t> T’s tax attributes, </a:t>
            </a:r>
            <a:r>
              <a:rPr lang="en-US" sz="2800" i="1" dirty="0"/>
              <a:t>e.g., </a:t>
            </a:r>
            <a:r>
              <a:rPr lang="en-US" sz="2800" dirty="0"/>
              <a:t>NOLs, CLCOs, E&amp;Ps, and FTCs, disappear. Reg. §1.338-1(b)(1).</a:t>
            </a:r>
          </a:p>
          <a:p>
            <a:r>
              <a:rPr lang="en-US" sz="2800" i="1" dirty="0"/>
              <a:t>Old </a:t>
            </a:r>
            <a:r>
              <a:rPr lang="en-US" sz="2800" dirty="0"/>
              <a:t>T’s attributes (</a:t>
            </a:r>
            <a:r>
              <a:rPr lang="en-US" sz="2800" u="sng" dirty="0"/>
              <a:t>but </a:t>
            </a:r>
            <a:r>
              <a:rPr lang="en-US" sz="2800" b="1" u="sng" dirty="0"/>
              <a:t>not P’s</a:t>
            </a:r>
            <a:r>
              <a:rPr lang="en-US" sz="2800" dirty="0"/>
              <a:t>), such as NOLs, can be used to offset gain arising from the §338(g) election.  </a:t>
            </a:r>
          </a:p>
          <a:p>
            <a:pPr lvl="1"/>
            <a:r>
              <a:rPr lang="en-US" sz="2400" dirty="0"/>
              <a:t>If T is part of a consolidated group, any NOLs of T’s parent </a:t>
            </a:r>
            <a:r>
              <a:rPr lang="en-US" sz="2400" b="1" dirty="0"/>
              <a:t>can’t</a:t>
            </a:r>
            <a:r>
              <a:rPr lang="en-US" sz="2400" dirty="0"/>
              <a:t> be used to shelter any §388 gain. §338(h)(9); Reg. §1.338-1(b)(3)(</a:t>
            </a:r>
            <a:r>
              <a:rPr lang="en-US" sz="2400" dirty="0" err="1"/>
              <a:t>i</a:t>
            </a:r>
            <a:r>
              <a:rPr lang="en-US" sz="2400" dirty="0"/>
              <a:t>)</a:t>
            </a:r>
          </a:p>
          <a:p>
            <a:r>
              <a:rPr lang="en-US" sz="2800" dirty="0"/>
              <a:t>New T’s aggregate basis in its new assets is its “adjusted grossed-up” basis (AGUB).  Where P holds only recently purchased T stock, AGUB and ADSP are the same.</a:t>
            </a:r>
          </a:p>
          <a:p>
            <a:r>
              <a:rPr lang="en-US" sz="2800" dirty="0"/>
              <a:t>AGUB is allocated among new T’s assets under the rules of Reg. §1.338-6</a:t>
            </a:r>
            <a:r>
              <a:rPr lang="en-US" dirty="0"/>
              <a:t>. </a:t>
            </a:r>
            <a:endParaRPr lang="en-US" sz="20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Section 338(a) and (g)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prstGeom prst="rect">
            <a:avLst/>
          </a:prstGeom>
        </p:spPr>
        <p:txBody>
          <a:bodyPr/>
          <a:lstStyle/>
          <a:p>
            <a:fld id="{CD3EE3A8-BA96-5F48-9F71-52F49F31FE2D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B16267-4340-7446-903B-DAC27DB5C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Taxable Acquisitions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5839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96CCE3E-1843-4540-A6A5-C37D6B649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Assume that T is part of the S-T consolidated group, and that the T shares and T assets are appreciated.  If P buys the T shares and does </a:t>
            </a:r>
            <a:r>
              <a:rPr lang="en-US" sz="2800" b="1" dirty="0"/>
              <a:t>not </a:t>
            </a:r>
            <a:r>
              <a:rPr lang="en-US" sz="2800" dirty="0"/>
              <a:t>make a §338(g) election:</a:t>
            </a:r>
          </a:p>
          <a:p>
            <a:pPr lvl="1"/>
            <a:r>
              <a:rPr lang="en-US" sz="2400" dirty="0"/>
              <a:t>S will recognize gain on the sale of the T shares</a:t>
            </a:r>
          </a:p>
          <a:p>
            <a:pPr lvl="1"/>
            <a:r>
              <a:rPr lang="en-US" sz="2400" dirty="0"/>
              <a:t>T will recognize gain of the sale of its assets, which is economically the same gain on the T shares</a:t>
            </a:r>
          </a:p>
          <a:p>
            <a:pPr marL="228600" lvl="1" indent="0">
              <a:buNone/>
            </a:pPr>
            <a:endParaRPr lang="en-US" sz="2400" dirty="0"/>
          </a:p>
          <a:p>
            <a:r>
              <a:rPr lang="en-US" sz="2800" dirty="0"/>
              <a:t>Consider the following alternatives: </a:t>
            </a:r>
          </a:p>
          <a:p>
            <a:pPr lvl="1"/>
            <a:r>
              <a:rPr lang="en-US" sz="2400" dirty="0"/>
              <a:t>T sells assets directly to P and then T liquidates.</a:t>
            </a:r>
          </a:p>
          <a:p>
            <a:pPr lvl="2"/>
            <a:r>
              <a:rPr lang="en-US" sz="2400" dirty="0"/>
              <a:t>T would recognize G, but the liquidation would be tax-free to S.</a:t>
            </a:r>
          </a:p>
          <a:p>
            <a:pPr lvl="1"/>
            <a:r>
              <a:rPr lang="en-US" sz="2400" dirty="0"/>
              <a:t>T liquidates and S sells T assets to P</a:t>
            </a:r>
          </a:p>
          <a:p>
            <a:pPr lvl="2"/>
            <a:r>
              <a:rPr lang="en-US" sz="2400" dirty="0"/>
              <a:t>The liquidation of T is tax-free, but S recognizes G on the sale of the former T assets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FFC133-6654-FE4D-B4A9-5F3BC4194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338(h)(10)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BDFB7-8623-AF47-BEF7-FA00410F93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15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731A12-66D8-8B44-9D3E-6E52AEE23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Taxable Acquisitions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83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If T is a subsidiary in a consolidated group (or an affiliated group that doesn’t file a consolidated return), a </a:t>
            </a:r>
            <a:r>
              <a:rPr lang="en-US" sz="3200" b="1" dirty="0"/>
              <a:t>joint election </a:t>
            </a:r>
            <a:r>
              <a:rPr lang="en-US" sz="3200" dirty="0"/>
              <a:t>can be made to treat T as if it sold all its assets for their FMV to a “new” T and then transferred the consideration to T’s old parent in a deemed liquidation.  </a:t>
            </a:r>
          </a:p>
          <a:p>
            <a:r>
              <a:rPr lang="en-US" sz="3200" b="1" dirty="0"/>
              <a:t>Result </a:t>
            </a:r>
            <a:r>
              <a:rPr lang="en-US" sz="3200" dirty="0"/>
              <a:t>of a §338(h)(10) election: </a:t>
            </a:r>
            <a:r>
              <a:rPr lang="en-US" sz="3200" b="1" dirty="0"/>
              <a:t>G/L recognized by T, but selling parent doesn’t recognize G/L.</a:t>
            </a:r>
          </a:p>
          <a:p>
            <a:r>
              <a:rPr lang="en-US" sz="3200" dirty="0"/>
              <a:t>This is the same result that would occur if T sold its assets and then liquidated pursuant to §332, or if T first liquidated under §337 and then T’s parent sold T’s assets.</a:t>
            </a:r>
          </a:p>
          <a:p>
            <a:endParaRPr lang="en-US" sz="3200" dirty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Section 338(h)(10) Election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prstGeom prst="rect">
            <a:avLst/>
          </a:prstGeom>
        </p:spPr>
        <p:txBody>
          <a:bodyPr/>
          <a:lstStyle/>
          <a:p>
            <a:fld id="{CD3EE3A8-BA96-5F48-9F71-52F49F31FE2D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6CAD45-99DF-624E-91D0-BF18F5D4D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Taxable Acquisitions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396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G/L recognized by T on the deemed sale of assets but not by T parent (S) on the sale of the T stock</a:t>
            </a:r>
          </a:p>
          <a:p>
            <a:pPr lvl="1"/>
            <a:r>
              <a:rPr lang="en-US" dirty="0"/>
              <a:t>A §338(h)(10) election can be beneficial if:</a:t>
            </a:r>
          </a:p>
          <a:p>
            <a:pPr lvl="2"/>
            <a:r>
              <a:rPr lang="en-US" dirty="0"/>
              <a:t>T’s parent’s BIG in its T stock  exceeds T’s BIG in its assets, or </a:t>
            </a:r>
          </a:p>
          <a:p>
            <a:pPr lvl="2"/>
            <a:r>
              <a:rPr lang="en-US" dirty="0"/>
              <a:t>T’s consolidated group has losses that can be used to offset gain recognized by T on deemed sale of its assets</a:t>
            </a:r>
          </a:p>
          <a:p>
            <a:pPr lvl="2"/>
            <a:r>
              <a:rPr lang="en-US" b="1" dirty="0"/>
              <a:t>QUERY:  What could account for the difference between inside and outside basis?  </a:t>
            </a:r>
            <a:r>
              <a:rPr lang="en-US" dirty="0"/>
              <a:t>Note, in the consolidated return rules, T’s parent’s outside basis is adjusted in lockstep with T’s changes in inside basis.</a:t>
            </a:r>
          </a:p>
          <a:p>
            <a:r>
              <a:rPr lang="en-US" dirty="0"/>
              <a:t>T has SUB in its assets</a:t>
            </a:r>
          </a:p>
          <a:p>
            <a:r>
              <a:rPr lang="en-US" dirty="0"/>
              <a:t>Tax liability from T’s deemed asset sale is responsibility of S. §338(h)(10)(A); Reg. §1.338(h)(10)-1(d)(3)(</a:t>
            </a:r>
            <a:r>
              <a:rPr lang="en-US" dirty="0" err="1"/>
              <a:t>i</a:t>
            </a:r>
            <a:r>
              <a:rPr lang="en-US" dirty="0"/>
              <a:t>) </a:t>
            </a:r>
          </a:p>
          <a:p>
            <a:r>
              <a:rPr lang="en-US" dirty="0"/>
              <a:t>Old T is deemed to liquidate into S, which is tax-free under §337. Reg. §1.338-1(a)(1) (last sentence).  </a:t>
            </a:r>
          </a:p>
          <a:p>
            <a:r>
              <a:rPr lang="en-US" dirty="0"/>
              <a:t>T’s parent (S) inherits T’s tax attributes. §381(a)(1)</a:t>
            </a:r>
          </a:p>
          <a:p>
            <a:r>
              <a:rPr lang="en-US" dirty="0"/>
              <a:t>Section 338(h)(10) does </a:t>
            </a:r>
            <a:r>
              <a:rPr lang="en-US" b="1" dirty="0"/>
              <a:t>not</a:t>
            </a:r>
            <a:r>
              <a:rPr lang="en-US" dirty="0"/>
              <a:t> apply to foreign targets or foreign subsidiaries of a domestic target for which a §338(h)(10) election is made.    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Section 338(h)(10) Election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prstGeom prst="rect">
            <a:avLst/>
          </a:prstGeom>
        </p:spPr>
        <p:txBody>
          <a:bodyPr/>
          <a:lstStyle/>
          <a:p>
            <a:fld id="{CD3EE3A8-BA96-5F48-9F71-52F49F31FE2D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6CAD45-99DF-624E-91D0-BF18F5D4D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Taxable Acquisitions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897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 PPL Energy Holdings, LLC &amp; National Grid USA (Mar. 17, 2021)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18</a:t>
            </a:fld>
            <a:endParaRPr lang="en-US" alt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29DF40F-4690-5040-B102-EC469B3F5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Taxable Acquisitions</a:t>
            </a: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77BED4D-C0B7-4841-A843-0D004AA370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1764" y="2731099"/>
            <a:ext cx="10909300" cy="3459635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E2F4F39-7D8D-764A-A803-B8C26D0225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667265"/>
            <a:ext cx="11049000" cy="182880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7FFDED3-D12F-BF41-B8FC-4DC8AFB2CF63}"/>
              </a:ext>
            </a:extLst>
          </p:cNvPr>
          <p:cNvCxnSpPr/>
          <p:nvPr/>
        </p:nvCxnSpPr>
        <p:spPr>
          <a:xfrm>
            <a:off x="651764" y="2731099"/>
            <a:ext cx="107020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2948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6417F0B-2031-E199-8D8F-C43ED39B94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2064" y="736217"/>
            <a:ext cx="11277600" cy="1571048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B66435F-8876-49CF-5554-F4F4D992F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Celestica 20-F (3/14/22) (top) and </a:t>
            </a:r>
            <a:r>
              <a:rPr lang="en-US" dirty="0" err="1"/>
              <a:t>Waldencast</a:t>
            </a:r>
            <a:r>
              <a:rPr lang="en-US" dirty="0"/>
              <a:t> </a:t>
            </a:r>
            <a:r>
              <a:rPr lang="en-US" dirty="0" err="1"/>
              <a:t>Acq</a:t>
            </a:r>
            <a:r>
              <a:rPr lang="en-US" dirty="0"/>
              <a:t> Corp F-4/A (3/21/22) (bottom)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28CDFC-D55F-66CB-1AB3-C2EEFEB953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19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035871-99EF-877E-F991-C6FD9D1F3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Taxable Acquisitions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55C9492-7904-6E36-853E-49496893AEA0}"/>
              </a:ext>
            </a:extLst>
          </p:cNvPr>
          <p:cNvCxnSpPr/>
          <p:nvPr/>
        </p:nvCxnSpPr>
        <p:spPr>
          <a:xfrm>
            <a:off x="606056" y="2828260"/>
            <a:ext cx="113449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Text&#10;&#10;Description automatically generated with low confidence">
            <a:extLst>
              <a:ext uri="{FF2B5EF4-FFF2-40B4-BE49-F238E27FC236}">
                <a16:creationId xmlns:a16="http://schemas.microsoft.com/office/drawing/2014/main" id="{B63B4F20-75B7-284B-C8A1-06C545F035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207" y="3117427"/>
            <a:ext cx="11587787" cy="2719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3273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Under §338(e) and (f), P can be </a:t>
            </a:r>
            <a:r>
              <a:rPr lang="en-US" sz="2800" b="1" dirty="0"/>
              <a:t>required</a:t>
            </a:r>
            <a:r>
              <a:rPr lang="en-US" sz="2800" dirty="0"/>
              <a:t> to take a COB in T assets purchased by P if P acquires T stock and does not make a §338(g) or §338(h)(10) election.  These rules apply in </a:t>
            </a:r>
            <a:r>
              <a:rPr lang="en-US" sz="2800" b="1" dirty="0"/>
              <a:t>only narrow situations </a:t>
            </a:r>
            <a:r>
              <a:rPr lang="en-US" sz="2800" dirty="0"/>
              <a:t>(</a:t>
            </a:r>
            <a:r>
              <a:rPr lang="en-US" sz="2800" i="1" dirty="0"/>
              <a:t>see </a:t>
            </a:r>
            <a:r>
              <a:rPr lang="en-US" sz="2800" dirty="0"/>
              <a:t>Reg. §1.338-8(a)(1)-(4)):</a:t>
            </a:r>
          </a:p>
          <a:p>
            <a:pPr lvl="1"/>
            <a:r>
              <a:rPr lang="en-US" sz="2400" dirty="0"/>
              <a:t>T is a sub of a consolidated group and during the 12-month period prior to the sale of T’s stock T sells an asset at a gain to P and the gain is reflected in the basis of T’s stock under the consolidated return rules</a:t>
            </a:r>
          </a:p>
          <a:p>
            <a:pPr lvl="1"/>
            <a:r>
              <a:rPr lang="en-US" sz="2400" dirty="0"/>
              <a:t>T is not a member of a consolidated group but one </a:t>
            </a:r>
            <a:r>
              <a:rPr lang="en-US" sz="2400" dirty="0" err="1"/>
              <a:t>corp</a:t>
            </a:r>
            <a:r>
              <a:rPr lang="en-US" sz="2400" dirty="0"/>
              <a:t> owns enough stock of T so that T is a member of an affiliated group and during the 12-month period before the acquisition of T stock, T sells an asset at a gain to P, and T pays certain dividends qualifying for the 100% DRD under §243(a)(3).</a:t>
            </a:r>
          </a:p>
          <a:p>
            <a:pPr lvl="2"/>
            <a:r>
              <a:rPr lang="en-US" sz="2400" b="1" dirty="0"/>
              <a:t>QUERY:  Why is this provision needed? </a:t>
            </a:r>
          </a:p>
          <a:p>
            <a:pPr lvl="1"/>
            <a:r>
              <a:rPr lang="en-US" sz="2400" dirty="0"/>
              <a:t>A T affiliate (T is a US </a:t>
            </a:r>
            <a:r>
              <a:rPr lang="en-US" sz="2400" dirty="0" err="1"/>
              <a:t>corp</a:t>
            </a:r>
            <a:r>
              <a:rPr lang="en-US" sz="2400" dirty="0"/>
              <a:t>) is a CFC and sells an asset to P that gives rise to subpart F or a PFIC inclusion under §1293.  </a:t>
            </a:r>
            <a:r>
              <a:rPr lang="en-US" sz="2400" i="1" dirty="0"/>
              <a:t>See </a:t>
            </a:r>
            <a:r>
              <a:rPr lang="en-US" sz="2400" dirty="0"/>
              <a:t>Reg. §1.338-9(h).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Section 338: Consistency Elections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prstGeom prst="rect">
            <a:avLst/>
          </a:prstGeom>
        </p:spPr>
        <p:txBody>
          <a:bodyPr/>
          <a:lstStyle/>
          <a:p>
            <a:fld id="{CD3EE3A8-BA96-5F48-9F71-52F49F31FE2D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E78466-E462-BE46-AE1A-F7E54A16E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Taxable Acquisitions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933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800" dirty="0"/>
              <a:t>§336(e) authorizes the issuance of regulations permitting the </a:t>
            </a:r>
            <a:r>
              <a:rPr lang="en-US" sz="2800" b="1" i="1" dirty="0"/>
              <a:t>unilateral</a:t>
            </a:r>
            <a:r>
              <a:rPr lang="en-US" sz="2800" b="1" dirty="0"/>
              <a:t> election by S </a:t>
            </a:r>
            <a:r>
              <a:rPr lang="en-US" sz="2800" dirty="0"/>
              <a:t>to treat the </a:t>
            </a:r>
            <a:r>
              <a:rPr lang="en-US" sz="2800" b="1" u="sng" dirty="0"/>
              <a:t>sale </a:t>
            </a:r>
            <a:r>
              <a:rPr lang="en-US" sz="2800" b="1" dirty="0"/>
              <a:t>of stock </a:t>
            </a:r>
            <a:r>
              <a:rPr lang="en-US" sz="2800" dirty="0"/>
              <a:t>of an 80% V&amp;&amp;V company as the </a:t>
            </a:r>
            <a:r>
              <a:rPr lang="en-US" sz="2800" b="1" dirty="0"/>
              <a:t>sale of assets </a:t>
            </a:r>
            <a:r>
              <a:rPr lang="en-US" sz="2800" dirty="0"/>
              <a:t>of the sold company and </a:t>
            </a:r>
            <a:r>
              <a:rPr lang="en-US" sz="2800" b="1" dirty="0"/>
              <a:t>no gain is recognized on the sale of the stock.</a:t>
            </a:r>
          </a:p>
          <a:p>
            <a:pPr lvl="1"/>
            <a:r>
              <a:rPr lang="en-US" sz="2400" b="1" dirty="0"/>
              <a:t>22 years </a:t>
            </a:r>
            <a:r>
              <a:rPr lang="en-US" sz="2400" dirty="0"/>
              <a:t>after the enactment of §336(e), proposed regulations were issued in 2008 and finalized in 2013.</a:t>
            </a:r>
          </a:p>
          <a:p>
            <a:pPr lvl="1"/>
            <a:r>
              <a:rPr lang="en-US" sz="2400" dirty="0"/>
              <a:t>Principles of §338(h)(10) employed—T deemed to sell assets while owned by S and then liquidate into S</a:t>
            </a:r>
          </a:p>
          <a:p>
            <a:pPr lvl="1"/>
            <a:r>
              <a:rPr lang="en-US" sz="2400" dirty="0"/>
              <a:t>§336(e) not applicable to QSP</a:t>
            </a:r>
          </a:p>
          <a:p>
            <a:pPr lvl="1"/>
            <a:r>
              <a:rPr lang="en-US" sz="2400" dirty="0"/>
              <a:t>Can apply to S Corps, but does not apply if either T or seller is a foreign corporation</a:t>
            </a:r>
          </a:p>
          <a:p>
            <a:r>
              <a:rPr lang="en-US" sz="2800" dirty="0"/>
              <a:t>Seller must  meet the 80% V&amp;&amp;V test and must </a:t>
            </a:r>
            <a:r>
              <a:rPr lang="en-US" sz="2800" b="1" dirty="0"/>
              <a:t>sell</a:t>
            </a:r>
            <a:r>
              <a:rPr lang="en-US" sz="2800" dirty="0"/>
              <a:t>, </a:t>
            </a:r>
            <a:r>
              <a:rPr lang="en-US" sz="2800" b="1" dirty="0"/>
              <a:t>exchange</a:t>
            </a:r>
            <a:r>
              <a:rPr lang="en-US" sz="2800" dirty="0"/>
              <a:t>, or </a:t>
            </a:r>
            <a:r>
              <a:rPr lang="en-US" sz="2800" b="1" dirty="0"/>
              <a:t>distribute</a:t>
            </a:r>
            <a:r>
              <a:rPr lang="en-US" sz="2800" dirty="0"/>
              <a:t> all such stock meeting the V&amp;V test </a:t>
            </a:r>
            <a:r>
              <a:rPr lang="en-US" sz="2800" i="1" dirty="0"/>
              <a:t>(</a:t>
            </a:r>
            <a:r>
              <a:rPr lang="en-US" sz="2800" b="1" i="1" dirty="0"/>
              <a:t>qualified stock disposition</a:t>
            </a:r>
            <a:r>
              <a:rPr lang="en-US" sz="2800" i="1" dirty="0"/>
              <a:t>);</a:t>
            </a:r>
            <a:r>
              <a:rPr lang="en-US" sz="2800" dirty="0"/>
              <a:t> possible to retain some stock</a:t>
            </a:r>
          </a:p>
          <a:p>
            <a:pPr lvl="1"/>
            <a:r>
              <a:rPr lang="en-US" sz="2400" dirty="0"/>
              <a:t>Disposition can be any combination of sale, exchange, or distribution</a:t>
            </a:r>
          </a:p>
          <a:p>
            <a:r>
              <a:rPr lang="en-US" sz="2800" b="1" dirty="0"/>
              <a:t>Available even if purchaser is not a corporation, i.e., purchaser can be individual, corporation, or PSH or any combination thereof</a:t>
            </a:r>
          </a:p>
          <a:p>
            <a:r>
              <a:rPr lang="en-US" sz="2800" dirty="0"/>
              <a:t>Losses can be recognized but only up to the gains recognized.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Section 336(e)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prstGeom prst="rect">
            <a:avLst/>
          </a:prstGeom>
        </p:spPr>
        <p:txBody>
          <a:bodyPr/>
          <a:lstStyle/>
          <a:p>
            <a:fld id="{CD3EE3A8-BA96-5F48-9F71-52F49F31FE2D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FB902C-77E1-C14B-82AD-B00D6E0E5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Taxable Acquisitions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879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5E09318-5C97-604A-A29D-BF34E460C4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 fontAlgn="base"/>
            <a:r>
              <a:rPr lang="en-US" sz="2800" dirty="0"/>
              <a:t>P owns 100% of T stock. T’s assets, Land1 (AB=5k; FMV=7k); and Land2 (AB=4k; FMV=3k). Parent sells all 100 shares of Target stock to A for 10k and makes a §336(e) election.</a:t>
            </a:r>
          </a:p>
          <a:p>
            <a:pPr algn="l" fontAlgn="base"/>
            <a:r>
              <a:rPr lang="en-US" sz="2800" dirty="0"/>
              <a:t>T is treated as selling its assets for 10k, which is allocated $7,000 to Land1 and 3k to Land2. T recognizes 2k gain on Land1, and 1k loss on Land2. </a:t>
            </a:r>
          </a:p>
          <a:p>
            <a:pPr algn="l" fontAlgn="base"/>
            <a:r>
              <a:rPr lang="en-US" sz="2800" dirty="0"/>
              <a:t>New T is treated as acquiring all its assets from an unrelated person in a single transaction in exchange for the amount of the AGUB of 10k, which is allocated 7k to Land1 and 3k to Land2. </a:t>
            </a:r>
          </a:p>
          <a:p>
            <a:pPr algn="l" fontAlgn="base"/>
            <a:r>
              <a:rPr lang="en-US" sz="2800" dirty="0"/>
              <a:t>Old T is treated as liquidating into P immediately thereafter, distributing the 10k deemed received in exchange for Land1 and Land2 in a transaction qualifying under §332. Parent recognizes no gain or loss on the liquidation. </a:t>
            </a:r>
          </a:p>
          <a:p>
            <a:pPr algn="l" fontAlgn="base"/>
            <a:r>
              <a:rPr lang="en-US" sz="2800" dirty="0"/>
              <a:t>A's basis in New Target stock is 10k ($100 per share), the amount paid for the stock.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AF32C59-F1C7-344A-9EB1-0C2C74A47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Section 336(e) Example: Reg. </a:t>
            </a:r>
            <a:r>
              <a:rPr lang="en-US" dirty="0"/>
              <a:t>§1.366-2(k), Ex.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220467-7B44-1F43-9F9E-7F6BA2A990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22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D8B81-BC88-9641-9767-679034F23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Taxable Acquisitions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4733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2203420"/>
              </p:ext>
            </p:extLst>
          </p:nvPr>
        </p:nvGraphicFramePr>
        <p:xfrm>
          <a:off x="512064" y="567983"/>
          <a:ext cx="11277601" cy="4575517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999998">
                  <a:extLst>
                    <a:ext uri="{9D8B030D-6E8A-4147-A177-3AD203B41FA5}">
                      <a16:colId xmlns:a16="http://schemas.microsoft.com/office/drawing/2014/main" val="2815027957"/>
                    </a:ext>
                  </a:extLst>
                </a:gridCol>
                <a:gridCol w="1395521">
                  <a:extLst>
                    <a:ext uri="{9D8B030D-6E8A-4147-A177-3AD203B41FA5}">
                      <a16:colId xmlns:a16="http://schemas.microsoft.com/office/drawing/2014/main" val="1190337391"/>
                    </a:ext>
                  </a:extLst>
                </a:gridCol>
                <a:gridCol w="1820116">
                  <a:extLst>
                    <a:ext uri="{9D8B030D-6E8A-4147-A177-3AD203B41FA5}">
                      <a16:colId xmlns:a16="http://schemas.microsoft.com/office/drawing/2014/main" val="34986239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831701755"/>
                    </a:ext>
                  </a:extLst>
                </a:gridCol>
                <a:gridCol w="2631514">
                  <a:extLst>
                    <a:ext uri="{9D8B030D-6E8A-4147-A177-3AD203B41FA5}">
                      <a16:colId xmlns:a16="http://schemas.microsoft.com/office/drawing/2014/main" val="2771922255"/>
                    </a:ext>
                  </a:extLst>
                </a:gridCol>
                <a:gridCol w="1611086">
                  <a:extLst>
                    <a:ext uri="{9D8B030D-6E8A-4147-A177-3AD203B41FA5}">
                      <a16:colId xmlns:a16="http://schemas.microsoft.com/office/drawing/2014/main" val="407643372"/>
                    </a:ext>
                  </a:extLst>
                </a:gridCol>
                <a:gridCol w="1611086">
                  <a:extLst>
                    <a:ext uri="{9D8B030D-6E8A-4147-A177-3AD203B41FA5}">
                      <a16:colId xmlns:a16="http://schemas.microsoft.com/office/drawing/2014/main" val="1328523505"/>
                    </a:ext>
                  </a:extLst>
                </a:gridCol>
              </a:tblGrid>
              <a:tr h="484530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Asset Acquisition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Stock Acquisition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463417"/>
                  </a:ext>
                </a:extLst>
              </a:tr>
              <a:tr h="615891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W/out  Liquidation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W/ Liquidation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b="1" dirty="0">
                        <a:solidFill>
                          <a:srgbClr val="FF0000"/>
                        </a:solidFill>
                        <a:highlight>
                          <a:srgbClr val="00FFFF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With 338(g) Election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W/out 338(g) Election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W/ 338(h)(10)</a:t>
                      </a:r>
                    </a:p>
                    <a:p>
                      <a:pPr algn="ctr"/>
                      <a:r>
                        <a:rPr lang="en-US" sz="1800" b="1" dirty="0"/>
                        <a:t>Election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6767826"/>
                  </a:ext>
                </a:extLst>
              </a:tr>
              <a:tr h="45222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Consideration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Cash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Cash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solidFill>
                          <a:srgbClr val="FF0000"/>
                        </a:solidFill>
                        <a:highlight>
                          <a:srgbClr val="00FFFF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Cash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Cash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Cash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4680920"/>
                  </a:ext>
                </a:extLst>
              </a:tr>
              <a:tr h="615891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Gain at Target Level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solidFill>
                          <a:srgbClr val="FF0000"/>
                        </a:solidFill>
                        <a:highlight>
                          <a:srgbClr val="00FFFF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2821024"/>
                  </a:ext>
                </a:extLst>
              </a:tr>
              <a:tr h="615891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Gain</a:t>
                      </a:r>
                      <a:r>
                        <a:rPr lang="en-US" sz="1800" b="1" baseline="0" dirty="0"/>
                        <a:t> at SH Level</a:t>
                      </a:r>
                      <a:endParaRPr lang="en-US" sz="1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solidFill>
                          <a:srgbClr val="FF0000"/>
                        </a:solidFill>
                        <a:highlight>
                          <a:srgbClr val="00FFFF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9023050"/>
                  </a:ext>
                </a:extLst>
              </a:tr>
              <a:tr h="48453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SUB T</a:t>
                      </a:r>
                      <a:r>
                        <a:rPr lang="en-US" sz="1800" b="1" baseline="0" dirty="0"/>
                        <a:t> Assets</a:t>
                      </a:r>
                      <a:endParaRPr lang="en-US" sz="1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solidFill>
                          <a:srgbClr val="FF0000"/>
                        </a:solidFill>
                        <a:highlight>
                          <a:srgbClr val="00FFFF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615036"/>
                  </a:ext>
                </a:extLst>
              </a:tr>
              <a:tr h="642287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T’s Tax Attributes Survive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solidFill>
                          <a:srgbClr val="FF0000"/>
                        </a:solidFill>
                        <a:highlight>
                          <a:srgbClr val="00FFFF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0421233"/>
                  </a:ext>
                </a:extLst>
              </a:tr>
              <a:tr h="615891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GW Amortizable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solidFill>
                          <a:srgbClr val="FF0000"/>
                        </a:solidFill>
                        <a:highlight>
                          <a:srgbClr val="00FFFF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072816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Taxable Acquisition Structures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23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Taxable Acquisitions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65457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3FFC8C2-A8FD-C54C-8956-87FBB8320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800" b="1" dirty="0"/>
              <a:t>Stock acquisitions w/out a §338(g) election </a:t>
            </a:r>
            <a:r>
              <a:rPr lang="en-US" sz="2800" dirty="0"/>
              <a:t>generally dominate because asset acquisitions entail two levels of tax, whereas a stock acquisition entails one SH level tax</a:t>
            </a:r>
          </a:p>
          <a:p>
            <a:pPr lvl="1"/>
            <a:r>
              <a:rPr lang="en-US" sz="2400" dirty="0"/>
              <a:t>Stock acquisitions generally cheaper than asset acquisitions </a:t>
            </a:r>
          </a:p>
          <a:p>
            <a:pPr lvl="1"/>
            <a:r>
              <a:rPr lang="en-US" sz="2400" dirty="0"/>
              <a:t>Stock acquisition cheaper for acquirer: cost of SUB is greater than PV of future depreciation deductions: </a:t>
            </a:r>
          </a:p>
          <a:p>
            <a:pPr lvl="2"/>
            <a:r>
              <a:rPr lang="en-US" sz="2400" dirty="0" err="1"/>
              <a:t>Acq</a:t>
            </a:r>
            <a:r>
              <a:rPr lang="en-US" sz="2400" dirty="0"/>
              <a:t>. pays 100 extra to get a stepped up basis, but the PV of 100 of deductions is less than 100 </a:t>
            </a:r>
          </a:p>
          <a:p>
            <a:pPr lvl="1"/>
            <a:r>
              <a:rPr lang="en-US" sz="2400" dirty="0"/>
              <a:t>If T had NOLs to shelter T-level gains, §338(g) entailed only 1 level of tax</a:t>
            </a:r>
          </a:p>
          <a:p>
            <a:pPr lvl="1"/>
            <a:r>
              <a:rPr lang="en-US" sz="2400" dirty="0"/>
              <a:t>If T not a US corporation, no U.S. T-level gain—why? France, for example, doesn’t have a §338 provision</a:t>
            </a:r>
          </a:p>
          <a:p>
            <a:r>
              <a:rPr lang="en-US" sz="2800" dirty="0"/>
              <a:t>But under </a:t>
            </a:r>
            <a:r>
              <a:rPr lang="en-US" sz="2800" strike="sngStrike" dirty="0"/>
              <a:t>new</a:t>
            </a:r>
            <a:r>
              <a:rPr lang="en-US" sz="2800" dirty="0"/>
              <a:t> amended §168(k), </a:t>
            </a:r>
            <a:r>
              <a:rPr lang="en-US" sz="2800" strike="sngStrike" dirty="0"/>
              <a:t>100</a:t>
            </a:r>
            <a:r>
              <a:rPr lang="en-US" sz="2800" dirty="0"/>
              <a:t> </a:t>
            </a:r>
            <a:r>
              <a:rPr lang="en-US" sz="2800" strike="sngStrike" dirty="0"/>
              <a:t>80%</a:t>
            </a:r>
            <a:r>
              <a:rPr lang="en-US" sz="2800" dirty="0"/>
              <a:t> 100% write off of </a:t>
            </a:r>
            <a:r>
              <a:rPr lang="en-US" sz="2800" i="1" dirty="0"/>
              <a:t>qualified property </a:t>
            </a:r>
            <a:r>
              <a:rPr lang="en-US" sz="2800" dirty="0"/>
              <a:t>(</a:t>
            </a:r>
            <a:r>
              <a:rPr lang="en-US" sz="2800" b="1" dirty="0"/>
              <a:t>tangible</a:t>
            </a:r>
            <a:r>
              <a:rPr lang="en-US" sz="2800" dirty="0"/>
              <a:t> personal property, film, television, nut and fruit bearing plants)</a:t>
            </a:r>
          </a:p>
          <a:p>
            <a:pPr lvl="1"/>
            <a:r>
              <a:rPr lang="en-US" sz="2600" dirty="0"/>
              <a:t>If T assets have a basis of &gt;0 and qualify under §168(k), expensing produces net tax benefit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EC37C55-8CBB-A941-82BB-11254D0E8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things change…</a:t>
            </a:r>
            <a:r>
              <a:rPr lang="en-US" strike="sngStrike" dirty="0"/>
              <a:t>100%</a:t>
            </a:r>
            <a:r>
              <a:rPr lang="en-US" dirty="0"/>
              <a:t> </a:t>
            </a:r>
            <a:r>
              <a:rPr lang="en-US" strike="sngStrike" dirty="0"/>
              <a:t>80% 60%</a:t>
            </a:r>
            <a:r>
              <a:rPr lang="en-US" dirty="0"/>
              <a:t> 100% deduction for asset acquisition under section 168(k)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8664EE-614C-974A-8C52-FF2473B7BA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24</a:t>
            </a:fld>
            <a:endParaRPr lang="en-US" alt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5E0B7B-0D06-A844-BA94-6A4B0FDB3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Taxable Acquisitions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5001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G Body - Standard">
  <a:themeElements>
    <a:clrScheme name="CGS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B01C2E"/>
      </a:accent1>
      <a:accent2>
        <a:srgbClr val="4B2942"/>
      </a:accent2>
      <a:accent3>
        <a:srgbClr val="002F5F"/>
      </a:accent3>
      <a:accent4>
        <a:srgbClr val="495B25"/>
      </a:accent4>
      <a:accent5>
        <a:srgbClr val="E66402"/>
      </a:accent5>
      <a:accent6>
        <a:srgbClr val="FF9933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T_COE_16" id="{671586AA-9BBF-BE44-880F-D824A4D8FE5E}" vid="{5A5CEC7A-9E78-BE40-8F14-2D245F9926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22677</TotalTime>
  <Words>3658</Words>
  <Application>Microsoft Macintosh PowerPoint</Application>
  <PresentationFormat>Widescreen</PresentationFormat>
  <Paragraphs>382</Paragraphs>
  <Slides>24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4" baseType="lpstr">
      <vt:lpstr>ＭＳ Ｐゴシック</vt:lpstr>
      <vt:lpstr>NSimSun</vt:lpstr>
      <vt:lpstr>Arial</vt:lpstr>
      <vt:lpstr>Calibri</vt:lpstr>
      <vt:lpstr>Courier New</vt:lpstr>
      <vt:lpstr>Times</vt:lpstr>
      <vt:lpstr>Times New Roman</vt:lpstr>
      <vt:lpstr>Wingdings</vt:lpstr>
      <vt:lpstr>Wingdings 2</vt:lpstr>
      <vt:lpstr>CG Body - Standard</vt:lpstr>
      <vt:lpstr>Taxable Asset Acquisitions: Overview</vt:lpstr>
      <vt:lpstr>Taxable Corporate Acquisitions</vt:lpstr>
      <vt:lpstr>Taxable Acquisitions: Rev. Ruls. 69-6 and 73-427 </vt:lpstr>
      <vt:lpstr>Taxable Acquisition: Shareholder-level Effects</vt:lpstr>
      <vt:lpstr>Big Picture: Asset Sales</vt:lpstr>
      <vt:lpstr>Overview of Taxable Acquisition Structures</vt:lpstr>
      <vt:lpstr>P Acquires T’s Assets in a Taxable Acquisition, including Direct Purchase or Forward Cash Merger</vt:lpstr>
      <vt:lpstr>Taxable Transfer of Assets:  Allocation of Purchase Price</vt:lpstr>
      <vt:lpstr>Allocation of Purchase Price to Assets: Section 1060</vt:lpstr>
      <vt:lpstr>P Acquires T’s Stock in a Taxable Acquisition</vt:lpstr>
      <vt:lpstr>Section 338: Background</vt:lpstr>
      <vt:lpstr>Sections 338(a) and 338(g)</vt:lpstr>
      <vt:lpstr>Section 338(a) and (g)</vt:lpstr>
      <vt:lpstr>Section 338(a) and (g)</vt:lpstr>
      <vt:lpstr>Section 338(h)(10)</vt:lpstr>
      <vt:lpstr>Section 338(h)(10) Election</vt:lpstr>
      <vt:lpstr>Section 338(h)(10) Election</vt:lpstr>
      <vt:lpstr>SPA PPL Energy Holdings, LLC &amp; National Grid USA (Mar. 17, 2021)</vt:lpstr>
      <vt:lpstr>Celestica 20-F (3/14/22) (top) and Waldencast Acq Corp F-4/A (3/21/22) (bottom) </vt:lpstr>
      <vt:lpstr>Section 338: Consistency Elections</vt:lpstr>
      <vt:lpstr>Section 336(e)</vt:lpstr>
      <vt:lpstr>Section 336(e) Example: Reg. §1.366-2(k), Ex. 1</vt:lpstr>
      <vt:lpstr>Overview of Taxable Acquisition Structures</vt:lpstr>
      <vt:lpstr>More things change…100% 80% 60% 100% deduction for asset acquisition under section 168(k)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 Corporations:  Commissioner v. Bollinger</dc:title>
  <dc:creator>J Colon</dc:creator>
  <cp:lastModifiedBy>Colon, Jeffrey M.</cp:lastModifiedBy>
  <cp:revision>434</cp:revision>
  <cp:lastPrinted>2026-03-23T14:45:35Z</cp:lastPrinted>
  <dcterms:created xsi:type="dcterms:W3CDTF">2016-08-01T04:04:31Z</dcterms:created>
  <dcterms:modified xsi:type="dcterms:W3CDTF">2026-03-23T22:19:00Z</dcterms:modified>
</cp:coreProperties>
</file>