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8"/>
  </p:notesMasterIdLst>
  <p:sldIdLst>
    <p:sldId id="256" r:id="rId2"/>
    <p:sldId id="258" r:id="rId3"/>
    <p:sldId id="293" r:id="rId4"/>
    <p:sldId id="260" r:id="rId5"/>
    <p:sldId id="262" r:id="rId6"/>
    <p:sldId id="295" r:id="rId7"/>
    <p:sldId id="294" r:id="rId8"/>
    <p:sldId id="300" r:id="rId9"/>
    <p:sldId id="264" r:id="rId10"/>
    <p:sldId id="309" r:id="rId11"/>
    <p:sldId id="267" r:id="rId12"/>
    <p:sldId id="268" r:id="rId13"/>
    <p:sldId id="266" r:id="rId14"/>
    <p:sldId id="269" r:id="rId15"/>
    <p:sldId id="299" r:id="rId16"/>
    <p:sldId id="270" r:id="rId17"/>
    <p:sldId id="311" r:id="rId18"/>
    <p:sldId id="272" r:id="rId19"/>
    <p:sldId id="310" r:id="rId20"/>
    <p:sldId id="296" r:id="rId21"/>
    <p:sldId id="276" r:id="rId22"/>
    <p:sldId id="298" r:id="rId23"/>
    <p:sldId id="280" r:id="rId24"/>
    <p:sldId id="312" r:id="rId25"/>
    <p:sldId id="279" r:id="rId26"/>
    <p:sldId id="278" r:id="rId27"/>
    <p:sldId id="277" r:id="rId28"/>
    <p:sldId id="281" r:id="rId29"/>
    <p:sldId id="282" r:id="rId30"/>
    <p:sldId id="286" r:id="rId31"/>
    <p:sldId id="287" r:id="rId32"/>
    <p:sldId id="304" r:id="rId33"/>
    <p:sldId id="305" r:id="rId34"/>
    <p:sldId id="306" r:id="rId35"/>
    <p:sldId id="308" r:id="rId36"/>
    <p:sldId id="303" r:id="rId37"/>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98D1E3-9AE0-834A-B51E-C95498D7844D}" v="10" dt="2026-04-08T14:11:37.7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p:restoredTop sz="94745"/>
  </p:normalViewPr>
  <p:slideViewPr>
    <p:cSldViewPr snapToGrid="0" snapToObjects="1">
      <p:cViewPr varScale="1">
        <p:scale>
          <a:sx n="84" d="100"/>
          <a:sy n="84" d="100"/>
        </p:scale>
        <p:origin x="184" y="2792"/>
      </p:cViewPr>
      <p:guideLst>
        <p:guide orient="horz" pos="2160"/>
        <p:guide pos="3840"/>
      </p:guideLst>
    </p:cSldViewPr>
  </p:slideViewPr>
  <p:notesTextViewPr>
    <p:cViewPr>
      <p:scale>
        <a:sx n="1" d="1"/>
        <a:sy n="1" d="1"/>
      </p:scale>
      <p:origin x="0" y="0"/>
    </p:cViewPr>
  </p:notesTextViewPr>
  <p:sorterViewPr>
    <p:cViewPr>
      <p:scale>
        <a:sx n="185" d="100"/>
        <a:sy n="18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custSel addSld modSld">
      <pc:chgData name="Colon, Jeffrey M." userId="615143b1-cdee-493d-9a9d-1565ce8666d9" providerId="ADAL" clId="{DC1DB158-BAB1-5930-B714-AEF472873853}" dt="2026-04-08T14:11:37.734" v="111" actId="20577"/>
      <pc:docMkLst>
        <pc:docMk/>
      </pc:docMkLst>
      <pc:sldChg chg="modSp">
        <pc:chgData name="Colon, Jeffrey M." userId="615143b1-cdee-493d-9a9d-1565ce8666d9" providerId="ADAL" clId="{DC1DB158-BAB1-5930-B714-AEF472873853}" dt="2026-04-08T14:11:37.734" v="111" actId="20577"/>
        <pc:sldMkLst>
          <pc:docMk/>
          <pc:sldMk cId="2137204520" sldId="260"/>
        </pc:sldMkLst>
        <pc:spChg chg="mod">
          <ac:chgData name="Colon, Jeffrey M." userId="615143b1-cdee-493d-9a9d-1565ce8666d9" providerId="ADAL" clId="{DC1DB158-BAB1-5930-B714-AEF472873853}" dt="2026-04-08T14:11:37.734" v="111" actId="20577"/>
          <ac:spMkLst>
            <pc:docMk/>
            <pc:sldMk cId="2137204520" sldId="26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F10024FF-F3BD-FE46-AA3D-5D319904FD4D}" type="datetimeFigureOut">
              <a:rPr lang="en-US" smtClean="0"/>
              <a:t>4/8/26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D677CC9A-0057-2743-8872-8C9F0C8957E2}" type="slidenum">
              <a:rPr lang="en-US" smtClean="0"/>
              <a:t>‹#›</a:t>
            </a:fld>
            <a:endParaRPr lang="en-US"/>
          </a:p>
        </p:txBody>
      </p:sp>
    </p:spTree>
    <p:extLst>
      <p:ext uri="{BB962C8B-B14F-4D97-AF65-F5344CB8AC3E}">
        <p14:creationId xmlns:p14="http://schemas.microsoft.com/office/powerpoint/2010/main" val="118048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92993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77CC9A-0057-2743-8872-8C9F0C8957E2}" type="slidenum">
              <a:rPr lang="en-US" smtClean="0"/>
              <a:t>2</a:t>
            </a:fld>
            <a:endParaRPr lang="en-US"/>
          </a:p>
        </p:txBody>
      </p:sp>
    </p:spTree>
    <p:extLst>
      <p:ext uri="{BB962C8B-B14F-4D97-AF65-F5344CB8AC3E}">
        <p14:creationId xmlns:p14="http://schemas.microsoft.com/office/powerpoint/2010/main" val="2768155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9</a:t>
            </a:fld>
            <a:endParaRPr lang="en-US"/>
          </a:p>
        </p:txBody>
      </p:sp>
    </p:spTree>
    <p:extLst>
      <p:ext uri="{BB962C8B-B14F-4D97-AF65-F5344CB8AC3E}">
        <p14:creationId xmlns:p14="http://schemas.microsoft.com/office/powerpoint/2010/main" val="184955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77CC9A-0057-2743-8872-8C9F0C8957E2}" type="slidenum">
              <a:rPr lang="en-US" smtClean="0"/>
              <a:t>28</a:t>
            </a:fld>
            <a:endParaRPr lang="en-US"/>
          </a:p>
        </p:txBody>
      </p:sp>
    </p:spTree>
    <p:extLst>
      <p:ext uri="{BB962C8B-B14F-4D97-AF65-F5344CB8AC3E}">
        <p14:creationId xmlns:p14="http://schemas.microsoft.com/office/powerpoint/2010/main" val="680427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6988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80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3"/>
            <a:ext cx="3860800" cy="288925"/>
          </a:xfrm>
        </p:spPr>
        <p:txBody>
          <a:bodyPr/>
          <a:lstStyle>
            <a:lvl1pPr>
              <a:defRPr smtClean="0"/>
            </a:lvl1pPr>
          </a:lstStyle>
          <a:p>
            <a:pPr>
              <a:defRPr/>
            </a:pPr>
            <a:r>
              <a:rPr lang="en-US"/>
              <a:t>Taxation of C Corporations</a:t>
            </a:r>
            <a:endParaRPr lang="en-US" dirty="0"/>
          </a:p>
        </p:txBody>
      </p:sp>
    </p:spTree>
    <p:extLst>
      <p:ext uri="{BB962C8B-B14F-4D97-AF65-F5344CB8AC3E}">
        <p14:creationId xmlns:p14="http://schemas.microsoft.com/office/powerpoint/2010/main" val="13559251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228600" indent="-228600" algn="just" defTabSz="9144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457200" indent="-228600" algn="just">
              <a:buClr>
                <a:srgbClr val="B01C2E"/>
              </a:buClr>
              <a:buSzPct val="60000"/>
              <a:buFont typeface="Wingdings" charset="2"/>
              <a:buChar char="Ø"/>
              <a:defRPr lang="en-US" sz="2200" kern="1200" dirty="0" smtClean="0">
                <a:solidFill>
                  <a:schemeClr val="tx1"/>
                </a:solidFill>
                <a:latin typeface="Calibri" charset="0"/>
                <a:ea typeface="Calibri" charset="0"/>
                <a:cs typeface="Calibri" charset="0"/>
              </a:defRPr>
            </a:lvl2pPr>
            <a:lvl3pPr marL="685800" indent="-228600" algn="just">
              <a:buClr>
                <a:srgbClr val="B01C2E"/>
              </a:buClr>
              <a:buSzPct val="60000"/>
              <a:buFont typeface="Courier New" charset="0"/>
              <a:buChar char="o"/>
              <a:defRPr lang="en-US" sz="2200" kern="1200" baseline="0" dirty="0" smtClean="0">
                <a:solidFill>
                  <a:schemeClr val="tx1"/>
                </a:solidFill>
                <a:latin typeface="Calibri" charset="0"/>
                <a:ea typeface="Calibri" charset="0"/>
                <a:cs typeface="Calibri" charset="0"/>
              </a:defRPr>
            </a:lvl3pPr>
            <a:lvl4pPr marL="914400" indent="-228600" algn="just">
              <a:buClr>
                <a:srgbClr val="B01C2E"/>
              </a:buClr>
              <a:buSzPct val="60000"/>
              <a:buFont typeface="Arial" charset="0"/>
              <a:buChar char="•"/>
              <a:defRPr lang="en-US" sz="2000" kern="1200" baseline="0" dirty="0" smtClean="0">
                <a:solidFill>
                  <a:schemeClr val="tx1"/>
                </a:solidFill>
                <a:latin typeface="Calibri" charset="0"/>
                <a:ea typeface="Calibri" charset="0"/>
                <a:cs typeface="Calibri" charset="0"/>
              </a:defRPr>
            </a:lvl4pPr>
            <a:lvl5pPr marL="1143000" algn="just">
              <a:buClr>
                <a:srgbClr val="B01C2E"/>
              </a:buClr>
              <a:buSzPct val="60000"/>
              <a:buFont typeface="Calibri" pitchFamily="34" charset="0"/>
              <a:buChar char="–"/>
              <a:defRPr lang="en-US" sz="20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3"/>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395288" algn="l"/>
              </a:tabLst>
              <a:defRPr sz="22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5"/>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dirty="0"/>
              <a:t>Taxation of C Corporations</a:t>
            </a:r>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1056713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508000" y="2"/>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
        <p:nvSpPr>
          <p:cNvPr id="9" name="Content Placeholder 10"/>
          <p:cNvSpPr>
            <a:spLocks noGrp="1"/>
          </p:cNvSpPr>
          <p:nvPr>
            <p:ph sz="quarter" idx="16"/>
          </p:nvPr>
        </p:nvSpPr>
        <p:spPr>
          <a:xfrm>
            <a:off x="508000" y="835131"/>
            <a:ext cx="5486400" cy="5491091"/>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2000">
                <a:latin typeface="Calibri" charset="0"/>
                <a:ea typeface="Calibri" charset="0"/>
                <a:cs typeface="Calibri" charset="0"/>
              </a:defRPr>
            </a:lvl1pPr>
            <a:lvl2pPr marL="457200" indent="-228600">
              <a:buClr>
                <a:schemeClr val="accent1"/>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2000">
                <a:latin typeface="Calibri" charset="0"/>
                <a:ea typeface="Calibri" charset="0"/>
                <a:cs typeface="Calibri" charset="0"/>
              </a:defRPr>
            </a:lvl3pPr>
            <a:lvl4pPr marL="914400" indent="-228600">
              <a:buClr>
                <a:schemeClr val="accent1"/>
              </a:buClr>
              <a:buSzPct val="60000"/>
              <a:buFont typeface="Arial" charset="0"/>
              <a:buChar char="•"/>
              <a:defRPr sz="2000">
                <a:latin typeface="Calibri" charset="0"/>
                <a:ea typeface="Calibri" charset="0"/>
                <a:cs typeface="Calibri" charset="0"/>
              </a:defRPr>
            </a:lvl4pPr>
            <a:lvl5pPr marL="1143000">
              <a:buClr>
                <a:schemeClr val="accent1"/>
              </a:buClr>
              <a:buSzPct val="60000"/>
              <a:buFont typeface="Arial" pitchFamily="34" charset="0"/>
              <a:buChar char="–"/>
              <a:defRPr sz="20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228600" marR="0" indent="-228600" algn="l" defTabSz="9144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2000">
                <a:latin typeface="Calibri" charset="0"/>
                <a:ea typeface="Calibri" charset="0"/>
                <a:cs typeface="Calibri" charset="0"/>
              </a:defRPr>
            </a:lvl1pPr>
            <a:lvl2pPr marL="457200" indent="-228600">
              <a:buClr>
                <a:schemeClr val="accent1"/>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685800" indent="-228600">
              <a:buClr>
                <a:schemeClr val="accent1"/>
              </a:buClr>
              <a:buSzPct val="60000"/>
              <a:buFont typeface="Courier New" charset="0"/>
              <a:buChar char="o"/>
              <a:defRPr sz="2000">
                <a:latin typeface="Calibri" charset="0"/>
                <a:ea typeface="Calibri" charset="0"/>
                <a:cs typeface="Calibri" charset="0"/>
              </a:defRPr>
            </a:lvl3pPr>
            <a:lvl4pPr marL="914400" indent="-228600">
              <a:buClr>
                <a:schemeClr val="accent1"/>
              </a:buClr>
              <a:buSzPct val="60000"/>
              <a:buFont typeface="Arial" charset="0"/>
              <a:buChar char="•"/>
              <a:defRPr sz="2000">
                <a:latin typeface="Calibri" charset="0"/>
                <a:ea typeface="Calibri" charset="0"/>
                <a:cs typeface="Calibri" charset="0"/>
              </a:defRPr>
            </a:lvl4pPr>
            <a:lvl5pPr marL="1143000">
              <a:buClr>
                <a:schemeClr val="accent1"/>
              </a:buClr>
              <a:buSzPct val="60000"/>
              <a:buFont typeface="Arial" pitchFamily="34" charset="0"/>
              <a:buChar char="–"/>
              <a:defRPr sz="20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Taxation of C Corporations</a:t>
            </a:r>
          </a:p>
        </p:txBody>
      </p:sp>
      <p:sp>
        <p:nvSpPr>
          <p:cNvPr id="2" name="TextBox 1"/>
          <p:cNvSpPr txBox="1"/>
          <p:nvPr userDrawn="1"/>
        </p:nvSpPr>
        <p:spPr>
          <a:xfrm>
            <a:off x="2748039" y="537029"/>
            <a:ext cx="184731" cy="369332"/>
          </a:xfrm>
          <a:prstGeom prst="rect">
            <a:avLst/>
          </a:prstGeom>
          <a:noFill/>
        </p:spPr>
        <p:txBody>
          <a:bodyPr wrap="none" rtlCol="0">
            <a:spAutoFit/>
          </a:bodyPr>
          <a:lstStyle/>
          <a:p>
            <a:endParaRPr lang="en-US" sz="1800" dirty="0"/>
          </a:p>
        </p:txBody>
      </p:sp>
      <p:sp>
        <p:nvSpPr>
          <p:cNvPr id="8" name="Rectangle 7"/>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87489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93750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20875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9818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6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Taxation of C Corporations</a:t>
            </a:r>
          </a:p>
        </p:txBody>
      </p:sp>
      <p:sp>
        <p:nvSpPr>
          <p:cNvPr id="15" name="Rectangle 14"/>
          <p:cNvSpPr/>
          <p:nvPr userDrawn="1"/>
        </p:nvSpPr>
        <p:spPr>
          <a:xfrm>
            <a:off x="512064" y="407060"/>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2"/>
          <p:cNvSpPr>
            <a:spLocks noGrp="1" noChangeArrowheads="1"/>
          </p:cNvSpPr>
          <p:nvPr>
            <p:ph type="title"/>
          </p:nvPr>
        </p:nvSpPr>
        <p:spPr bwMode="gray">
          <a:xfrm>
            <a:off x="512064" y="2"/>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1"/>
            </a:lvl1pPr>
          </a:lstStyle>
          <a:p>
            <a:pPr lvl="0"/>
            <a:r>
              <a:rPr lang="en-US" dirty="0"/>
              <a:t>Click to edit Master title style</a:t>
            </a:r>
          </a:p>
        </p:txBody>
      </p:sp>
    </p:spTree>
    <p:extLst>
      <p:ext uri="{BB962C8B-B14F-4D97-AF65-F5344CB8AC3E}">
        <p14:creationId xmlns:p14="http://schemas.microsoft.com/office/powerpoint/2010/main" val="570938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3"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600"/>
            </a:lvl1pPr>
            <a:lvl2pPr marL="457200" indent="-228600">
              <a:buClr>
                <a:schemeClr val="accent1"/>
              </a:buClr>
              <a:buFont typeface="Arial" pitchFamily="34" charset="0"/>
              <a:buChar char="•"/>
              <a:defRPr lang="en-US" sz="16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600"/>
            </a:lvl3pPr>
            <a:lvl4pPr marL="914400">
              <a:buClr>
                <a:schemeClr val="accent1"/>
              </a:buClr>
              <a:buFont typeface="Arial" pitchFamily="34" charset="0"/>
              <a:buChar char="–"/>
              <a:defRPr sz="1600"/>
            </a:lvl4pPr>
            <a:lvl5pPr marL="1143000">
              <a:buClr>
                <a:schemeClr val="accent1"/>
              </a:buClr>
              <a:buFont typeface="Arial"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2543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02452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5"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2" name="Right Arrow 11"/>
          <p:cNvSpPr/>
          <p:nvPr userDrawn="1"/>
        </p:nvSpPr>
        <p:spPr bwMode="auto">
          <a:xfrm rot="10800000">
            <a:off x="5427337" y="3778176"/>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lang="en-US" sz="1200" kern="1200" dirty="0" smtClean="0">
                <a:solidFill>
                  <a:schemeClr val="tx1"/>
                </a:solidFill>
                <a:latin typeface="+mn-lt"/>
                <a:ea typeface="+mn-ea"/>
                <a:cs typeface="+mn-cs"/>
              </a:defRPr>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210112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50769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6"/>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80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228600" indent="-228600">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276061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914400" rtl="0" eaLnBrk="1" fontAlgn="auto" latinLnBrk="0" hangingPunct="1">
              <a:lnSpc>
                <a:spcPct val="100000"/>
              </a:lnSpc>
              <a:spcBef>
                <a:spcPct val="20000"/>
              </a:spcBef>
              <a:spcAft>
                <a:spcPts val="0"/>
              </a:spcAft>
              <a:buClr>
                <a:srgbClr val="C00000"/>
              </a:buClr>
              <a:buSzTx/>
              <a:buFont typeface="Wingdings" pitchFamily="2" charset="2"/>
              <a:buNone/>
              <a:tabLst/>
              <a:defRPr sz="12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Taxation of C Corporations</a:t>
            </a:r>
            <a:endParaRPr lang="en-US" dirty="0"/>
          </a:p>
        </p:txBody>
      </p:sp>
    </p:spTree>
    <p:extLst>
      <p:ext uri="{BB962C8B-B14F-4D97-AF65-F5344CB8AC3E}">
        <p14:creationId xmlns:p14="http://schemas.microsoft.com/office/powerpoint/2010/main" val="211799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914400" rtl="0" eaLnBrk="1" fontAlgn="auto" latinLnBrk="0" hangingPunct="1">
              <a:lnSpc>
                <a:spcPct val="100000"/>
              </a:lnSpc>
              <a:spcBef>
                <a:spcPts val="0"/>
              </a:spcBef>
              <a:spcAft>
                <a:spcPts val="0"/>
              </a:spcAft>
              <a:buClr>
                <a:srgbClr val="C00000"/>
              </a:buClr>
              <a:buSzTx/>
              <a:buFont typeface="Wingdings" pitchFamily="2" charset="2"/>
              <a:buNone/>
              <a:tabLst/>
              <a:defRPr sz="1100"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100" baseline="0"/>
            </a:lvl1pPr>
            <a:lvl2pPr marL="329184" indent="-164592">
              <a:buClr>
                <a:srgbClr val="B01C2E"/>
              </a:buClr>
              <a:buFont typeface="Arial" pitchFamily="34" charset="0"/>
              <a:buChar char="•"/>
              <a:defRPr sz="1100" baseline="0"/>
            </a:lvl2pPr>
            <a:lvl3pPr marL="438912" indent="-173736">
              <a:buClr>
                <a:srgbClr val="B01C2E"/>
              </a:buClr>
              <a:buFont typeface="Arial" pitchFamily="34" charset="0"/>
              <a:buChar char="‒"/>
              <a:defRPr sz="1100"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244854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12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2000" baseline="0"/>
            </a:lvl3pPr>
            <a:lvl4pPr marL="685800">
              <a:buClr>
                <a:srgbClr val="B01C2E"/>
              </a:buClr>
              <a:buFont typeface="Arial" pitchFamily="34" charset="0"/>
              <a:buChar char="–"/>
              <a:defRPr sz="1200"/>
            </a:lvl4pPr>
            <a:lvl5pPr marL="9144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7416052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4" y="1397000"/>
            <a:ext cx="2317751" cy="1155700"/>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36" name="Text Placeholder 3"/>
          <p:cNvSpPr>
            <a:spLocks noGrp="1"/>
          </p:cNvSpPr>
          <p:nvPr>
            <p:ph type="body" sz="quarter" idx="13"/>
          </p:nvPr>
        </p:nvSpPr>
        <p:spPr>
          <a:xfrm>
            <a:off x="2747434"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38" name="Text Placeholder 5"/>
          <p:cNvSpPr>
            <a:spLocks noGrp="1"/>
          </p:cNvSpPr>
          <p:nvPr>
            <p:ph type="body" sz="quarter" idx="16"/>
          </p:nvPr>
        </p:nvSpPr>
        <p:spPr>
          <a:xfrm>
            <a:off x="4931834" y="1397000"/>
            <a:ext cx="2315633" cy="1155700"/>
          </a:xfrm>
          <a:prstGeom prst="chevron">
            <a:avLst>
              <a:gd name="adj" fmla="val 1868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1" y="1397000"/>
            <a:ext cx="2315633"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8"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2" name="Text Placeholder 9"/>
          <p:cNvSpPr>
            <a:spLocks noGrp="1"/>
          </p:cNvSpPr>
          <p:nvPr>
            <p:ph type="body" sz="quarter" idx="20"/>
          </p:nvPr>
        </p:nvSpPr>
        <p:spPr>
          <a:xfrm>
            <a:off x="8748186"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3" name="Text Placeholder 10"/>
          <p:cNvSpPr>
            <a:spLocks noGrp="1"/>
          </p:cNvSpPr>
          <p:nvPr>
            <p:ph type="body" sz="quarter" idx="21"/>
          </p:nvPr>
        </p:nvSpPr>
        <p:spPr>
          <a:xfrm>
            <a:off x="6019802" y="2954338"/>
            <a:ext cx="2865967" cy="1155700"/>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4" name="Text Placeholder 11"/>
          <p:cNvSpPr>
            <a:spLocks noGrp="1"/>
          </p:cNvSpPr>
          <p:nvPr>
            <p:ph type="body" sz="quarter" idx="22"/>
          </p:nvPr>
        </p:nvSpPr>
        <p:spPr>
          <a:xfrm>
            <a:off x="575734" y="4497388"/>
            <a:ext cx="3754967" cy="1154112"/>
          </a:xfrm>
          <a:prstGeom prst="homePlate">
            <a:avLst>
              <a:gd name="adj" fmla="val 19565"/>
            </a:avLst>
          </a:prstGeom>
          <a:solidFill>
            <a:srgbClr val="D7D7D7"/>
          </a:solidFill>
        </p:spPr>
        <p:txBody>
          <a:bodyPr anchor="ctr"/>
          <a:lstStyle>
            <a:lvl1pPr>
              <a:buNone/>
              <a:defRPr sz="1200"/>
            </a:lvl1pPr>
          </a:lstStyle>
          <a:p>
            <a:pPr lvl="0"/>
            <a:r>
              <a:rPr lang="en-US"/>
              <a:t>Click to edit Master text styles</a:t>
            </a:r>
          </a:p>
        </p:txBody>
      </p:sp>
      <p:sp>
        <p:nvSpPr>
          <p:cNvPr id="45" name="Text Placeholder 12"/>
          <p:cNvSpPr>
            <a:spLocks noGrp="1"/>
          </p:cNvSpPr>
          <p:nvPr>
            <p:ph type="body" sz="quarter" idx="23"/>
          </p:nvPr>
        </p:nvSpPr>
        <p:spPr>
          <a:xfrm>
            <a:off x="4226985" y="4497388"/>
            <a:ext cx="3754967" cy="1154112"/>
          </a:xfrm>
          <a:prstGeom prst="chevron">
            <a:avLst>
              <a:gd name="adj" fmla="val 18696"/>
            </a:avLst>
          </a:prstGeom>
          <a:solidFill>
            <a:srgbClr val="D7D7D7"/>
          </a:solidFill>
        </p:spPr>
        <p:txBody>
          <a:bodyPr anchor="ctr"/>
          <a:lstStyle>
            <a:lvl1pPr>
              <a:buNone/>
              <a:defRPr sz="1200"/>
            </a:lvl1pPr>
          </a:lstStyle>
          <a:p>
            <a:pPr lvl="0"/>
            <a:r>
              <a:rPr lang="en-US"/>
              <a:t>Click to edit Master text styles</a:t>
            </a:r>
          </a:p>
        </p:txBody>
      </p:sp>
      <p:sp>
        <p:nvSpPr>
          <p:cNvPr id="46" name="Text Placeholder 13"/>
          <p:cNvSpPr>
            <a:spLocks noGrp="1"/>
          </p:cNvSpPr>
          <p:nvPr>
            <p:ph type="body" sz="quarter" idx="25"/>
          </p:nvPr>
        </p:nvSpPr>
        <p:spPr>
          <a:xfrm>
            <a:off x="7878234" y="4497388"/>
            <a:ext cx="3754967" cy="1154112"/>
          </a:xfrm>
          <a:prstGeom prst="chevron">
            <a:avLst>
              <a:gd name="adj" fmla="val 1871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334481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787942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6" name="Line 115"/>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17" name="Line 118"/>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grpSp>
        <p:nvGrpSpPr>
          <p:cNvPr id="18" name="Group 123"/>
          <p:cNvGrpSpPr>
            <a:grpSpLocks/>
          </p:cNvGrpSpPr>
          <p:nvPr userDrawn="1"/>
        </p:nvGrpSpPr>
        <p:grpSpPr bwMode="auto">
          <a:xfrm>
            <a:off x="611718"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66" name="Line 125"/>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91440" bIns="91440"/>
          <a:lstStyle/>
          <a:p>
            <a:endParaRPr lang="en-US" sz="180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91440" bIns="9144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1000" b="1">
              <a:solidFill>
                <a:srgbClr val="4D4D4D"/>
              </a:solidFill>
              <a:latin typeface="Arial" charset="0"/>
            </a:endParaRPr>
          </a:p>
        </p:txBody>
      </p:sp>
      <p:grpSp>
        <p:nvGrpSpPr>
          <p:cNvPr id="72" name="Group 123"/>
          <p:cNvGrpSpPr>
            <a:grpSpLocks/>
          </p:cNvGrpSpPr>
          <p:nvPr userDrawn="1"/>
        </p:nvGrpSpPr>
        <p:grpSpPr bwMode="auto">
          <a:xfrm>
            <a:off x="814918" y="3460751"/>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80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900"/>
            </a:lvl1pPr>
          </a:lstStyle>
          <a:p>
            <a:pPr lvl="0"/>
            <a:r>
              <a:rPr lang="en-US"/>
              <a:t>Click to edit Master text styles</a:t>
            </a:r>
          </a:p>
        </p:txBody>
      </p:sp>
      <p:sp>
        <p:nvSpPr>
          <p:cNvPr id="14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1000" b="1">
                <a:solidFill>
                  <a:srgbClr val="B01C2E"/>
                </a:solidFill>
              </a:defRPr>
            </a:lvl1pPr>
            <a:lvl2pPr marL="0" indent="0">
              <a:buFont typeface="NSimSun" pitchFamily="49" charset="-122"/>
              <a:buChar char=" "/>
              <a:tabLst/>
              <a:defRPr sz="900" baseline="0"/>
            </a:lvl2pPr>
            <a:lvl3pPr>
              <a:buNone/>
              <a:defRPr sz="1000"/>
            </a:lvl3pPr>
            <a:lvl4pPr>
              <a:buNone/>
              <a:defRPr sz="1000"/>
            </a:lvl4pPr>
            <a:lvl5pPr>
              <a:buNone/>
              <a:defRPr sz="100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17036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1" y="129540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0" name="Text Placeholder 27"/>
          <p:cNvSpPr>
            <a:spLocks noGrp="1"/>
          </p:cNvSpPr>
          <p:nvPr>
            <p:ph type="body" sz="quarter" idx="22"/>
          </p:nvPr>
        </p:nvSpPr>
        <p:spPr>
          <a:xfrm>
            <a:off x="1219201" y="1800013"/>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1" name="Text Placeholder 27"/>
          <p:cNvSpPr>
            <a:spLocks noGrp="1"/>
          </p:cNvSpPr>
          <p:nvPr>
            <p:ph type="body" sz="quarter" idx="23"/>
          </p:nvPr>
        </p:nvSpPr>
        <p:spPr>
          <a:xfrm>
            <a:off x="1219201" y="2304626"/>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2" name="Text Placeholder 27"/>
          <p:cNvSpPr>
            <a:spLocks noGrp="1"/>
          </p:cNvSpPr>
          <p:nvPr>
            <p:ph type="body" sz="quarter" idx="24"/>
          </p:nvPr>
        </p:nvSpPr>
        <p:spPr>
          <a:xfrm>
            <a:off x="1219201" y="2809239"/>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3" name="Text Placeholder 27"/>
          <p:cNvSpPr>
            <a:spLocks noGrp="1"/>
          </p:cNvSpPr>
          <p:nvPr>
            <p:ph type="body" sz="quarter" idx="25"/>
          </p:nvPr>
        </p:nvSpPr>
        <p:spPr>
          <a:xfrm>
            <a:off x="1219201" y="3313852"/>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4" name="Text Placeholder 27"/>
          <p:cNvSpPr>
            <a:spLocks noGrp="1"/>
          </p:cNvSpPr>
          <p:nvPr>
            <p:ph type="body" sz="quarter" idx="26"/>
          </p:nvPr>
        </p:nvSpPr>
        <p:spPr>
          <a:xfrm>
            <a:off x="1219201" y="3818465"/>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5" name="Text Placeholder 27"/>
          <p:cNvSpPr>
            <a:spLocks noGrp="1"/>
          </p:cNvSpPr>
          <p:nvPr>
            <p:ph type="body" sz="quarter" idx="27"/>
          </p:nvPr>
        </p:nvSpPr>
        <p:spPr>
          <a:xfrm>
            <a:off x="1219201" y="4323078"/>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36" name="Text Placeholder 27"/>
          <p:cNvSpPr>
            <a:spLocks noGrp="1"/>
          </p:cNvSpPr>
          <p:nvPr>
            <p:ph type="body" sz="quarter" idx="28"/>
          </p:nvPr>
        </p:nvSpPr>
        <p:spPr>
          <a:xfrm>
            <a:off x="1219201" y="4827691"/>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40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914400" rtl="0" eaLnBrk="1" fontAlgn="auto" latinLnBrk="0" hangingPunct="1">
              <a:lnSpc>
                <a:spcPct val="100000"/>
              </a:lnSpc>
              <a:spcBef>
                <a:spcPts val="0"/>
              </a:spcBef>
              <a:spcAft>
                <a:spcPts val="0"/>
              </a:spcAft>
              <a:buClrTx/>
              <a:buSzTx/>
              <a:buFont typeface="Arial" pitchFamily="34" charset="0"/>
              <a:buNone/>
              <a:tabLst/>
              <a:defRPr sz="12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2" y="5332304"/>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2" y="5836920"/>
            <a:ext cx="9566031" cy="411480"/>
          </a:xfrm>
          <a:prstGeom prst="rect">
            <a:avLst/>
          </a:prstGeom>
          <a:ln>
            <a:solidFill>
              <a:srgbClr val="C0C0C0"/>
            </a:solidFill>
          </a:ln>
        </p:spPr>
        <p:txBody>
          <a:bodyPr anchor="ctr"/>
          <a:lstStyle>
            <a:lvl1pPr>
              <a:buNone/>
              <a:defRPr sz="12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40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12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445545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12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12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444763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82880" tIns="365760" rIns="182880" bIns="182880"/>
          <a:lstStyle/>
          <a:p>
            <a:endParaRPr lang="en-US" sz="180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1200"/>
            </a:lvl5pPr>
            <a:lvl6pPr marL="1143000">
              <a:buClr>
                <a:srgbClr val="B01C2E"/>
              </a:buClr>
              <a:buFont typeface="Arial" pitchFamily="34" charset="0"/>
              <a:buChar char="–"/>
              <a:defRPr sz="12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324026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2" name="Freeform 4"/>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3" name="Freeform 4"/>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4" name="Freeform 4"/>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74320" bIns="91440"/>
          <a:lstStyle/>
          <a:p>
            <a:endParaRPr lang="en-US" sz="180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525267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11" name="Text Placeholder 13"/>
          <p:cNvSpPr>
            <a:spLocks noGrp="1"/>
          </p:cNvSpPr>
          <p:nvPr>
            <p:ph type="body" sz="quarter" idx="17"/>
          </p:nvPr>
        </p:nvSpPr>
        <p:spPr>
          <a:xfrm>
            <a:off x="4364739"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2" y="1447805"/>
            <a:ext cx="3534833" cy="461963"/>
          </a:xfrm>
          <a:prstGeom prst="chevron">
            <a:avLst>
              <a:gd name="adj" fmla="val 34831"/>
            </a:avLst>
          </a:prstGeom>
          <a:solidFill>
            <a:srgbClr val="B01C2E"/>
          </a:solidFill>
        </p:spPr>
        <p:txBody>
          <a:bodyPr anchor="ctr"/>
          <a:lstStyle>
            <a:lvl1pPr>
              <a:buNone/>
              <a:defRPr sz="12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2"/>
            <a:ext cx="3364992" cy="276999"/>
          </a:xfrm>
          <a:prstGeom prst="rect">
            <a:avLst/>
          </a:prstGeom>
          <a:solidFill>
            <a:srgbClr val="FFFFFF"/>
          </a:solidFill>
          <a:ln>
            <a:solidFill>
              <a:srgbClr val="C0C0C0"/>
            </a:solidFill>
          </a:ln>
        </p:spPr>
        <p:txBody>
          <a:bodyPr lIns="91440" anchor="t" anchorCtr="0">
            <a:spAutoFit/>
          </a:bodyP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73736">
              <a:buClr>
                <a:srgbClr val="B01C2E"/>
              </a:buClr>
              <a:buFont typeface="Arial" pitchFamily="34" charset="0"/>
              <a:buChar char="‒"/>
              <a:defRPr sz="1200" baseline="0"/>
            </a:lvl3pPr>
            <a:lvl4pPr marL="685800">
              <a:buClr>
                <a:srgbClr val="B01C2E"/>
              </a:buClr>
              <a:buFont typeface="Arial" pitchFamily="34" charset="0"/>
              <a:buChar char="–"/>
              <a:defRPr sz="1200"/>
            </a:lvl4pPr>
            <a:lvl5pPr marL="914400">
              <a:buClr>
                <a:srgbClr val="B01C2E"/>
              </a:buClr>
              <a:buFont typeface="Arial" pitchFamily="34" charset="0"/>
              <a:buChar char="–"/>
              <a:defRPr sz="2000"/>
            </a:lvl5pPr>
            <a:lvl6pPr marL="114300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784782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64592" indent="-164592" algn="l">
              <a:lnSpc>
                <a:spcPts val="1400"/>
              </a:lnSpc>
              <a:spcBef>
                <a:spcPts val="0"/>
              </a:spcBef>
              <a:buClr>
                <a:schemeClr val="accent1"/>
              </a:buClr>
              <a:buFont typeface="Wingdings" pitchFamily="2" charset="2"/>
              <a:buChar char="§"/>
              <a:defRPr sz="1200" b="0">
                <a:solidFill>
                  <a:srgbClr val="000000"/>
                </a:solidFill>
              </a:defRPr>
            </a:lvl1pPr>
            <a:lvl2pPr marL="164592" indent="0" algn="l">
              <a:spcBef>
                <a:spcPts val="700"/>
              </a:spcBef>
              <a:buNone/>
              <a:defRPr sz="1200" b="0"/>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rgbClr val="C0C0C0"/>
              </a:buClr>
              <a:buSzTx/>
              <a:buFont typeface="Wingdings 2" pitchFamily="18" charset="2"/>
              <a:buChar char="¡"/>
              <a:tabLst/>
              <a:defRPr sz="1200" b="1" baseline="0">
                <a:solidFill>
                  <a:srgbClr val="FFFFFF"/>
                </a:solidFill>
              </a:defRPr>
            </a:lvl1pPr>
            <a:lvl2pPr marL="117475" indent="0">
              <a:buFontTx/>
              <a:buNone/>
              <a:defRPr sz="100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118872" marR="0" indent="-11887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1200" b="1" kern="1200" baseline="0" dirty="0" smtClean="0">
                <a:solidFill>
                  <a:srgbClr val="FFFFFF"/>
                </a:solidFill>
                <a:latin typeface="+mn-lt"/>
                <a:ea typeface="+mn-ea"/>
                <a:cs typeface="+mn-cs"/>
              </a:defRPr>
            </a:lvl1pPr>
            <a:lvl2pPr marL="117475" indent="0">
              <a:buFontTx/>
              <a:buNone/>
              <a:defRPr sz="100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64592" marR="0" indent="-164592" algn="l" defTabSz="914400" rtl="0" eaLnBrk="1" fontAlgn="auto" latinLnBrk="0" hangingPunct="1">
              <a:lnSpc>
                <a:spcPct val="100000"/>
              </a:lnSpc>
              <a:spcBef>
                <a:spcPct val="20000"/>
              </a:spcBef>
              <a:spcAft>
                <a:spcPts val="0"/>
              </a:spcAft>
              <a:buClr>
                <a:schemeClr val="accent1"/>
              </a:buClr>
              <a:buSzTx/>
              <a:buFont typeface="Wingdings 2" pitchFamily="18" charset="2"/>
              <a:buChar char=""/>
              <a:tabLst/>
              <a:defRPr sz="1200" baseline="0"/>
            </a:lvl1pPr>
            <a:lvl2pPr marL="329184" indent="-164592">
              <a:buClr>
                <a:srgbClr val="B01C2E"/>
              </a:buClr>
              <a:buFont typeface="Arial" pitchFamily="34" charset="0"/>
              <a:buChar char="•"/>
              <a:defRPr sz="1200" baseline="0"/>
            </a:lvl2pPr>
            <a:lvl3pPr marL="438912" indent="-164592">
              <a:buClr>
                <a:srgbClr val="B01C2E"/>
              </a:buClr>
              <a:buFont typeface="Arial" pitchFamily="34" charset="0"/>
              <a:buChar char="‒"/>
              <a:defRPr sz="1200" baseline="0"/>
            </a:lvl3pPr>
            <a:lvl4pPr marL="603504" indent="-164592">
              <a:buClr>
                <a:srgbClr val="B01C2E"/>
              </a:buClr>
              <a:buFont typeface="Arial" pitchFamily="34" charset="0"/>
              <a:buChar char="–"/>
              <a:defRPr sz="1200"/>
            </a:lvl4pPr>
            <a:lvl5pPr marL="768096" indent="-164592">
              <a:buClr>
                <a:srgbClr val="B01C2E"/>
              </a:buClr>
              <a:buFont typeface="Arial" pitchFamily="34" charset="0"/>
              <a:buChar char="–"/>
              <a:defRPr sz="1200"/>
            </a:lvl5pPr>
            <a:lvl6pPr marL="914400" indent="-164592">
              <a:buClr>
                <a:srgbClr val="B01C2E"/>
              </a:buClr>
              <a:buFont typeface="Arial" pitchFamily="34" charset="0"/>
              <a:buChar char="–"/>
              <a:defRPr sz="12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400491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91440" bIns="9144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80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4209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72000" tIns="72000" rIns="72000" bIns="72000" anchor="ctr"/>
          <a:lstStyle/>
          <a:p>
            <a:endParaRPr lang="en-US" sz="180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12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12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17940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77800" indent="0">
              <a:spcBef>
                <a:spcPts val="0"/>
              </a:spcBef>
              <a:buNone/>
              <a:defRPr sz="12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6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47754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12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65705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12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131279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3" name="AutoShape 5"/>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4" name="AutoShape 6"/>
          <p:cNvSpPr>
            <a:spLocks noChangeArrowheads="1"/>
          </p:cNvSpPr>
          <p:nvPr userDrawn="1"/>
        </p:nvSpPr>
        <p:spPr bwMode="auto">
          <a:xfrm rot="5400000">
            <a:off x="3758672"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5" name="AutoShape 7"/>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72000" tIns="72000" rIns="72000" bIns="72000" anchor="ctr"/>
          <a:lstStyle/>
          <a:p>
            <a:pPr>
              <a:defRPr/>
            </a:pPr>
            <a:endParaRPr lang="en-US" sz="180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12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marL="685800">
              <a:buClr>
                <a:srgbClr val="B01C2E"/>
              </a:buClr>
              <a:buFont typeface="Arial" pitchFamily="34" charset="0"/>
              <a:buChar char="–"/>
              <a:defRPr sz="12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vl4pPr>
              <a:defRPr lang="en-US" sz="12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87194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12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118872" indent="-118872">
              <a:spcBef>
                <a:spcPts val="20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35410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vl6pPr marL="1115568">
              <a:buClr>
                <a:srgbClr val="B01C1A"/>
              </a:buClr>
              <a:buFont typeface="Arial" pitchFamily="34" charset="0"/>
              <a:buChar char="–"/>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118872" indent="-118872">
              <a:spcBef>
                <a:spcPts val="0"/>
              </a:spcBef>
              <a:buClr>
                <a:schemeClr val="accent1"/>
              </a:buClr>
              <a:buFont typeface="Wingdings 2" pitchFamily="18" charset="2"/>
              <a:buChar char=""/>
              <a:defRPr sz="1200"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706955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1000" b="1" baseline="0">
                <a:solidFill>
                  <a:schemeClr val="tx1"/>
                </a:solidFill>
              </a:defRPr>
            </a:lvl1pPr>
            <a:lvl2pPr marL="347472" indent="-164592">
              <a:spcBef>
                <a:spcPts val="300"/>
              </a:spcBef>
              <a:buClr>
                <a:srgbClr val="B01C2E"/>
              </a:buClr>
              <a:buFont typeface="Arial" pitchFamily="34" charset="0"/>
              <a:buChar char="•"/>
              <a:defRPr sz="1200" baseline="0"/>
            </a:lvl2pPr>
            <a:lvl3pPr marL="530352" indent="-173736">
              <a:buClr>
                <a:srgbClr val="B01C2E"/>
              </a:buClr>
              <a:buFont typeface="Arial" pitchFamily="34" charset="0"/>
              <a:buChar char="‒"/>
              <a:defRPr sz="12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12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233363" indent="-233363" algn="l">
              <a:spcBef>
                <a:spcPts val="200"/>
              </a:spcBef>
              <a:buClr>
                <a:srgbClr val="B01C2E"/>
              </a:buClr>
              <a:buFont typeface="Wingdings 2" pitchFamily="18" charset="2"/>
              <a:buChar char=""/>
              <a:defRPr sz="1000" baseline="0"/>
            </a:lvl1pPr>
            <a:lvl2pPr marL="338138" indent="-173038">
              <a:spcBef>
                <a:spcPts val="200"/>
              </a:spcBef>
              <a:buClr>
                <a:srgbClr val="B01C2E"/>
              </a:buClr>
              <a:buFont typeface="Arial" pitchFamily="34" charset="0"/>
              <a:buChar char="•"/>
              <a:tabLst/>
              <a:defRPr sz="1000" baseline="0"/>
            </a:lvl2pPr>
            <a:lvl3pPr marL="502920" indent="-173038">
              <a:spcBef>
                <a:spcPts val="200"/>
              </a:spcBef>
              <a:buClr>
                <a:srgbClr val="B01C2E"/>
              </a:buClr>
              <a:buFont typeface="Arial" pitchFamily="34" charset="0"/>
              <a:buChar char="–"/>
              <a:defRPr sz="1000" baseline="0"/>
            </a:lvl3pPr>
            <a:lvl4pPr marL="685800" indent="-173736">
              <a:spcBef>
                <a:spcPts val="200"/>
              </a:spcBef>
              <a:buClr>
                <a:srgbClr val="B01C2E"/>
              </a:buClr>
              <a:buFont typeface="Arial" pitchFamily="34" charset="0"/>
              <a:buChar char="–"/>
              <a:tabLst/>
              <a:defRPr sz="1000"/>
            </a:lvl4pPr>
            <a:lvl5pPr marL="850392" indent="-173736">
              <a:spcBef>
                <a:spcPts val="200"/>
              </a:spcBef>
              <a:buClr>
                <a:srgbClr val="B01C2E"/>
              </a:buClr>
              <a:buFont typeface="Arial" pitchFamily="34" charset="0"/>
              <a:buChar cha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100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228600" indent="-228600">
              <a:spcBef>
                <a:spcPts val="24"/>
              </a:spcBef>
              <a:buClr>
                <a:schemeClr val="accent1"/>
              </a:buClr>
              <a:buFont typeface="Wingdings 2" pitchFamily="18" charset="2"/>
              <a:buChar char=""/>
              <a:defRPr sz="1200"/>
            </a:lvl1pPr>
            <a:lvl2pPr marL="457200" indent="-228600">
              <a:buClr>
                <a:schemeClr val="accent1"/>
              </a:buClr>
              <a:buFont typeface="Arial" pitchFamily="34" charset="0"/>
              <a:buChar char="•"/>
              <a:defRPr sz="1200"/>
            </a:lvl2pPr>
            <a:lvl3pPr marL="685800">
              <a:buClr>
                <a:schemeClr val="accent1"/>
              </a:buClr>
              <a:buFont typeface="Arial" pitchFamily="34" charset="0"/>
              <a:buChar char="–"/>
              <a:defRPr sz="1200"/>
            </a:lvl3pPr>
            <a:lvl4pPr marL="914400">
              <a:buClr>
                <a:schemeClr val="accent1"/>
              </a:buClr>
              <a:buFont typeface="Arial" pitchFamily="34" charset="0"/>
              <a:buChar char="–"/>
              <a:defRPr sz="1200"/>
            </a:lvl4pPr>
            <a:lvl5pPr marL="114300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631887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17" name="Freeform 13"/>
          <p:cNvSpPr>
            <a:spLocks/>
          </p:cNvSpPr>
          <p:nvPr userDrawn="1"/>
        </p:nvSpPr>
        <p:spPr bwMode="auto">
          <a:xfrm>
            <a:off x="609601"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1" name="Freeform 14"/>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800"/>
          </a:p>
        </p:txBody>
      </p:sp>
      <p:sp>
        <p:nvSpPr>
          <p:cNvPr id="28" name="Text Placeholder 12"/>
          <p:cNvSpPr>
            <a:spLocks noGrp="1"/>
          </p:cNvSpPr>
          <p:nvPr>
            <p:ph type="body" sz="quarter" idx="16"/>
          </p:nvPr>
        </p:nvSpPr>
        <p:spPr bwMode="gray">
          <a:xfrm>
            <a:off x="7574514"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71450" indent="-171450">
              <a:buClr>
                <a:srgbClr val="B01C2E"/>
              </a:buClr>
              <a:buFont typeface="Wingdings 2" pitchFamily="18" charset="2"/>
              <a:buChar char=""/>
              <a:defRPr sz="120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12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73736" algn="l">
              <a:buClr>
                <a:schemeClr val="accent1"/>
              </a:buClr>
              <a:buFont typeface="Wingdings" pitchFamily="2" charset="2"/>
              <a:buNone/>
              <a:defRPr sz="12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27" name="Text Placeholder 13"/>
          <p:cNvSpPr>
            <a:spLocks noGrp="1"/>
          </p:cNvSpPr>
          <p:nvPr>
            <p:ph type="body" sz="quarter" idx="17"/>
          </p:nvPr>
        </p:nvSpPr>
        <p:spPr>
          <a:xfrm>
            <a:off x="7541684" y="1417325"/>
            <a:ext cx="4047744" cy="461963"/>
          </a:xfrm>
          <a:prstGeom prst="chevron">
            <a:avLst>
              <a:gd name="adj" fmla="val 34831"/>
            </a:avLst>
          </a:prstGeom>
          <a:solidFill>
            <a:srgbClr val="B01C2E"/>
          </a:solidFill>
        </p:spPr>
        <p:txBody>
          <a:bodyPr anchor="ctr"/>
          <a:lstStyle>
            <a:lvl1pPr marL="342900" marR="0" indent="-34290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71450" indent="-171450">
              <a:buClr>
                <a:srgbClr val="B01C2E"/>
              </a:buClr>
              <a:buFont typeface="Wingdings 2" pitchFamily="18" charset="2"/>
              <a:buChar char=""/>
              <a:defRPr sz="1200" baseline="0"/>
            </a:lvl1pPr>
            <a:lvl2pPr marL="341313" indent="-169863">
              <a:buClr>
                <a:srgbClr val="B01C2E"/>
              </a:buClr>
              <a:buFont typeface="Arial" pitchFamily="34" charset="0"/>
              <a:buChar char="•"/>
              <a:defRPr sz="1200"/>
            </a:lvl2pPr>
            <a:lvl3pPr marL="512763" indent="-171450">
              <a:buClr>
                <a:srgbClr val="B01C2E"/>
              </a:buClr>
              <a:buFont typeface="Arial" pitchFamily="34" charset="0"/>
              <a:buChar char="–"/>
              <a:defRPr sz="1200"/>
            </a:lvl3pPr>
            <a:lvl4pPr marL="682625" indent="-169863">
              <a:buClr>
                <a:srgbClr val="B01C2E"/>
              </a:buClr>
              <a:defRPr sz="1200"/>
            </a:lvl4pPr>
            <a:lvl5pPr marL="854075" indent="-171450">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0" y="1988239"/>
            <a:ext cx="3183381"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73736" indent="-173736">
              <a:lnSpc>
                <a:spcPct val="95000"/>
              </a:lnSpc>
              <a:spcBef>
                <a:spcPts val="720"/>
              </a:spcBef>
              <a:buClr>
                <a:schemeClr val="accent1"/>
              </a:buClr>
              <a:buFont typeface="Wingdings 2" pitchFamily="18" charset="2"/>
              <a:buChar char=""/>
              <a:defRPr sz="1200"/>
            </a:lvl1pPr>
            <a:lvl2pPr marL="347472" indent="-173736">
              <a:lnSpc>
                <a:spcPct val="95000"/>
              </a:lnSpc>
              <a:spcBef>
                <a:spcPts val="300"/>
              </a:spcBef>
              <a:buClr>
                <a:schemeClr val="accent1"/>
              </a:buClr>
              <a:buFont typeface="Arial" pitchFamily="34" charset="0"/>
              <a:buChar char="•"/>
              <a:defRPr sz="1200"/>
            </a:lvl2pPr>
            <a:lvl3pPr marL="521208" indent="-173736">
              <a:lnSpc>
                <a:spcPct val="95000"/>
              </a:lnSpc>
              <a:spcBef>
                <a:spcPts val="300"/>
              </a:spcBef>
              <a:buClr>
                <a:schemeClr val="accent1"/>
              </a:buClr>
              <a:buFont typeface="Arial" pitchFamily="34" charset="0"/>
              <a:buChar char="–"/>
              <a:defRPr sz="1200"/>
            </a:lvl3pPr>
            <a:lvl4pPr marL="685800" indent="-173736">
              <a:lnSpc>
                <a:spcPct val="95000"/>
              </a:lnSpc>
              <a:spcBef>
                <a:spcPts val="300"/>
              </a:spcBef>
              <a:buClr>
                <a:schemeClr val="accent1"/>
              </a:buClr>
              <a:buFont typeface="Arial" pitchFamily="34" charset="0"/>
              <a:buChar char="–"/>
              <a:defRPr sz="1200"/>
            </a:lvl4pPr>
            <a:lvl5pPr marL="914400" indent="-173736">
              <a:lnSpc>
                <a:spcPct val="95000"/>
              </a:lnSpc>
              <a:spcBef>
                <a:spcPts val="300"/>
              </a:spcBef>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1" y="1987175"/>
            <a:ext cx="3725596" cy="320988"/>
          </a:xfrm>
          <a:prstGeom prst="rect">
            <a:avLst/>
          </a:prstGeom>
        </p:spPr>
        <p:txBody>
          <a:bodyPr lIns="91440" rIns="91440" anchor="ctr"/>
          <a:lstStyle>
            <a:lvl1pPr marL="0" indent="0" algn="ctr">
              <a:buNone/>
              <a:defRPr sz="12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9321310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117475" eaLnBrk="0" hangingPunct="0">
              <a:lnSpc>
                <a:spcPct val="95000"/>
              </a:lnSpc>
              <a:defRPr/>
            </a:pPr>
            <a:endParaRPr lang="en-US" sz="180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12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11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118872">
              <a:lnSpc>
                <a:spcPct val="95000"/>
              </a:lnSpc>
              <a:spcBef>
                <a:spcPts val="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118872" indent="-118872">
              <a:lnSpc>
                <a:spcPct val="95000"/>
              </a:lnSpc>
              <a:spcBef>
                <a:spcPts val="200"/>
              </a:spcBef>
              <a:buClr>
                <a:srgbClr val="B01C2E"/>
              </a:buClr>
              <a:buFont typeface="Wingdings 2" pitchFamily="18" charset="2"/>
              <a:buChar char=""/>
              <a:defRPr sz="1100" baseline="0">
                <a:solidFill>
                  <a:schemeClr val="tx1"/>
                </a:solidFill>
              </a:defRPr>
            </a:lvl1pPr>
            <a:lvl2pPr marL="118872" indent="0">
              <a:spcBef>
                <a:spcPts val="300"/>
              </a:spcBef>
              <a:buNone/>
              <a:defRPr sz="1200"/>
            </a:lvl2pPr>
          </a:lstStyle>
          <a:p>
            <a:pPr lvl="0"/>
            <a:r>
              <a:rPr lang="en-US"/>
              <a:t>Click to edit Master text styles</a:t>
            </a:r>
          </a:p>
        </p:txBody>
      </p:sp>
      <p:sp>
        <p:nvSpPr>
          <p:cNvPr id="3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843374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400"/>
              </a:lnSpc>
              <a:spcBef>
                <a:spcPts val="0"/>
              </a:spcBef>
              <a:buNone/>
              <a:defRPr sz="1200" b="1">
                <a:solidFill>
                  <a:schemeClr val="bg1"/>
                </a:solidFill>
              </a:defRPr>
            </a:lvl1pPr>
            <a:lvl2pPr indent="0" algn="ctr">
              <a:spcBef>
                <a:spcPts val="0"/>
              </a:spcBef>
              <a:buNone/>
              <a:defRPr sz="1200" b="1"/>
            </a:lvl2pPr>
            <a:lvl3pPr indent="0" algn="ctr">
              <a:spcBef>
                <a:spcPts val="0"/>
              </a:spcBef>
              <a:buNone/>
              <a:defRPr sz="1200" b="1"/>
            </a:lvl3pPr>
            <a:lvl4pPr indent="0" algn="ctr">
              <a:spcBef>
                <a:spcPts val="0"/>
              </a:spcBef>
              <a:buNone/>
              <a:defRPr sz="1200" b="1"/>
            </a:lvl4pPr>
            <a:lvl5pPr indent="0" algn="ctr">
              <a:spcBef>
                <a:spcPts val="0"/>
              </a:spcBef>
              <a:buNone/>
              <a:defRPr sz="12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233363" indent="-233363" algn="l">
              <a:spcBef>
                <a:spcPts val="200"/>
              </a:spcBef>
              <a:buClr>
                <a:srgbClr val="B01C2E"/>
              </a:buClr>
              <a:buFont typeface="Wingdings" pitchFamily="2" charset="2"/>
              <a:buChar char="§"/>
              <a:defRPr sz="1200" b="1" baseline="0"/>
            </a:lvl1pPr>
            <a:lvl2pPr marL="338138" indent="-173038">
              <a:spcBef>
                <a:spcPts val="200"/>
              </a:spcBef>
              <a:buClr>
                <a:srgbClr val="B01C2E"/>
              </a:buClr>
              <a:buFont typeface="Arial" pitchFamily="34" charset="0"/>
              <a:buChar char="•"/>
              <a:tabLst/>
              <a:defRPr sz="1200" b="1" baseline="0"/>
            </a:lvl2pPr>
            <a:lvl3pPr marL="502920" indent="-173038">
              <a:spcBef>
                <a:spcPts val="200"/>
              </a:spcBef>
              <a:buClr>
                <a:srgbClr val="B01C2E"/>
              </a:buClr>
              <a:buFont typeface="Arial" pitchFamily="34" charset="0"/>
              <a:buChar char="–"/>
              <a:defRPr sz="1200" b="1" baseline="0"/>
            </a:lvl3pPr>
            <a:lvl4pPr marL="685800" indent="-173736">
              <a:spcBef>
                <a:spcPts val="200"/>
              </a:spcBef>
              <a:buClr>
                <a:srgbClr val="B01C2E"/>
              </a:buClr>
              <a:buFont typeface="Arial" pitchFamily="34" charset="0"/>
              <a:buChar char="–"/>
              <a:tabLst/>
              <a:defRPr sz="1200" b="1"/>
            </a:lvl4pPr>
            <a:lvl5pPr marL="850392" indent="-173736">
              <a:spcBef>
                <a:spcPts val="200"/>
              </a:spcBef>
              <a:buClr>
                <a:srgbClr val="B01C2E"/>
              </a:buClr>
              <a:buFont typeface="Arial" pitchFamily="34" charset="0"/>
              <a:buChar char="–"/>
              <a:defRPr sz="12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4" y="1497016"/>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4" y="298543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4" y="4473858"/>
            <a:ext cx="2018337" cy="1376085"/>
          </a:xfrm>
          <a:prstGeom prst="rect">
            <a:avLst/>
          </a:prstGeom>
          <a:solidFill>
            <a:schemeClr val="bg1"/>
          </a:solidFill>
          <a:ln w="6350">
            <a:solidFill>
              <a:srgbClr val="C0C0C0"/>
            </a:solidFill>
          </a:ln>
        </p:spPr>
        <p:txBody>
          <a:bodyPr lIns="91440" tIns="91440" rIns="91440" bIns="91440" anchor="ctr"/>
          <a:lstStyle>
            <a:lvl1pPr marL="176213" indent="-176213">
              <a:lnSpc>
                <a:spcPct val="95000"/>
              </a:lnSpc>
              <a:spcBef>
                <a:spcPts val="0"/>
              </a:spcBef>
              <a:buClr>
                <a:srgbClr val="B01C2E"/>
              </a:buClr>
              <a:buFont typeface="Wingdings 2" pitchFamily="18" charset="2"/>
              <a:buChar char=""/>
              <a:defRPr sz="1200" baseline="0"/>
            </a:lvl1pPr>
            <a:lvl2pPr marL="342900" indent="-166688">
              <a:lnSpc>
                <a:spcPct val="95000"/>
              </a:lnSpc>
              <a:buClr>
                <a:srgbClr val="B01C2E"/>
              </a:buClr>
              <a:buSzPct val="125000"/>
              <a:buFont typeface="Arial" pitchFamily="34" charset="0"/>
              <a:buChar char="–"/>
              <a:defRPr sz="1200"/>
            </a:lvl2pPr>
            <a:lvl3pPr marL="519113" indent="-176213">
              <a:buClr>
                <a:srgbClr val="B01C2E"/>
              </a:buClr>
              <a:buFont typeface="Arial" pitchFamily="34" charset="0"/>
              <a:buChar char="–"/>
              <a:defRPr sz="1200"/>
            </a:lvl3pPr>
            <a:lvl4pPr marL="685800" indent="-166688">
              <a:buClr>
                <a:srgbClr val="B01C2E"/>
              </a:buClr>
              <a:defRPr sz="1200"/>
            </a:lvl4pPr>
            <a:lvl5pPr marL="914400" indent="-166688">
              <a:defRPr sz="12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9855464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8" y="4986243"/>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2" y="1441358"/>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0" y="2622986"/>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4" y="3804614"/>
            <a:ext cx="6413145" cy="950976"/>
          </a:xfrm>
          <a:prstGeom prst="rect">
            <a:avLst/>
          </a:prstGeom>
          <a:solidFill>
            <a:schemeClr val="bg1"/>
          </a:solidFill>
          <a:ln w="12700">
            <a:solidFill>
              <a:schemeClr val="accent1"/>
            </a:solidFill>
          </a:ln>
        </p:spPr>
        <p:txBody>
          <a:bodyPr lIns="137160" tIns="137160" rIns="137160" bIns="137160" anchor="ctr"/>
          <a:lstStyle>
            <a:lvl1pPr marL="176213" marR="0" indent="-176213" algn="l" defTabSz="914400" rtl="0" eaLnBrk="1" fontAlgn="auto" latinLnBrk="0" hangingPunct="1">
              <a:lnSpc>
                <a:spcPct val="100000"/>
              </a:lnSpc>
              <a:spcBef>
                <a:spcPct val="20000"/>
              </a:spcBef>
              <a:spcAft>
                <a:spcPts val="0"/>
              </a:spcAft>
              <a:buClr>
                <a:srgbClr val="B01C2E"/>
              </a:buClr>
              <a:buSzTx/>
              <a:buFont typeface="Wingdings 2" pitchFamily="18" charset="2"/>
              <a:buChar char=""/>
              <a:tabLst/>
              <a:defRPr sz="1200"/>
            </a:lvl1pPr>
            <a:lvl2pPr marL="342900" indent="-166688">
              <a:buClr>
                <a:srgbClr val="B01C2E"/>
              </a:buClr>
              <a:buSzPct val="125000"/>
              <a:defRPr sz="1200"/>
            </a:lvl2pPr>
            <a:lvl3pPr marL="519113" indent="-176213">
              <a:buClr>
                <a:srgbClr val="B01C2E"/>
              </a:buClr>
              <a:buFont typeface="Arial" pitchFamily="34" charset="0"/>
              <a:buChar char="–"/>
              <a:defRPr sz="12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6195830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8" name="Parallelogram 7"/>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4" name="Parallelogram 13"/>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15" name="Parallelogram 14"/>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80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0" name="Content Placeholder 3"/>
          <p:cNvSpPr>
            <a:spLocks noGrp="1"/>
          </p:cNvSpPr>
          <p:nvPr>
            <p:ph sz="half" idx="13"/>
          </p:nvPr>
        </p:nvSpPr>
        <p:spPr>
          <a:xfrm>
            <a:off x="944921" y="5019703"/>
            <a:ext cx="9934099" cy="789371"/>
          </a:xfrm>
          <a:prstGeom prst="parallelogram">
            <a:avLst/>
          </a:prstGeom>
          <a:solidFill>
            <a:schemeClr val="accent1"/>
          </a:solidFill>
          <a:ln w="6350">
            <a:noFill/>
          </a:ln>
        </p:spPr>
        <p:txBody>
          <a:bodyPr lIns="137160" tIns="137160" rIns="137160" bIns="137160" anchor="ctr"/>
          <a:lstStyle>
            <a:lvl1pPr marL="176213" marR="0" indent="-176213"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1" name="Content Placeholder 3"/>
          <p:cNvSpPr>
            <a:spLocks noGrp="1"/>
          </p:cNvSpPr>
          <p:nvPr>
            <p:ph sz="half" idx="14"/>
          </p:nvPr>
        </p:nvSpPr>
        <p:spPr>
          <a:xfrm>
            <a:off x="944921" y="3847016"/>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2" name="Content Placeholder 3"/>
          <p:cNvSpPr>
            <a:spLocks noGrp="1"/>
          </p:cNvSpPr>
          <p:nvPr>
            <p:ph sz="half" idx="15"/>
          </p:nvPr>
        </p:nvSpPr>
        <p:spPr>
          <a:xfrm>
            <a:off x="944921" y="2674335"/>
            <a:ext cx="9934099" cy="789371"/>
          </a:xfrm>
          <a:prstGeom prst="parallelogram">
            <a:avLst/>
          </a:prstGeom>
          <a:solidFill>
            <a:schemeClr val="accent1"/>
          </a:solidFill>
          <a:ln w="6350">
            <a:noFill/>
          </a:ln>
        </p:spPr>
        <p:txBody>
          <a:bodyPr lIns="137160" tIns="137160" rIns="137160" bIns="137160" anchor="ctr"/>
          <a:lstStyle>
            <a:lvl1pPr marL="176213" indent="-176213" algn="ctr">
              <a:buNone/>
              <a:defRPr sz="1200" b="1">
                <a:solidFill>
                  <a:schemeClr val="bg1"/>
                </a:solidFill>
              </a:defRPr>
            </a:lvl1pPr>
            <a:lvl2pPr marL="342900" indent="-166688">
              <a:buSzPct val="125000"/>
              <a:defRPr sz="1400"/>
            </a:lvl2pPr>
            <a:lvl3pPr marL="519113" indent="-176213">
              <a:defRPr sz="1400"/>
            </a:lvl3pPr>
            <a:lvl4pPr marL="685800" indent="-166688">
              <a:defRPr sz="1400"/>
            </a:lvl4pPr>
            <a:lvl5pPr marL="914400" indent="-166688">
              <a:defRPr sz="1400"/>
            </a:lvl5pPr>
            <a:lvl6pPr>
              <a:defRPr sz="1600"/>
            </a:lvl6pPr>
            <a:lvl7pPr>
              <a:defRPr sz="1600"/>
            </a:lvl7pPr>
            <a:lvl8pPr>
              <a:defRPr sz="1600"/>
            </a:lvl8pPr>
            <a:lvl9pPr>
              <a:defRPr sz="1600"/>
            </a:lvl9pPr>
          </a:lstStyle>
          <a:p>
            <a:pPr lvl="0"/>
            <a:r>
              <a:rPr lang="en-US"/>
              <a:t>Click to edit Master text styles</a:t>
            </a:r>
          </a:p>
        </p:txBody>
      </p:sp>
      <p:sp>
        <p:nvSpPr>
          <p:cNvPr id="13"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4995828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3"/>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6" name="Text Placeholder 12"/>
          <p:cNvSpPr>
            <a:spLocks noGrp="1"/>
          </p:cNvSpPr>
          <p:nvPr>
            <p:ph type="body" sz="quarter" idx="15"/>
          </p:nvPr>
        </p:nvSpPr>
        <p:spPr>
          <a:xfrm>
            <a:off x="9195340"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7" name="Text Placeholder 12"/>
          <p:cNvSpPr>
            <a:spLocks noGrp="1"/>
          </p:cNvSpPr>
          <p:nvPr>
            <p:ph type="body" sz="quarter" idx="30"/>
          </p:nvPr>
        </p:nvSpPr>
        <p:spPr>
          <a:xfrm>
            <a:off x="6819046"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8" name="Text Placeholder 12"/>
          <p:cNvSpPr>
            <a:spLocks noGrp="1"/>
          </p:cNvSpPr>
          <p:nvPr>
            <p:ph type="body" sz="quarter" idx="31"/>
          </p:nvPr>
        </p:nvSpPr>
        <p:spPr>
          <a:xfrm>
            <a:off x="4442752" y="1290643"/>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1200" b="1">
                <a:solidFill>
                  <a:schemeClr val="bg1"/>
                </a:solidFill>
              </a:defRPr>
            </a:lvl1pPr>
            <a:lvl2pPr marL="341313" indent="-169863">
              <a:defRPr sz="1200"/>
            </a:lvl2pPr>
            <a:lvl3pPr marL="512763" indent="-171450">
              <a:defRPr sz="1200"/>
            </a:lvl3pPr>
            <a:lvl4pPr marL="682625" indent="-169863">
              <a:defRPr sz="1200"/>
            </a:lvl4pPr>
            <a:lvl5pPr marL="854075" indent="-171450">
              <a:defRPr sz="12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2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71450" indent="-171450">
              <a:buClr>
                <a:srgbClr val="B01C2E"/>
              </a:buClr>
              <a:buFont typeface="Wingdings 2" pitchFamily="18" charset="2"/>
              <a:buChar char=""/>
              <a:defRPr sz="1100" baseline="0"/>
            </a:lvl1pPr>
            <a:lvl2pPr marL="341313" indent="-169863">
              <a:buClr>
                <a:srgbClr val="B01C2E"/>
              </a:buClr>
              <a:buFont typeface="Arial" pitchFamily="34" charset="0"/>
              <a:buChar char="•"/>
              <a:defRPr sz="1000"/>
            </a:lvl2pPr>
            <a:lvl3pPr marL="512763" indent="-171450">
              <a:buClr>
                <a:srgbClr val="B01C2E"/>
              </a:buClr>
              <a:buFont typeface="Arial" pitchFamily="34" charset="0"/>
              <a:buChar char="–"/>
              <a:defRPr sz="1000"/>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33277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23" name="Straight Connector 9"/>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sp>
        <p:nvSpPr>
          <p:cNvPr id="61" name="Rectangle 31"/>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37160" tIns="137160" rIns="228600" bIns="13716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80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2" y="1282930"/>
            <a:ext cx="8496387" cy="294737"/>
          </a:xfrm>
          <a:prstGeom prst="rect">
            <a:avLst/>
          </a:prstGeom>
          <a:ln w="6350">
            <a:noFill/>
          </a:ln>
        </p:spPr>
        <p:txBody>
          <a:bodyPr anchor="ctr"/>
          <a:lstStyle>
            <a:lvl1pPr marL="0" indent="0">
              <a:lnSpc>
                <a:spcPct val="100000"/>
              </a:lnSpc>
              <a:spcBef>
                <a:spcPts val="0"/>
              </a:spcBef>
              <a:buFontTx/>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7" name="Text Placeholder 12"/>
          <p:cNvSpPr>
            <a:spLocks noGrp="1"/>
          </p:cNvSpPr>
          <p:nvPr>
            <p:ph type="body" sz="quarter" idx="31"/>
          </p:nvPr>
        </p:nvSpPr>
        <p:spPr>
          <a:xfrm>
            <a:off x="402149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8" name="Text Placeholder 12"/>
          <p:cNvSpPr>
            <a:spLocks noGrp="1"/>
          </p:cNvSpPr>
          <p:nvPr>
            <p:ph type="body" sz="quarter" idx="32"/>
          </p:nvPr>
        </p:nvSpPr>
        <p:spPr>
          <a:xfrm>
            <a:off x="4588796"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29" name="Text Placeholder 12"/>
          <p:cNvSpPr>
            <a:spLocks noGrp="1"/>
          </p:cNvSpPr>
          <p:nvPr>
            <p:ph type="body" sz="quarter" idx="33"/>
          </p:nvPr>
        </p:nvSpPr>
        <p:spPr>
          <a:xfrm>
            <a:off x="2886892"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1" name="Text Placeholder 12"/>
          <p:cNvSpPr>
            <a:spLocks noGrp="1"/>
          </p:cNvSpPr>
          <p:nvPr>
            <p:ph type="body" sz="quarter" idx="35"/>
          </p:nvPr>
        </p:nvSpPr>
        <p:spPr>
          <a:xfrm>
            <a:off x="6290700"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4" name="Text Placeholder 12"/>
          <p:cNvSpPr>
            <a:spLocks noGrp="1"/>
          </p:cNvSpPr>
          <p:nvPr>
            <p:ph type="body" sz="quarter" idx="38"/>
          </p:nvPr>
        </p:nvSpPr>
        <p:spPr>
          <a:xfrm>
            <a:off x="572339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6" name="Text Placeholder 12"/>
          <p:cNvSpPr>
            <a:spLocks noGrp="1"/>
          </p:cNvSpPr>
          <p:nvPr>
            <p:ph type="body" sz="quarter" idx="40"/>
          </p:nvPr>
        </p:nvSpPr>
        <p:spPr>
          <a:xfrm>
            <a:off x="9127207"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7" name="Text Placeholder 12"/>
          <p:cNvSpPr>
            <a:spLocks noGrp="1"/>
          </p:cNvSpPr>
          <p:nvPr>
            <p:ph type="body" sz="quarter" idx="41"/>
          </p:nvPr>
        </p:nvSpPr>
        <p:spPr>
          <a:xfrm>
            <a:off x="7425303"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8" name="Text Placeholder 12"/>
          <p:cNvSpPr>
            <a:spLocks noGrp="1"/>
          </p:cNvSpPr>
          <p:nvPr>
            <p:ph type="body" sz="quarter" idx="42"/>
          </p:nvPr>
        </p:nvSpPr>
        <p:spPr>
          <a:xfrm>
            <a:off x="7992604"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39" name="Text Placeholder 12"/>
          <p:cNvSpPr>
            <a:spLocks noGrp="1"/>
          </p:cNvSpPr>
          <p:nvPr>
            <p:ph type="body" sz="quarter" idx="43"/>
          </p:nvPr>
        </p:nvSpPr>
        <p:spPr>
          <a:xfrm>
            <a:off x="9694508"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45"/>
          </p:nvPr>
        </p:nvSpPr>
        <p:spPr>
          <a:xfrm>
            <a:off x="10829111" y="1574557"/>
            <a:ext cx="552995" cy="294737"/>
          </a:xfrm>
          <a:prstGeom prst="rect">
            <a:avLst/>
          </a:prstGeom>
          <a:ln w="6350">
            <a:noFill/>
          </a:ln>
        </p:spPr>
        <p:txBody>
          <a:bodyPr anchor="ctr"/>
          <a:lstStyle>
            <a:lvl1pPr marL="0" indent="0" algn="ctr">
              <a:lnSpc>
                <a:spcPct val="100000"/>
              </a:lnSpc>
              <a:spcBef>
                <a:spcPts val="0"/>
              </a:spcBef>
              <a:buNone/>
              <a:defRPr sz="9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47"/>
          </p:nvPr>
        </p:nvSpPr>
        <p:spPr>
          <a:xfrm>
            <a:off x="1868569" y="1278088"/>
            <a:ext cx="860776" cy="561107"/>
          </a:xfrm>
          <a:prstGeom prst="rect">
            <a:avLst/>
          </a:prstGeom>
          <a:ln w="6350">
            <a:noFill/>
          </a:ln>
        </p:spPr>
        <p:txBody>
          <a:bodyPr lIns="0" tIns="0" rIns="0" bIns="0" anchor="ctr"/>
          <a:lstStyle>
            <a:lvl1pPr marL="0" marR="0" indent="0" algn="r" defTabSz="914400" rtl="0" eaLnBrk="1" fontAlgn="auto" latinLnBrk="0" hangingPunct="1">
              <a:lnSpc>
                <a:spcPts val="1700"/>
              </a:lnSpc>
              <a:spcBef>
                <a:spcPts val="0"/>
              </a:spcBef>
              <a:spcAft>
                <a:spcPts val="0"/>
              </a:spcAft>
              <a:buClrTx/>
              <a:buSzTx/>
              <a:buFont typeface="Arial" pitchFamily="34" charset="0"/>
              <a:buNone/>
              <a:tabLst/>
              <a:defRPr sz="1200" b="1">
                <a:solidFill>
                  <a:schemeClr val="bg1"/>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73736" indent="-173736" algn="l">
              <a:spcBef>
                <a:spcPts val="200"/>
              </a:spcBef>
              <a:buClr>
                <a:srgbClr val="B01C2E"/>
              </a:buClr>
              <a:buFont typeface="Wingdings" pitchFamily="2" charset="2"/>
              <a:buChar char="§"/>
              <a:defRPr sz="1200" baseline="0"/>
            </a:lvl1pPr>
            <a:lvl2pPr marL="338138" indent="-173038">
              <a:spcBef>
                <a:spcPts val="200"/>
              </a:spcBef>
              <a:buClr>
                <a:srgbClr val="B01C2E"/>
              </a:buClr>
              <a:buFont typeface="Arial" pitchFamily="34" charset="0"/>
              <a:buChar char="•"/>
              <a:tabLst/>
              <a:defRPr sz="1200" baseline="0"/>
            </a:lvl2pPr>
            <a:lvl3pPr marL="502920" indent="-173038">
              <a:spcBef>
                <a:spcPts val="200"/>
              </a:spcBef>
              <a:buClr>
                <a:srgbClr val="B01C2E"/>
              </a:buClr>
              <a:buFont typeface="Arial" pitchFamily="34" charset="0"/>
              <a:buChar char="–"/>
              <a:defRPr sz="1200" baseline="0"/>
            </a:lvl3pPr>
            <a:lvl4pPr marL="685800" indent="-173736">
              <a:spcBef>
                <a:spcPts val="200"/>
              </a:spcBef>
              <a:buClr>
                <a:srgbClr val="B01C2E"/>
              </a:buClr>
              <a:buFont typeface="Arial" pitchFamily="34" charset="0"/>
              <a:buChar char="–"/>
              <a:tabLst/>
              <a:defRPr sz="1200"/>
            </a:lvl4pPr>
            <a:lvl5pPr marL="850392" indent="-173736">
              <a:spcBef>
                <a:spcPts val="200"/>
              </a:spcBef>
              <a:buClr>
                <a:srgbClr val="B01C2E"/>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059831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800">
              <a:latin typeface="Arial" charset="0"/>
            </a:endParaRPr>
          </a:p>
        </p:txBody>
      </p:sp>
      <p:grpSp>
        <p:nvGrpSpPr>
          <p:cNvPr id="72" name="Group 84"/>
          <p:cNvGrpSpPr>
            <a:grpSpLocks/>
          </p:cNvGrpSpPr>
          <p:nvPr userDrawn="1"/>
        </p:nvGrpSpPr>
        <p:grpSpPr bwMode="auto">
          <a:xfrm>
            <a:off x="590551"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400"/>
              </a:lnSpc>
              <a:spcBef>
                <a:spcPts val="1500"/>
              </a:spcBef>
              <a:buClr>
                <a:schemeClr val="accent1"/>
              </a:buClr>
              <a:buFont typeface="Wingdings 2" pitchFamily="18" charset="2"/>
              <a:buNone/>
              <a:defRPr/>
            </a:pPr>
            <a:r>
              <a:rPr lang="en-US" sz="8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cxnSp>
        <p:nvCxnSpPr>
          <p:cNvPr id="100" name="Straight Connector 42"/>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0" name="Text Placeholder 12"/>
          <p:cNvSpPr>
            <a:spLocks noGrp="1"/>
          </p:cNvSpPr>
          <p:nvPr>
            <p:ph type="body" sz="quarter" idx="34"/>
          </p:nvPr>
        </p:nvSpPr>
        <p:spPr>
          <a:xfrm>
            <a:off x="2937751" y="1835813"/>
            <a:ext cx="862519"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1" name="Text Placeholder 12"/>
          <p:cNvSpPr>
            <a:spLocks noGrp="1"/>
          </p:cNvSpPr>
          <p:nvPr>
            <p:ph type="body" sz="quarter" idx="35"/>
          </p:nvPr>
        </p:nvSpPr>
        <p:spPr>
          <a:xfrm>
            <a:off x="3800274"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2" name="Text Placeholder 12"/>
          <p:cNvSpPr>
            <a:spLocks noGrp="1"/>
          </p:cNvSpPr>
          <p:nvPr>
            <p:ph type="body" sz="quarter" idx="36"/>
          </p:nvPr>
        </p:nvSpPr>
        <p:spPr>
          <a:xfrm>
            <a:off x="4662791" y="1835813"/>
            <a:ext cx="85603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6" name="Text Placeholder 12"/>
          <p:cNvSpPr>
            <a:spLocks noGrp="1"/>
          </p:cNvSpPr>
          <p:nvPr>
            <p:ph type="body" sz="quarter" idx="40"/>
          </p:nvPr>
        </p:nvSpPr>
        <p:spPr>
          <a:xfrm>
            <a:off x="8112867" y="1835813"/>
            <a:ext cx="869005"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0" name="Text Placeholder 12"/>
          <p:cNvSpPr>
            <a:spLocks noGrp="1"/>
          </p:cNvSpPr>
          <p:nvPr>
            <p:ph type="body" sz="quarter" idx="45"/>
          </p:nvPr>
        </p:nvSpPr>
        <p:spPr>
          <a:xfrm>
            <a:off x="625653" y="223026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1" name="Text Placeholder 12"/>
          <p:cNvSpPr>
            <a:spLocks noGrp="1"/>
          </p:cNvSpPr>
          <p:nvPr>
            <p:ph type="body" sz="quarter" idx="46"/>
          </p:nvPr>
        </p:nvSpPr>
        <p:spPr>
          <a:xfrm>
            <a:off x="625653" y="259557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2" name="Text Placeholder 12"/>
          <p:cNvSpPr>
            <a:spLocks noGrp="1"/>
          </p:cNvSpPr>
          <p:nvPr>
            <p:ph type="body" sz="quarter" idx="47"/>
          </p:nvPr>
        </p:nvSpPr>
        <p:spPr>
          <a:xfrm>
            <a:off x="625653" y="296088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3" name="Text Placeholder 12"/>
          <p:cNvSpPr>
            <a:spLocks noGrp="1"/>
          </p:cNvSpPr>
          <p:nvPr>
            <p:ph type="body" sz="quarter" idx="48"/>
          </p:nvPr>
        </p:nvSpPr>
        <p:spPr>
          <a:xfrm>
            <a:off x="625653" y="332619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4" name="Text Placeholder 12"/>
          <p:cNvSpPr>
            <a:spLocks noGrp="1"/>
          </p:cNvSpPr>
          <p:nvPr>
            <p:ph type="body" sz="quarter" idx="49"/>
          </p:nvPr>
        </p:nvSpPr>
        <p:spPr>
          <a:xfrm>
            <a:off x="625653" y="369150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5" name="Text Placeholder 12"/>
          <p:cNvSpPr>
            <a:spLocks noGrp="1"/>
          </p:cNvSpPr>
          <p:nvPr>
            <p:ph type="body" sz="quarter" idx="50"/>
          </p:nvPr>
        </p:nvSpPr>
        <p:spPr>
          <a:xfrm>
            <a:off x="625653" y="405681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6" name="Text Placeholder 12"/>
          <p:cNvSpPr>
            <a:spLocks noGrp="1"/>
          </p:cNvSpPr>
          <p:nvPr>
            <p:ph type="body" sz="quarter" idx="51"/>
          </p:nvPr>
        </p:nvSpPr>
        <p:spPr>
          <a:xfrm>
            <a:off x="625653" y="5152742"/>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7" name="Text Placeholder 12"/>
          <p:cNvSpPr>
            <a:spLocks noGrp="1"/>
          </p:cNvSpPr>
          <p:nvPr>
            <p:ph type="body" sz="quarter" idx="52"/>
          </p:nvPr>
        </p:nvSpPr>
        <p:spPr>
          <a:xfrm>
            <a:off x="625653" y="442212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8" name="Text Placeholder 12"/>
          <p:cNvSpPr>
            <a:spLocks noGrp="1"/>
          </p:cNvSpPr>
          <p:nvPr>
            <p:ph type="body" sz="quarter" idx="53"/>
          </p:nvPr>
        </p:nvSpPr>
        <p:spPr>
          <a:xfrm>
            <a:off x="625653" y="4787430"/>
            <a:ext cx="1407236" cy="320040"/>
          </a:xfrm>
          <a:prstGeom prst="rect">
            <a:avLst/>
          </a:prstGeom>
          <a:ln w="6350">
            <a:noFill/>
          </a:ln>
        </p:spPr>
        <p:txBody>
          <a:bodyPr anchor="ctr"/>
          <a:lstStyle>
            <a:lvl1pPr marL="0" indent="0" algn="l">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94301C"/>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900" b="1" cap="all" baseline="0">
                <a:solidFill>
                  <a:srgbClr val="B01C2E"/>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60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8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900" b="1" cap="all" baseline="0">
                <a:solidFill>
                  <a:srgbClr val="4D4D4D"/>
                </a:solidFill>
              </a:defRPr>
            </a:lvl1pPr>
            <a:lvl2pPr marL="341313" indent="-169863">
              <a:defRPr sz="1000"/>
            </a:lvl2pPr>
            <a:lvl3pPr marL="512763" indent="-171450">
              <a:defRPr sz="1000"/>
            </a:lvl3pPr>
            <a:lvl4pPr marL="682625" indent="-169863">
              <a:defRPr sz="1000"/>
            </a:lvl4pPr>
            <a:lvl5pPr marL="854075" indent="-171450">
              <a:defRPr sz="1000"/>
            </a:lvl5pPr>
          </a:lstStyle>
          <a:p>
            <a:pPr lvl="0"/>
            <a:r>
              <a:rPr lang="en-US"/>
              <a:t>Click to edit Master text styles</a:t>
            </a:r>
          </a:p>
        </p:txBody>
      </p:sp>
      <p:sp>
        <p:nvSpPr>
          <p:cNvPr id="78"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8064438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6"/>
            <a:ext cx="7315200" cy="474325"/>
          </a:xfrm>
          <a:prstGeom prst="rect">
            <a:avLst/>
          </a:prstGeom>
        </p:spPr>
        <p:txBody>
          <a:bodyPr/>
          <a:lstStyle>
            <a:lvl1pPr algn="l">
              <a:defRPr sz="12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5"/>
            <a:ext cx="7315200" cy="419268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1000" i="1">
                <a:solidFill>
                  <a:srgbClr val="4D4D4D"/>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220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35593479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4" y="1447800"/>
            <a:ext cx="2250831" cy="914400"/>
          </a:xfrm>
          <a:prstGeom prst="rect">
            <a:avLst/>
          </a:prstGeom>
        </p:spPr>
        <p:txBody>
          <a:bodyPr/>
          <a:lstStyle>
            <a:lvl1pPr>
              <a:buNone/>
              <a:defRPr sz="1000"/>
            </a:lvl1pPr>
          </a:lstStyle>
          <a:p>
            <a:pPr lvl="0"/>
            <a:r>
              <a:rPr lang="en-US"/>
              <a:t>Click to edit Master text styles</a:t>
            </a:r>
          </a:p>
        </p:txBody>
      </p:sp>
      <p:sp>
        <p:nvSpPr>
          <p:cNvPr id="9" name="Text Placeholder 11"/>
          <p:cNvSpPr>
            <a:spLocks noGrp="1"/>
          </p:cNvSpPr>
          <p:nvPr>
            <p:ph type="body" sz="quarter" idx="12"/>
          </p:nvPr>
        </p:nvSpPr>
        <p:spPr>
          <a:xfrm>
            <a:off x="603254" y="2667000"/>
            <a:ext cx="2250831" cy="914400"/>
          </a:xfrm>
          <a:prstGeom prst="rect">
            <a:avLst/>
          </a:prstGeom>
        </p:spPr>
        <p:txBody>
          <a:bodyPr/>
          <a:lstStyle>
            <a:lvl1pPr>
              <a:buNone/>
              <a:defRPr sz="1000"/>
            </a:lvl1pPr>
          </a:lstStyle>
          <a:p>
            <a:pPr lvl="0"/>
            <a:r>
              <a:rPr lang="en-US"/>
              <a:t>Click to edit Master text styles</a:t>
            </a:r>
          </a:p>
        </p:txBody>
      </p:sp>
      <p:sp>
        <p:nvSpPr>
          <p:cNvPr id="10" name="Text Placeholder 11"/>
          <p:cNvSpPr>
            <a:spLocks noGrp="1"/>
          </p:cNvSpPr>
          <p:nvPr>
            <p:ph type="body" sz="quarter" idx="13"/>
          </p:nvPr>
        </p:nvSpPr>
        <p:spPr>
          <a:xfrm>
            <a:off x="603254" y="5105400"/>
            <a:ext cx="2250831" cy="914400"/>
          </a:xfrm>
          <a:prstGeom prst="rect">
            <a:avLst/>
          </a:prstGeom>
        </p:spPr>
        <p:txBody>
          <a:bodyPr/>
          <a:lstStyle>
            <a:lvl1pPr>
              <a:buNone/>
              <a:defRPr sz="1000"/>
            </a:lvl1pPr>
          </a:lstStyle>
          <a:p>
            <a:pPr lvl="0"/>
            <a:r>
              <a:rPr lang="en-US"/>
              <a:t>Click to edit Master text styles</a:t>
            </a:r>
          </a:p>
        </p:txBody>
      </p:sp>
      <p:sp>
        <p:nvSpPr>
          <p:cNvPr id="11" name="Text Placeholder 11"/>
          <p:cNvSpPr>
            <a:spLocks noGrp="1"/>
          </p:cNvSpPr>
          <p:nvPr>
            <p:ph type="body" sz="quarter" idx="14"/>
          </p:nvPr>
        </p:nvSpPr>
        <p:spPr>
          <a:xfrm>
            <a:off x="9337923" y="1447800"/>
            <a:ext cx="2250831" cy="914400"/>
          </a:xfrm>
          <a:prstGeom prst="rect">
            <a:avLst/>
          </a:prstGeom>
        </p:spPr>
        <p:txBody>
          <a:bodyPr/>
          <a:lstStyle>
            <a:lvl1pPr>
              <a:buNone/>
              <a:defRPr sz="1000"/>
            </a:lvl1pPr>
          </a:lstStyle>
          <a:p>
            <a:pPr lvl="0"/>
            <a:r>
              <a:rPr lang="en-US"/>
              <a:t>Click to edit Master text styles</a:t>
            </a:r>
          </a:p>
        </p:txBody>
      </p:sp>
      <p:sp>
        <p:nvSpPr>
          <p:cNvPr id="12" name="Text Placeholder 11"/>
          <p:cNvSpPr>
            <a:spLocks noGrp="1"/>
          </p:cNvSpPr>
          <p:nvPr>
            <p:ph type="body" sz="quarter" idx="15"/>
          </p:nvPr>
        </p:nvSpPr>
        <p:spPr>
          <a:xfrm>
            <a:off x="9337923" y="2667000"/>
            <a:ext cx="2250831" cy="914400"/>
          </a:xfrm>
          <a:prstGeom prst="rect">
            <a:avLst/>
          </a:prstGeom>
        </p:spPr>
        <p:txBody>
          <a:bodyPr/>
          <a:lstStyle>
            <a:lvl1pPr>
              <a:buNone/>
              <a:defRPr sz="1000"/>
            </a:lvl1pPr>
          </a:lstStyle>
          <a:p>
            <a:pPr lvl="0"/>
            <a:r>
              <a:rPr lang="en-US"/>
              <a:t>Click to edit Master text styles</a:t>
            </a:r>
          </a:p>
        </p:txBody>
      </p:sp>
      <p:sp>
        <p:nvSpPr>
          <p:cNvPr id="13" name="Text Placeholder 11"/>
          <p:cNvSpPr>
            <a:spLocks noGrp="1"/>
          </p:cNvSpPr>
          <p:nvPr>
            <p:ph type="body" sz="quarter" idx="16"/>
          </p:nvPr>
        </p:nvSpPr>
        <p:spPr>
          <a:xfrm>
            <a:off x="9337923" y="3886200"/>
            <a:ext cx="2250831" cy="914400"/>
          </a:xfrm>
          <a:prstGeom prst="rect">
            <a:avLst/>
          </a:prstGeom>
        </p:spPr>
        <p:txBody>
          <a:bodyPr/>
          <a:lstStyle>
            <a:lvl1pPr>
              <a:buNone/>
              <a:defRPr sz="1000"/>
            </a:lvl1pPr>
          </a:lstStyle>
          <a:p>
            <a:pPr lvl="0"/>
            <a:r>
              <a:rPr lang="en-US"/>
              <a:t>Click to edit Master text styles</a:t>
            </a:r>
          </a:p>
        </p:txBody>
      </p:sp>
      <p:sp>
        <p:nvSpPr>
          <p:cNvPr id="14" name="Text Placeholder 11"/>
          <p:cNvSpPr>
            <a:spLocks noGrp="1"/>
          </p:cNvSpPr>
          <p:nvPr>
            <p:ph type="body" sz="quarter" idx="17"/>
          </p:nvPr>
        </p:nvSpPr>
        <p:spPr>
          <a:xfrm>
            <a:off x="9337923" y="5105400"/>
            <a:ext cx="2250831" cy="914400"/>
          </a:xfrm>
          <a:prstGeom prst="rect">
            <a:avLst/>
          </a:prstGeom>
        </p:spPr>
        <p:txBody>
          <a:bodyPr/>
          <a:lstStyle>
            <a:lvl1pPr>
              <a:buNone/>
              <a:defRPr sz="1000"/>
            </a:lvl1pPr>
          </a:lstStyle>
          <a:p>
            <a:pPr lvl="0"/>
            <a:r>
              <a:rPr lang="en-US"/>
              <a:t>Click to edit Master text styles</a:t>
            </a:r>
          </a:p>
        </p:txBody>
      </p:sp>
      <p:sp>
        <p:nvSpPr>
          <p:cNvPr id="15" name="Text Placeholder 11"/>
          <p:cNvSpPr>
            <a:spLocks noGrp="1"/>
          </p:cNvSpPr>
          <p:nvPr>
            <p:ph type="body" sz="quarter" idx="18"/>
          </p:nvPr>
        </p:nvSpPr>
        <p:spPr>
          <a:xfrm>
            <a:off x="603254" y="3886200"/>
            <a:ext cx="2250831" cy="914400"/>
          </a:xfrm>
          <a:prstGeom prst="rect">
            <a:avLst/>
          </a:prstGeom>
        </p:spPr>
        <p:txBody>
          <a:bodyPr/>
          <a:lstStyle>
            <a:lvl1pPr>
              <a:buNone/>
              <a:defRPr sz="100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7018163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6" y="1419225"/>
            <a:ext cx="3376247" cy="4800600"/>
          </a:xfrm>
          <a:prstGeom prst="rect">
            <a:avLst/>
          </a:prstGeom>
        </p:spPr>
        <p:txBody>
          <a:bodyPr/>
          <a:lstStyle>
            <a:lvl1pPr marL="228600" indent="-228600">
              <a:buClr>
                <a:srgbClr val="B01C2E"/>
              </a:buClr>
              <a:buFont typeface="Wingdings 2" pitchFamily="18" charset="2"/>
              <a:buChar char=""/>
              <a:defRPr sz="1100"/>
            </a:lvl1pPr>
            <a:lvl2pPr marL="457200" indent="-228600">
              <a:buClr>
                <a:srgbClr val="B01C2E"/>
              </a:buClr>
              <a:buSzPct val="125000"/>
              <a:buFont typeface="Arial" pitchFamily="34" charset="0"/>
              <a:buChar char="•"/>
              <a:defRPr sz="1100"/>
            </a:lvl2pPr>
            <a:lvl3pPr marL="685800">
              <a:buClr>
                <a:srgbClr val="B01C2E"/>
              </a:buClr>
              <a:buFont typeface="Arial" pitchFamily="34" charset="0"/>
              <a:buChar char="–"/>
              <a:defRPr sz="1100"/>
            </a:lvl3pPr>
            <a:lvl4pPr marL="914400">
              <a:buClr>
                <a:srgbClr val="B01C2E"/>
              </a:buClr>
              <a:buFont typeface="Arial" pitchFamily="34" charset="0"/>
              <a:buChar char="–"/>
              <a:defRPr sz="1100"/>
            </a:lvl4pPr>
            <a:lvl5pPr marL="1143000">
              <a:buClr>
                <a:srgbClr val="B01C2E"/>
              </a:buClr>
              <a:buFont typeface="Arial" pitchFamily="34" charset="0"/>
              <a:buChar char="–"/>
              <a:defRPr sz="11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9469236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5"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650650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228600" indent="-228600">
              <a:buClr>
                <a:srgbClr val="B01C2E"/>
              </a:buClr>
              <a:buFont typeface="Wingdings 2" pitchFamily="18" charset="2"/>
              <a:buChar char=""/>
              <a:defRPr sz="1200"/>
            </a:lvl1pPr>
            <a:lvl2pPr marL="457200" indent="-228600">
              <a:buClr>
                <a:srgbClr val="B01C2E"/>
              </a:buClr>
              <a:buSzPct val="125000"/>
              <a:buFont typeface="Arial" pitchFamily="34" charset="0"/>
              <a:buChar char="•"/>
              <a:defRPr sz="1200"/>
            </a:lvl2pPr>
            <a:lvl3pPr marL="685800">
              <a:buClr>
                <a:srgbClr val="B01C2E"/>
              </a:buClr>
              <a:buFont typeface="Arial" pitchFamily="34" charset="0"/>
              <a:buChar char="–"/>
              <a:defRPr sz="1200"/>
            </a:lvl3pPr>
            <a:lvl4pPr marL="914400">
              <a:buClr>
                <a:srgbClr val="B01C2E"/>
              </a:buClr>
              <a:buFont typeface="Arial" pitchFamily="34" charset="0"/>
              <a:buChar char="–"/>
              <a:defRPr sz="1200"/>
            </a:lvl4pPr>
            <a:lvl5pPr marL="1143000">
              <a:buClr>
                <a:srgbClr val="B01C2E"/>
              </a:buClr>
              <a:buFont typeface="Arial" pitchFamily="34" charset="0"/>
              <a:buChar cha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1200" i="1">
                <a:solidFill>
                  <a:srgbClr val="666666"/>
                </a:solidFill>
                <a:latin typeface="Times New Roman" pitchFamily="18" charset="0"/>
                <a:cs typeface="Times New Roman"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8912829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3" name="TextBox 13"/>
          <p:cNvSpPr txBox="1">
            <a:spLocks noChangeArrowheads="1"/>
          </p:cNvSpPr>
          <p:nvPr userDrawn="1"/>
        </p:nvSpPr>
        <p:spPr bwMode="auto">
          <a:xfrm>
            <a:off x="27559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6"/>
            <a:ext cx="42672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100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1200"/>
              </a:lnSpc>
              <a:spcBef>
                <a:spcPts val="0"/>
              </a:spcBef>
              <a:spcAft>
                <a:spcPts val="600"/>
              </a:spcAft>
              <a:buFont typeface="Arial" pitchFamily="34" charset="0"/>
              <a:buChar char=" "/>
              <a:defRPr sz="1000" b="0" baseline="0">
                <a:latin typeface="+mn-lt"/>
              </a:defRPr>
            </a:lvl1pPr>
            <a:lvl2pPr marL="0" indent="0">
              <a:lnSpc>
                <a:spcPts val="1200"/>
              </a:lnSpc>
              <a:spcBef>
                <a:spcPts val="0"/>
              </a:spcBef>
              <a:spcAft>
                <a:spcPts val="1200"/>
              </a:spcAft>
              <a:buFont typeface="Arial" pitchFamily="34" charset="0"/>
              <a:buChar char=" "/>
              <a:defRPr sz="1000" b="1" baseline="0">
                <a:solidFill>
                  <a:srgbClr val="666666"/>
                </a:solidFill>
                <a:latin typeface="Arial" pitchFamily="34" charset="0"/>
              </a:defRPr>
            </a:lvl2pPr>
            <a:lvl3pPr marL="228600" indent="-228600">
              <a:buClr>
                <a:srgbClr val="B01C2E"/>
              </a:buClr>
              <a:buFont typeface="Wingdings 2" pitchFamily="18" charset="2"/>
              <a:buChar char="¡"/>
              <a:defRPr sz="1000" baseline="0">
                <a:latin typeface="Arial" pitchFamily="34" charset="0"/>
              </a:defRPr>
            </a:lvl3pPr>
            <a:lvl4pPr marL="457200" indent="-228600">
              <a:buClr>
                <a:srgbClr val="B01C2E"/>
              </a:buClr>
              <a:buFont typeface="Arial" pitchFamily="34" charset="0"/>
              <a:buChar char="–"/>
              <a:defRPr sz="1000" baseline="0">
                <a:latin typeface="Arial" pitchFamily="34" charset="0"/>
              </a:defRPr>
            </a:lvl4pPr>
            <a:lvl5pPr marL="685800" indent="-228600">
              <a:buClr>
                <a:srgbClr val="B01C2E"/>
              </a:buClr>
              <a:buFont typeface="Arial" pitchFamily="34" charset="0"/>
              <a:buChar char="–"/>
              <a:defRPr sz="100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1000"/>
              </a:lnSpc>
              <a:buNone/>
              <a:defRPr sz="1000" b="0"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71450" indent="-171450">
              <a:buClr>
                <a:srgbClr val="B01C2E"/>
              </a:buClr>
              <a:buFont typeface="Wingdings 2" pitchFamily="18" charset="2"/>
              <a:buNone/>
              <a:defRPr sz="1000" b="1" baseline="0">
                <a:solidFill>
                  <a:srgbClr val="B01C2E"/>
                </a:solidFill>
              </a:defRPr>
            </a:lvl1pPr>
            <a:lvl2pPr marL="118872" indent="-118872">
              <a:buClr>
                <a:srgbClr val="B01C2E"/>
              </a:buClr>
              <a:buFont typeface="Wingdings 2" pitchFamily="18" charset="2"/>
              <a:buNone/>
              <a:defRPr sz="1000" b="1" baseline="0">
                <a:solidFill>
                  <a:srgbClr val="B01C2E"/>
                </a:solidFill>
              </a:defRPr>
            </a:lvl2pPr>
            <a:lvl3pPr marL="0" indent="-118872" algn="l" defTabSz="914400" rtl="0" eaLnBrk="1" latinLnBrk="0" hangingPunct="1">
              <a:lnSpc>
                <a:spcPct val="95000"/>
              </a:lnSpc>
              <a:spcBef>
                <a:spcPts val="0"/>
              </a:spcBef>
              <a:spcAft>
                <a:spcPts val="240"/>
              </a:spcAft>
              <a:buClr>
                <a:srgbClr val="B01C2E"/>
              </a:buClr>
              <a:buFont typeface="Wingdings 2" pitchFamily="18" charset="2"/>
              <a:buNone/>
              <a:defRPr lang="en-US" sz="1000" b="1" kern="1200" baseline="0" dirty="0" smtClean="0">
                <a:solidFill>
                  <a:srgbClr val="B01C2E"/>
                </a:solidFill>
                <a:latin typeface="+mn-lt"/>
                <a:ea typeface="+mn-ea"/>
                <a:cs typeface="+mn-cs"/>
              </a:defRPr>
            </a:lvl3pPr>
            <a:lvl4pPr marL="682625" indent="-169863">
              <a:buClr>
                <a:srgbClr val="B01C2E"/>
              </a:buClr>
              <a:defRPr sz="1000"/>
            </a:lvl4pPr>
            <a:lvl5pPr marL="854075" indent="-171450">
              <a:buClr>
                <a:srgbClr val="B01C2E"/>
              </a:buClr>
              <a:buFont typeface="Arial" pitchFamily="34" charset="0"/>
              <a:buChar char="–"/>
              <a:defRPr sz="100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240"/>
              </a:spcAft>
              <a:buNone/>
              <a:defRPr sz="1000" b="0"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NSimSun" pitchFamily="49" charset="-122"/>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118872" indent="-118872">
              <a:lnSpc>
                <a:spcPct val="95000"/>
              </a:lnSpc>
              <a:spcBef>
                <a:spcPts val="0"/>
              </a:spcBef>
              <a:spcAft>
                <a:spcPts val="200"/>
              </a:spcAft>
              <a:buClr>
                <a:schemeClr val="accent1"/>
              </a:buClr>
              <a:buFont typeface="Wingdings 2" pitchFamily="18" charset="2"/>
              <a:buChar char=""/>
              <a:defRPr sz="1000" baseline="0">
                <a:solidFill>
                  <a:schemeClr val="tx1"/>
                </a:solidFill>
              </a:defRPr>
            </a:lvl1pPr>
            <a:lvl2pPr marL="118872" indent="-118872">
              <a:lnSpc>
                <a:spcPct val="95000"/>
              </a:lnSpc>
              <a:spcBef>
                <a:spcPts val="0"/>
              </a:spcBef>
              <a:spcAft>
                <a:spcPts val="200"/>
              </a:spcAft>
              <a:buClr>
                <a:srgbClr val="B01C2E"/>
              </a:buClr>
              <a:buFont typeface="Arial" pitchFamily="34" charset="0"/>
              <a:buChar char=" "/>
              <a:defRPr sz="1000" baseline="0"/>
            </a:lvl2pPr>
            <a:lvl3pPr marL="118872" indent="-118872">
              <a:lnSpc>
                <a:spcPct val="95000"/>
              </a:lnSpc>
              <a:spcBef>
                <a:spcPts val="0"/>
              </a:spcBef>
              <a:spcAft>
                <a:spcPts val="200"/>
              </a:spcAft>
              <a:buClr>
                <a:srgbClr val="B01C2E"/>
              </a:buClr>
              <a:buFont typeface="Wingdings 2" pitchFamily="18" charset="2"/>
              <a:buChar char="¡"/>
              <a:defRPr sz="100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21136694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5" y="2982769"/>
            <a:ext cx="1904615" cy="934604"/>
          </a:xfrm>
          <a:prstGeom prst="rect">
            <a:avLst/>
          </a:prstGeom>
        </p:spPr>
        <p:txBody>
          <a:bodyPr/>
          <a:lstStyle>
            <a:lvl1pPr marL="0" indent="0">
              <a:lnSpc>
                <a:spcPts val="1000"/>
              </a:lnSpc>
              <a:buNone/>
              <a:defRPr sz="1000" b="1" baseline="0"/>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3"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2" y="1246188"/>
            <a:ext cx="10917767" cy="228600"/>
          </a:xfrm>
          <a:prstGeom prst="rect">
            <a:avLst/>
          </a:prstGeom>
        </p:spPr>
        <p:txBody>
          <a:bodyPr/>
          <a:lstStyle>
            <a:lvl1pPr>
              <a:buFontTx/>
              <a:buNone/>
              <a:defRPr sz="12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5"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2" y="1589234"/>
            <a:ext cx="1426633" cy="1330325"/>
          </a:xfrm>
          <a:prstGeom prst="rect">
            <a:avLst/>
          </a:prstGeom>
        </p:spPr>
        <p:txBody>
          <a:bodyPr/>
          <a:lstStyle>
            <a:lvl1pPr>
              <a:buFont typeface="Wingdings 2" pitchFamily="18" charset="2"/>
              <a:buChar char=""/>
              <a:defRPr lang="en-US" sz="16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8"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498" y="1589234"/>
            <a:ext cx="1426633" cy="1330325"/>
          </a:xfrm>
          <a:prstGeom prst="rect">
            <a:avLst/>
          </a:prstGeom>
        </p:spPr>
        <p:txBody>
          <a:bodyPr/>
          <a:lstStyle>
            <a:lvl1pPr>
              <a:buFont typeface="Wingdings 2" pitchFamily="18" charset="2"/>
              <a:buChar cha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7"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4"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89" y="2982769"/>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89" y="1589234"/>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3"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5"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spcBef>
                <a:spcPts val="0"/>
              </a:spcBef>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2"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8"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498"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7"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4" y="3927187"/>
            <a:ext cx="1426633" cy="1330325"/>
          </a:xfrm>
          <a:prstGeom prst="rect">
            <a:avLst/>
          </a:prstGeom>
        </p:spPr>
        <p:txBody>
          <a:bodyPr/>
          <a:lstStyle>
            <a:lvl1pPr>
              <a:defRPr lang="en-US" sz="16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89" y="5320723"/>
            <a:ext cx="1904615" cy="934604"/>
          </a:xfrm>
          <a:prstGeom prst="rect">
            <a:avLst/>
          </a:prstGeom>
        </p:spPr>
        <p:txBody>
          <a:bodyPr/>
          <a:lstStyle>
            <a:lvl1pPr marL="0" indent="0">
              <a:lnSpc>
                <a:spcPts val="1000"/>
              </a:lnSpc>
              <a:buNone/>
              <a:defRPr sz="1000" b="1"/>
            </a:lvl1pPr>
            <a:lvl2pPr marL="0" indent="0">
              <a:lnSpc>
                <a:spcPts val="1000"/>
              </a:lnSpc>
              <a:buNone/>
              <a:defRPr sz="1000" i="1"/>
            </a:lvl2pPr>
            <a:lvl3pPr marL="0" indent="0">
              <a:lnSpc>
                <a:spcPts val="1000"/>
              </a:lnSpc>
              <a:buFont typeface="Arial" pitchFamily="34" charset="0"/>
              <a:buNone/>
              <a:defRPr sz="1000"/>
            </a:lvl3pPr>
            <a:lvl4pPr marL="0" indent="0">
              <a:lnSpc>
                <a:spcPts val="1000"/>
              </a:lnSpc>
              <a:buNone/>
              <a:defRPr sz="1000"/>
            </a:lvl4pPr>
            <a:lvl5pPr marL="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89" y="3962401"/>
            <a:ext cx="1426633" cy="1330325"/>
          </a:xfrm>
          <a:prstGeom prst="rect">
            <a:avLst/>
          </a:prstGeom>
        </p:spPr>
        <p:txBody>
          <a:bodyPr/>
          <a:lstStyle>
            <a:lvl1pPr>
              <a:defRPr lang="en-US" sz="1600" kern="1200" noProof="0" dirty="0">
                <a:solidFill>
                  <a:schemeClr val="tx1"/>
                </a:solidFill>
                <a:latin typeface="+mn-lt"/>
                <a:ea typeface="+mn-ea"/>
                <a:cs typeface="+mn-cs"/>
              </a:defRPr>
            </a:lvl1pPr>
            <a:lvl2pPr>
              <a:defRPr lang="en-US" sz="16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2988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1050"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4"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1200" b="1" baseline="0">
                <a:latin typeface="+mn-lt"/>
              </a:defRPr>
            </a:lvl1pPr>
            <a:lvl2pPr>
              <a:defRPr sz="1200" baseline="0">
                <a:latin typeface="Arial" pitchFamily="34" charset="0"/>
              </a:defRPr>
            </a:lvl2pPr>
            <a:lvl3pPr>
              <a:defRPr sz="1200" baseline="0">
                <a:latin typeface="Arial" pitchFamily="34" charset="0"/>
              </a:defRPr>
            </a:lvl3pPr>
            <a:lvl4pPr>
              <a:defRPr sz="1200" baseline="0">
                <a:latin typeface="Arial" pitchFamily="34" charset="0"/>
              </a:defRPr>
            </a:lvl4pPr>
            <a:lvl5pPr>
              <a:defRPr sz="12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12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Taxation of C Corporations</a:t>
            </a:r>
          </a:p>
        </p:txBody>
      </p:sp>
    </p:spTree>
    <p:extLst>
      <p:ext uri="{BB962C8B-B14F-4D97-AF65-F5344CB8AC3E}">
        <p14:creationId xmlns:p14="http://schemas.microsoft.com/office/powerpoint/2010/main" val="15871175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3869224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914400" rtl="0" eaLnBrk="1" latinLnBrk="0" hangingPunct="1">
              <a:lnSpc>
                <a:spcPct val="100000"/>
              </a:lnSpc>
              <a:spcBef>
                <a:spcPts val="4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914400" rtl="0" eaLnBrk="1" latinLnBrk="0" hangingPunct="1">
              <a:lnSpc>
                <a:spcPct val="100000"/>
              </a:lnSpc>
              <a:spcBef>
                <a:spcPts val="200"/>
              </a:spcBef>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spcBef>
                <a:spcPts val="200"/>
              </a:spcBef>
              <a:buNone/>
              <a:defRPr kumimoji="0" lang="en-US" sz="700"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spcBef>
                <a:spcPts val="200"/>
              </a:spcBef>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914400" rtl="0" eaLnBrk="1" latinLnBrk="0" hangingPunct="1">
              <a:lnSpc>
                <a:spcPct val="100000"/>
              </a:lnSpc>
              <a:spcBef>
                <a:spcPts val="0"/>
              </a:spcBef>
              <a:buNone/>
              <a:defRPr kumimoji="0" lang="en-US" sz="700"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914400" rtl="0" eaLnBrk="1" latinLnBrk="0" hangingPunct="1">
              <a:lnSpc>
                <a:spcPct val="100000"/>
              </a:lnSpc>
              <a:buNone/>
              <a:defRPr kumimoji="0" lang="en-US" sz="8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914400" rtl="0" eaLnBrk="1" latinLnBrk="0" hangingPunct="1">
              <a:lnSpc>
                <a:spcPct val="100000"/>
              </a:lnSpc>
              <a:buNone/>
              <a:defRPr kumimoji="0" lang="en-US" sz="8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2302434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u="none"/>
            </a:lvl1pPr>
            <a:lvl2pPr marL="0" indent="0">
              <a:lnSpc>
                <a:spcPct val="100000"/>
              </a:lnSpc>
              <a:spcBef>
                <a:spcPts val="0"/>
              </a:spcBef>
              <a:buNone/>
              <a:defRPr sz="700" b="0" i="0" u="none">
                <a:solidFill>
                  <a:srgbClr val="808080"/>
                </a:solidFill>
              </a:defRPr>
            </a:lvl2pPr>
            <a:lvl3pPr marL="0" indent="0">
              <a:lnSpc>
                <a:spcPct val="100000"/>
              </a:lnSpc>
              <a:spcBef>
                <a:spcPts val="100"/>
              </a:spcBef>
              <a:buNone/>
              <a:defRPr sz="700" b="0" i="0" u="none">
                <a:solidFill>
                  <a:srgbClr val="808080"/>
                </a:solidFill>
              </a:defRPr>
            </a:lvl3pPr>
            <a:lvl4pPr marL="0" indent="0">
              <a:lnSpc>
                <a:spcPct val="100000"/>
              </a:lnSpc>
              <a:spcBef>
                <a:spcPts val="100"/>
              </a:spcBef>
              <a:buNone/>
              <a:defRPr sz="700" b="0" i="0" u="none">
                <a:solidFill>
                  <a:srgbClr val="808080"/>
                </a:solidFill>
              </a:defRPr>
            </a:lvl4pPr>
            <a:lvl5pPr marL="0" indent="0">
              <a:lnSpc>
                <a:spcPct val="100000"/>
              </a:lnSpc>
              <a:spcBef>
                <a:spcPts val="100"/>
              </a:spcBef>
              <a:buNone/>
              <a:defRPr sz="700"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i="0"/>
            </a:lvl1pPr>
            <a:lvl2pPr marL="0" indent="0">
              <a:lnSpc>
                <a:spcPct val="100000"/>
              </a:lnSpc>
              <a:spcBef>
                <a:spcPts val="0"/>
              </a:spcBef>
              <a:buNone/>
              <a:defRPr sz="700" b="0" i="0">
                <a:solidFill>
                  <a:srgbClr val="808080"/>
                </a:solidFill>
              </a:defRPr>
            </a:lvl2pPr>
            <a:lvl3pPr marL="0" indent="0">
              <a:lnSpc>
                <a:spcPct val="100000"/>
              </a:lnSpc>
              <a:spcBef>
                <a:spcPts val="100"/>
              </a:spcBef>
              <a:buNone/>
              <a:defRPr sz="700" b="0" i="0">
                <a:solidFill>
                  <a:srgbClr val="808080"/>
                </a:solidFill>
              </a:defRPr>
            </a:lvl3pPr>
            <a:lvl4pPr marL="0" indent="0">
              <a:lnSpc>
                <a:spcPct val="100000"/>
              </a:lnSpc>
              <a:spcBef>
                <a:spcPts val="100"/>
              </a:spcBef>
              <a:buNone/>
              <a:defRPr sz="700" b="0" i="0">
                <a:solidFill>
                  <a:srgbClr val="808080"/>
                </a:solidFill>
              </a:defRPr>
            </a:lvl4pPr>
            <a:lvl5pPr marL="0" indent="0">
              <a:lnSpc>
                <a:spcPct val="100000"/>
              </a:lnSpc>
              <a:spcBef>
                <a:spcPts val="100"/>
              </a:spcBef>
              <a:buNone/>
              <a:defRPr sz="700"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chemeClr val="tx1"/>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600"/>
              </a:spcBef>
              <a:buNone/>
              <a:defRPr sz="700" b="1" i="1"/>
            </a:lvl1pPr>
            <a:lvl2pPr marL="0" indent="0">
              <a:lnSpc>
                <a:spcPct val="100000"/>
              </a:lnSpc>
              <a:spcBef>
                <a:spcPts val="0"/>
              </a:spcBef>
              <a:buNone/>
              <a:defRPr sz="700" b="0">
                <a:solidFill>
                  <a:srgbClr val="000000"/>
                </a:solidFill>
              </a:defRPr>
            </a:lvl2pPr>
            <a:lvl3pPr marL="0" indent="0">
              <a:lnSpc>
                <a:spcPct val="100000"/>
              </a:lnSpc>
              <a:spcBef>
                <a:spcPts val="100"/>
              </a:spcBef>
              <a:buNone/>
              <a:defRPr sz="700" b="0" i="1">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9207963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10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600"/>
              </a:spcBef>
              <a:buNone/>
              <a:defRPr sz="800" b="1"/>
            </a:lvl1pPr>
            <a:lvl2pPr marL="0" indent="0">
              <a:lnSpc>
                <a:spcPct val="100000"/>
              </a:lnSpc>
              <a:spcBef>
                <a:spcPts val="100"/>
              </a:spcBef>
              <a:buNone/>
              <a:defRPr sz="700" b="0">
                <a:solidFill>
                  <a:srgbClr val="808080"/>
                </a:solidFill>
              </a:defRPr>
            </a:lvl2pPr>
            <a:lvl3pPr marL="0" indent="0">
              <a:lnSpc>
                <a:spcPct val="100000"/>
              </a:lnSpc>
              <a:spcBef>
                <a:spcPts val="100"/>
              </a:spcBef>
              <a:buNone/>
              <a:defRPr sz="700" b="0">
                <a:solidFill>
                  <a:srgbClr val="808080"/>
                </a:solidFill>
              </a:defRPr>
            </a:lvl3pPr>
            <a:lvl4pPr marL="0" indent="0">
              <a:lnSpc>
                <a:spcPct val="100000"/>
              </a:lnSpc>
              <a:spcBef>
                <a:spcPts val="100"/>
              </a:spcBef>
              <a:buNone/>
              <a:defRPr sz="700" b="0">
                <a:solidFill>
                  <a:srgbClr val="808080"/>
                </a:solidFill>
              </a:defRPr>
            </a:lvl4pPr>
            <a:lvl5pPr marL="0" indent="0">
              <a:lnSpc>
                <a:spcPct val="100000"/>
              </a:lnSpc>
              <a:spcBef>
                <a:spcPts val="10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14886657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914400" rtl="0" eaLnBrk="1" latinLnBrk="0" hangingPunct="1">
              <a:lnSpc>
                <a:spcPct val="100000"/>
              </a:lnSpc>
              <a:spcBef>
                <a:spcPts val="0"/>
              </a:spcBef>
              <a:buClr>
                <a:srgbClr val="9E3039"/>
              </a:buClr>
              <a:buFont typeface="Arial" pitchFamily="34" charset="0"/>
              <a:buNone/>
              <a:defRPr kumimoji="0" lang="en-US" sz="700"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300"/>
              </a:spcBef>
              <a:buNone/>
              <a:defRPr sz="800" b="1"/>
            </a:lvl1pPr>
            <a:lvl2pPr marL="0" indent="0">
              <a:lnSpc>
                <a:spcPct val="100000"/>
              </a:lnSpc>
              <a:spcBef>
                <a:spcPts val="0"/>
              </a:spcBef>
              <a:buNone/>
              <a:defRPr sz="700" b="0">
                <a:solidFill>
                  <a:srgbClr val="808080"/>
                </a:solidFill>
              </a:defRPr>
            </a:lvl2pPr>
            <a:lvl3pPr marL="0" indent="0">
              <a:lnSpc>
                <a:spcPct val="100000"/>
              </a:lnSpc>
              <a:spcBef>
                <a:spcPts val="0"/>
              </a:spcBef>
              <a:buNone/>
              <a:defRPr sz="700" b="0">
                <a:solidFill>
                  <a:srgbClr val="808080"/>
                </a:solidFill>
              </a:defRPr>
            </a:lvl3pPr>
            <a:lvl4pPr marL="0" indent="0">
              <a:lnSpc>
                <a:spcPct val="100000"/>
              </a:lnSpc>
              <a:spcBef>
                <a:spcPts val="0"/>
              </a:spcBef>
              <a:buNone/>
              <a:defRPr sz="700" b="0">
                <a:solidFill>
                  <a:srgbClr val="808080"/>
                </a:solidFill>
              </a:defRPr>
            </a:lvl4pPr>
            <a:lvl5pPr marL="0" indent="0">
              <a:lnSpc>
                <a:spcPct val="100000"/>
              </a:lnSpc>
              <a:spcBef>
                <a:spcPts val="0"/>
              </a:spcBef>
              <a:buNone/>
              <a:defRPr sz="700"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400"/>
              </a:spcBef>
              <a:buNone/>
              <a:defRPr sz="1200" b="1">
                <a:solidFill>
                  <a:srgbClr val="FFFFFF"/>
                </a:solidFill>
              </a:defRPr>
            </a:lvl1pPr>
            <a:lvl2pPr marL="0" indent="0">
              <a:lnSpc>
                <a:spcPct val="100000"/>
              </a:lnSpc>
              <a:spcBef>
                <a:spcPts val="100"/>
              </a:spcBef>
              <a:spcAft>
                <a:spcPts val="200"/>
              </a:spcAft>
              <a:buNone/>
              <a:defRPr sz="800" b="0">
                <a:solidFill>
                  <a:srgbClr val="D9D9D9"/>
                </a:solidFill>
              </a:defRPr>
            </a:lvl2pPr>
            <a:lvl3pPr marL="0" indent="0">
              <a:lnSpc>
                <a:spcPct val="100000"/>
              </a:lnSpc>
              <a:spcBef>
                <a:spcPts val="100"/>
              </a:spcBef>
              <a:spcAft>
                <a:spcPts val="200"/>
              </a:spcAft>
              <a:buNone/>
              <a:defRPr sz="800" b="0">
                <a:solidFill>
                  <a:srgbClr val="D9D9D9"/>
                </a:solidFill>
              </a:defRPr>
            </a:lvl3pPr>
            <a:lvl4pPr marL="0" indent="0">
              <a:lnSpc>
                <a:spcPct val="100000"/>
              </a:lnSpc>
              <a:spcBef>
                <a:spcPts val="100"/>
              </a:spcBef>
              <a:spcAft>
                <a:spcPts val="200"/>
              </a:spcAft>
              <a:buNone/>
              <a:defRPr sz="800" b="0">
                <a:solidFill>
                  <a:srgbClr val="D9D9D9"/>
                </a:solidFill>
              </a:defRPr>
            </a:lvl4pPr>
            <a:lvl5pPr marL="0" indent="0">
              <a:lnSpc>
                <a:spcPct val="100000"/>
              </a:lnSpc>
              <a:spcBef>
                <a:spcPts val="100"/>
              </a:spcBef>
              <a:spcAft>
                <a:spcPts val="200"/>
              </a:spcAft>
              <a:buNone/>
              <a:defRPr sz="8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1"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20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Taxation of C Corporations</a:t>
            </a:r>
          </a:p>
        </p:txBody>
      </p:sp>
    </p:spTree>
    <p:extLst>
      <p:ext uri="{BB962C8B-B14F-4D97-AF65-F5344CB8AC3E}">
        <p14:creationId xmlns:p14="http://schemas.microsoft.com/office/powerpoint/2010/main" val="9900634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Taxation of C Corporations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2654697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30492586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 name="Slide Number Placeholder 9"/>
          <p:cNvSpPr>
            <a:spLocks noGrp="1"/>
          </p:cNvSpPr>
          <p:nvPr>
            <p:ph type="sldNum" sz="quarter" idx="4"/>
          </p:nvPr>
        </p:nvSpPr>
        <p:spPr>
          <a:xfrm>
            <a:off x="11480800" y="6436634"/>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4165600" y="6442487"/>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Taxation of C Corporations</a:t>
            </a:r>
          </a:p>
        </p:txBody>
      </p:sp>
      <p:sp>
        <p:nvSpPr>
          <p:cNvPr id="9" name="Footer Placeholder 3"/>
          <p:cNvSpPr txBox="1">
            <a:spLocks/>
          </p:cNvSpPr>
          <p:nvPr userDrawn="1"/>
        </p:nvSpPr>
        <p:spPr>
          <a:xfrm>
            <a:off x="96545" y="6423028"/>
            <a:ext cx="31496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dirty="0">
                <a:latin typeface="+mn-lt"/>
              </a:rPr>
              <a:t>CT</a:t>
            </a:r>
            <a:r>
              <a:rPr lang="en-US" sz="800" baseline="0" dirty="0">
                <a:latin typeface="+mn-lt"/>
              </a:rPr>
              <a:t>_C_Corp_2026S</a:t>
            </a:r>
            <a:endParaRPr lang="en-US" sz="800" dirty="0">
              <a:latin typeface="+mn-lt"/>
            </a:endParaRPr>
          </a:p>
        </p:txBody>
      </p:sp>
    </p:spTree>
    <p:extLst>
      <p:ext uri="{BB962C8B-B14F-4D97-AF65-F5344CB8AC3E}">
        <p14:creationId xmlns:p14="http://schemas.microsoft.com/office/powerpoint/2010/main" val="371776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715"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6" r:id="rId56"/>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Arial" charset="0"/>
        </a:defRPr>
      </a:lvl2pPr>
      <a:lvl3pPr algn="ctr" rtl="0" eaLnBrk="1" fontAlgn="base" hangingPunct="1">
        <a:spcBef>
          <a:spcPct val="0"/>
        </a:spcBef>
        <a:spcAft>
          <a:spcPct val="0"/>
        </a:spcAft>
        <a:defRPr sz="4400">
          <a:solidFill>
            <a:schemeClr val="tx1"/>
          </a:solidFill>
          <a:latin typeface="Arial" charset="0"/>
        </a:defRPr>
      </a:lvl3pPr>
      <a:lvl4pPr algn="ctr" rtl="0" eaLnBrk="1" fontAlgn="base" hangingPunct="1">
        <a:spcBef>
          <a:spcPct val="0"/>
        </a:spcBef>
        <a:spcAft>
          <a:spcPct val="0"/>
        </a:spcAft>
        <a:defRPr sz="4400">
          <a:solidFill>
            <a:schemeClr val="tx1"/>
          </a:solidFill>
          <a:latin typeface="Arial" charset="0"/>
        </a:defRPr>
      </a:lvl4pPr>
      <a:lvl5pPr algn="ctr" rtl="0" eaLnBrk="1" fontAlgn="base" hangingPunct="1">
        <a:spcBef>
          <a:spcPct val="0"/>
        </a:spcBef>
        <a:spcAft>
          <a:spcPct val="0"/>
        </a:spcAft>
        <a:defRPr sz="4400">
          <a:solidFill>
            <a:schemeClr val="tx1"/>
          </a:solidFill>
          <a:latin typeface="Arial" charset="0"/>
        </a:defRPr>
      </a:lvl5pPr>
      <a:lvl6pPr marL="457200" algn="ctr" rtl="0" eaLnBrk="1" fontAlgn="base" hangingPunct="1">
        <a:spcBef>
          <a:spcPct val="0"/>
        </a:spcBef>
        <a:spcAft>
          <a:spcPct val="0"/>
        </a:spcAft>
        <a:defRPr sz="4400">
          <a:solidFill>
            <a:schemeClr val="tx1"/>
          </a:solidFill>
          <a:latin typeface="Arial" charset="0"/>
        </a:defRPr>
      </a:lvl6pPr>
      <a:lvl7pPr marL="914400" algn="ctr" rtl="0" eaLnBrk="1" fontAlgn="base" hangingPunct="1">
        <a:spcBef>
          <a:spcPct val="0"/>
        </a:spcBef>
        <a:spcAft>
          <a:spcPct val="0"/>
        </a:spcAft>
        <a:defRPr sz="4400">
          <a:solidFill>
            <a:schemeClr val="tx1"/>
          </a:solidFill>
          <a:latin typeface="Arial" charset="0"/>
        </a:defRPr>
      </a:lvl7pPr>
      <a:lvl8pPr marL="1371600" algn="ctr" rtl="0" eaLnBrk="1" fontAlgn="base" hangingPunct="1">
        <a:spcBef>
          <a:spcPct val="0"/>
        </a:spcBef>
        <a:spcAft>
          <a:spcPct val="0"/>
        </a:spcAft>
        <a:defRPr sz="4400">
          <a:solidFill>
            <a:schemeClr val="tx1"/>
          </a:solidFill>
          <a:latin typeface="Arial" charset="0"/>
        </a:defRPr>
      </a:lvl8pPr>
      <a:lvl9pPr marL="1828800" algn="ctr"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1.xlsx"/><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sciencedirect.com/topics/economics-econometrics-and-finance/deferred-tax"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rb.gy/p19en7" TargetMode="External"/><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rb.gy/p19en7"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r>
              <a:rPr lang="en-US" dirty="0"/>
              <a:t>Corporate Taxation</a:t>
            </a:r>
          </a:p>
        </p:txBody>
      </p:sp>
      <p:sp>
        <p:nvSpPr>
          <p:cNvPr id="3" name="Subtitle 2"/>
          <p:cNvSpPr>
            <a:spLocks noGrp="1"/>
          </p:cNvSpPr>
          <p:nvPr>
            <p:ph type="subTitle" idx="1"/>
          </p:nvPr>
        </p:nvSpPr>
        <p:spPr>
          <a:xfrm>
            <a:off x="1524000" y="2988641"/>
            <a:ext cx="9144000" cy="1655762"/>
          </a:xfrm>
        </p:spPr>
        <p:txBody>
          <a:bodyPr>
            <a:normAutofit/>
          </a:bodyPr>
          <a:lstStyle/>
          <a:p>
            <a:r>
              <a:rPr lang="en-US" sz="2800" dirty="0"/>
              <a:t>Prof. Colon</a:t>
            </a:r>
          </a:p>
          <a:p>
            <a:r>
              <a:rPr lang="en-US" sz="2800" dirty="0"/>
              <a:t>Spring 2026</a:t>
            </a:r>
          </a:p>
          <a:p>
            <a:r>
              <a:rPr lang="en-US" sz="2800" dirty="0"/>
              <a:t>C Corporation Taxation</a:t>
            </a:r>
          </a:p>
        </p:txBody>
      </p:sp>
      <p:sp>
        <p:nvSpPr>
          <p:cNvPr id="6" name="Footer Placeholder 5"/>
          <p:cNvSpPr>
            <a:spLocks noGrp="1"/>
          </p:cNvSpPr>
          <p:nvPr>
            <p:ph type="ftr" sz="quarter" idx="11"/>
          </p:nvPr>
        </p:nvSpPr>
        <p:spPr/>
        <p:txBody>
          <a:bodyPr/>
          <a:lstStyle/>
          <a:p>
            <a:r>
              <a:rPr lang="en-US" dirty="0"/>
              <a:t>Taxation of C Corporations</a:t>
            </a:r>
          </a:p>
        </p:txBody>
      </p:sp>
      <p:sp>
        <p:nvSpPr>
          <p:cNvPr id="7" name="Slide Number Placeholder 6"/>
          <p:cNvSpPr>
            <a:spLocks noGrp="1"/>
          </p:cNvSpPr>
          <p:nvPr>
            <p:ph type="sldNum" sz="quarter" idx="12"/>
          </p:nvPr>
        </p:nvSpPr>
        <p:spPr/>
        <p:txBody>
          <a:bodyPr/>
          <a:lstStyle/>
          <a:p>
            <a:fld id="{96D85B43-D788-46F7-A773-91C165729B06}" type="slidenum">
              <a:rPr lang="en-US" smtClean="0"/>
              <a:t>1</a:t>
            </a:fld>
            <a:endParaRPr lang="en-US"/>
          </a:p>
        </p:txBody>
      </p:sp>
      <p:pic>
        <p:nvPicPr>
          <p:cNvPr id="8" name="Picture 7" descr="pic1.tiff">
            <a:extLst>
              <a:ext uri="{FF2B5EF4-FFF2-40B4-BE49-F238E27FC236}">
                <a16:creationId xmlns:a16="http://schemas.microsoft.com/office/drawing/2014/main" id="{875BC4D3-57EF-9946-909E-614DC0E96A2F}"/>
              </a:ext>
            </a:extLst>
          </p:cNvPr>
          <p:cNvPicPr>
            <a:picLocks noChangeAspect="1"/>
          </p:cNvPicPr>
          <p:nvPr/>
        </p:nvPicPr>
        <p:blipFill>
          <a:blip r:embed="rId3"/>
          <a:stretch>
            <a:fillRect/>
          </a:stretch>
        </p:blipFill>
        <p:spPr>
          <a:xfrm>
            <a:off x="4572001" y="4893917"/>
            <a:ext cx="2873661" cy="649527"/>
          </a:xfrm>
          <a:prstGeom prst="rect">
            <a:avLst/>
          </a:prstGeom>
        </p:spPr>
      </p:pic>
    </p:spTree>
    <p:extLst>
      <p:ext uri="{BB962C8B-B14F-4D97-AF65-F5344CB8AC3E}">
        <p14:creationId xmlns:p14="http://schemas.microsoft.com/office/powerpoint/2010/main" val="784059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Corporations:  </a:t>
            </a:r>
            <a:r>
              <a:rPr lang="en-US" i="1" dirty="0"/>
              <a:t>Commissioner v. Bollinger</a:t>
            </a:r>
          </a:p>
        </p:txBody>
      </p:sp>
      <p:sp>
        <p:nvSpPr>
          <p:cNvPr id="3" name="Content Placeholder 2"/>
          <p:cNvSpPr>
            <a:spLocks noGrp="1"/>
          </p:cNvSpPr>
          <p:nvPr>
            <p:ph sz="quarter" idx="16"/>
          </p:nvPr>
        </p:nvSpPr>
        <p:spPr>
          <a:xfrm>
            <a:off x="508000" y="515606"/>
            <a:ext cx="5866164" cy="5921027"/>
          </a:xfrm>
        </p:spPr>
        <p:txBody>
          <a:bodyPr>
            <a:normAutofit fontScale="92500" lnSpcReduction="10000"/>
          </a:bodyPr>
          <a:lstStyle/>
          <a:p>
            <a:r>
              <a:rPr lang="en-US" i="1" dirty="0"/>
              <a:t>Moline Properties v. CIR, </a:t>
            </a:r>
            <a:r>
              <a:rPr lang="en-US" dirty="0"/>
              <a:t>319 U.S. 436 (1943)</a:t>
            </a:r>
          </a:p>
          <a:p>
            <a:pPr lvl="1" algn="just"/>
            <a:r>
              <a:rPr lang="en-US" sz="1800" i="1" dirty="0"/>
              <a:t>Whether the purpose be to gain an advantage under the law of the state of incorporation or to avoid or to comply with the demands of creditors or to serve the creator's personal or undisclosed convenience, </a:t>
            </a:r>
            <a:r>
              <a:rPr lang="en-US" sz="1800" b="1" i="1" dirty="0"/>
              <a:t>so long as that purpose is the equivalent of business activity or is followed by the carrying on of business by the corporation, the corporation remains a separate taxable entity</a:t>
            </a:r>
            <a:r>
              <a:rPr lang="is-IS" sz="1800" b="1" i="1" dirty="0"/>
              <a:t>…</a:t>
            </a:r>
            <a:r>
              <a:rPr lang="en-US" sz="1800" i="1" dirty="0"/>
              <a:t>The choice of the advantages of incorporation to do business, it was held, required the acceptance of the tax disadvantages.</a:t>
            </a:r>
          </a:p>
          <a:p>
            <a:pPr algn="just"/>
            <a:r>
              <a:rPr lang="en-US" i="1" dirty="0"/>
              <a:t>National Carbide Corp. v. CIR, </a:t>
            </a:r>
            <a:r>
              <a:rPr lang="en-US" dirty="0"/>
              <a:t>336 US 442 (1949)</a:t>
            </a:r>
          </a:p>
          <a:p>
            <a:pPr lvl="1" algn="just"/>
            <a:r>
              <a:rPr lang="en-US" sz="1800" i="1" dirty="0"/>
              <a:t>[1] Whether the corporation operates in the name and for the account of the principal, [2] binds the principal, by its actions, [3] transmits money received to the principal, and [4] whether receipt of income is attributable to the services of employees of the principal and to assets belonging to the principal are some of the relevant considerations in determining whether a true agency exists. </a:t>
            </a:r>
            <a:r>
              <a:rPr lang="en-US" sz="1800" b="1" i="1" dirty="0"/>
              <a:t>[5] If the corporation is a true agent, its relations with its principal must not be dependent upon the fact that it is owned by the principal, if such is the case. [6] Its business purpose must be the carrying on of the normal duties of an agent.</a:t>
            </a:r>
          </a:p>
        </p:txBody>
      </p:sp>
      <p:sp>
        <p:nvSpPr>
          <p:cNvPr id="5" name="Slide Number Placeholder 4"/>
          <p:cNvSpPr>
            <a:spLocks noGrp="1"/>
          </p:cNvSpPr>
          <p:nvPr>
            <p:ph type="sldNum" sz="quarter" idx="18"/>
          </p:nvPr>
        </p:nvSpPr>
        <p:spPr/>
        <p:txBody>
          <a:bodyPr/>
          <a:lstStyle/>
          <a:p>
            <a:fld id="{463EAD6B-1B79-144E-A805-1CA6FF1F03FA}" type="slidenum">
              <a:rPr lang="en-US" altLang="en-US" smtClean="0"/>
              <a:pPr/>
              <a:t>2</a:t>
            </a:fld>
            <a:endParaRPr lang="en-US" altLang="en-US" dirty="0"/>
          </a:p>
        </p:txBody>
      </p:sp>
      <p:sp>
        <p:nvSpPr>
          <p:cNvPr id="6" name="Footer Placeholder 5"/>
          <p:cNvSpPr>
            <a:spLocks noGrp="1"/>
          </p:cNvSpPr>
          <p:nvPr>
            <p:ph type="ftr" sz="quarter" idx="19"/>
          </p:nvPr>
        </p:nvSpPr>
        <p:spPr/>
        <p:txBody>
          <a:bodyPr/>
          <a:lstStyle/>
          <a:p>
            <a:pPr>
              <a:defRPr/>
            </a:pPr>
            <a:r>
              <a:rPr lang="en-US"/>
              <a:t>Taxation of C Corporations</a:t>
            </a:r>
          </a:p>
        </p:txBody>
      </p:sp>
      <p:sp>
        <p:nvSpPr>
          <p:cNvPr id="7" name="Rectangle 6"/>
          <p:cNvSpPr/>
          <p:nvPr/>
        </p:nvSpPr>
        <p:spPr>
          <a:xfrm>
            <a:off x="8140079" y="3107247"/>
            <a:ext cx="1097918" cy="48235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Creekside</a:t>
            </a:r>
            <a:endParaRPr lang="en-US" sz="1000" b="1" dirty="0">
              <a:solidFill>
                <a:schemeClr val="tx1"/>
              </a:solidFill>
            </a:endParaRPr>
          </a:p>
        </p:txBody>
      </p:sp>
      <p:sp>
        <p:nvSpPr>
          <p:cNvPr id="8" name="Triangle 7"/>
          <p:cNvSpPr/>
          <p:nvPr/>
        </p:nvSpPr>
        <p:spPr>
          <a:xfrm>
            <a:off x="6818146" y="2327893"/>
            <a:ext cx="956621" cy="779354"/>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err="1">
                <a:solidFill>
                  <a:schemeClr val="tx1"/>
                </a:solidFill>
              </a:rPr>
              <a:t>PSH</a:t>
            </a:r>
            <a:endParaRPr lang="en-US" sz="1600" b="1" dirty="0">
              <a:solidFill>
                <a:schemeClr val="tx1"/>
              </a:solidFill>
            </a:endParaRPr>
          </a:p>
        </p:txBody>
      </p:sp>
      <p:cxnSp>
        <p:nvCxnSpPr>
          <p:cNvPr id="9" name="Straight Arrow Connector 8"/>
          <p:cNvCxnSpPr>
            <a:cxnSpLocks/>
            <a:endCxn id="7" idx="0"/>
          </p:cNvCxnSpPr>
          <p:nvPr/>
        </p:nvCxnSpPr>
        <p:spPr>
          <a:xfrm>
            <a:off x="8674829" y="2197581"/>
            <a:ext cx="14209" cy="909666"/>
          </a:xfrm>
          <a:prstGeom prst="straightConnector1">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167446" y="1821143"/>
            <a:ext cx="1107483" cy="400110"/>
          </a:xfrm>
          <a:prstGeom prst="rect">
            <a:avLst/>
          </a:prstGeom>
          <a:noFill/>
        </p:spPr>
        <p:txBody>
          <a:bodyPr wrap="none" rtlCol="0">
            <a:spAutoFit/>
          </a:bodyPr>
          <a:lstStyle/>
          <a:p>
            <a:r>
              <a:rPr lang="en-US" sz="2000" dirty="0"/>
              <a:t>Bollinger</a:t>
            </a:r>
          </a:p>
        </p:txBody>
      </p:sp>
      <p:cxnSp>
        <p:nvCxnSpPr>
          <p:cNvPr id="20" name="Straight Arrow Connector 19"/>
          <p:cNvCxnSpPr>
            <a:cxnSpLocks/>
            <a:stCxn id="12" idx="2"/>
            <a:endCxn id="8" idx="5"/>
          </p:cNvCxnSpPr>
          <p:nvPr/>
        </p:nvCxnSpPr>
        <p:spPr>
          <a:xfrm flipH="1">
            <a:off x="7535612" y="2221253"/>
            <a:ext cx="1185576" cy="496317"/>
          </a:xfrm>
          <a:prstGeom prst="straightConnector1">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9396220" y="2187020"/>
            <a:ext cx="2393444" cy="1200329"/>
          </a:xfrm>
          <a:prstGeom prst="rect">
            <a:avLst/>
          </a:prstGeom>
          <a:noFill/>
        </p:spPr>
        <p:txBody>
          <a:bodyPr wrap="square" rtlCol="0">
            <a:spAutoFit/>
          </a:bodyPr>
          <a:lstStyle/>
          <a:p>
            <a:pPr algn="ctr"/>
            <a:r>
              <a:rPr lang="en-US" sz="1600" u="sng" dirty="0"/>
              <a:t>Agreement between B &amp; C</a:t>
            </a:r>
          </a:p>
          <a:p>
            <a:pPr marL="117475" indent="-117475">
              <a:buFont typeface="Arial" charset="0"/>
              <a:buChar char="•"/>
            </a:pPr>
            <a:r>
              <a:rPr lang="en-US" sz="1400" dirty="0"/>
              <a:t>Hold title to apart as agent</a:t>
            </a:r>
          </a:p>
          <a:p>
            <a:pPr marL="117475" indent="-117475">
              <a:buFont typeface="Arial" charset="0"/>
              <a:buChar char="•"/>
            </a:pPr>
            <a:r>
              <a:rPr lang="en-US" sz="1400" dirty="0"/>
              <a:t>No obligation to maintain</a:t>
            </a:r>
          </a:p>
          <a:p>
            <a:pPr marL="117475" indent="-117475">
              <a:buFont typeface="Arial" charset="0"/>
              <a:buChar char="•"/>
            </a:pPr>
            <a:r>
              <a:rPr lang="en-US" sz="1400" dirty="0"/>
              <a:t>B agrees to indemnify for liabilities</a:t>
            </a:r>
          </a:p>
        </p:txBody>
      </p:sp>
      <p:pic>
        <p:nvPicPr>
          <p:cNvPr id="38" name="Picture 37"/>
          <p:cNvPicPr>
            <a:picLocks noChangeAspect="1"/>
          </p:cNvPicPr>
          <p:nvPr/>
        </p:nvPicPr>
        <p:blipFill>
          <a:blip r:embed="rId3"/>
          <a:stretch>
            <a:fillRect/>
          </a:stretch>
        </p:blipFill>
        <p:spPr>
          <a:xfrm>
            <a:off x="8307563" y="3895143"/>
            <a:ext cx="755955" cy="686077"/>
          </a:xfrm>
          <a:prstGeom prst="rect">
            <a:avLst/>
          </a:prstGeom>
        </p:spPr>
      </p:pic>
      <p:cxnSp>
        <p:nvCxnSpPr>
          <p:cNvPr id="40" name="Straight Connector 39"/>
          <p:cNvCxnSpPr>
            <a:cxnSpLocks/>
            <a:stCxn id="7" idx="2"/>
            <a:endCxn id="38" idx="0"/>
          </p:cNvCxnSpPr>
          <p:nvPr/>
        </p:nvCxnSpPr>
        <p:spPr>
          <a:xfrm flipH="1">
            <a:off x="8685541" y="3589599"/>
            <a:ext cx="3497" cy="305544"/>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0084255" y="4053515"/>
            <a:ext cx="931665" cy="400110"/>
          </a:xfrm>
          <a:prstGeom prst="rect">
            <a:avLst/>
          </a:prstGeom>
          <a:noFill/>
        </p:spPr>
        <p:txBody>
          <a:bodyPr wrap="none" rtlCol="0">
            <a:spAutoFit/>
          </a:bodyPr>
          <a:lstStyle/>
          <a:p>
            <a:r>
              <a:rPr lang="en-US" sz="2000"/>
              <a:t>MMLIC</a:t>
            </a:r>
            <a:endParaRPr lang="en-US" sz="2000" dirty="0"/>
          </a:p>
        </p:txBody>
      </p:sp>
      <p:cxnSp>
        <p:nvCxnSpPr>
          <p:cNvPr id="48" name="Straight Arrow Connector 47"/>
          <p:cNvCxnSpPr>
            <a:cxnSpLocks/>
            <a:endCxn id="38" idx="3"/>
          </p:cNvCxnSpPr>
          <p:nvPr/>
        </p:nvCxnSpPr>
        <p:spPr>
          <a:xfrm flipH="1">
            <a:off x="9063518" y="4238181"/>
            <a:ext cx="5728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9263091" y="3742371"/>
            <a:ext cx="2855900" cy="338554"/>
          </a:xfrm>
          <a:prstGeom prst="rect">
            <a:avLst/>
          </a:prstGeom>
          <a:noFill/>
        </p:spPr>
        <p:txBody>
          <a:bodyPr wrap="square" rtlCol="0">
            <a:spAutoFit/>
          </a:bodyPr>
          <a:lstStyle/>
          <a:p>
            <a:r>
              <a:rPr lang="en-US" sz="1600" dirty="0"/>
              <a:t>$ (Loan + Bollinger guarantee)</a:t>
            </a:r>
          </a:p>
        </p:txBody>
      </p:sp>
      <p:cxnSp>
        <p:nvCxnSpPr>
          <p:cNvPr id="56" name="Straight Connector 55"/>
          <p:cNvCxnSpPr/>
          <p:nvPr/>
        </p:nvCxnSpPr>
        <p:spPr>
          <a:xfrm>
            <a:off x="6670110" y="515606"/>
            <a:ext cx="12526" cy="592102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825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p:bldP spid="34" grpId="0"/>
      <p:bldP spid="46" grpId="0"/>
      <p:bldP spid="5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90169F-6D46-3244-BA47-17047563E5F7}"/>
              </a:ext>
            </a:extLst>
          </p:cNvPr>
          <p:cNvSpPr>
            <a:spLocks noGrp="1"/>
          </p:cNvSpPr>
          <p:nvPr>
            <p:ph type="title"/>
          </p:nvPr>
        </p:nvSpPr>
        <p:spPr/>
        <p:txBody>
          <a:bodyPr/>
          <a:lstStyle/>
          <a:p>
            <a:r>
              <a:rPr lang="en-US" dirty="0"/>
              <a:t>C Corporations: Individual and Tax Rates for 2026</a:t>
            </a:r>
          </a:p>
        </p:txBody>
      </p:sp>
      <p:sp>
        <p:nvSpPr>
          <p:cNvPr id="4" name="Slide Number Placeholder 3">
            <a:extLst>
              <a:ext uri="{FF2B5EF4-FFF2-40B4-BE49-F238E27FC236}">
                <a16:creationId xmlns:a16="http://schemas.microsoft.com/office/drawing/2014/main" id="{559EDD64-64F8-AE48-BE18-9E27FDF8805B}"/>
              </a:ext>
            </a:extLst>
          </p:cNvPr>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5" name="Footer Placeholder 4">
            <a:extLst>
              <a:ext uri="{FF2B5EF4-FFF2-40B4-BE49-F238E27FC236}">
                <a16:creationId xmlns:a16="http://schemas.microsoft.com/office/drawing/2014/main" id="{F6D724E7-882D-184B-85F1-FC21C71B7E72}"/>
              </a:ext>
            </a:extLst>
          </p:cNvPr>
          <p:cNvSpPr>
            <a:spLocks noGrp="1"/>
          </p:cNvSpPr>
          <p:nvPr>
            <p:ph type="ftr" sz="quarter" idx="11"/>
          </p:nvPr>
        </p:nvSpPr>
        <p:spPr/>
        <p:txBody>
          <a:bodyPr/>
          <a:lstStyle/>
          <a:p>
            <a:pPr>
              <a:defRPr/>
            </a:pPr>
            <a:r>
              <a:rPr lang="en-US"/>
              <a:t>Choice of Entity</a:t>
            </a:r>
            <a:endParaRPr lang="en-US" dirty="0"/>
          </a:p>
        </p:txBody>
      </p:sp>
      <p:cxnSp>
        <p:nvCxnSpPr>
          <p:cNvPr id="8" name="Straight Connector 7">
            <a:extLst>
              <a:ext uri="{FF2B5EF4-FFF2-40B4-BE49-F238E27FC236}">
                <a16:creationId xmlns:a16="http://schemas.microsoft.com/office/drawing/2014/main" id="{B9B7984F-59FB-6644-B3F3-DAA72F4A6E3E}"/>
              </a:ext>
            </a:extLst>
          </p:cNvPr>
          <p:cNvCxnSpPr>
            <a:cxnSpLocks/>
          </p:cNvCxnSpPr>
          <p:nvPr/>
        </p:nvCxnSpPr>
        <p:spPr>
          <a:xfrm flipH="1">
            <a:off x="5718615" y="536448"/>
            <a:ext cx="5529" cy="590603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0" name="Group 336">
            <a:extLst>
              <a:ext uri="{FF2B5EF4-FFF2-40B4-BE49-F238E27FC236}">
                <a16:creationId xmlns:a16="http://schemas.microsoft.com/office/drawing/2014/main" id="{076A2589-0EE3-E24F-A623-854DF406D1FD}"/>
              </a:ext>
            </a:extLst>
          </p:cNvPr>
          <p:cNvGraphicFramePr>
            <a:graphicFrameLocks noGrp="1"/>
          </p:cNvGraphicFramePr>
          <p:nvPr>
            <p:extLst>
              <p:ext uri="{D42A27DB-BD31-4B8C-83A1-F6EECF244321}">
                <p14:modId xmlns:p14="http://schemas.microsoft.com/office/powerpoint/2010/main" val="1014420427"/>
              </p:ext>
            </p:extLst>
          </p:nvPr>
        </p:nvGraphicFramePr>
        <p:xfrm>
          <a:off x="869963" y="2035848"/>
          <a:ext cx="3616976" cy="942966"/>
        </p:xfrm>
        <a:graphic>
          <a:graphicData uri="http://schemas.openxmlformats.org/drawingml/2006/table">
            <a:tbl>
              <a:tblPr/>
              <a:tblGrid>
                <a:gridCol w="2938793">
                  <a:extLst>
                    <a:ext uri="{9D8B030D-6E8A-4147-A177-3AD203B41FA5}">
                      <a16:colId xmlns:a16="http://schemas.microsoft.com/office/drawing/2014/main" val="20000"/>
                    </a:ext>
                  </a:extLst>
                </a:gridCol>
                <a:gridCol w="678183">
                  <a:extLst>
                    <a:ext uri="{9D8B030D-6E8A-4147-A177-3AD203B41FA5}">
                      <a16:colId xmlns:a16="http://schemas.microsoft.com/office/drawing/2014/main" val="20001"/>
                    </a:ext>
                  </a:extLst>
                </a:gridCol>
              </a:tblGrid>
              <a:tr h="496760">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b="1" i="0" u="none" strike="noStrike" cap="none" normalizeH="0" baseline="0" dirty="0">
                          <a:ln>
                            <a:noFill/>
                          </a:ln>
                          <a:solidFill>
                            <a:schemeClr val="tx1"/>
                          </a:solidFill>
                          <a:effectLst/>
                          <a:latin typeface="+mn-lt"/>
                        </a:rPr>
                        <a:t>C Corporations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b="1" i="0" u="none" strike="noStrike" cap="none" normalizeH="0" baseline="0" dirty="0">
                          <a:ln>
                            <a:noFill/>
                          </a:ln>
                          <a:solidFill>
                            <a:schemeClr val="tx1"/>
                          </a:solidFill>
                          <a:effectLst/>
                          <a:latin typeface="+mn-lt"/>
                        </a:rPr>
                        <a:t>MTR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446206">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b="0" i="0" u="none" strike="noStrike" cap="none" normalizeH="0" baseline="0" dirty="0">
                          <a:ln>
                            <a:noFill/>
                          </a:ln>
                          <a:solidFill>
                            <a:schemeClr val="tx1"/>
                          </a:solidFill>
                          <a:effectLst/>
                          <a:latin typeface="+mn-lt"/>
                        </a:rPr>
                        <a:t>Any income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b="0" i="0" u="none" strike="noStrike" cap="none" normalizeH="0" baseline="0" dirty="0">
                          <a:ln>
                            <a:noFill/>
                          </a:ln>
                          <a:solidFill>
                            <a:schemeClr val="tx1"/>
                          </a:solidFill>
                          <a:effectLst/>
                          <a:latin typeface="+mn-lt"/>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7" name="Picture 6" descr="A table with numbers and a few words&#10;&#10;AI-generated content may be incorrect.">
            <a:extLst>
              <a:ext uri="{FF2B5EF4-FFF2-40B4-BE49-F238E27FC236}">
                <a16:creationId xmlns:a16="http://schemas.microsoft.com/office/drawing/2014/main" id="{E53A3CE9-66CB-9A4F-0E1D-B793C637F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3528" y="533400"/>
            <a:ext cx="5925078" cy="4054734"/>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6024AE1D-5E02-6324-EDEF-84B46F142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3527" y="4739531"/>
            <a:ext cx="5936137" cy="1508126"/>
          </a:xfrm>
          <a:prstGeom prst="rect">
            <a:avLst/>
          </a:prstGeom>
        </p:spPr>
      </p:pic>
      <p:sp>
        <p:nvSpPr>
          <p:cNvPr id="11" name="TextBox 10">
            <a:extLst>
              <a:ext uri="{FF2B5EF4-FFF2-40B4-BE49-F238E27FC236}">
                <a16:creationId xmlns:a16="http://schemas.microsoft.com/office/drawing/2014/main" id="{6DF06089-5F36-043F-14D6-385C24AD6730}"/>
              </a:ext>
            </a:extLst>
          </p:cNvPr>
          <p:cNvSpPr txBox="1"/>
          <p:nvPr/>
        </p:nvSpPr>
        <p:spPr>
          <a:xfrm>
            <a:off x="7689549" y="4475186"/>
            <a:ext cx="1359347" cy="307777"/>
          </a:xfrm>
          <a:prstGeom prst="rect">
            <a:avLst/>
          </a:prstGeom>
          <a:noFill/>
        </p:spPr>
        <p:txBody>
          <a:bodyPr wrap="square" rtlCol="0">
            <a:spAutoFit/>
          </a:bodyPr>
          <a:lstStyle/>
          <a:p>
            <a:r>
              <a:rPr lang="en-US" sz="1400" b="1" dirty="0"/>
              <a:t>Capital Gains</a:t>
            </a:r>
          </a:p>
        </p:txBody>
      </p:sp>
    </p:spTree>
    <p:extLst>
      <p:ext uri="{BB962C8B-B14F-4D97-AF65-F5344CB8AC3E}">
        <p14:creationId xmlns:p14="http://schemas.microsoft.com/office/powerpoint/2010/main" val="292673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lnSpc>
                <a:spcPct val="90000"/>
              </a:lnSpc>
              <a:defRPr/>
            </a:pPr>
            <a:r>
              <a:rPr lang="en-US" sz="3200" dirty="0"/>
              <a:t>All C corporations taxed at the same 21% rate.   </a:t>
            </a:r>
          </a:p>
          <a:p>
            <a:pPr>
              <a:lnSpc>
                <a:spcPct val="90000"/>
              </a:lnSpc>
              <a:defRPr/>
            </a:pPr>
            <a:r>
              <a:rPr lang="en-US" sz="3200" dirty="0"/>
              <a:t>Capital losses</a:t>
            </a:r>
          </a:p>
          <a:p>
            <a:pPr lvl="1">
              <a:lnSpc>
                <a:spcPct val="90000"/>
              </a:lnSpc>
              <a:defRPr/>
            </a:pPr>
            <a:r>
              <a:rPr lang="en-US" sz="3000" dirty="0"/>
              <a:t>Deducted only to extent of capital gains; </a:t>
            </a:r>
          </a:p>
          <a:p>
            <a:pPr lvl="1">
              <a:lnSpc>
                <a:spcPct val="90000"/>
              </a:lnSpc>
              <a:defRPr/>
            </a:pPr>
            <a:r>
              <a:rPr lang="en-US" sz="3000" dirty="0"/>
              <a:t>Excess CLs can be carried back 3 years and forward 5 years. §§1211(a); 1212(a)(</a:t>
            </a:r>
            <a:r>
              <a:rPr lang="en-US" sz="3000"/>
              <a:t>1)(A) and (B). </a:t>
            </a:r>
            <a:endParaRPr lang="en-US" sz="3000" dirty="0"/>
          </a:p>
          <a:p>
            <a:pPr>
              <a:lnSpc>
                <a:spcPct val="90000"/>
              </a:lnSpc>
              <a:defRPr/>
            </a:pPr>
            <a:r>
              <a:rPr lang="en-US" sz="3200" dirty="0"/>
              <a:t>Dividends received deduction: 50%, 65%, and 100%. §243(a)-(c) </a:t>
            </a:r>
          </a:p>
          <a:p>
            <a:pPr lvl="1">
              <a:lnSpc>
                <a:spcPct val="90000"/>
              </a:lnSpc>
              <a:defRPr/>
            </a:pPr>
            <a:r>
              <a:rPr lang="en-US" sz="2800" dirty="0"/>
              <a:t>Is an S Corp entitled to the DRD?</a:t>
            </a:r>
          </a:p>
          <a:p>
            <a:pPr>
              <a:lnSpc>
                <a:spcPct val="90000"/>
              </a:lnSpc>
              <a:defRPr/>
            </a:pPr>
            <a:r>
              <a:rPr lang="en-US" sz="3200" dirty="0"/>
              <a:t>Charitable deduction allowed to the extent they exceed 1% of TI </a:t>
            </a:r>
            <a:r>
              <a:rPr lang="en-US" sz="3200" u="sng" dirty="0"/>
              <a:t>and</a:t>
            </a:r>
            <a:r>
              <a:rPr lang="en-US" sz="3200" dirty="0"/>
              <a:t> are less than 10% of TI. </a:t>
            </a:r>
            <a:r>
              <a:rPr lang="en-US" sz="3000" dirty="0"/>
              <a:t>§170(b)(2)(A) (new for 2026).  Excess deductions can be carried over. §170(d)(2)</a:t>
            </a:r>
          </a:p>
          <a:p>
            <a:pPr>
              <a:lnSpc>
                <a:spcPct val="90000"/>
              </a:lnSpc>
              <a:defRPr/>
            </a:pPr>
            <a:r>
              <a:rPr lang="en-US" sz="3200" i="1" dirty="0"/>
              <a:t>Net Operating Losses: </a:t>
            </a:r>
          </a:p>
          <a:p>
            <a:pPr lvl="1">
              <a:lnSpc>
                <a:spcPct val="90000"/>
              </a:lnSpc>
              <a:defRPr/>
            </a:pPr>
            <a:r>
              <a:rPr lang="en-US" sz="2800" dirty="0"/>
              <a:t>Excess of deductions over GI (computed with special modifications). §172(c)</a:t>
            </a:r>
          </a:p>
          <a:p>
            <a:pPr lvl="1">
              <a:lnSpc>
                <a:spcPct val="90000"/>
              </a:lnSpc>
              <a:buFont typeface="Wingdings" pitchFamily="84" charset="2"/>
              <a:buChar char="Ø"/>
              <a:defRPr/>
            </a:pPr>
            <a:r>
              <a:rPr lang="en-US" sz="2800" dirty="0"/>
              <a:t>NOLs can be </a:t>
            </a:r>
            <a:r>
              <a:rPr lang="en-US" sz="2800" b="1" dirty="0"/>
              <a:t>carried forward indefinitely </a:t>
            </a:r>
            <a:r>
              <a:rPr lang="en-US" sz="2800" dirty="0"/>
              <a:t>and can offset up to </a:t>
            </a:r>
            <a:r>
              <a:rPr lang="en-US" sz="2800" b="1" dirty="0"/>
              <a:t>80% of TI</a:t>
            </a:r>
            <a:r>
              <a:rPr lang="en-US" sz="2800" dirty="0"/>
              <a:t>. §§172(a)(2) and 172(b)(1)(A)(ii)(II).</a:t>
            </a:r>
          </a:p>
          <a:p>
            <a:pPr lvl="1">
              <a:lnSpc>
                <a:spcPct val="90000"/>
              </a:lnSpc>
              <a:buFont typeface="Wingdings" pitchFamily="84" charset="2"/>
              <a:buChar char="Ø"/>
              <a:defRPr/>
            </a:pPr>
            <a:r>
              <a:rPr lang="en-US" sz="2800" dirty="0"/>
              <a:t>Compare treatment of losses in S Corp (and PSH) with C Corp.</a:t>
            </a:r>
          </a:p>
        </p:txBody>
      </p:sp>
      <p:sp>
        <p:nvSpPr>
          <p:cNvPr id="3" name="Title 2"/>
          <p:cNvSpPr>
            <a:spLocks noGrp="1"/>
          </p:cNvSpPr>
          <p:nvPr>
            <p:ph type="title"/>
          </p:nvPr>
        </p:nvSpPr>
        <p:spPr/>
        <p:txBody>
          <a:bodyPr/>
          <a:lstStyle/>
          <a:p>
            <a:r>
              <a:rPr lang="en-US" dirty="0"/>
              <a:t>C Corporations: Tax Miscellanea</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13720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2064" y="621890"/>
            <a:ext cx="11277600" cy="6073877"/>
          </a:xfrm>
        </p:spPr>
        <p:txBody>
          <a:bodyPr/>
          <a:lstStyle/>
          <a:p>
            <a:pPr>
              <a:lnSpc>
                <a:spcPct val="90000"/>
              </a:lnSpc>
            </a:pPr>
            <a:r>
              <a:rPr lang="en-US" altLang="en-US" b="1" dirty="0"/>
              <a:t>Section 1501</a:t>
            </a:r>
          </a:p>
          <a:p>
            <a:pPr lvl="1">
              <a:lnSpc>
                <a:spcPct val="90000"/>
              </a:lnSpc>
            </a:pPr>
            <a:r>
              <a:rPr lang="en-US" altLang="en-US" sz="2400" dirty="0"/>
              <a:t>Affiliated group of US corporations can file a consolidated return</a:t>
            </a:r>
          </a:p>
          <a:p>
            <a:pPr lvl="1">
              <a:lnSpc>
                <a:spcPct val="90000"/>
              </a:lnSpc>
            </a:pPr>
            <a:r>
              <a:rPr lang="en-US" altLang="en-US" sz="2400" dirty="0"/>
              <a:t>Affiliated group: 80% vote &amp; value (§1504), excluding tax-exempts &amp; </a:t>
            </a:r>
            <a:r>
              <a:rPr lang="en-US" altLang="en-US" sz="2400" b="1" dirty="0"/>
              <a:t>foreign corporations</a:t>
            </a:r>
          </a:p>
          <a:p>
            <a:pPr>
              <a:lnSpc>
                <a:spcPct val="90000"/>
              </a:lnSpc>
            </a:pPr>
            <a:r>
              <a:rPr lang="en-US" altLang="en-US" b="1" dirty="0"/>
              <a:t>Section 1561</a:t>
            </a:r>
          </a:p>
          <a:p>
            <a:pPr lvl="1">
              <a:lnSpc>
                <a:spcPct val="90000"/>
              </a:lnSpc>
            </a:pPr>
            <a:r>
              <a:rPr lang="en-US" altLang="en-US" sz="2000" dirty="0"/>
              <a:t>Treats all corporations that are members of a “controlled group of corporations” as </a:t>
            </a:r>
            <a:r>
              <a:rPr lang="en-US" altLang="en-US" sz="2000" i="1" dirty="0"/>
              <a:t>one</a:t>
            </a:r>
            <a:r>
              <a:rPr lang="en-US" altLang="en-US" sz="2000" dirty="0"/>
              <a:t> for purposes of the </a:t>
            </a:r>
            <a:r>
              <a:rPr lang="en-US" altLang="en-US" sz="2000" b="1" dirty="0"/>
              <a:t>accumulated earnings tax</a:t>
            </a:r>
            <a:r>
              <a:rPr lang="en-US" altLang="en-US" sz="2000" dirty="0"/>
              <a:t>.</a:t>
            </a:r>
          </a:p>
          <a:p>
            <a:pPr lvl="1">
              <a:lnSpc>
                <a:spcPct val="90000"/>
              </a:lnSpc>
            </a:pPr>
            <a:r>
              <a:rPr lang="en-US" altLang="en-US" sz="2000" dirty="0"/>
              <a:t>Controlled Group of Corporations </a:t>
            </a:r>
          </a:p>
          <a:p>
            <a:pPr lvl="2">
              <a:lnSpc>
                <a:spcPct val="90000"/>
              </a:lnSpc>
            </a:pPr>
            <a:r>
              <a:rPr lang="en-US" altLang="en-US" sz="2000" dirty="0"/>
              <a:t>Parent-Subsidiary</a:t>
            </a:r>
          </a:p>
          <a:p>
            <a:pPr lvl="2">
              <a:lnSpc>
                <a:spcPct val="90000"/>
              </a:lnSpc>
            </a:pPr>
            <a:r>
              <a:rPr lang="en-US" altLang="en-US" sz="2000" dirty="0"/>
              <a:t>Brother-Sister (§1563(a))</a:t>
            </a:r>
          </a:p>
          <a:p>
            <a:pPr lvl="1">
              <a:lnSpc>
                <a:spcPct val="90000"/>
              </a:lnSpc>
            </a:pPr>
            <a:r>
              <a:rPr lang="en-US" altLang="en-US" sz="2000" dirty="0"/>
              <a:t>Excluded Corporations and Stock</a:t>
            </a:r>
          </a:p>
          <a:p>
            <a:pPr lvl="2">
              <a:lnSpc>
                <a:spcPct val="90000"/>
              </a:lnSpc>
            </a:pPr>
            <a:r>
              <a:rPr lang="en-US" altLang="en-US" sz="2000" dirty="0"/>
              <a:t>Tax-exempts</a:t>
            </a:r>
          </a:p>
          <a:p>
            <a:pPr lvl="2">
              <a:lnSpc>
                <a:spcPct val="90000"/>
              </a:lnSpc>
            </a:pPr>
            <a:r>
              <a:rPr lang="en-US" altLang="en-US" sz="2000" b="1" dirty="0"/>
              <a:t>Foreign Corporations</a:t>
            </a:r>
          </a:p>
          <a:p>
            <a:pPr lvl="2">
              <a:lnSpc>
                <a:spcPct val="90000"/>
              </a:lnSpc>
            </a:pPr>
            <a:r>
              <a:rPr lang="en-US" altLang="en-US" sz="2000" dirty="0"/>
              <a:t>Non-voting Preferred Stock (§1563(b) and (c))</a:t>
            </a:r>
          </a:p>
          <a:p>
            <a:pPr lvl="1">
              <a:lnSpc>
                <a:spcPct val="90000"/>
              </a:lnSpc>
            </a:pPr>
            <a:r>
              <a:rPr lang="en-US" altLang="en-US" sz="2000" dirty="0"/>
              <a:t>Constructive Ownership Rules (§1563(e))</a:t>
            </a:r>
          </a:p>
        </p:txBody>
      </p:sp>
      <p:sp>
        <p:nvSpPr>
          <p:cNvPr id="3" name="Title 2"/>
          <p:cNvSpPr>
            <a:spLocks noGrp="1"/>
          </p:cNvSpPr>
          <p:nvPr>
            <p:ph type="title"/>
          </p:nvPr>
        </p:nvSpPr>
        <p:spPr/>
        <p:txBody>
          <a:bodyPr/>
          <a:lstStyle/>
          <a:p>
            <a:r>
              <a:rPr lang="en-US" dirty="0"/>
              <a:t>C Corporations: Affiliated (Consolidated) Groups &amp; Controlled Groups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p:cNvSpPr>
            <a:spLocks noGrp="1"/>
          </p:cNvSpPr>
          <p:nvPr>
            <p:ph type="ftr" sz="quarter" idx="11"/>
          </p:nvPr>
        </p:nvSpPr>
        <p:spPr/>
        <p:txBody>
          <a:bodyPr/>
          <a:lstStyle/>
          <a:p>
            <a:pPr>
              <a:defRPr/>
            </a:pPr>
            <a:r>
              <a:rPr lang="en-US" dirty="0"/>
              <a:t>Taxation of C Corporations</a:t>
            </a:r>
          </a:p>
        </p:txBody>
      </p:sp>
    </p:spTree>
    <p:extLst>
      <p:ext uri="{BB962C8B-B14F-4D97-AF65-F5344CB8AC3E}">
        <p14:creationId xmlns:p14="http://schemas.microsoft.com/office/powerpoint/2010/main" val="153602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345D54-065F-AB40-901D-68CB5362E23B}"/>
              </a:ext>
            </a:extLst>
          </p:cNvPr>
          <p:cNvSpPr>
            <a:spLocks noGrp="1"/>
          </p:cNvSpPr>
          <p:nvPr>
            <p:ph idx="1"/>
          </p:nvPr>
        </p:nvSpPr>
        <p:spPr/>
        <p:txBody>
          <a:bodyPr>
            <a:normAutofit lnSpcReduction="10000"/>
          </a:bodyPr>
          <a:lstStyle/>
          <a:p>
            <a:r>
              <a:rPr lang="en-US" sz="2800" b="1" dirty="0"/>
              <a:t>Section 163(j)</a:t>
            </a:r>
          </a:p>
          <a:p>
            <a:pPr lvl="1"/>
            <a:r>
              <a:rPr lang="en-US" sz="2400" dirty="0"/>
              <a:t>Applies to taxpayers, including all </a:t>
            </a:r>
            <a:r>
              <a:rPr lang="en-US" sz="2400" i="1" dirty="0"/>
              <a:t>tax shelters,</a:t>
            </a:r>
            <a:r>
              <a:rPr lang="en-US" sz="2400" dirty="0"/>
              <a:t> with average 3-yr, annual </a:t>
            </a:r>
            <a:r>
              <a:rPr lang="en-US" sz="2400" i="1" dirty="0"/>
              <a:t>gross receipts</a:t>
            </a:r>
            <a:r>
              <a:rPr lang="en-US" sz="2400" dirty="0"/>
              <a:t> &gt; 32mm in 2026. </a:t>
            </a:r>
            <a:r>
              <a:rPr lang="en-US" altLang="en-US" sz="2400" dirty="0"/>
              <a:t>§§163(j)(3); </a:t>
            </a:r>
            <a:r>
              <a:rPr lang="en-US" sz="2400" dirty="0"/>
              <a:t>448(c)(1)</a:t>
            </a:r>
          </a:p>
          <a:p>
            <a:pPr lvl="1"/>
            <a:r>
              <a:rPr lang="en-US" sz="2400" dirty="0"/>
              <a:t>Business interest deduction limited to the sum of:</a:t>
            </a:r>
            <a:endParaRPr lang="en-US" sz="2400" b="1" dirty="0"/>
          </a:p>
          <a:p>
            <a:pPr lvl="2"/>
            <a:r>
              <a:rPr lang="en-US" sz="2400" i="1" dirty="0"/>
              <a:t>Business interest income, </a:t>
            </a:r>
            <a:r>
              <a:rPr lang="en-US" sz="2400" dirty="0"/>
              <a:t>and </a:t>
            </a:r>
          </a:p>
          <a:p>
            <a:pPr lvl="2"/>
            <a:r>
              <a:rPr lang="en-US" sz="2400" i="1" dirty="0"/>
              <a:t>30% of Adjusted Taxable Income.  </a:t>
            </a:r>
            <a:r>
              <a:rPr lang="en-US" altLang="en-US" sz="2400" dirty="0"/>
              <a:t>§</a:t>
            </a:r>
            <a:r>
              <a:rPr lang="en-US" sz="2400" dirty="0"/>
              <a:t>163(j)(1)</a:t>
            </a:r>
            <a:endParaRPr lang="en-US" sz="2400" i="1" dirty="0"/>
          </a:p>
          <a:p>
            <a:pPr lvl="1"/>
            <a:r>
              <a:rPr lang="en-US" sz="2400" i="1" dirty="0"/>
              <a:t>ATI</a:t>
            </a:r>
            <a:r>
              <a:rPr lang="en-US" sz="2400" dirty="0"/>
              <a:t> (close to EBITDA): TI computed </a:t>
            </a:r>
            <a:r>
              <a:rPr lang="en-US" sz="2400" i="1" dirty="0"/>
              <a:t>without regard to</a:t>
            </a:r>
            <a:r>
              <a:rPr lang="en-US" sz="2400" dirty="0"/>
              <a:t>: </a:t>
            </a:r>
          </a:p>
          <a:p>
            <a:pPr lvl="2"/>
            <a:r>
              <a:rPr lang="en-US" sz="2400" dirty="0"/>
              <a:t>business interest income and business interest expense,</a:t>
            </a:r>
          </a:p>
          <a:p>
            <a:pPr lvl="2"/>
            <a:r>
              <a:rPr lang="en-US" sz="2400" dirty="0"/>
              <a:t>Non-business income, gain, deduction, or loss, and</a:t>
            </a:r>
          </a:p>
          <a:p>
            <a:pPr lvl="2"/>
            <a:r>
              <a:rPr lang="en-US" sz="2400" dirty="0"/>
              <a:t>NOLs</a:t>
            </a:r>
          </a:p>
          <a:p>
            <a:pPr lvl="2"/>
            <a:r>
              <a:rPr lang="en-US" sz="2400" dirty="0"/>
              <a:t>Depreciation </a:t>
            </a:r>
          </a:p>
          <a:p>
            <a:pPr lvl="3"/>
            <a:r>
              <a:rPr lang="en-US" sz="2200" dirty="0"/>
              <a:t>For TY Jan. 1, ‘22 – Dec. 31, ’24 depreciation was </a:t>
            </a:r>
            <a:r>
              <a:rPr lang="en-US" sz="2200" u="sng" dirty="0"/>
              <a:t>not</a:t>
            </a:r>
            <a:r>
              <a:rPr lang="en-US" sz="2200" dirty="0"/>
              <a:t> added back. </a:t>
            </a:r>
            <a:r>
              <a:rPr lang="en-US" altLang="en-US" sz="2200" dirty="0"/>
              <a:t>§</a:t>
            </a:r>
            <a:r>
              <a:rPr lang="en-US" sz="2200" dirty="0"/>
              <a:t>163(j)(8)</a:t>
            </a:r>
          </a:p>
          <a:p>
            <a:pPr lvl="1"/>
            <a:r>
              <a:rPr lang="en-US" sz="2400" dirty="0"/>
              <a:t>Any disallowed interest is treated as business interest paid/accrued in the succeeding taxable year. </a:t>
            </a:r>
            <a:r>
              <a:rPr lang="en-US" altLang="en-US" sz="2400" dirty="0"/>
              <a:t>§</a:t>
            </a:r>
            <a:r>
              <a:rPr lang="en-US" sz="2400" dirty="0"/>
              <a:t>163(j)(2)</a:t>
            </a:r>
          </a:p>
          <a:p>
            <a:pPr lvl="2"/>
            <a:endParaRPr lang="en-US" sz="2400" dirty="0"/>
          </a:p>
          <a:p>
            <a:pPr lvl="2"/>
            <a:endParaRPr lang="en-US" sz="2000" dirty="0"/>
          </a:p>
          <a:p>
            <a:endParaRPr lang="en-US" dirty="0"/>
          </a:p>
        </p:txBody>
      </p:sp>
      <p:sp>
        <p:nvSpPr>
          <p:cNvPr id="3" name="Title 2">
            <a:extLst>
              <a:ext uri="{FF2B5EF4-FFF2-40B4-BE49-F238E27FC236}">
                <a16:creationId xmlns:a16="http://schemas.microsoft.com/office/drawing/2014/main" id="{892B524E-01F4-F04D-A00F-47C9D361E791}"/>
              </a:ext>
            </a:extLst>
          </p:cNvPr>
          <p:cNvSpPr>
            <a:spLocks noGrp="1"/>
          </p:cNvSpPr>
          <p:nvPr>
            <p:ph type="title"/>
          </p:nvPr>
        </p:nvSpPr>
        <p:spPr/>
        <p:txBody>
          <a:bodyPr/>
          <a:lstStyle/>
          <a:p>
            <a:r>
              <a:rPr lang="en-US" dirty="0"/>
              <a:t>C Corporations: Section 163(j)</a:t>
            </a:r>
          </a:p>
        </p:txBody>
      </p:sp>
      <p:sp>
        <p:nvSpPr>
          <p:cNvPr id="4" name="Slide Number Placeholder 3">
            <a:extLst>
              <a:ext uri="{FF2B5EF4-FFF2-40B4-BE49-F238E27FC236}">
                <a16:creationId xmlns:a16="http://schemas.microsoft.com/office/drawing/2014/main" id="{962AE546-5051-EE4D-AF95-70068C95E381}"/>
              </a:ext>
            </a:extLst>
          </p:cNvPr>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a:extLst>
              <a:ext uri="{FF2B5EF4-FFF2-40B4-BE49-F238E27FC236}">
                <a16:creationId xmlns:a16="http://schemas.microsoft.com/office/drawing/2014/main" id="{32F977B7-55EC-8F46-928C-4EAA1443B096}"/>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1623923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383D00-9C38-594A-90A8-09D86B91F403}"/>
              </a:ext>
            </a:extLst>
          </p:cNvPr>
          <p:cNvSpPr>
            <a:spLocks noGrp="1"/>
          </p:cNvSpPr>
          <p:nvPr>
            <p:ph idx="1"/>
          </p:nvPr>
        </p:nvSpPr>
        <p:spPr/>
        <p:txBody>
          <a:bodyPr/>
          <a:lstStyle/>
          <a:p>
            <a:r>
              <a:rPr lang="en-US" i="1" dirty="0"/>
              <a:t>Qualified Property</a:t>
            </a:r>
            <a:r>
              <a:rPr lang="en-US" dirty="0"/>
              <a:t> placed in service aft 1/19/25 is eligible for </a:t>
            </a:r>
            <a:r>
              <a:rPr lang="en-US" b="1" dirty="0"/>
              <a:t>100% deduction </a:t>
            </a:r>
            <a:r>
              <a:rPr lang="en-US" dirty="0"/>
              <a:t> (aka bonus depreciation). </a:t>
            </a:r>
            <a:r>
              <a:rPr lang="en-US" altLang="en-US" dirty="0"/>
              <a:t>§168(k).  Was 40% before.  </a:t>
            </a:r>
            <a:endParaRPr lang="en-US" dirty="0"/>
          </a:p>
          <a:p>
            <a:r>
              <a:rPr lang="en-US" b="1" i="1" dirty="0"/>
              <a:t>Qualified Property</a:t>
            </a:r>
          </a:p>
          <a:p>
            <a:pPr lvl="1"/>
            <a:r>
              <a:rPr lang="en-US" b="1" dirty="0"/>
              <a:t>Tangible</a:t>
            </a:r>
            <a:r>
              <a:rPr lang="en-US" dirty="0"/>
              <a:t> Property with recovery period of </a:t>
            </a:r>
            <a:r>
              <a:rPr lang="en-US" b="1" dirty="0"/>
              <a:t>20 years or </a:t>
            </a:r>
            <a:r>
              <a:rPr lang="en-US" dirty="0"/>
              <a:t>less.  What type of property is excluded?</a:t>
            </a:r>
            <a:endParaRPr lang="en-US" b="1" dirty="0"/>
          </a:p>
          <a:p>
            <a:pPr lvl="1"/>
            <a:r>
              <a:rPr lang="en-US" dirty="0"/>
              <a:t>Computer SW, Qualified film or TV production, qualified live theatrical production, qualified improvement property (interior improvement to nonresidential property)</a:t>
            </a:r>
          </a:p>
          <a:p>
            <a:pPr lvl="1"/>
            <a:r>
              <a:rPr lang="en-US" b="1" dirty="0"/>
              <a:t>Original use or </a:t>
            </a:r>
            <a:r>
              <a:rPr lang="en-US" b="1" u="sng" dirty="0"/>
              <a:t>acquisition</a:t>
            </a:r>
            <a:r>
              <a:rPr lang="en-US" b="1" dirty="0"/>
              <a:t> </a:t>
            </a:r>
            <a:r>
              <a:rPr lang="en-US" dirty="0"/>
              <a:t>by taxpayer, provided that the acquisition isn’t from a related person or received on an exchanged basis.</a:t>
            </a:r>
          </a:p>
          <a:p>
            <a:r>
              <a:rPr lang="en-US" dirty="0"/>
              <a:t>Section 179 expensing amount for QP increased to 2.56mm (phaseout threshold: 4.09mm) for property placed into service aft 12/31/24</a:t>
            </a:r>
          </a:p>
          <a:p>
            <a:pPr lvl="1"/>
            <a:r>
              <a:rPr lang="en-US" dirty="0"/>
              <a:t>QP: tangible personal property, SW, and qualified real property (qualified improvement property and (for nonresidential RP) roofs, heating, ventilation, and AC, fire property, and alarm &amp; security system. </a:t>
            </a:r>
            <a:r>
              <a:rPr lang="en-US" altLang="en-US" dirty="0"/>
              <a:t>§ 179(f).</a:t>
            </a:r>
          </a:p>
          <a:p>
            <a:r>
              <a:rPr lang="en-US" dirty="0"/>
              <a:t>What is the economic effect of a 100% deduction for the purchase of a capital asset?</a:t>
            </a:r>
          </a:p>
          <a:p>
            <a:pPr lvl="1"/>
            <a:endParaRPr lang="en-US" dirty="0"/>
          </a:p>
        </p:txBody>
      </p:sp>
      <p:sp>
        <p:nvSpPr>
          <p:cNvPr id="3" name="Title 2">
            <a:extLst>
              <a:ext uri="{FF2B5EF4-FFF2-40B4-BE49-F238E27FC236}">
                <a16:creationId xmlns:a16="http://schemas.microsoft.com/office/drawing/2014/main" id="{5E92B4D0-A479-644D-9C07-7EEADC0A8B7A}"/>
              </a:ext>
            </a:extLst>
          </p:cNvPr>
          <p:cNvSpPr>
            <a:spLocks noGrp="1"/>
          </p:cNvSpPr>
          <p:nvPr>
            <p:ph type="title"/>
          </p:nvPr>
        </p:nvSpPr>
        <p:spPr/>
        <p:txBody>
          <a:bodyPr/>
          <a:lstStyle/>
          <a:p>
            <a:r>
              <a:rPr lang="en-US" dirty="0"/>
              <a:t>C Corporation Taxation:  Sections 168(k) and 179</a:t>
            </a:r>
          </a:p>
        </p:txBody>
      </p:sp>
      <p:sp>
        <p:nvSpPr>
          <p:cNvPr id="4" name="Slide Number Placeholder 3">
            <a:extLst>
              <a:ext uri="{FF2B5EF4-FFF2-40B4-BE49-F238E27FC236}">
                <a16:creationId xmlns:a16="http://schemas.microsoft.com/office/drawing/2014/main" id="{234F9243-0053-524A-9421-FA531FC46F45}"/>
              </a:ext>
            </a:extLst>
          </p:cNvPr>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a:extLst>
              <a:ext uri="{FF2B5EF4-FFF2-40B4-BE49-F238E27FC236}">
                <a16:creationId xmlns:a16="http://schemas.microsoft.com/office/drawing/2014/main" id="{3A3129E2-2670-804F-A28F-B8775C497D65}"/>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053787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31E6B2-E02B-5A4A-AE8E-51DCA6BF1014}"/>
              </a:ext>
            </a:extLst>
          </p:cNvPr>
          <p:cNvSpPr>
            <a:spLocks noGrp="1"/>
          </p:cNvSpPr>
          <p:nvPr>
            <p:ph idx="1"/>
          </p:nvPr>
        </p:nvSpPr>
        <p:spPr/>
        <p:txBody>
          <a:bodyPr/>
          <a:lstStyle/>
          <a:p>
            <a:r>
              <a:rPr lang="en-US" sz="2000" dirty="0"/>
              <a:t>For an asset whose purchase price would otherwise have to be capitalized, a 100% deduction is equivalent to exempting the income produced by the asset from tax.  The first column assumes that you earn $100 (pre-tax) and you purchase an asset for $63, which is the amount you can invest after tax.  The gains--$6.30--we assume are exempt.  The second column assumes that you deduct the purchase price of the asset and thereby eliminate tax on your $100 of income, but all of the gains (both the investment and return) are taxed. You’ll see that the final amounts are equal.  In your basic tax class, this is similar to the equivalence of accumulations in a Roth IRA (no deduction/no tax) and regular IRA (deduction/tax), given similar tax rates at the time of contribution and distribution.</a:t>
            </a:r>
          </a:p>
          <a:p>
            <a:endParaRPr lang="en-US" sz="2000" dirty="0"/>
          </a:p>
        </p:txBody>
      </p:sp>
      <p:sp>
        <p:nvSpPr>
          <p:cNvPr id="3" name="Title 2">
            <a:extLst>
              <a:ext uri="{FF2B5EF4-FFF2-40B4-BE49-F238E27FC236}">
                <a16:creationId xmlns:a16="http://schemas.microsoft.com/office/drawing/2014/main" id="{5C5BB0C1-F079-F549-ADFB-0A247F6095B0}"/>
              </a:ext>
            </a:extLst>
          </p:cNvPr>
          <p:cNvSpPr>
            <a:spLocks noGrp="1"/>
          </p:cNvSpPr>
          <p:nvPr>
            <p:ph type="title"/>
          </p:nvPr>
        </p:nvSpPr>
        <p:spPr/>
        <p:txBody>
          <a:bodyPr/>
          <a:lstStyle/>
          <a:p>
            <a:r>
              <a:rPr lang="en-US" dirty="0"/>
              <a:t>Benefits of 100% Expensing</a:t>
            </a:r>
          </a:p>
        </p:txBody>
      </p:sp>
      <p:sp>
        <p:nvSpPr>
          <p:cNvPr id="4" name="Slide Number Placeholder 3">
            <a:extLst>
              <a:ext uri="{FF2B5EF4-FFF2-40B4-BE49-F238E27FC236}">
                <a16:creationId xmlns:a16="http://schemas.microsoft.com/office/drawing/2014/main" id="{36BDDA4F-DB5D-6047-BB1A-9CB8A9F8DEF7}"/>
              </a:ext>
            </a:extLst>
          </p:cNvPr>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
        <p:nvSpPr>
          <p:cNvPr id="5" name="Footer Placeholder 4">
            <a:extLst>
              <a:ext uri="{FF2B5EF4-FFF2-40B4-BE49-F238E27FC236}">
                <a16:creationId xmlns:a16="http://schemas.microsoft.com/office/drawing/2014/main" id="{75969F3B-F9E2-8A4A-881D-AD060182E852}"/>
              </a:ext>
            </a:extLst>
          </p:cNvPr>
          <p:cNvSpPr>
            <a:spLocks noGrp="1"/>
          </p:cNvSpPr>
          <p:nvPr>
            <p:ph type="ftr" sz="quarter" idx="11"/>
          </p:nvPr>
        </p:nvSpPr>
        <p:spPr/>
        <p:txBody>
          <a:bodyPr/>
          <a:lstStyle/>
          <a:p>
            <a:pPr>
              <a:defRPr/>
            </a:pPr>
            <a:r>
              <a:rPr lang="en-US"/>
              <a:t>Taxation of C Corporations</a:t>
            </a:r>
            <a:endParaRPr lang="en-US" dirty="0"/>
          </a:p>
        </p:txBody>
      </p:sp>
      <p:graphicFrame>
        <p:nvGraphicFramePr>
          <p:cNvPr id="7" name="Object 6">
            <a:extLst>
              <a:ext uri="{FF2B5EF4-FFF2-40B4-BE49-F238E27FC236}">
                <a16:creationId xmlns:a16="http://schemas.microsoft.com/office/drawing/2014/main" id="{BA826D28-2455-A74A-A893-1F8354F574BE}"/>
              </a:ext>
            </a:extLst>
          </p:cNvPr>
          <p:cNvGraphicFramePr>
            <a:graphicFrameLocks noChangeAspect="1"/>
          </p:cNvGraphicFramePr>
          <p:nvPr>
            <p:extLst>
              <p:ext uri="{D42A27DB-BD31-4B8C-83A1-F6EECF244321}">
                <p14:modId xmlns:p14="http://schemas.microsoft.com/office/powerpoint/2010/main" val="3983030193"/>
              </p:ext>
            </p:extLst>
          </p:nvPr>
        </p:nvGraphicFramePr>
        <p:xfrm>
          <a:off x="3234669" y="3429000"/>
          <a:ext cx="5832389" cy="2817340"/>
        </p:xfrm>
        <a:graphic>
          <a:graphicData uri="http://schemas.openxmlformats.org/presentationml/2006/ole">
            <mc:AlternateContent xmlns:mc="http://schemas.openxmlformats.org/markup-compatibility/2006">
              <mc:Choice xmlns:v="urn:schemas-microsoft-com:vml" Requires="v">
                <p:oleObj name="Worksheet" r:id="rId2" imgW="3657600" imgH="1841500" progId="Excel.Sheet.12">
                  <p:embed/>
                </p:oleObj>
              </mc:Choice>
              <mc:Fallback>
                <p:oleObj name="Worksheet" r:id="rId2" imgW="3657600" imgH="1841500" progId="Excel.Sheet.12">
                  <p:embed/>
                  <p:pic>
                    <p:nvPicPr>
                      <p:cNvPr id="7" name="Object 6">
                        <a:extLst>
                          <a:ext uri="{FF2B5EF4-FFF2-40B4-BE49-F238E27FC236}">
                            <a16:creationId xmlns:a16="http://schemas.microsoft.com/office/drawing/2014/main" id="{BA826D28-2455-A74A-A893-1F8354F574BE}"/>
                          </a:ext>
                        </a:extLst>
                      </p:cNvPr>
                      <p:cNvPicPr/>
                      <p:nvPr/>
                    </p:nvPicPr>
                    <p:blipFill>
                      <a:blip r:embed="rId3"/>
                      <a:stretch>
                        <a:fillRect/>
                      </a:stretch>
                    </p:blipFill>
                    <p:spPr>
                      <a:xfrm>
                        <a:off x="3234669" y="3429000"/>
                        <a:ext cx="5832389" cy="2817340"/>
                      </a:xfrm>
                      <a:prstGeom prst="rect">
                        <a:avLst/>
                      </a:prstGeom>
                    </p:spPr>
                  </p:pic>
                </p:oleObj>
              </mc:Fallback>
            </mc:AlternateContent>
          </a:graphicData>
        </a:graphic>
      </p:graphicFrame>
    </p:spTree>
    <p:extLst>
      <p:ext uri="{BB962C8B-B14F-4D97-AF65-F5344CB8AC3E}">
        <p14:creationId xmlns:p14="http://schemas.microsoft.com/office/powerpoint/2010/main" val="2659087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Individuals</a:t>
            </a:r>
            <a:r>
              <a:rPr lang="en-US" dirty="0"/>
              <a:t>:</a:t>
            </a:r>
          </a:p>
          <a:p>
            <a:pPr lvl="1"/>
            <a:r>
              <a:rPr lang="en-US" dirty="0"/>
              <a:t>Maximum rate on dividends: 23.8%. </a:t>
            </a:r>
          </a:p>
          <a:p>
            <a:pPr lvl="1"/>
            <a:r>
              <a:rPr lang="en-US" dirty="0"/>
              <a:t>Maximum rate on </a:t>
            </a:r>
            <a:r>
              <a:rPr lang="en-US" dirty="0" err="1"/>
              <a:t>CGs</a:t>
            </a:r>
            <a:r>
              <a:rPr lang="en-US" dirty="0"/>
              <a:t>:  	  23.8%. </a:t>
            </a:r>
          </a:p>
          <a:p>
            <a:pPr lvl="2"/>
            <a:r>
              <a:rPr lang="en-US" altLang="en-US" sz="2400" dirty="0"/>
              <a:t>20% rate on CGs and dividends kicks in when TI &gt; </a:t>
            </a:r>
            <a:r>
              <a:rPr lang="en-US" sz="2400" dirty="0"/>
              <a:t>545,500 (or 613,700 for joint returns) </a:t>
            </a:r>
            <a:r>
              <a:rPr lang="en-US" altLang="en-US" sz="2400" dirty="0"/>
              <a:t>§§1(h)(1)(D) and(11)</a:t>
            </a:r>
          </a:p>
          <a:p>
            <a:pPr lvl="3"/>
            <a:r>
              <a:rPr lang="en-US" altLang="en-US" dirty="0"/>
              <a:t>Note: Dividend rate applies to entire dividend; </a:t>
            </a:r>
            <a:r>
              <a:rPr lang="en-US" altLang="en-US" dirty="0" err="1"/>
              <a:t>CGs</a:t>
            </a:r>
            <a:r>
              <a:rPr lang="en-US" altLang="en-US" dirty="0"/>
              <a:t> rate applies only to gains and not to gross receipts (taxpayers recover basis first)</a:t>
            </a:r>
          </a:p>
          <a:p>
            <a:pPr lvl="2"/>
            <a:r>
              <a:rPr lang="en-US" altLang="en-US" sz="2400" dirty="0"/>
              <a:t>3.8% rate on net investment income (</a:t>
            </a:r>
            <a:r>
              <a:rPr lang="en-US" altLang="en-US" sz="2400" dirty="0" err="1"/>
              <a:t>divs</a:t>
            </a:r>
            <a:r>
              <a:rPr lang="en-US" altLang="en-US" sz="2400" dirty="0"/>
              <a:t>, </a:t>
            </a:r>
            <a:r>
              <a:rPr lang="en-US" altLang="en-US" sz="2400" dirty="0" err="1"/>
              <a:t>CGs</a:t>
            </a:r>
            <a:r>
              <a:rPr lang="en-US" altLang="en-US" sz="2400" dirty="0"/>
              <a:t>) kicks in when </a:t>
            </a:r>
            <a:r>
              <a:rPr lang="en-US" altLang="en-US" sz="2400" dirty="0" err="1"/>
              <a:t>AGI</a:t>
            </a:r>
            <a:r>
              <a:rPr lang="en-US" altLang="en-US" sz="2400" dirty="0"/>
              <a:t> &gt; 200,000 (individuals) or 250,000 (joint return). §1411. </a:t>
            </a:r>
          </a:p>
          <a:p>
            <a:r>
              <a:rPr lang="en-US" altLang="en-US" sz="2600" b="1" dirty="0"/>
              <a:t>Corporations</a:t>
            </a:r>
            <a:r>
              <a:rPr lang="en-US" altLang="en-US" sz="2600" dirty="0"/>
              <a:t>:</a:t>
            </a:r>
          </a:p>
          <a:p>
            <a:pPr lvl="1"/>
            <a:r>
              <a:rPr lang="en-US" altLang="en-US" dirty="0" err="1"/>
              <a:t>CGs</a:t>
            </a:r>
            <a:r>
              <a:rPr lang="en-US" altLang="en-US" dirty="0"/>
              <a:t> taxed at same rate as business income</a:t>
            </a:r>
          </a:p>
          <a:p>
            <a:pPr lvl="1"/>
            <a:r>
              <a:rPr lang="en-US" altLang="en-US" dirty="0"/>
              <a:t>Can deduct between 50% and 100% of dividends received from other corporations</a:t>
            </a:r>
          </a:p>
          <a:p>
            <a:pPr lvl="2"/>
            <a:r>
              <a:rPr lang="en-US" altLang="en-US" dirty="0"/>
              <a:t>Ex.  100 div minus 50 deduction = 50 TI; 50 * 21% = 10.5%</a:t>
            </a:r>
          </a:p>
          <a:p>
            <a:r>
              <a:rPr lang="en-US" altLang="en-US" b="1" dirty="0"/>
              <a:t>Foreigners</a:t>
            </a:r>
            <a:r>
              <a:rPr lang="en-US" altLang="en-US" dirty="0"/>
              <a:t>: 30% (15% or lower if treaty) on dividends; 0% on capital gains    </a:t>
            </a:r>
            <a:endParaRPr lang="en-US" dirty="0"/>
          </a:p>
          <a:p>
            <a:pPr lvl="1"/>
            <a:endParaRPr lang="en-US" dirty="0"/>
          </a:p>
        </p:txBody>
      </p:sp>
      <p:sp>
        <p:nvSpPr>
          <p:cNvPr id="3" name="Title 2"/>
          <p:cNvSpPr>
            <a:spLocks noGrp="1"/>
          </p:cNvSpPr>
          <p:nvPr>
            <p:ph type="title"/>
          </p:nvPr>
        </p:nvSpPr>
        <p:spPr/>
        <p:txBody>
          <a:bodyPr/>
          <a:lstStyle/>
          <a:p>
            <a:r>
              <a:rPr lang="en-US" dirty="0"/>
              <a:t>C Corporations: Taxation of C Corp Investors </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83647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3D440-89CB-AAD7-619C-4616FEF9AB9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35346B-BF70-1527-91D3-E126AEC169C4}"/>
              </a:ext>
            </a:extLst>
          </p:cNvPr>
          <p:cNvSpPr>
            <a:spLocks noGrp="1"/>
          </p:cNvSpPr>
          <p:nvPr>
            <p:ph idx="1"/>
          </p:nvPr>
        </p:nvSpPr>
        <p:spPr/>
        <p:txBody>
          <a:bodyPr>
            <a:normAutofit fontScale="92500"/>
          </a:bodyPr>
          <a:lstStyle/>
          <a:p>
            <a:r>
              <a:rPr lang="en-US" altLang="en-US" sz="2600" dirty="0"/>
              <a:t>For stock acquired </a:t>
            </a:r>
            <a:r>
              <a:rPr lang="en-US" altLang="en-US" sz="2600" u="sng" dirty="0"/>
              <a:t>aft July 4, 2025</a:t>
            </a:r>
            <a:r>
              <a:rPr lang="en-US" altLang="en-US" sz="2600" dirty="0"/>
              <a:t>, </a:t>
            </a:r>
            <a:r>
              <a:rPr lang="en-US" sz="2600" b="1" dirty="0"/>
              <a:t>noncorporate taxpayer </a:t>
            </a:r>
            <a:r>
              <a:rPr lang="en-US" sz="2600" dirty="0"/>
              <a:t>can exclude </a:t>
            </a:r>
            <a:r>
              <a:rPr lang="en-US" sz="2600" b="1" dirty="0"/>
              <a:t>100% of the gain </a:t>
            </a:r>
            <a:r>
              <a:rPr lang="en-US" sz="2600" dirty="0"/>
              <a:t>from the </a:t>
            </a:r>
            <a:r>
              <a:rPr lang="en-US" sz="2600" b="1" dirty="0"/>
              <a:t>S/E of </a:t>
            </a:r>
            <a:r>
              <a:rPr lang="en-US" sz="2600" b="1" i="1" dirty="0"/>
              <a:t>qualified small business stock </a:t>
            </a:r>
            <a:r>
              <a:rPr lang="en-US" sz="2600" b="1" dirty="0"/>
              <a:t>(QSBS) </a:t>
            </a:r>
            <a:r>
              <a:rPr lang="en-US" sz="2600" dirty="0"/>
              <a:t>if stock is held for 5 years or more; </a:t>
            </a:r>
            <a:r>
              <a:rPr lang="en-US" altLang="en-US" sz="2600" dirty="0"/>
              <a:t>50% for 3-yr holding period, and 75% for 4-yr holding period. §1202(a)(1), (4) and (5).</a:t>
            </a:r>
          </a:p>
          <a:p>
            <a:pPr lvl="1"/>
            <a:r>
              <a:rPr lang="en-US" sz="2400" dirty="0"/>
              <a:t>For stock eligible for the 100% exclusion, there is no AMT add back and the 3.8% tax doesn’t apply</a:t>
            </a:r>
            <a:endParaRPr lang="en-US" altLang="en-US" sz="2400" dirty="0"/>
          </a:p>
          <a:p>
            <a:r>
              <a:rPr lang="en-US" sz="2600" b="1" dirty="0"/>
              <a:t>Limit</a:t>
            </a:r>
            <a:r>
              <a:rPr lang="en-US" sz="2600" dirty="0"/>
              <a:t>:  </a:t>
            </a:r>
            <a:r>
              <a:rPr lang="en-US" sz="2600" b="1" dirty="0"/>
              <a:t>Greater of</a:t>
            </a:r>
            <a:r>
              <a:rPr lang="en-US" sz="2600" dirty="0"/>
              <a:t>: (1) $15MM per issuer (inflation adjusted);</a:t>
            </a:r>
            <a:r>
              <a:rPr lang="en-US" sz="2600" b="1" dirty="0"/>
              <a:t> or </a:t>
            </a:r>
            <a:r>
              <a:rPr lang="en-US" sz="2600" dirty="0"/>
              <a:t>(2) 10x adjusted basis of the stock issued and disposed of by taxpayer during the year. </a:t>
            </a:r>
            <a:r>
              <a:rPr lang="en-US" altLang="en-US" sz="2600" dirty="0"/>
              <a:t>§1202(b)(1) and (4).</a:t>
            </a:r>
          </a:p>
          <a:p>
            <a:r>
              <a:rPr lang="en-US" sz="2600" dirty="0"/>
              <a:t>QSBS is </a:t>
            </a:r>
            <a:r>
              <a:rPr lang="en-US" sz="2600" b="1" dirty="0"/>
              <a:t>C corporation stock </a:t>
            </a:r>
            <a:r>
              <a:rPr lang="en-US" sz="2600" dirty="0"/>
              <a:t>of a </a:t>
            </a:r>
            <a:r>
              <a:rPr lang="en-US" sz="2600" i="1" dirty="0"/>
              <a:t>qualified small business </a:t>
            </a:r>
            <a:r>
              <a:rPr lang="en-US" sz="2600" dirty="0"/>
              <a:t>(QSB) acquired at </a:t>
            </a:r>
            <a:r>
              <a:rPr lang="en-US" sz="2600" b="1" dirty="0"/>
              <a:t>original issue </a:t>
            </a:r>
            <a:r>
              <a:rPr lang="en-US" sz="2600" dirty="0"/>
              <a:t>in exchange for </a:t>
            </a:r>
            <a:r>
              <a:rPr lang="en-US" sz="2600" b="1" dirty="0"/>
              <a:t>$, property, or services</a:t>
            </a:r>
            <a:r>
              <a:rPr lang="en-US" sz="2600" dirty="0"/>
              <a:t>. </a:t>
            </a:r>
            <a:r>
              <a:rPr lang="en-US" altLang="en-US" sz="2600" dirty="0"/>
              <a:t>§1202(c)(1) </a:t>
            </a:r>
          </a:p>
          <a:p>
            <a:r>
              <a:rPr lang="en-US" sz="2600" dirty="0"/>
              <a:t>QSB: </a:t>
            </a:r>
            <a:r>
              <a:rPr lang="en-US" sz="2600" b="1" dirty="0"/>
              <a:t>Aggregate gross assets don’t exceed $75mm after issuance (inf adjusted)</a:t>
            </a:r>
            <a:r>
              <a:rPr lang="en-US" sz="2600" dirty="0"/>
              <a:t>, and at least </a:t>
            </a:r>
            <a:r>
              <a:rPr lang="en-US" sz="2600" b="1" dirty="0"/>
              <a:t>80% of assets </a:t>
            </a:r>
            <a:r>
              <a:rPr lang="en-US" sz="2600" dirty="0"/>
              <a:t>are used in the conduct of 1 or more businesses </a:t>
            </a:r>
            <a:r>
              <a:rPr lang="en-US" sz="2600" b="1" dirty="0"/>
              <a:t>other than </a:t>
            </a:r>
            <a:r>
              <a:rPr lang="en-US" sz="2600" dirty="0"/>
              <a:t>health, law, banking, investing, a t/b where the principal asset of the the t/b is the reputation or skill of 1 or more its employees, farming, operating a hotel, motel, holiday inn, or restaurant. </a:t>
            </a:r>
            <a:r>
              <a:rPr lang="en-US" altLang="en-US" sz="2600" dirty="0"/>
              <a:t>§§1202(d)(1)(B); 1202(e)(3).</a:t>
            </a:r>
            <a:r>
              <a:rPr lang="en-US" sz="2600" dirty="0"/>
              <a:t> </a:t>
            </a:r>
            <a:endParaRPr lang="en-US" altLang="en-US" sz="2600" dirty="0"/>
          </a:p>
          <a:p>
            <a:endParaRPr lang="en-US" altLang="en-US" sz="2600" dirty="0"/>
          </a:p>
          <a:p>
            <a:pPr marL="228600" lvl="1" indent="0">
              <a:buNone/>
            </a:pPr>
            <a:endParaRPr lang="en-US" sz="2400" dirty="0"/>
          </a:p>
        </p:txBody>
      </p:sp>
      <p:sp>
        <p:nvSpPr>
          <p:cNvPr id="3" name="Title 2">
            <a:extLst>
              <a:ext uri="{FF2B5EF4-FFF2-40B4-BE49-F238E27FC236}">
                <a16:creationId xmlns:a16="http://schemas.microsoft.com/office/drawing/2014/main" id="{C258A92A-C6A9-A352-D560-D1425BC03908}"/>
              </a:ext>
            </a:extLst>
          </p:cNvPr>
          <p:cNvSpPr>
            <a:spLocks noGrp="1"/>
          </p:cNvSpPr>
          <p:nvPr>
            <p:ph type="title"/>
          </p:nvPr>
        </p:nvSpPr>
        <p:spPr/>
        <p:txBody>
          <a:bodyPr/>
          <a:lstStyle/>
          <a:p>
            <a:r>
              <a:rPr lang="en-US" dirty="0"/>
              <a:t>C Corporations: Special Rules for Qualified Small Business Stock (</a:t>
            </a:r>
            <a:r>
              <a:rPr lang="en-US" altLang="en-US" sz="2400" dirty="0"/>
              <a:t>§</a:t>
            </a:r>
            <a:r>
              <a:rPr lang="en-US" dirty="0"/>
              <a:t>1202).  VC Tax Party Time </a:t>
            </a:r>
          </a:p>
        </p:txBody>
      </p:sp>
      <p:sp>
        <p:nvSpPr>
          <p:cNvPr id="4" name="Slide Number Placeholder 3">
            <a:extLst>
              <a:ext uri="{FF2B5EF4-FFF2-40B4-BE49-F238E27FC236}">
                <a16:creationId xmlns:a16="http://schemas.microsoft.com/office/drawing/2014/main" id="{AF222210-1FCB-30E9-6638-B1B4CAA83B3A}"/>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
        <p:nvSpPr>
          <p:cNvPr id="5" name="Footer Placeholder 4">
            <a:extLst>
              <a:ext uri="{FF2B5EF4-FFF2-40B4-BE49-F238E27FC236}">
                <a16:creationId xmlns:a16="http://schemas.microsoft.com/office/drawing/2014/main" id="{93B4DEB0-8D83-F254-2753-62D40CD0932D}"/>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87698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600" dirty="0"/>
              <a:t>Up to 50k/</a:t>
            </a:r>
            <a:r>
              <a:rPr lang="en-US" sz="2600" dirty="0" err="1"/>
              <a:t>yr</a:t>
            </a:r>
            <a:r>
              <a:rPr lang="en-US" sz="2600" dirty="0"/>
              <a:t> (100k for MFJ) on S/X of </a:t>
            </a:r>
            <a:r>
              <a:rPr lang="en-US" sz="2600" b="1" dirty="0"/>
              <a:t>section 1244 </a:t>
            </a:r>
            <a:r>
              <a:rPr lang="en-US" sz="2600" dirty="0"/>
              <a:t>stock is treated as </a:t>
            </a:r>
            <a:r>
              <a:rPr lang="en-US" sz="2600" b="1" i="1" dirty="0"/>
              <a:t>ordinary loss</a:t>
            </a:r>
            <a:r>
              <a:rPr lang="en-US" sz="2600" i="1" dirty="0"/>
              <a:t>; </a:t>
            </a:r>
            <a:r>
              <a:rPr lang="en-US" sz="2600" dirty="0"/>
              <a:t>any excess is treated as capital loss</a:t>
            </a:r>
          </a:p>
          <a:p>
            <a:pPr lvl="1"/>
            <a:r>
              <a:rPr lang="en-US" sz="2400" dirty="0"/>
              <a:t>Benefit?</a:t>
            </a:r>
          </a:p>
          <a:p>
            <a:r>
              <a:rPr lang="en-US" sz="2600" b="1" dirty="0"/>
              <a:t>Sec. 1244 stock</a:t>
            </a:r>
          </a:p>
          <a:p>
            <a:pPr lvl="1"/>
            <a:r>
              <a:rPr lang="en-US" sz="2400" dirty="0"/>
              <a:t>U.S. corporation (</a:t>
            </a:r>
            <a:r>
              <a:rPr lang="en-US" sz="2400" i="1" dirty="0"/>
              <a:t>including S Corp</a:t>
            </a:r>
            <a:r>
              <a:rPr lang="en-US" sz="2400" dirty="0"/>
              <a:t>) was </a:t>
            </a:r>
            <a:r>
              <a:rPr lang="en-US" sz="2400" b="1" dirty="0"/>
              <a:t>small business corporation</a:t>
            </a:r>
            <a:r>
              <a:rPr lang="en-US" sz="2400" dirty="0"/>
              <a:t>;</a:t>
            </a:r>
          </a:p>
          <a:p>
            <a:pPr lvl="1"/>
            <a:r>
              <a:rPr lang="en-US" sz="2400" dirty="0"/>
              <a:t>Stock issued for money or property (</a:t>
            </a:r>
            <a:r>
              <a:rPr lang="en-US" sz="2400" b="1" dirty="0"/>
              <a:t>not</a:t>
            </a:r>
            <a:r>
              <a:rPr lang="en-US" sz="2400" dirty="0"/>
              <a:t> services, stock, or securities); and</a:t>
            </a:r>
          </a:p>
          <a:p>
            <a:pPr lvl="1"/>
            <a:r>
              <a:rPr lang="en-US" sz="2400" dirty="0"/>
              <a:t>For 5-yr period ending before the date of loss, the corporation derived more than 50% of its aggregate gross receipts from non-passive sources (i.e.,</a:t>
            </a:r>
            <a:r>
              <a:rPr lang="en-US" sz="2400" b="1" dirty="0"/>
              <a:t> not </a:t>
            </a:r>
            <a:r>
              <a:rPr lang="en-US" sz="2400" dirty="0"/>
              <a:t>dividends, interest, rents, and royalties). </a:t>
            </a:r>
            <a:r>
              <a:rPr lang="en-US" altLang="en-US" sz="2400" dirty="0"/>
              <a:t>§1244(c)(1).</a:t>
            </a:r>
            <a:r>
              <a:rPr lang="en-US" sz="2400" dirty="0"/>
              <a:t> </a:t>
            </a:r>
          </a:p>
          <a:p>
            <a:r>
              <a:rPr lang="en-US" sz="2600" b="1" dirty="0"/>
              <a:t>Small Business Corporation</a:t>
            </a:r>
          </a:p>
          <a:p>
            <a:pPr lvl="1"/>
            <a:r>
              <a:rPr lang="en-US" sz="2400" dirty="0"/>
              <a:t>Aggregate money and other property received by the corporation for stock, contribution to capital, and paid-in surplus does not exceed $1MM. </a:t>
            </a:r>
            <a:r>
              <a:rPr lang="en-US" altLang="en-US" sz="2400" dirty="0"/>
              <a:t>§1244(c)(3)(A).</a:t>
            </a:r>
            <a:r>
              <a:rPr lang="en-US" sz="2400" dirty="0"/>
              <a:t> </a:t>
            </a:r>
          </a:p>
          <a:p>
            <a:pPr lvl="1"/>
            <a:endParaRPr lang="en-US" dirty="0"/>
          </a:p>
          <a:p>
            <a:endParaRPr lang="en-US" dirty="0"/>
          </a:p>
        </p:txBody>
      </p:sp>
      <p:sp>
        <p:nvSpPr>
          <p:cNvPr id="3" name="Title 2"/>
          <p:cNvSpPr>
            <a:spLocks noGrp="1"/>
          </p:cNvSpPr>
          <p:nvPr>
            <p:ph type="title"/>
          </p:nvPr>
        </p:nvSpPr>
        <p:spPr/>
        <p:txBody>
          <a:bodyPr/>
          <a:lstStyle/>
          <a:p>
            <a:r>
              <a:rPr lang="en-US" dirty="0"/>
              <a:t>C Corporations: Section 1244 and Small Business Corporations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6917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t>In the case of a sale by a </a:t>
            </a:r>
            <a:r>
              <a:rPr lang="en-US" sz="2800" dirty="0" err="1"/>
              <a:t>noncorporate</a:t>
            </a:r>
            <a:r>
              <a:rPr lang="en-US" sz="2800" dirty="0"/>
              <a:t> taxpayer of </a:t>
            </a:r>
            <a:r>
              <a:rPr lang="en-US" sz="2800" i="1" dirty="0"/>
              <a:t>qualified small business stock </a:t>
            </a:r>
            <a:r>
              <a:rPr lang="en-US" sz="2800" dirty="0"/>
              <a:t>held for </a:t>
            </a:r>
            <a:r>
              <a:rPr lang="en-US" sz="2800" b="1" dirty="0"/>
              <a:t>more than 6 months</a:t>
            </a:r>
            <a:r>
              <a:rPr lang="en-US" sz="2800" dirty="0"/>
              <a:t>, gain is recognized only to the extent that the amount realized exceeds the cost of </a:t>
            </a:r>
            <a:r>
              <a:rPr lang="en-US" sz="2800" dirty="0" err="1"/>
              <a:t>QSBS</a:t>
            </a:r>
            <a:r>
              <a:rPr lang="en-US" sz="2800" dirty="0"/>
              <a:t> purchased within 60 days of the sale. </a:t>
            </a:r>
            <a:r>
              <a:rPr lang="en-US" altLang="en-US" sz="2800" dirty="0"/>
              <a:t>§</a:t>
            </a:r>
            <a:r>
              <a:rPr lang="en-US" sz="2800" dirty="0"/>
              <a:t>1045(a)(1).</a:t>
            </a:r>
          </a:p>
          <a:p>
            <a:r>
              <a:rPr lang="en-US" sz="2800" dirty="0"/>
              <a:t>QSBS is defined by reference to </a:t>
            </a:r>
            <a:r>
              <a:rPr lang="en-US" altLang="en-US" sz="2800" dirty="0"/>
              <a:t>§</a:t>
            </a:r>
            <a:r>
              <a:rPr lang="en-US" sz="2800" dirty="0"/>
              <a:t>1202(c).</a:t>
            </a:r>
          </a:p>
          <a:p>
            <a:r>
              <a:rPr lang="en-US" sz="2800" dirty="0"/>
              <a:t>Any gain not recognized because of this provision reduces the basis of the purchased </a:t>
            </a:r>
            <a:r>
              <a:rPr lang="en-US" sz="2800" dirty="0" err="1"/>
              <a:t>QSBS</a:t>
            </a:r>
            <a:r>
              <a:rPr lang="en-US" sz="2800" dirty="0"/>
              <a:t> stock. </a:t>
            </a:r>
            <a:r>
              <a:rPr lang="en-US" altLang="en-US" sz="2800" dirty="0"/>
              <a:t>§</a:t>
            </a:r>
            <a:r>
              <a:rPr lang="en-US" sz="2800" dirty="0"/>
              <a:t>1045(b)(3).</a:t>
            </a:r>
          </a:p>
          <a:p>
            <a:pPr lvl="1"/>
            <a:r>
              <a:rPr lang="en-US" sz="2600" dirty="0"/>
              <a:t>Why?</a:t>
            </a:r>
          </a:p>
        </p:txBody>
      </p:sp>
      <p:sp>
        <p:nvSpPr>
          <p:cNvPr id="3" name="Title 2"/>
          <p:cNvSpPr>
            <a:spLocks noGrp="1"/>
          </p:cNvSpPr>
          <p:nvPr>
            <p:ph type="title"/>
          </p:nvPr>
        </p:nvSpPr>
        <p:spPr/>
        <p:txBody>
          <a:bodyPr/>
          <a:lstStyle/>
          <a:p>
            <a:r>
              <a:rPr lang="en-US" dirty="0"/>
              <a:t>C Corporations: Section 1045 and Sales of Small Business Stock</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74601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What are the tax consequences to the corporation </a:t>
            </a:r>
            <a:r>
              <a:rPr lang="en-US" b="1" i="1" dirty="0"/>
              <a:t>and</a:t>
            </a:r>
            <a:r>
              <a:rPr lang="en-US" dirty="0"/>
              <a:t> shareholder when the corporation pays a salary to the shareholder?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When is it beneficial for a corporation to pay the shareholder a salary vs. paying a dividend?</a:t>
            </a:r>
          </a:p>
        </p:txBody>
      </p:sp>
      <p:sp>
        <p:nvSpPr>
          <p:cNvPr id="3" name="Title 2"/>
          <p:cNvSpPr>
            <a:spLocks noGrp="1"/>
          </p:cNvSpPr>
          <p:nvPr>
            <p:ph type="title"/>
          </p:nvPr>
        </p:nvSpPr>
        <p:spPr/>
        <p:txBody>
          <a:bodyPr/>
          <a:lstStyle/>
          <a:p>
            <a:r>
              <a:rPr lang="en-US" dirty="0"/>
              <a:t>C Corporations: Avoiding Corporate Tax with Compensation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571" y="1788340"/>
            <a:ext cx="9067800" cy="2349878"/>
          </a:xfrm>
          <a:prstGeom prst="rect">
            <a:avLst/>
          </a:prstGeom>
        </p:spPr>
      </p:pic>
      <p:sp>
        <p:nvSpPr>
          <p:cNvPr id="9" name="TextBox 8"/>
          <p:cNvSpPr txBox="1"/>
          <p:nvPr/>
        </p:nvSpPr>
        <p:spPr>
          <a:xfrm>
            <a:off x="5500237" y="4235241"/>
            <a:ext cx="1522468" cy="369332"/>
          </a:xfrm>
          <a:prstGeom prst="rect">
            <a:avLst/>
          </a:prstGeom>
          <a:noFill/>
        </p:spPr>
        <p:txBody>
          <a:bodyPr wrap="none" rtlCol="0">
            <a:spAutoFit/>
          </a:bodyPr>
          <a:lstStyle/>
          <a:p>
            <a:r>
              <a:rPr lang="en-US" dirty="0"/>
              <a:t>Reg. </a:t>
            </a:r>
            <a:r>
              <a:rPr lang="en-US" altLang="en-US" dirty="0"/>
              <a:t>§</a:t>
            </a:r>
            <a:r>
              <a:rPr lang="en-US" dirty="0"/>
              <a:t>1.162-7</a:t>
            </a:r>
          </a:p>
        </p:txBody>
      </p:sp>
    </p:spTree>
    <p:extLst>
      <p:ext uri="{BB962C8B-B14F-4D97-AF65-F5344CB8AC3E}">
        <p14:creationId xmlns:p14="http://schemas.microsoft.com/office/powerpoint/2010/main" val="706108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 Corporations: Avoiding Corporate Tax with Compensation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6393"/>
          <a:stretch/>
        </p:blipFill>
        <p:spPr>
          <a:xfrm>
            <a:off x="829565" y="3689674"/>
            <a:ext cx="10960099" cy="173808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 y="825500"/>
            <a:ext cx="11074399" cy="2171700"/>
          </a:xfrm>
          <a:prstGeom prst="rect">
            <a:avLst/>
          </a:prstGeom>
        </p:spPr>
      </p:pic>
      <p:sp>
        <p:nvSpPr>
          <p:cNvPr id="10" name="TextBox 9"/>
          <p:cNvSpPr txBox="1"/>
          <p:nvPr/>
        </p:nvSpPr>
        <p:spPr>
          <a:xfrm>
            <a:off x="4457700" y="5781795"/>
            <a:ext cx="2436886" cy="369332"/>
          </a:xfrm>
          <a:prstGeom prst="rect">
            <a:avLst/>
          </a:prstGeom>
          <a:noFill/>
        </p:spPr>
        <p:txBody>
          <a:bodyPr wrap="none" rtlCol="0">
            <a:spAutoFit/>
          </a:bodyPr>
          <a:lstStyle/>
          <a:p>
            <a:r>
              <a:rPr lang="en-US" b="1" dirty="0"/>
              <a:t>Reg. </a:t>
            </a:r>
            <a:r>
              <a:rPr lang="en-US" altLang="en-US" b="1" dirty="0"/>
              <a:t>§</a:t>
            </a:r>
            <a:r>
              <a:rPr lang="en-US" b="1" dirty="0"/>
              <a:t>1.162-7(b)(1), (3)</a:t>
            </a:r>
          </a:p>
        </p:txBody>
      </p:sp>
    </p:spTree>
    <p:extLst>
      <p:ext uri="{BB962C8B-B14F-4D97-AF65-F5344CB8AC3E}">
        <p14:creationId xmlns:p14="http://schemas.microsoft.com/office/powerpoint/2010/main" val="78049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2F7D8C-8E8F-BA4D-BDA4-46B336A70616}"/>
              </a:ext>
            </a:extLst>
          </p:cNvPr>
          <p:cNvSpPr>
            <a:spLocks noGrp="1"/>
          </p:cNvSpPr>
          <p:nvPr>
            <p:ph idx="1"/>
          </p:nvPr>
        </p:nvSpPr>
        <p:spPr/>
        <p:txBody>
          <a:bodyPr/>
          <a:lstStyle/>
          <a:p>
            <a:r>
              <a:rPr lang="en-US" sz="2800" dirty="0"/>
              <a:t>Federal Income</a:t>
            </a:r>
          </a:p>
          <a:p>
            <a:pPr lvl="1"/>
            <a:r>
              <a:rPr lang="en-US" sz="2400" dirty="0"/>
              <a:t>Compensation is generally taxed as ordinary income</a:t>
            </a:r>
          </a:p>
          <a:p>
            <a:pPr lvl="3">
              <a:buFont typeface="Courier New" panose="02070309020205020404" pitchFamily="49" charset="0"/>
              <a:buChar char="o"/>
            </a:pPr>
            <a:r>
              <a:rPr lang="en-US" sz="2400" dirty="0"/>
              <a:t>But note special rules of </a:t>
            </a:r>
            <a:r>
              <a:rPr lang="en-US" altLang="en-US" sz="2400" dirty="0"/>
              <a:t>§</a:t>
            </a:r>
            <a:r>
              <a:rPr lang="en-US" sz="2400" dirty="0"/>
              <a:t>199A</a:t>
            </a:r>
          </a:p>
          <a:p>
            <a:pPr lvl="1"/>
            <a:r>
              <a:rPr lang="en-US" sz="2400" dirty="0"/>
              <a:t>Investment income: 3.8% tax on </a:t>
            </a:r>
            <a:r>
              <a:rPr lang="en-US" sz="2400" b="1" dirty="0"/>
              <a:t>investment income</a:t>
            </a:r>
            <a:r>
              <a:rPr lang="en-US" sz="2400" dirty="0"/>
              <a:t>, e.g., dividends, interest, rents, royalties. </a:t>
            </a:r>
            <a:r>
              <a:rPr lang="en-US" altLang="en-US" sz="2400" dirty="0"/>
              <a:t>§1411. </a:t>
            </a:r>
            <a:endParaRPr lang="en-US" sz="2400" dirty="0"/>
          </a:p>
          <a:p>
            <a:pPr lvl="3">
              <a:buFont typeface="Courier New" panose="02070309020205020404" pitchFamily="49" charset="0"/>
              <a:buChar char="o"/>
            </a:pPr>
            <a:r>
              <a:rPr lang="en-US" sz="2400" dirty="0"/>
              <a:t>&gt; $200,000 (single), $250,000 (joint)</a:t>
            </a:r>
            <a:endParaRPr lang="en-US" sz="3200" dirty="0"/>
          </a:p>
          <a:p>
            <a:r>
              <a:rPr lang="en-US" sz="2800" dirty="0"/>
              <a:t>Social Security </a:t>
            </a:r>
          </a:p>
          <a:p>
            <a:pPr lvl="1"/>
            <a:r>
              <a:rPr lang="en-US" sz="2400" dirty="0"/>
              <a:t>7.65% [6.2% (OASDI) + 1.45% (Medicare)] </a:t>
            </a:r>
            <a:r>
              <a:rPr lang="en-US" sz="2400" b="1" dirty="0"/>
              <a:t>to</a:t>
            </a:r>
            <a:r>
              <a:rPr lang="en-US" sz="2400" dirty="0"/>
              <a:t> $184,500 (2026) (employers &amp; employees, each). </a:t>
            </a:r>
            <a:r>
              <a:rPr lang="en-US" altLang="en-US" sz="2400" dirty="0"/>
              <a:t>§§3101(a)and (b)(1); 3111(a) and (b).</a:t>
            </a:r>
            <a:endParaRPr lang="en-US" sz="2400" dirty="0"/>
          </a:p>
          <a:p>
            <a:pPr lvl="1"/>
            <a:r>
              <a:rPr lang="en-US" sz="2400" dirty="0"/>
              <a:t>1.45%  (employer &amp; employee) on earned income </a:t>
            </a:r>
            <a:r>
              <a:rPr lang="en-US" sz="2400" b="1" dirty="0"/>
              <a:t>&gt;</a:t>
            </a:r>
            <a:r>
              <a:rPr lang="en-US" sz="2400" dirty="0"/>
              <a:t> $184,500 (2026). </a:t>
            </a:r>
            <a:r>
              <a:rPr lang="en-US" altLang="en-US" sz="2400" dirty="0"/>
              <a:t>§§</a:t>
            </a:r>
            <a:r>
              <a:rPr lang="en-US" sz="2400" dirty="0"/>
              <a:t>3101(b)(1) and 3111(b). </a:t>
            </a:r>
          </a:p>
          <a:p>
            <a:pPr lvl="1"/>
            <a:r>
              <a:rPr lang="en-US" sz="2400" dirty="0"/>
              <a:t>0.9% Medicare tax (employee) on earned income </a:t>
            </a:r>
            <a:r>
              <a:rPr lang="en-US" sz="2400" b="1" dirty="0"/>
              <a:t>&gt;</a:t>
            </a:r>
            <a:r>
              <a:rPr lang="en-US" sz="2400" dirty="0"/>
              <a:t> $200,000 (single); 250,000 (joint). </a:t>
            </a:r>
            <a:r>
              <a:rPr lang="en-US" altLang="en-US" sz="2400" dirty="0"/>
              <a:t>§3101(b)(2)</a:t>
            </a:r>
            <a:endParaRPr lang="en-US" sz="2400" dirty="0"/>
          </a:p>
          <a:p>
            <a:pPr lvl="1"/>
            <a:endParaRPr lang="en-US" sz="2400" dirty="0"/>
          </a:p>
          <a:p>
            <a:endParaRPr lang="en-US" dirty="0"/>
          </a:p>
        </p:txBody>
      </p:sp>
      <p:sp>
        <p:nvSpPr>
          <p:cNvPr id="3" name="Title 2">
            <a:extLst>
              <a:ext uri="{FF2B5EF4-FFF2-40B4-BE49-F238E27FC236}">
                <a16:creationId xmlns:a16="http://schemas.microsoft.com/office/drawing/2014/main" id="{F5CD0451-0726-244D-B6F1-70E0F763D5EB}"/>
              </a:ext>
            </a:extLst>
          </p:cNvPr>
          <p:cNvSpPr>
            <a:spLocks noGrp="1"/>
          </p:cNvSpPr>
          <p:nvPr>
            <p:ph type="title"/>
          </p:nvPr>
        </p:nvSpPr>
        <p:spPr/>
        <p:txBody>
          <a:bodyPr/>
          <a:lstStyle/>
          <a:p>
            <a:r>
              <a:rPr lang="en-US" dirty="0"/>
              <a:t>Compensation</a:t>
            </a:r>
          </a:p>
        </p:txBody>
      </p:sp>
      <p:sp>
        <p:nvSpPr>
          <p:cNvPr id="4" name="Slide Number Placeholder 3">
            <a:extLst>
              <a:ext uri="{FF2B5EF4-FFF2-40B4-BE49-F238E27FC236}">
                <a16:creationId xmlns:a16="http://schemas.microsoft.com/office/drawing/2014/main" id="{FCCC20EB-AD47-694E-AA42-144A419FC152}"/>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a:extLst>
              <a:ext uri="{FF2B5EF4-FFF2-40B4-BE49-F238E27FC236}">
                <a16:creationId xmlns:a16="http://schemas.microsoft.com/office/drawing/2014/main" id="{A2A7A27F-BFB9-274A-B196-77379AAC3202}"/>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150096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478" y="0"/>
            <a:ext cx="11281664" cy="418085"/>
          </a:xfrm>
        </p:spPr>
        <p:txBody>
          <a:bodyPr/>
          <a:lstStyle/>
          <a:p>
            <a:r>
              <a:rPr lang="en-US" dirty="0"/>
              <a:t>C Corporations: </a:t>
            </a:r>
            <a:r>
              <a:rPr lang="en-US" i="1" dirty="0"/>
              <a:t>Menard </a:t>
            </a:r>
            <a:r>
              <a:rPr lang="en-US" dirty="0"/>
              <a:t>(Avoiding Corporate Tax with Compensation)</a:t>
            </a:r>
          </a:p>
        </p:txBody>
      </p:sp>
      <p:sp>
        <p:nvSpPr>
          <p:cNvPr id="3" name="Content Placeholder 2"/>
          <p:cNvSpPr>
            <a:spLocks noGrp="1"/>
          </p:cNvSpPr>
          <p:nvPr>
            <p:ph sz="quarter" idx="16"/>
          </p:nvPr>
        </p:nvSpPr>
        <p:spPr>
          <a:xfrm>
            <a:off x="508000" y="676657"/>
            <a:ext cx="5486400" cy="5649566"/>
          </a:xfrm>
        </p:spPr>
        <p:txBody>
          <a:bodyPr/>
          <a:lstStyle/>
          <a:p>
            <a:pPr algn="just"/>
            <a:r>
              <a:rPr lang="en-US" sz="2400" dirty="0"/>
              <a:t>What was the 5% bonus?</a:t>
            </a:r>
          </a:p>
          <a:p>
            <a:pPr algn="just"/>
            <a:r>
              <a:rPr lang="en-US" sz="2400" dirty="0"/>
              <a:t>When was it adopted?</a:t>
            </a:r>
          </a:p>
          <a:p>
            <a:pPr algn="just"/>
            <a:r>
              <a:rPr lang="en-US" sz="2400" dirty="0"/>
              <a:t>What were some of the factors that the IRS and TC argued that the 5% bonus should be treated as a dividend?</a:t>
            </a:r>
          </a:p>
          <a:p>
            <a:pPr algn="just"/>
            <a:r>
              <a:rPr lang="en-US" sz="2400" dirty="0"/>
              <a:t>According to J. Posner, was it relevant that Menard’s didn’t pay a dividend?</a:t>
            </a:r>
          </a:p>
          <a:p>
            <a:pPr algn="just"/>
            <a:r>
              <a:rPr lang="en-US" sz="2400" dirty="0"/>
              <a:t>The TC focused on the compensation paid to comparable companies, e.g., Home Depot and Lowe’s.  Why </a:t>
            </a:r>
            <a:r>
              <a:rPr lang="en-US" sz="2400" dirty="0" err="1"/>
              <a:t>didn</a:t>
            </a:r>
            <a:r>
              <a:rPr lang="uk-UA" sz="2400" dirty="0"/>
              <a:t>’</a:t>
            </a:r>
            <a:r>
              <a:rPr lang="en-US" sz="2400" dirty="0"/>
              <a:t>t J. Posner put much weight on this?</a:t>
            </a:r>
          </a:p>
          <a:p>
            <a:pPr algn="just"/>
            <a:r>
              <a:rPr lang="en-US" sz="2400" dirty="0"/>
              <a:t>What test does the 7</a:t>
            </a:r>
            <a:r>
              <a:rPr lang="en-US" sz="2400" baseline="30000" dirty="0"/>
              <a:t>th</a:t>
            </a:r>
            <a:r>
              <a:rPr lang="en-US" sz="2400" dirty="0"/>
              <a:t> Cir use to determine whether compensation is reasonable?</a:t>
            </a:r>
          </a:p>
        </p:txBody>
      </p:sp>
      <p:sp>
        <p:nvSpPr>
          <p:cNvPr id="5" name="Slide Number Placeholder 4"/>
          <p:cNvSpPr>
            <a:spLocks noGrp="1"/>
          </p:cNvSpPr>
          <p:nvPr>
            <p:ph type="sldNum" sz="quarter" idx="18"/>
          </p:nvPr>
        </p:nvSpPr>
        <p:spPr/>
        <p:txBody>
          <a:bodyPr/>
          <a:lstStyle/>
          <a:p>
            <a:fld id="{463EAD6B-1B79-144E-A805-1CA6FF1F03FA}" type="slidenum">
              <a:rPr lang="en-US" altLang="en-US" smtClean="0"/>
              <a:pPr/>
              <a:t>16</a:t>
            </a:fld>
            <a:endParaRPr lang="en-US" altLang="en-US" dirty="0"/>
          </a:p>
        </p:txBody>
      </p:sp>
      <p:sp>
        <p:nvSpPr>
          <p:cNvPr id="6" name="Footer Placeholder 5"/>
          <p:cNvSpPr>
            <a:spLocks noGrp="1"/>
          </p:cNvSpPr>
          <p:nvPr>
            <p:ph type="ftr" sz="quarter" idx="19"/>
          </p:nvPr>
        </p:nvSpPr>
        <p:spPr/>
        <p:txBody>
          <a:bodyPr/>
          <a:lstStyle/>
          <a:p>
            <a:pPr>
              <a:defRPr/>
            </a:pPr>
            <a:r>
              <a:rPr lang="en-US"/>
              <a:t>Taxation of C Corporations</a:t>
            </a:r>
          </a:p>
        </p:txBody>
      </p:sp>
      <p:sp>
        <p:nvSpPr>
          <p:cNvPr id="7" name="Rectangle 6"/>
          <p:cNvSpPr/>
          <p:nvPr/>
        </p:nvSpPr>
        <p:spPr>
          <a:xfrm>
            <a:off x="6900654" y="2702984"/>
            <a:ext cx="1125746" cy="69954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Menard, </a:t>
            </a:r>
            <a:r>
              <a:rPr lang="en-US" b="1" dirty="0" err="1">
                <a:solidFill>
                  <a:schemeClr val="tx1"/>
                </a:solidFill>
              </a:rPr>
              <a:t>Inc</a:t>
            </a:r>
            <a:endParaRPr lang="en-US" sz="1100" b="1" dirty="0">
              <a:solidFill>
                <a:schemeClr val="tx1"/>
              </a:solidFill>
            </a:endParaRPr>
          </a:p>
        </p:txBody>
      </p:sp>
      <p:cxnSp>
        <p:nvCxnSpPr>
          <p:cNvPr id="8" name="Straight Arrow Connector 7"/>
          <p:cNvCxnSpPr/>
          <p:nvPr/>
        </p:nvCxnSpPr>
        <p:spPr>
          <a:xfrm>
            <a:off x="7408037" y="1793319"/>
            <a:ext cx="5018" cy="909666"/>
          </a:xfrm>
          <a:prstGeom prst="straightConnector1">
            <a:avLst/>
          </a:prstGeom>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943711" y="1423986"/>
            <a:ext cx="941733" cy="369332"/>
          </a:xfrm>
          <a:prstGeom prst="rect">
            <a:avLst/>
          </a:prstGeom>
          <a:noFill/>
        </p:spPr>
        <p:txBody>
          <a:bodyPr wrap="none" rtlCol="0">
            <a:spAutoFit/>
          </a:bodyPr>
          <a:lstStyle/>
          <a:p>
            <a:r>
              <a:rPr lang="en-US" b="1" dirty="0"/>
              <a:t>Menard</a:t>
            </a:r>
          </a:p>
        </p:txBody>
      </p:sp>
      <p:sp>
        <p:nvSpPr>
          <p:cNvPr id="10" name="TextBox 9"/>
          <p:cNvSpPr txBox="1"/>
          <p:nvPr/>
        </p:nvSpPr>
        <p:spPr>
          <a:xfrm>
            <a:off x="6754020" y="1931396"/>
            <a:ext cx="850605" cy="430887"/>
          </a:xfrm>
          <a:prstGeom prst="rect">
            <a:avLst/>
          </a:prstGeom>
          <a:noFill/>
        </p:spPr>
        <p:txBody>
          <a:bodyPr wrap="square" rtlCol="0">
            <a:spAutoFit/>
          </a:bodyPr>
          <a:lstStyle/>
          <a:p>
            <a:r>
              <a:rPr lang="en-US" sz="1100" dirty="0"/>
              <a:t>100% VS</a:t>
            </a:r>
          </a:p>
          <a:p>
            <a:r>
              <a:rPr lang="en-US" sz="1100" dirty="0"/>
              <a:t>56% </a:t>
            </a:r>
            <a:r>
              <a:rPr lang="en-US" sz="1100" dirty="0" err="1"/>
              <a:t>NVS</a:t>
            </a:r>
            <a:endParaRPr lang="en-US" sz="1100" dirty="0"/>
          </a:p>
        </p:txBody>
      </p:sp>
      <p:sp>
        <p:nvSpPr>
          <p:cNvPr id="11" name="TextBox 10"/>
          <p:cNvSpPr txBox="1"/>
          <p:nvPr/>
        </p:nvSpPr>
        <p:spPr>
          <a:xfrm>
            <a:off x="8500946" y="1442918"/>
            <a:ext cx="2865863" cy="1200329"/>
          </a:xfrm>
          <a:prstGeom prst="rect">
            <a:avLst/>
          </a:prstGeom>
          <a:noFill/>
        </p:spPr>
        <p:txBody>
          <a:bodyPr wrap="square" rtlCol="0">
            <a:spAutoFit/>
          </a:bodyPr>
          <a:lstStyle/>
          <a:p>
            <a:pPr algn="ctr"/>
            <a:r>
              <a:rPr lang="en-US" b="1" u="sng" dirty="0"/>
              <a:t>1998</a:t>
            </a:r>
          </a:p>
          <a:p>
            <a:pPr marL="285750" indent="-285750">
              <a:buFont typeface="Arial" charset="0"/>
              <a:buChar char="•"/>
            </a:pPr>
            <a:r>
              <a:rPr lang="en-US" dirty="0"/>
              <a:t>Salary: 	157k</a:t>
            </a:r>
          </a:p>
          <a:p>
            <a:pPr marL="285750" indent="-285750">
              <a:buFont typeface="Arial" charset="0"/>
              <a:buChar char="•"/>
            </a:pPr>
            <a:r>
              <a:rPr lang="en-US" dirty="0"/>
              <a:t>Profit Sharing: 	3mm</a:t>
            </a:r>
          </a:p>
          <a:p>
            <a:pPr marL="285750" indent="-285750">
              <a:buFont typeface="Arial" charset="0"/>
              <a:buChar char="•"/>
            </a:pPr>
            <a:r>
              <a:rPr lang="en-US" dirty="0"/>
              <a:t>5% Bonus: 	17.5mm</a:t>
            </a:r>
          </a:p>
        </p:txBody>
      </p:sp>
      <p:cxnSp>
        <p:nvCxnSpPr>
          <p:cNvPr id="13" name="Straight Connector 12"/>
          <p:cNvCxnSpPr>
            <a:stCxn id="2" idx="2"/>
            <a:endCxn id="6" idx="0"/>
          </p:cNvCxnSpPr>
          <p:nvPr/>
        </p:nvCxnSpPr>
        <p:spPr>
          <a:xfrm flipH="1">
            <a:off x="6096000" y="418085"/>
            <a:ext cx="55310" cy="602440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992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p:bldP spid="9" grpId="1"/>
      <p:bldP spid="10"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7CCA79-3B14-A116-37C8-F127E024C5A1}"/>
              </a:ext>
            </a:extLst>
          </p:cNvPr>
          <p:cNvSpPr>
            <a:spLocks noGrp="1"/>
          </p:cNvSpPr>
          <p:nvPr>
            <p:ph type="title"/>
          </p:nvPr>
        </p:nvSpPr>
        <p:spPr/>
        <p:txBody>
          <a:bodyPr/>
          <a:lstStyle/>
          <a:p>
            <a:r>
              <a:rPr lang="en-US" i="1" dirty="0"/>
              <a:t>Menard </a:t>
            </a:r>
            <a:r>
              <a:rPr lang="en-US" dirty="0"/>
              <a:t>Updated</a:t>
            </a:r>
            <a:endParaRPr lang="en-US" i="1" dirty="0"/>
          </a:p>
        </p:txBody>
      </p:sp>
      <p:sp>
        <p:nvSpPr>
          <p:cNvPr id="5" name="Slide Number Placeholder 4">
            <a:extLst>
              <a:ext uri="{FF2B5EF4-FFF2-40B4-BE49-F238E27FC236}">
                <a16:creationId xmlns:a16="http://schemas.microsoft.com/office/drawing/2014/main" id="{D26657BE-A3A4-8DD0-9ADA-B9FEB9767590}"/>
              </a:ext>
            </a:extLst>
          </p:cNvPr>
          <p:cNvSpPr>
            <a:spLocks noGrp="1"/>
          </p:cNvSpPr>
          <p:nvPr>
            <p:ph type="sldNum" sz="quarter" idx="10"/>
          </p:nvPr>
        </p:nvSpPr>
        <p:spPr/>
        <p:txBody>
          <a:bodyPr/>
          <a:lstStyle/>
          <a:p>
            <a:fld id="{463EAD6B-1B79-144E-A805-1CA6FF1F03FA}" type="slidenum">
              <a:rPr lang="en-US" altLang="en-US" smtClean="0"/>
              <a:pPr/>
              <a:t>17</a:t>
            </a:fld>
            <a:endParaRPr lang="en-US" altLang="en-US" dirty="0"/>
          </a:p>
        </p:txBody>
      </p:sp>
      <p:sp>
        <p:nvSpPr>
          <p:cNvPr id="6" name="Footer Placeholder 5">
            <a:extLst>
              <a:ext uri="{FF2B5EF4-FFF2-40B4-BE49-F238E27FC236}">
                <a16:creationId xmlns:a16="http://schemas.microsoft.com/office/drawing/2014/main" id="{201A22D6-1998-F59B-4C30-7D8373BF46B5}"/>
              </a:ext>
            </a:extLst>
          </p:cNvPr>
          <p:cNvSpPr>
            <a:spLocks noGrp="1"/>
          </p:cNvSpPr>
          <p:nvPr>
            <p:ph type="ftr" sz="quarter" idx="11"/>
          </p:nvPr>
        </p:nvSpPr>
        <p:spPr/>
        <p:txBody>
          <a:bodyPr/>
          <a:lstStyle/>
          <a:p>
            <a:pPr>
              <a:defRPr/>
            </a:pPr>
            <a:r>
              <a:rPr lang="en-US"/>
              <a:t>Taxation of C Corporations</a:t>
            </a:r>
          </a:p>
        </p:txBody>
      </p:sp>
      <p:graphicFrame>
        <p:nvGraphicFramePr>
          <p:cNvPr id="10" name="Object 9">
            <a:extLst>
              <a:ext uri="{FF2B5EF4-FFF2-40B4-BE49-F238E27FC236}">
                <a16:creationId xmlns:a16="http://schemas.microsoft.com/office/drawing/2014/main" id="{FCBFDC3A-1D2B-177D-5424-A70ED6D1A942}"/>
              </a:ext>
            </a:extLst>
          </p:cNvPr>
          <p:cNvGraphicFramePr>
            <a:graphicFrameLocks noChangeAspect="1"/>
          </p:cNvGraphicFramePr>
          <p:nvPr>
            <p:extLst>
              <p:ext uri="{D42A27DB-BD31-4B8C-83A1-F6EECF244321}">
                <p14:modId xmlns:p14="http://schemas.microsoft.com/office/powerpoint/2010/main" val="1621430168"/>
              </p:ext>
            </p:extLst>
          </p:nvPr>
        </p:nvGraphicFramePr>
        <p:xfrm>
          <a:off x="755374" y="685800"/>
          <a:ext cx="10840278" cy="5486400"/>
        </p:xfrm>
        <a:graphic>
          <a:graphicData uri="http://schemas.openxmlformats.org/presentationml/2006/ole">
            <mc:AlternateContent xmlns:mc="http://schemas.openxmlformats.org/markup-compatibility/2006">
              <mc:Choice xmlns:v="urn:schemas-microsoft-com:vml" Requires="v">
                <p:oleObj name="Worksheet" r:id="rId2" imgW="9588500" imgH="5486400" progId="Excel.Sheet.12">
                  <p:embed/>
                </p:oleObj>
              </mc:Choice>
              <mc:Fallback>
                <p:oleObj name="Worksheet" r:id="rId2" imgW="9588500" imgH="5486400" progId="Excel.Sheet.12">
                  <p:embed/>
                  <p:pic>
                    <p:nvPicPr>
                      <p:cNvPr id="10" name="Object 9">
                        <a:extLst>
                          <a:ext uri="{FF2B5EF4-FFF2-40B4-BE49-F238E27FC236}">
                            <a16:creationId xmlns:a16="http://schemas.microsoft.com/office/drawing/2014/main" id="{FCBFDC3A-1D2B-177D-5424-A70ED6D1A942}"/>
                          </a:ext>
                        </a:extLst>
                      </p:cNvPr>
                      <p:cNvPicPr/>
                      <p:nvPr/>
                    </p:nvPicPr>
                    <p:blipFill>
                      <a:blip r:embed="rId3"/>
                      <a:stretch>
                        <a:fillRect/>
                      </a:stretch>
                    </p:blipFill>
                    <p:spPr>
                      <a:xfrm>
                        <a:off x="755374" y="685800"/>
                        <a:ext cx="10840278" cy="5486400"/>
                      </a:xfrm>
                      <a:prstGeom prst="rect">
                        <a:avLst/>
                      </a:prstGeom>
                    </p:spPr>
                  </p:pic>
                </p:oleObj>
              </mc:Fallback>
            </mc:AlternateContent>
          </a:graphicData>
        </a:graphic>
      </p:graphicFrame>
    </p:spTree>
    <p:extLst>
      <p:ext uri="{BB962C8B-B14F-4D97-AF65-F5344CB8AC3E}">
        <p14:creationId xmlns:p14="http://schemas.microsoft.com/office/powerpoint/2010/main" val="4146165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800" b="1" dirty="0"/>
              <a:t>Public Companies</a:t>
            </a:r>
          </a:p>
          <a:p>
            <a:pPr lvl="1"/>
            <a:r>
              <a:rPr lang="en-US" sz="2400" dirty="0"/>
              <a:t>No deduction for </a:t>
            </a:r>
            <a:r>
              <a:rPr lang="en-US" sz="2400" i="1" dirty="0"/>
              <a:t>applicable employee remuneration </a:t>
            </a:r>
            <a:r>
              <a:rPr lang="en-US" sz="2400" dirty="0"/>
              <a:t>for </a:t>
            </a:r>
            <a:r>
              <a:rPr lang="en-US" sz="2400" i="1" dirty="0"/>
              <a:t>covered employee</a:t>
            </a:r>
            <a:r>
              <a:rPr lang="en-US" sz="2400" dirty="0"/>
              <a:t> of </a:t>
            </a:r>
            <a:r>
              <a:rPr lang="en-US" sz="2400" b="1" dirty="0"/>
              <a:t>publicly held corporation</a:t>
            </a:r>
            <a:r>
              <a:rPr lang="en-US" sz="2400" dirty="0"/>
              <a:t> (including foreign corporations with US traded equity)</a:t>
            </a:r>
            <a:r>
              <a:rPr lang="en-US" sz="2400" b="1" dirty="0"/>
              <a:t> or </a:t>
            </a:r>
            <a:r>
              <a:rPr lang="en-US" sz="2400" dirty="0"/>
              <a:t>U.S. corporations that issue publicly traded debt in excess of $1mm.</a:t>
            </a:r>
            <a:r>
              <a:rPr lang="en-US" altLang="en-US" sz="2400" dirty="0"/>
              <a:t> §162(m)(1).</a:t>
            </a:r>
            <a:r>
              <a:rPr lang="en-US" sz="2400" dirty="0"/>
              <a:t> </a:t>
            </a:r>
          </a:p>
          <a:p>
            <a:r>
              <a:rPr lang="en-US" sz="2600" b="1" dirty="0"/>
              <a:t>Covered Employee</a:t>
            </a:r>
          </a:p>
          <a:p>
            <a:pPr lvl="1"/>
            <a:r>
              <a:rPr lang="en-US" sz="2400" dirty="0"/>
              <a:t>CEO and CFO</a:t>
            </a:r>
          </a:p>
          <a:p>
            <a:pPr lvl="1"/>
            <a:r>
              <a:rPr lang="en-US" sz="2400" dirty="0"/>
              <a:t>3 highest compensated officers (other than CEO or CFO); for post ‘26 TYs, expanded to include 8 highest officers other than CEO &amp; CFO. </a:t>
            </a:r>
            <a:r>
              <a:rPr lang="en-US" altLang="en-US" sz="2400" dirty="0"/>
              <a:t>§162(m)(3). </a:t>
            </a:r>
          </a:p>
          <a:p>
            <a:pPr lvl="1"/>
            <a:r>
              <a:rPr lang="en-US" sz="2400" dirty="0"/>
              <a:t>Once covered, always covered</a:t>
            </a:r>
          </a:p>
          <a:p>
            <a:r>
              <a:rPr lang="en-US" sz="2600" b="1" dirty="0"/>
              <a:t>Applicable Employee Remuneration</a:t>
            </a:r>
          </a:p>
          <a:p>
            <a:pPr lvl="1"/>
            <a:r>
              <a:rPr lang="en-US" sz="2400" dirty="0"/>
              <a:t>Aggregate amount allowed as a deduction for remuneration for services</a:t>
            </a:r>
          </a:p>
          <a:p>
            <a:r>
              <a:rPr lang="en-US" sz="2600" dirty="0"/>
              <a:t>Final Regs issued on 12/30/20</a:t>
            </a:r>
          </a:p>
          <a:p>
            <a:r>
              <a:rPr lang="en-US" sz="2600" dirty="0"/>
              <a:t>OBBBA: For post-’25 TYs, comp received from corps that are part of a controlled group is included in determining compensation deduction limit. </a:t>
            </a:r>
            <a:r>
              <a:rPr lang="en-US" altLang="en-US" sz="2800" dirty="0"/>
              <a:t>§162(m)(7) </a:t>
            </a:r>
            <a:endParaRPr lang="en-US" sz="2600" dirty="0"/>
          </a:p>
          <a:p>
            <a:pPr marL="228600" lvl="1" indent="0" algn="ctr">
              <a:buNone/>
            </a:pPr>
            <a:endParaRPr lang="en-US" sz="2400" b="1" u="sng" dirty="0"/>
          </a:p>
        </p:txBody>
      </p:sp>
      <p:sp>
        <p:nvSpPr>
          <p:cNvPr id="3" name="Title 2"/>
          <p:cNvSpPr>
            <a:spLocks noGrp="1"/>
          </p:cNvSpPr>
          <p:nvPr>
            <p:ph type="title"/>
          </p:nvPr>
        </p:nvSpPr>
        <p:spPr/>
        <p:txBody>
          <a:bodyPr/>
          <a:lstStyle/>
          <a:p>
            <a:r>
              <a:rPr lang="en-US" dirty="0"/>
              <a:t>C Corporations: Avoiding Corporate Tax with Compensation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9244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8424F9-2090-50C8-1915-C4DDA5ABA392}"/>
              </a:ext>
            </a:extLst>
          </p:cNvPr>
          <p:cNvSpPr>
            <a:spLocks noGrp="1"/>
          </p:cNvSpPr>
          <p:nvPr>
            <p:ph idx="1"/>
          </p:nvPr>
        </p:nvSpPr>
        <p:spPr>
          <a:xfrm>
            <a:off x="512064" y="533400"/>
            <a:ext cx="11277600" cy="5411703"/>
          </a:xfrm>
        </p:spPr>
        <p:txBody>
          <a:bodyPr>
            <a:normAutofit fontScale="92500"/>
          </a:bodyPr>
          <a:lstStyle/>
          <a:p>
            <a:r>
              <a:rPr lang="en-US" sz="2800" i="1" dirty="0"/>
              <a:t>The 2017 Tax Cuts and Jobs Act (TCJA) expanded the impact of IRC Section 162(m) by disallowing a tax deduction for any compensation over $1 million paid to top executives. Under prior law, qualified performance-based compensation was exempt from the $1 million limit. Using OLS regressions, we examine whether TCJA affected CEO compensation immediately after enactment. </a:t>
            </a:r>
            <a:r>
              <a:rPr lang="en-US" sz="2800" b="1" i="1" dirty="0"/>
              <a:t>We find evidence that CEO salaries, non-equity incentive pay, stock awards and total compensation are all higher after TCJA. </a:t>
            </a:r>
            <a:r>
              <a:rPr lang="en-US" sz="2800" i="1" dirty="0"/>
              <a:t>While the law change increases the after-tax cost of compensation for the average firm, our results show that </a:t>
            </a:r>
            <a:r>
              <a:rPr lang="en-US" sz="2800" b="1" i="1" dirty="0"/>
              <a:t>TCJA did not constrain CEO compensation</a:t>
            </a:r>
            <a:r>
              <a:rPr lang="en-US" sz="2800" i="1" dirty="0"/>
              <a:t>. However, relative to the average effect, in cross-sectional analyses, we find some evidence that compensation was lower for strong CEOs post TCJA. We also find some evidence that CEOs at firms with high leverage and net </a:t>
            </a:r>
            <a:r>
              <a:rPr lang="en-US" sz="2800" i="1" dirty="0">
                <a:hlinkClick r:id="rId2" tooltip="Learn more about deferred tax from ScienceDirect's AI-generated Topic Pages">
                  <a:extLst>
                    <a:ext uri="{A12FA001-AC4F-418D-AE19-62706E023703}">
                      <ahyp:hlinkClr xmlns:ahyp="http://schemas.microsoft.com/office/drawing/2018/hyperlinkcolor" val="tx"/>
                    </a:ext>
                  </a:extLst>
                </a:hlinkClick>
              </a:rPr>
              <a:t>deferred tax</a:t>
            </a:r>
            <a:r>
              <a:rPr lang="en-US" sz="2800" i="1" dirty="0"/>
              <a:t> assets, including tax net operating losses, saw a decrease in various types of incentive compensation post TCJA.</a:t>
            </a:r>
          </a:p>
          <a:p>
            <a:endParaRPr lang="en-US" i="1" dirty="0"/>
          </a:p>
          <a:p>
            <a:endParaRPr lang="en-US" i="1" dirty="0"/>
          </a:p>
        </p:txBody>
      </p:sp>
      <p:sp>
        <p:nvSpPr>
          <p:cNvPr id="3" name="Title 2">
            <a:extLst>
              <a:ext uri="{FF2B5EF4-FFF2-40B4-BE49-F238E27FC236}">
                <a16:creationId xmlns:a16="http://schemas.microsoft.com/office/drawing/2014/main" id="{36EC605E-35CC-9963-0701-DD97CBF0854A}"/>
              </a:ext>
            </a:extLst>
          </p:cNvPr>
          <p:cNvSpPr>
            <a:spLocks noGrp="1"/>
          </p:cNvSpPr>
          <p:nvPr>
            <p:ph type="title"/>
          </p:nvPr>
        </p:nvSpPr>
        <p:spPr/>
        <p:txBody>
          <a:bodyPr/>
          <a:lstStyle/>
          <a:p>
            <a:r>
              <a:rPr lang="en-US" dirty="0"/>
              <a:t>162(m):  Good intentions, mediocre outcomes</a:t>
            </a:r>
          </a:p>
        </p:txBody>
      </p:sp>
      <p:sp>
        <p:nvSpPr>
          <p:cNvPr id="4" name="Slide Number Placeholder 3">
            <a:extLst>
              <a:ext uri="{FF2B5EF4-FFF2-40B4-BE49-F238E27FC236}">
                <a16:creationId xmlns:a16="http://schemas.microsoft.com/office/drawing/2014/main" id="{7D30E09E-3E94-2726-152D-BAD09520E203}"/>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B9CD8BB5-E922-C0F4-69AE-34359CFE77CF}"/>
              </a:ext>
            </a:extLst>
          </p:cNvPr>
          <p:cNvSpPr>
            <a:spLocks noGrp="1"/>
          </p:cNvSpPr>
          <p:nvPr>
            <p:ph type="ftr" sz="quarter" idx="11"/>
          </p:nvPr>
        </p:nvSpPr>
        <p:spPr/>
        <p:txBody>
          <a:bodyPr/>
          <a:lstStyle/>
          <a:p>
            <a:pPr>
              <a:defRPr/>
            </a:pPr>
            <a:r>
              <a:rPr lang="en-US"/>
              <a:t>Taxation of C Corporations</a:t>
            </a:r>
            <a:endParaRPr lang="en-US" dirty="0"/>
          </a:p>
        </p:txBody>
      </p:sp>
      <p:sp>
        <p:nvSpPr>
          <p:cNvPr id="7" name="TextBox 6">
            <a:extLst>
              <a:ext uri="{FF2B5EF4-FFF2-40B4-BE49-F238E27FC236}">
                <a16:creationId xmlns:a16="http://schemas.microsoft.com/office/drawing/2014/main" id="{753F75C6-4976-2B64-02A8-7389658A09E2}"/>
              </a:ext>
            </a:extLst>
          </p:cNvPr>
          <p:cNvSpPr txBox="1"/>
          <p:nvPr/>
        </p:nvSpPr>
        <p:spPr>
          <a:xfrm>
            <a:off x="3342682" y="6062990"/>
            <a:ext cx="5506636" cy="261610"/>
          </a:xfrm>
          <a:prstGeom prst="rect">
            <a:avLst/>
          </a:prstGeom>
          <a:noFill/>
        </p:spPr>
        <p:txBody>
          <a:bodyPr wrap="none" rtlCol="0">
            <a:spAutoFit/>
          </a:bodyPr>
          <a:lstStyle/>
          <a:p>
            <a:r>
              <a:rPr lang="en-US" sz="1100" dirty="0"/>
              <a:t>Luna et al, </a:t>
            </a:r>
            <a:r>
              <a:rPr lang="en-US" sz="1100" i="1" dirty="0"/>
              <a:t>The Impact of TCJA on CEO Compensation, </a:t>
            </a:r>
            <a:r>
              <a:rPr lang="en-US" sz="1100" dirty="0"/>
              <a:t>42 J of Acc’ting and Public Policy (2023)</a:t>
            </a:r>
          </a:p>
        </p:txBody>
      </p:sp>
    </p:spTree>
    <p:extLst>
      <p:ext uri="{BB962C8B-B14F-4D97-AF65-F5344CB8AC3E}">
        <p14:creationId xmlns:p14="http://schemas.microsoft.com/office/powerpoint/2010/main" val="4201994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327DFC7F-8D8A-B844-8C9A-6B5762F25821}"/>
              </a:ext>
            </a:extLst>
          </p:cNvPr>
          <p:cNvSpPr>
            <a:spLocks noGrp="1"/>
          </p:cNvSpPr>
          <p:nvPr>
            <p:ph idx="1"/>
          </p:nvPr>
        </p:nvSpPr>
        <p:spPr/>
        <p:txBody>
          <a:bodyPr>
            <a:normAutofit/>
          </a:bodyPr>
          <a:lstStyle/>
          <a:p>
            <a:r>
              <a:rPr lang="en-US" sz="2800" b="1" i="1" dirty="0"/>
              <a:t>Tax Matters.</a:t>
            </a:r>
            <a:r>
              <a:rPr lang="en-US" sz="2800" dirty="0"/>
              <a:t> Section </a:t>
            </a:r>
            <a:r>
              <a:rPr lang="en-US" sz="2800" i="1" dirty="0"/>
              <a:t>162(m</a:t>
            </a:r>
            <a:r>
              <a:rPr lang="en-US" sz="2800" dirty="0"/>
              <a:t>) of the Code generally disallows a tax deduction to public companies for compensation of more than $1 million paid in any taxable year to certain current and former named executive officers. As a general matter, while the LDCC is mindful of the benefit to the Company of the full deductibility of compensation, it believes that it should maintain flexibility in compensating the Company’s executive officers in a manner that can best promote our corporate objectives. </a:t>
            </a:r>
          </a:p>
          <a:p>
            <a:endParaRPr lang="en-US" dirty="0"/>
          </a:p>
          <a:p>
            <a:endParaRPr lang="en-US" dirty="0"/>
          </a:p>
        </p:txBody>
      </p:sp>
      <p:sp>
        <p:nvSpPr>
          <p:cNvPr id="7" name="Title 6">
            <a:extLst>
              <a:ext uri="{FF2B5EF4-FFF2-40B4-BE49-F238E27FC236}">
                <a16:creationId xmlns:a16="http://schemas.microsoft.com/office/drawing/2014/main" id="{1483A926-9567-1445-8812-FB217BD87C66}"/>
              </a:ext>
            </a:extLst>
          </p:cNvPr>
          <p:cNvSpPr>
            <a:spLocks noGrp="1"/>
          </p:cNvSpPr>
          <p:nvPr>
            <p:ph type="title"/>
          </p:nvPr>
        </p:nvSpPr>
        <p:spPr/>
        <p:txBody>
          <a:bodyPr/>
          <a:lstStyle/>
          <a:p>
            <a:r>
              <a:rPr lang="en-US" dirty="0"/>
              <a:t>C Corporations: Avoiding Corporate Tax with Compensation</a:t>
            </a:r>
          </a:p>
        </p:txBody>
      </p:sp>
      <p:sp>
        <p:nvSpPr>
          <p:cNvPr id="5" name="Slide Number Placeholder 4">
            <a:extLst>
              <a:ext uri="{FF2B5EF4-FFF2-40B4-BE49-F238E27FC236}">
                <a16:creationId xmlns:a16="http://schemas.microsoft.com/office/drawing/2014/main" id="{AF489C6B-CC8F-BE42-B726-4F083F5C5768}"/>
              </a:ext>
            </a:extLst>
          </p:cNvPr>
          <p:cNvSpPr>
            <a:spLocks noGrp="1"/>
          </p:cNvSpPr>
          <p:nvPr>
            <p:ph type="sldNum" sz="quarter" idx="10"/>
          </p:nvPr>
        </p:nvSpPr>
        <p:spPr/>
        <p:txBody>
          <a:bodyPr/>
          <a:lstStyle/>
          <a:p>
            <a:fld id="{463EAD6B-1B79-144E-A805-1CA6FF1F03FA}" type="slidenum">
              <a:rPr lang="en-US" altLang="en-US" smtClean="0"/>
              <a:pPr/>
              <a:t>20</a:t>
            </a:fld>
            <a:endParaRPr lang="en-US" altLang="en-US" dirty="0"/>
          </a:p>
        </p:txBody>
      </p:sp>
      <p:sp>
        <p:nvSpPr>
          <p:cNvPr id="6" name="Footer Placeholder 5">
            <a:extLst>
              <a:ext uri="{FF2B5EF4-FFF2-40B4-BE49-F238E27FC236}">
                <a16:creationId xmlns:a16="http://schemas.microsoft.com/office/drawing/2014/main" id="{16935FC7-EC7E-384B-B3A2-FA3DBD395F6B}"/>
              </a:ext>
            </a:extLst>
          </p:cNvPr>
          <p:cNvSpPr>
            <a:spLocks noGrp="1"/>
          </p:cNvSpPr>
          <p:nvPr>
            <p:ph type="ftr" sz="quarter" idx="11"/>
          </p:nvPr>
        </p:nvSpPr>
        <p:spPr/>
        <p:txBody>
          <a:bodyPr/>
          <a:lstStyle/>
          <a:p>
            <a:pPr>
              <a:defRPr/>
            </a:pPr>
            <a:r>
              <a:rPr lang="en-US" dirty="0"/>
              <a:t>Taxation of C Corporations</a:t>
            </a:r>
          </a:p>
        </p:txBody>
      </p:sp>
      <p:sp>
        <p:nvSpPr>
          <p:cNvPr id="9" name="TextBox 8">
            <a:extLst>
              <a:ext uri="{FF2B5EF4-FFF2-40B4-BE49-F238E27FC236}">
                <a16:creationId xmlns:a16="http://schemas.microsoft.com/office/drawing/2014/main" id="{1946010A-F826-AF47-912C-4ADC919ECDFA}"/>
              </a:ext>
            </a:extLst>
          </p:cNvPr>
          <p:cNvSpPr txBox="1"/>
          <p:nvPr/>
        </p:nvSpPr>
        <p:spPr>
          <a:xfrm>
            <a:off x="4748877" y="6147754"/>
            <a:ext cx="3861955" cy="246221"/>
          </a:xfrm>
          <a:prstGeom prst="rect">
            <a:avLst/>
          </a:prstGeom>
          <a:noFill/>
        </p:spPr>
        <p:txBody>
          <a:bodyPr wrap="none" rtlCol="0">
            <a:spAutoFit/>
          </a:bodyPr>
          <a:lstStyle/>
          <a:p>
            <a:r>
              <a:rPr lang="en-US" sz="1000" b="1" dirty="0"/>
              <a:t>Fair Isaac Corp, Schedule 14A, Prelim. Proxy Statement (Jan. 9, 2026) </a:t>
            </a:r>
          </a:p>
        </p:txBody>
      </p:sp>
    </p:spTree>
    <p:extLst>
      <p:ext uri="{BB962C8B-B14F-4D97-AF65-F5344CB8AC3E}">
        <p14:creationId xmlns:p14="http://schemas.microsoft.com/office/powerpoint/2010/main" val="2723068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Nonqualified Stock Options </a:t>
            </a:r>
            <a:r>
              <a:rPr lang="en-US" dirty="0"/>
              <a:t>(options without a </a:t>
            </a:r>
            <a:r>
              <a:rPr lang="en-US" i="1" dirty="0"/>
              <a:t>readily ascertainable </a:t>
            </a:r>
            <a:r>
              <a:rPr lang="en-US" i="1" dirty="0" err="1"/>
              <a:t>FMV</a:t>
            </a:r>
            <a:r>
              <a:rPr lang="en-US" dirty="0"/>
              <a:t>)</a:t>
            </a:r>
          </a:p>
          <a:p>
            <a:pPr lvl="1"/>
            <a:r>
              <a:rPr lang="en-US" dirty="0"/>
              <a:t>Bargain element (difference </a:t>
            </a:r>
            <a:r>
              <a:rPr lang="en-US" dirty="0" err="1"/>
              <a:t>btwn</a:t>
            </a:r>
            <a:r>
              <a:rPr lang="en-US" dirty="0"/>
              <a:t> exercise price and share value) is taxed upon </a:t>
            </a:r>
            <a:r>
              <a:rPr lang="en-US" b="1" dirty="0"/>
              <a:t>exercise</a:t>
            </a:r>
            <a:r>
              <a:rPr lang="en-US" dirty="0"/>
              <a:t>. </a:t>
            </a:r>
            <a:r>
              <a:rPr lang="en-US" altLang="en-US" dirty="0"/>
              <a:t>§83; Reg. §1.83-7(a).</a:t>
            </a:r>
          </a:p>
          <a:p>
            <a:pPr lvl="1"/>
            <a:r>
              <a:rPr lang="en-US" dirty="0"/>
              <a:t>Corporation receives deduction in the same amount as employee inclusion when the employee reports the income. </a:t>
            </a:r>
            <a:r>
              <a:rPr lang="en-US" altLang="en-US" dirty="0"/>
              <a:t>§83(h).</a:t>
            </a:r>
          </a:p>
          <a:p>
            <a:r>
              <a:rPr lang="en-US" b="1" dirty="0"/>
              <a:t>Incentive Stock Options </a:t>
            </a:r>
            <a:r>
              <a:rPr lang="en-US" dirty="0"/>
              <a:t>(ISOs)</a:t>
            </a:r>
          </a:p>
          <a:p>
            <a:pPr lvl="1"/>
            <a:r>
              <a:rPr lang="en-US" dirty="0"/>
              <a:t>Bargain element taxed when employee disposes of shares at capital gains rates</a:t>
            </a:r>
          </a:p>
          <a:p>
            <a:pPr lvl="1"/>
            <a:r>
              <a:rPr lang="en-US" dirty="0"/>
              <a:t>No deduction for corporation</a:t>
            </a:r>
          </a:p>
          <a:p>
            <a:pPr lvl="1"/>
            <a:r>
              <a:rPr lang="en-US" dirty="0"/>
              <a:t>Upon exercise, bargain element is AMT add back. </a:t>
            </a:r>
            <a:r>
              <a:rPr lang="en-US" altLang="en-US" dirty="0"/>
              <a:t>§56(b)(3).</a:t>
            </a:r>
            <a:endParaRPr lang="en-US" dirty="0"/>
          </a:p>
          <a:p>
            <a:pPr lvl="1"/>
            <a:r>
              <a:rPr lang="en-US" dirty="0"/>
              <a:t>100k annual limit. </a:t>
            </a:r>
            <a:r>
              <a:rPr lang="en-US" altLang="en-US" dirty="0"/>
              <a:t>§§421 and 422.</a:t>
            </a:r>
          </a:p>
          <a:p>
            <a:r>
              <a:rPr lang="en-US" altLang="en-US" b="1" dirty="0"/>
              <a:t>Financial accounting treatment</a:t>
            </a:r>
          </a:p>
          <a:p>
            <a:pPr lvl="1"/>
            <a:r>
              <a:rPr lang="en-US" altLang="en-US" dirty="0"/>
              <a:t>Recognized as expense (</a:t>
            </a:r>
            <a:r>
              <a:rPr lang="en-US" altLang="en-US" dirty="0" err="1"/>
              <a:t>FMV</a:t>
            </a:r>
            <a:r>
              <a:rPr lang="en-US" altLang="en-US" dirty="0"/>
              <a:t>) when </a:t>
            </a:r>
            <a:r>
              <a:rPr lang="en-US" altLang="en-US" b="1" dirty="0"/>
              <a:t>granted</a:t>
            </a:r>
            <a:r>
              <a:rPr lang="en-US" altLang="en-US" dirty="0"/>
              <a:t>.  If </a:t>
            </a:r>
            <a:r>
              <a:rPr lang="en-US" altLang="en-US" b="1" dirty="0"/>
              <a:t>not vested at grant</a:t>
            </a:r>
            <a:r>
              <a:rPr lang="en-US" altLang="en-US" dirty="0"/>
              <a:t>, </a:t>
            </a:r>
            <a:r>
              <a:rPr lang="en-US" altLang="en-US" dirty="0" err="1"/>
              <a:t>FMV</a:t>
            </a:r>
            <a:r>
              <a:rPr lang="en-US" altLang="en-US" dirty="0"/>
              <a:t> recognized over the vesting period.</a:t>
            </a:r>
          </a:p>
        </p:txBody>
      </p:sp>
      <p:sp>
        <p:nvSpPr>
          <p:cNvPr id="3" name="Title 2"/>
          <p:cNvSpPr>
            <a:spLocks noGrp="1"/>
          </p:cNvSpPr>
          <p:nvPr>
            <p:ph type="title"/>
          </p:nvPr>
        </p:nvSpPr>
        <p:spPr/>
        <p:txBody>
          <a:bodyPr/>
          <a:lstStyle/>
          <a:p>
            <a:r>
              <a:rPr lang="en-US" dirty="0"/>
              <a:t>C Corporations: Avoiding Corporate Tax with Compensation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8374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95A05B-F6FC-DA48-BBF0-944636B18BAB}"/>
              </a:ext>
            </a:extLst>
          </p:cNvPr>
          <p:cNvSpPr>
            <a:spLocks noGrp="1"/>
          </p:cNvSpPr>
          <p:nvPr>
            <p:ph idx="1"/>
          </p:nvPr>
        </p:nvSpPr>
        <p:spPr>
          <a:xfrm>
            <a:off x="512064" y="533399"/>
            <a:ext cx="11277600" cy="5909087"/>
          </a:xfrm>
        </p:spPr>
        <p:txBody>
          <a:bodyPr>
            <a:normAutofit lnSpcReduction="10000"/>
          </a:bodyPr>
          <a:lstStyle/>
          <a:p>
            <a:r>
              <a:rPr lang="en-US" b="1" dirty="0"/>
              <a:t>Stock </a:t>
            </a:r>
            <a:r>
              <a:rPr lang="en-US" dirty="0"/>
              <a:t>granted in exchange for services</a:t>
            </a:r>
          </a:p>
          <a:p>
            <a:pPr lvl="1"/>
            <a:r>
              <a:rPr lang="en-US" dirty="0"/>
              <a:t>Includible in income (and deductible by issuing corporation) when “vested”:</a:t>
            </a:r>
          </a:p>
          <a:p>
            <a:pPr lvl="2"/>
            <a:r>
              <a:rPr lang="en-US" dirty="0"/>
              <a:t>stock is transferable, or </a:t>
            </a:r>
          </a:p>
          <a:p>
            <a:pPr lvl="2"/>
            <a:r>
              <a:rPr lang="en-US" dirty="0"/>
              <a:t>not subject to substantial risk of forfeiture, e.g., future performance of services</a:t>
            </a:r>
          </a:p>
          <a:p>
            <a:pPr lvl="1"/>
            <a:r>
              <a:rPr lang="en-US" dirty="0"/>
              <a:t>Section 83(b) election for non-vested stock, but </a:t>
            </a:r>
            <a:r>
              <a:rPr lang="en-US" i="1" dirty="0"/>
              <a:t>generally</a:t>
            </a:r>
            <a:r>
              <a:rPr lang="en-US" dirty="0"/>
              <a:t> not for nonqualified options</a:t>
            </a:r>
          </a:p>
          <a:p>
            <a:pPr lvl="2"/>
            <a:r>
              <a:rPr lang="en-US" dirty="0"/>
              <a:t>FMV currently included in income (and deductible by employer), and </a:t>
            </a:r>
          </a:p>
          <a:p>
            <a:pPr lvl="2"/>
            <a:r>
              <a:rPr lang="en-US" dirty="0"/>
              <a:t>Any subsequent gain recognized is capital gain</a:t>
            </a:r>
          </a:p>
          <a:p>
            <a:r>
              <a:rPr lang="en-US" b="1" dirty="0"/>
              <a:t>  Qualified Equity Grants </a:t>
            </a:r>
            <a:r>
              <a:rPr lang="en-US" dirty="0"/>
              <a:t>(new </a:t>
            </a:r>
            <a:r>
              <a:rPr lang="en-US" altLang="en-US" dirty="0"/>
              <a:t>§</a:t>
            </a:r>
            <a:r>
              <a:rPr lang="en-US" dirty="0"/>
              <a:t>83(</a:t>
            </a:r>
            <a:r>
              <a:rPr lang="en-US" dirty="0" err="1"/>
              <a:t>i</a:t>
            </a:r>
            <a:r>
              <a:rPr lang="en-US" dirty="0"/>
              <a:t>))</a:t>
            </a:r>
          </a:p>
          <a:p>
            <a:pPr lvl="1"/>
            <a:r>
              <a:rPr lang="en-US" b="1" dirty="0"/>
              <a:t>Qualified stock</a:t>
            </a:r>
            <a:r>
              <a:rPr lang="en-US" dirty="0"/>
              <a:t>: received in connection with the exercise of an option or settlement of a RSU from an eligible corporation</a:t>
            </a:r>
          </a:p>
          <a:p>
            <a:pPr lvl="1"/>
            <a:r>
              <a:rPr lang="en-US" b="1" dirty="0"/>
              <a:t>Eligible Corporation: </a:t>
            </a:r>
            <a:r>
              <a:rPr lang="en-US" dirty="0"/>
              <a:t>Non-publicly traded and 80% or more of all employees are granted stock options/RSU</a:t>
            </a:r>
          </a:p>
          <a:p>
            <a:pPr lvl="1"/>
            <a:r>
              <a:rPr lang="en-US" b="1" dirty="0"/>
              <a:t>Deferral Option: </a:t>
            </a:r>
            <a:r>
              <a:rPr lang="en-US" dirty="0"/>
              <a:t>E/ee can elect to defer QS until the earliest of: it becomes transferable; the stock becomes tradable on an exchange; or 5 years after vesting</a:t>
            </a:r>
          </a:p>
          <a:p>
            <a:pPr lvl="1"/>
            <a:r>
              <a:rPr lang="en-US" dirty="0"/>
              <a:t>Any increase in value after the election date  is taxed at capital gains rate</a:t>
            </a:r>
          </a:p>
        </p:txBody>
      </p:sp>
      <p:sp>
        <p:nvSpPr>
          <p:cNvPr id="3" name="Title 2">
            <a:extLst>
              <a:ext uri="{FF2B5EF4-FFF2-40B4-BE49-F238E27FC236}">
                <a16:creationId xmlns:a16="http://schemas.microsoft.com/office/drawing/2014/main" id="{F707B871-58FC-5C44-B7CC-BFD3C4999ED6}"/>
              </a:ext>
            </a:extLst>
          </p:cNvPr>
          <p:cNvSpPr>
            <a:spLocks noGrp="1"/>
          </p:cNvSpPr>
          <p:nvPr>
            <p:ph type="title"/>
          </p:nvPr>
        </p:nvSpPr>
        <p:spPr/>
        <p:txBody>
          <a:bodyPr/>
          <a:lstStyle/>
          <a:p>
            <a:r>
              <a:rPr lang="en-US" dirty="0"/>
              <a:t>C Corporations: Avoiding Corporate Tax with Compensation</a:t>
            </a:r>
          </a:p>
        </p:txBody>
      </p:sp>
      <p:sp>
        <p:nvSpPr>
          <p:cNvPr id="4" name="Slide Number Placeholder 3">
            <a:extLst>
              <a:ext uri="{FF2B5EF4-FFF2-40B4-BE49-F238E27FC236}">
                <a16:creationId xmlns:a16="http://schemas.microsoft.com/office/drawing/2014/main" id="{C8E51AC6-389F-BE4D-9769-15F5308AEDA4}"/>
              </a:ext>
            </a:extLst>
          </p:cNvPr>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a:extLst>
              <a:ext uri="{FF2B5EF4-FFF2-40B4-BE49-F238E27FC236}">
                <a16:creationId xmlns:a16="http://schemas.microsoft.com/office/drawing/2014/main" id="{53EA3F58-8D42-0B40-A013-8BDB481B8EA4}"/>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660025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200" dirty="0"/>
              <a:t>Interest paid by a corporation on indebtedness is generally deductible, subject to certain limitations, such as </a:t>
            </a:r>
            <a:r>
              <a:rPr lang="en-US" altLang="en-US" sz="3200" dirty="0"/>
              <a:t>§</a:t>
            </a:r>
            <a:r>
              <a:rPr lang="en-US" sz="3200" dirty="0"/>
              <a:t>163(j), by a corporation in computing its taxable income. </a:t>
            </a:r>
            <a:r>
              <a:rPr lang="en-US" altLang="en-US" sz="3200" dirty="0"/>
              <a:t>§163</a:t>
            </a:r>
          </a:p>
          <a:p>
            <a:pPr lvl="1"/>
            <a:r>
              <a:rPr lang="en-US" sz="2800" dirty="0"/>
              <a:t>Is leverage always beneficial to a firm?</a:t>
            </a:r>
          </a:p>
          <a:p>
            <a:pPr lvl="2"/>
            <a:r>
              <a:rPr lang="en-US" sz="2800" dirty="0"/>
              <a:t>Consider the profitability of firm</a:t>
            </a:r>
          </a:p>
          <a:p>
            <a:pPr lvl="1"/>
            <a:r>
              <a:rPr lang="en-US" sz="2800" dirty="0"/>
              <a:t>Is leverage always beneficial to a firm’s shareholders?</a:t>
            </a:r>
          </a:p>
          <a:p>
            <a:pPr lvl="2"/>
            <a:r>
              <a:rPr lang="en-US" sz="2800" dirty="0"/>
              <a:t>Taxation of dividends vs. taxation of interest</a:t>
            </a:r>
          </a:p>
          <a:p>
            <a:pPr lvl="1"/>
            <a:r>
              <a:rPr lang="en-US" sz="2800" dirty="0"/>
              <a:t>What are some of non-tax burdens of leverage?</a:t>
            </a:r>
          </a:p>
          <a:p>
            <a:pPr lvl="2"/>
            <a:r>
              <a:rPr lang="en-US" sz="2800" dirty="0"/>
              <a:t>Covenants?</a:t>
            </a:r>
          </a:p>
          <a:p>
            <a:pPr lvl="2"/>
            <a:endParaRPr lang="en-US" sz="2800" dirty="0"/>
          </a:p>
          <a:p>
            <a:pPr lvl="1"/>
            <a:endParaRPr lang="en-US" sz="2400" dirty="0"/>
          </a:p>
          <a:p>
            <a:pPr lvl="1"/>
            <a:endParaRPr lang="en-US" dirty="0"/>
          </a:p>
        </p:txBody>
      </p:sp>
      <p:sp>
        <p:nvSpPr>
          <p:cNvPr id="3" name="Title 2"/>
          <p:cNvSpPr>
            <a:spLocks noGrp="1"/>
          </p:cNvSpPr>
          <p:nvPr>
            <p:ph type="title"/>
          </p:nvPr>
        </p:nvSpPr>
        <p:spPr/>
        <p:txBody>
          <a:bodyPr/>
          <a:lstStyle/>
          <a:p>
            <a:r>
              <a:rPr lang="en-US" dirty="0"/>
              <a:t>C Corporations:  Capital Structure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68651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1B50-51A6-57B3-2BB8-885EB75C334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7D2F05-851C-AE7D-E92D-C65E6F965823}"/>
              </a:ext>
            </a:extLst>
          </p:cNvPr>
          <p:cNvSpPr>
            <a:spLocks noGrp="1"/>
          </p:cNvSpPr>
          <p:nvPr>
            <p:ph idx="1"/>
          </p:nvPr>
        </p:nvSpPr>
        <p:spPr/>
        <p:txBody>
          <a:bodyPr>
            <a:normAutofit lnSpcReduction="10000"/>
          </a:bodyPr>
          <a:lstStyle/>
          <a:p>
            <a:r>
              <a:rPr lang="en-US" sz="2800" b="1" dirty="0"/>
              <a:t>Section 163(j)</a:t>
            </a:r>
          </a:p>
          <a:p>
            <a:pPr lvl="1"/>
            <a:r>
              <a:rPr lang="en-US" sz="2400" dirty="0"/>
              <a:t>Applies to taxpayers, including all </a:t>
            </a:r>
            <a:r>
              <a:rPr lang="en-US" sz="2400" i="1" dirty="0"/>
              <a:t>tax shelters,</a:t>
            </a:r>
            <a:r>
              <a:rPr lang="en-US" sz="2400" dirty="0"/>
              <a:t> with average 3-yr, annual </a:t>
            </a:r>
            <a:r>
              <a:rPr lang="en-US" sz="2400" i="1" dirty="0"/>
              <a:t>gross receipts</a:t>
            </a:r>
            <a:r>
              <a:rPr lang="en-US" sz="2400" dirty="0"/>
              <a:t> &gt; 32mm in 2026. </a:t>
            </a:r>
            <a:r>
              <a:rPr lang="en-US" altLang="en-US" sz="2400" dirty="0"/>
              <a:t>§§163(j)(3); </a:t>
            </a:r>
            <a:r>
              <a:rPr lang="en-US" sz="2400" dirty="0"/>
              <a:t>448(c)(1)</a:t>
            </a:r>
          </a:p>
          <a:p>
            <a:pPr lvl="1"/>
            <a:r>
              <a:rPr lang="en-US" sz="2400" dirty="0"/>
              <a:t>Business interest deduction limited to the sum of:</a:t>
            </a:r>
            <a:endParaRPr lang="en-US" sz="2400" b="1" dirty="0"/>
          </a:p>
          <a:p>
            <a:pPr lvl="2"/>
            <a:r>
              <a:rPr lang="en-US" sz="2400" i="1" dirty="0"/>
              <a:t>Business interest income, </a:t>
            </a:r>
            <a:r>
              <a:rPr lang="en-US" sz="2400" dirty="0"/>
              <a:t>and </a:t>
            </a:r>
          </a:p>
          <a:p>
            <a:pPr lvl="2"/>
            <a:r>
              <a:rPr lang="en-US" sz="2400" i="1" dirty="0"/>
              <a:t>30% of Adjusted Taxable Income.  </a:t>
            </a:r>
            <a:r>
              <a:rPr lang="en-US" altLang="en-US" sz="2400" dirty="0"/>
              <a:t>§</a:t>
            </a:r>
            <a:r>
              <a:rPr lang="en-US" sz="2400" dirty="0"/>
              <a:t>163(j)(1)</a:t>
            </a:r>
            <a:endParaRPr lang="en-US" sz="2400" i="1" dirty="0"/>
          </a:p>
          <a:p>
            <a:pPr lvl="1"/>
            <a:r>
              <a:rPr lang="en-US" sz="2400" i="1" dirty="0"/>
              <a:t>ATI</a:t>
            </a:r>
            <a:r>
              <a:rPr lang="en-US" sz="2400" dirty="0"/>
              <a:t> (close to EBITDA): TI computed </a:t>
            </a:r>
            <a:r>
              <a:rPr lang="en-US" sz="2400" i="1" dirty="0"/>
              <a:t>without regard to</a:t>
            </a:r>
            <a:r>
              <a:rPr lang="en-US" sz="2400" dirty="0"/>
              <a:t>: </a:t>
            </a:r>
          </a:p>
          <a:p>
            <a:pPr lvl="2"/>
            <a:r>
              <a:rPr lang="en-US" sz="2400" dirty="0"/>
              <a:t>business interest income and business interest expense,</a:t>
            </a:r>
          </a:p>
          <a:p>
            <a:pPr lvl="2"/>
            <a:r>
              <a:rPr lang="en-US" sz="2400" dirty="0"/>
              <a:t>Non-business income, gain, deduction, or loss, and</a:t>
            </a:r>
          </a:p>
          <a:p>
            <a:pPr lvl="2"/>
            <a:r>
              <a:rPr lang="en-US" sz="2400" dirty="0"/>
              <a:t>NOLs</a:t>
            </a:r>
          </a:p>
          <a:p>
            <a:pPr lvl="2"/>
            <a:r>
              <a:rPr lang="en-US" sz="2400" b="1" dirty="0"/>
              <a:t>Depreciation </a:t>
            </a:r>
          </a:p>
          <a:p>
            <a:pPr lvl="3"/>
            <a:r>
              <a:rPr lang="en-US" sz="2200" dirty="0"/>
              <a:t>For TY Jan. 1, ‘22 – Dec. 31, ’24 depreciation was </a:t>
            </a:r>
            <a:r>
              <a:rPr lang="en-US" sz="2200" u="sng" dirty="0"/>
              <a:t>not</a:t>
            </a:r>
            <a:r>
              <a:rPr lang="en-US" sz="2200" dirty="0"/>
              <a:t> added back. </a:t>
            </a:r>
            <a:r>
              <a:rPr lang="en-US" altLang="en-US" sz="2200" dirty="0"/>
              <a:t>§</a:t>
            </a:r>
            <a:r>
              <a:rPr lang="en-US" sz="2200" dirty="0"/>
              <a:t>163(j)(8)</a:t>
            </a:r>
          </a:p>
          <a:p>
            <a:pPr lvl="1"/>
            <a:r>
              <a:rPr lang="en-US" sz="2400" dirty="0"/>
              <a:t>Any disallowed interest is treated as business interest paid/accrued in the succeeding taxable year. </a:t>
            </a:r>
            <a:r>
              <a:rPr lang="en-US" altLang="en-US" sz="2400" dirty="0"/>
              <a:t>§</a:t>
            </a:r>
            <a:r>
              <a:rPr lang="en-US" sz="2400" dirty="0"/>
              <a:t>163(j)(2)</a:t>
            </a:r>
          </a:p>
          <a:p>
            <a:pPr lvl="2"/>
            <a:endParaRPr lang="en-US" sz="2400" dirty="0"/>
          </a:p>
          <a:p>
            <a:pPr lvl="2"/>
            <a:endParaRPr lang="en-US" sz="2000" dirty="0"/>
          </a:p>
          <a:p>
            <a:endParaRPr lang="en-US" dirty="0"/>
          </a:p>
        </p:txBody>
      </p:sp>
      <p:sp>
        <p:nvSpPr>
          <p:cNvPr id="3" name="Title 2">
            <a:extLst>
              <a:ext uri="{FF2B5EF4-FFF2-40B4-BE49-F238E27FC236}">
                <a16:creationId xmlns:a16="http://schemas.microsoft.com/office/drawing/2014/main" id="{7844D612-EE47-2AEB-FC84-1E7582298EE0}"/>
              </a:ext>
            </a:extLst>
          </p:cNvPr>
          <p:cNvSpPr>
            <a:spLocks noGrp="1"/>
          </p:cNvSpPr>
          <p:nvPr>
            <p:ph type="title"/>
          </p:nvPr>
        </p:nvSpPr>
        <p:spPr/>
        <p:txBody>
          <a:bodyPr/>
          <a:lstStyle/>
          <a:p>
            <a:r>
              <a:rPr lang="en-US" dirty="0"/>
              <a:t>C Corporations: Section 163(j)</a:t>
            </a:r>
          </a:p>
        </p:txBody>
      </p:sp>
      <p:sp>
        <p:nvSpPr>
          <p:cNvPr id="4" name="Slide Number Placeholder 3">
            <a:extLst>
              <a:ext uri="{FF2B5EF4-FFF2-40B4-BE49-F238E27FC236}">
                <a16:creationId xmlns:a16="http://schemas.microsoft.com/office/drawing/2014/main" id="{E22D3656-E409-233F-68EA-61A0AE2AFA2C}"/>
              </a:ext>
            </a:extLst>
          </p:cNvPr>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5" name="Footer Placeholder 4">
            <a:extLst>
              <a:ext uri="{FF2B5EF4-FFF2-40B4-BE49-F238E27FC236}">
                <a16:creationId xmlns:a16="http://schemas.microsoft.com/office/drawing/2014/main" id="{DB04304C-7221-7F5B-72C2-D7348915DF33}"/>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3209511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 Corporations:  Capital Structure (Pre-TCJA Example)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25</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pic>
        <p:nvPicPr>
          <p:cNvPr id="6" name="Picture 5"/>
          <p:cNvPicPr>
            <a:picLocks noChangeAspect="1"/>
          </p:cNvPicPr>
          <p:nvPr/>
        </p:nvPicPr>
        <p:blipFill rotWithShape="1">
          <a:blip r:embed="rId2"/>
          <a:srcRect t="7325"/>
          <a:stretch/>
        </p:blipFill>
        <p:spPr>
          <a:xfrm>
            <a:off x="650610" y="1188603"/>
            <a:ext cx="11277599" cy="4400698"/>
          </a:xfrm>
          <a:prstGeom prst="rect">
            <a:avLst/>
          </a:prstGeom>
        </p:spPr>
      </p:pic>
      <p:sp>
        <p:nvSpPr>
          <p:cNvPr id="7" name="TextBox 6"/>
          <p:cNvSpPr txBox="1"/>
          <p:nvPr/>
        </p:nvSpPr>
        <p:spPr>
          <a:xfrm>
            <a:off x="428715" y="613916"/>
            <a:ext cx="11499494" cy="646331"/>
          </a:xfrm>
          <a:prstGeom prst="rect">
            <a:avLst/>
          </a:prstGeom>
          <a:noFill/>
        </p:spPr>
        <p:txBody>
          <a:bodyPr wrap="square" rtlCol="0">
            <a:spAutoFit/>
          </a:bodyPr>
          <a:lstStyle/>
          <a:p>
            <a:r>
              <a:rPr lang="en-US" b="1" dirty="0"/>
              <a:t>Corp X needs to raise $100mm of capital and must decide between issuing debt or preferred stock @ 5% to its shareholders</a:t>
            </a:r>
          </a:p>
        </p:txBody>
      </p:sp>
      <p:sp>
        <p:nvSpPr>
          <p:cNvPr id="2" name="TextBox 1"/>
          <p:cNvSpPr txBox="1"/>
          <p:nvPr/>
        </p:nvSpPr>
        <p:spPr>
          <a:xfrm>
            <a:off x="1235595" y="6108154"/>
            <a:ext cx="3110147" cy="261610"/>
          </a:xfrm>
          <a:prstGeom prst="rect">
            <a:avLst/>
          </a:prstGeom>
          <a:noFill/>
        </p:spPr>
        <p:txBody>
          <a:bodyPr wrap="none" rtlCol="0">
            <a:spAutoFit/>
          </a:bodyPr>
          <a:lstStyle/>
          <a:p>
            <a:r>
              <a:rPr lang="en-US" sz="1100" dirty="0"/>
              <a:t>Source: JCX-45-16, Overview of Corp Debt &amp; Equity</a:t>
            </a:r>
          </a:p>
        </p:txBody>
      </p:sp>
      <p:sp>
        <p:nvSpPr>
          <p:cNvPr id="8" name="TextBox 7">
            <a:extLst>
              <a:ext uri="{FF2B5EF4-FFF2-40B4-BE49-F238E27FC236}">
                <a16:creationId xmlns:a16="http://schemas.microsoft.com/office/drawing/2014/main" id="{90E91B50-8946-A34A-BEED-FDF066A94278}"/>
              </a:ext>
            </a:extLst>
          </p:cNvPr>
          <p:cNvSpPr txBox="1"/>
          <p:nvPr/>
        </p:nvSpPr>
        <p:spPr>
          <a:xfrm>
            <a:off x="3983307" y="5669397"/>
            <a:ext cx="5816016" cy="369332"/>
          </a:xfrm>
          <a:prstGeom prst="rect">
            <a:avLst/>
          </a:prstGeom>
          <a:noFill/>
          <a:ln w="25400">
            <a:solidFill>
              <a:srgbClr val="C00000"/>
            </a:solidFill>
          </a:ln>
        </p:spPr>
        <p:txBody>
          <a:bodyPr wrap="none" rtlCol="0">
            <a:spAutoFit/>
          </a:bodyPr>
          <a:lstStyle/>
          <a:p>
            <a:r>
              <a:rPr lang="en-US" sz="1600" b="1" dirty="0"/>
              <a:t>How does this example change after the TCJA?</a:t>
            </a:r>
            <a:r>
              <a:rPr lang="en-US" sz="1600" dirty="0"/>
              <a:t> See </a:t>
            </a:r>
            <a:r>
              <a:rPr lang="en-US" b="1" dirty="0">
                <a:hlinkClick r:id="rId3"/>
              </a:rPr>
              <a:t>rb.gy/p19en7</a:t>
            </a:r>
            <a:endParaRPr lang="en-US" sz="1600" dirty="0"/>
          </a:p>
        </p:txBody>
      </p:sp>
      <p:sp>
        <p:nvSpPr>
          <p:cNvPr id="9" name="Right Arrow 8">
            <a:extLst>
              <a:ext uri="{FF2B5EF4-FFF2-40B4-BE49-F238E27FC236}">
                <a16:creationId xmlns:a16="http://schemas.microsoft.com/office/drawing/2014/main" id="{CFC282BB-0DBC-FE46-9F2A-9346A947E5FA}"/>
              </a:ext>
            </a:extLst>
          </p:cNvPr>
          <p:cNvSpPr/>
          <p:nvPr/>
        </p:nvSpPr>
        <p:spPr>
          <a:xfrm>
            <a:off x="2904315" y="5774442"/>
            <a:ext cx="1078992" cy="174578"/>
          </a:xfrm>
          <a:prstGeom prst="rightArrow">
            <a:avLst/>
          </a:prstGeom>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073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512064" y="666206"/>
            <a:ext cx="11277599" cy="5499463"/>
          </a:xfrm>
          <a:prstGeom prst="rect">
            <a:avLst/>
          </a:prstGeom>
        </p:spPr>
      </p:pic>
      <p:sp>
        <p:nvSpPr>
          <p:cNvPr id="3" name="Title 2"/>
          <p:cNvSpPr>
            <a:spLocks noGrp="1"/>
          </p:cNvSpPr>
          <p:nvPr>
            <p:ph type="title"/>
          </p:nvPr>
        </p:nvSpPr>
        <p:spPr/>
        <p:txBody>
          <a:bodyPr/>
          <a:lstStyle/>
          <a:p>
            <a:r>
              <a:rPr lang="en-US" dirty="0"/>
              <a:t>C Corporations:  Capital Structure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184726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12064" y="606490"/>
            <a:ext cx="11277600" cy="5738974"/>
          </a:xfrm>
        </p:spPr>
        <p:txBody>
          <a:bodyPr/>
          <a:lstStyle/>
          <a:p>
            <a:pPr marL="0" indent="0" algn="ctr">
              <a:buNone/>
            </a:pPr>
            <a:r>
              <a:rPr lang="en-US" altLang="en-US" b="1" u="sng" dirty="0"/>
              <a:t>Notice 94-47</a:t>
            </a:r>
          </a:p>
          <a:p>
            <a:r>
              <a:rPr lang="en-US" altLang="en-US" dirty="0"/>
              <a:t>Unconditional promise of issuer to pay a sum certain on demand or at a fixed maturity date that is in the reasonably foreseeable future </a:t>
            </a:r>
          </a:p>
          <a:p>
            <a:r>
              <a:rPr lang="en-US" altLang="en-US" dirty="0"/>
              <a:t>Holders possess the right to enforce the payment of principal and interest </a:t>
            </a:r>
          </a:p>
          <a:p>
            <a:r>
              <a:rPr lang="en-US" altLang="en-US" dirty="0" err="1"/>
              <a:t>Holders’s</a:t>
            </a:r>
            <a:r>
              <a:rPr lang="en-US" altLang="en-US" dirty="0"/>
              <a:t> rights are subordinate to </a:t>
            </a:r>
            <a:r>
              <a:rPr lang="en-US" altLang="en-US" dirty="0" err="1"/>
              <a:t>creditors’s</a:t>
            </a:r>
            <a:r>
              <a:rPr lang="en-US" altLang="en-US" dirty="0"/>
              <a:t> rights  </a:t>
            </a:r>
          </a:p>
          <a:p>
            <a:r>
              <a:rPr lang="en-US" altLang="en-US" dirty="0" err="1"/>
              <a:t>Holders’s</a:t>
            </a:r>
            <a:r>
              <a:rPr lang="en-US" altLang="en-US" dirty="0"/>
              <a:t> right to participate in the management of the issuer</a:t>
            </a:r>
          </a:p>
          <a:p>
            <a:r>
              <a:rPr lang="en-US" altLang="en-US" dirty="0"/>
              <a:t>Issuer is thinly capitalized</a:t>
            </a:r>
          </a:p>
          <a:p>
            <a:r>
              <a:rPr lang="en-US" altLang="en-US" dirty="0"/>
              <a:t>Identity between holders and stockholders </a:t>
            </a:r>
          </a:p>
          <a:p>
            <a:r>
              <a:rPr lang="en-US" altLang="en-US" dirty="0"/>
              <a:t>Label placed upon the instruments by the parties</a:t>
            </a:r>
          </a:p>
          <a:p>
            <a:r>
              <a:rPr lang="en-US" altLang="en-US" dirty="0"/>
              <a:t>Intent to be treated as debt or equity for non-tax purposes, including regulatory, rating agency, or financial accounting purposes </a:t>
            </a:r>
          </a:p>
          <a:p>
            <a:endParaRPr lang="en-US" dirty="0"/>
          </a:p>
        </p:txBody>
      </p:sp>
      <p:sp>
        <p:nvSpPr>
          <p:cNvPr id="3" name="Title 2"/>
          <p:cNvSpPr>
            <a:spLocks noGrp="1"/>
          </p:cNvSpPr>
          <p:nvPr>
            <p:ph type="title"/>
          </p:nvPr>
        </p:nvSpPr>
        <p:spPr/>
        <p:txBody>
          <a:bodyPr/>
          <a:lstStyle/>
          <a:p>
            <a:r>
              <a:rPr lang="en-US" dirty="0"/>
              <a:t>C Corporations:  Capital Structure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091840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200" dirty="0"/>
              <a:t>Final Section 385 Regulations (May 2020)</a:t>
            </a:r>
          </a:p>
          <a:p>
            <a:pPr lvl="1"/>
            <a:r>
              <a:rPr lang="en-US" sz="2800" dirty="0"/>
              <a:t>Implement the authority to treat instrument as part debt and part stock</a:t>
            </a:r>
          </a:p>
          <a:p>
            <a:pPr lvl="1"/>
            <a:r>
              <a:rPr lang="en-US" sz="2800" dirty="0"/>
              <a:t>Debt instrument treated as stock:</a:t>
            </a:r>
          </a:p>
          <a:p>
            <a:pPr lvl="2"/>
            <a:r>
              <a:rPr lang="en-US" sz="2800" dirty="0"/>
              <a:t>Distribution of debt obligations to </a:t>
            </a:r>
            <a:r>
              <a:rPr lang="en-US" sz="2800" b="1" dirty="0"/>
              <a:t>related party</a:t>
            </a:r>
          </a:p>
          <a:p>
            <a:pPr lvl="2"/>
            <a:r>
              <a:rPr lang="en-US" sz="2800" dirty="0"/>
              <a:t>Issuance of debt in exchange for </a:t>
            </a:r>
            <a:r>
              <a:rPr lang="en-US" sz="2800" b="1" dirty="0"/>
              <a:t>affiliate stock</a:t>
            </a:r>
          </a:p>
          <a:p>
            <a:pPr lvl="2"/>
            <a:r>
              <a:rPr lang="en-US" sz="2800" dirty="0"/>
              <a:t>Debt issued pursuant to </a:t>
            </a:r>
            <a:r>
              <a:rPr lang="en-US" sz="2800" b="1" dirty="0"/>
              <a:t>internal asset reorganization</a:t>
            </a:r>
          </a:p>
          <a:p>
            <a:pPr lvl="2"/>
            <a:r>
              <a:rPr lang="en-US" sz="2800" dirty="0"/>
              <a:t>Won’t apply if immediately after issuance of the debt, the issue price of debt instruments held by expanded group &lt;50mm</a:t>
            </a:r>
          </a:p>
        </p:txBody>
      </p:sp>
      <p:sp>
        <p:nvSpPr>
          <p:cNvPr id="3" name="Title 2"/>
          <p:cNvSpPr>
            <a:spLocks noGrp="1"/>
          </p:cNvSpPr>
          <p:nvPr>
            <p:ph type="title"/>
          </p:nvPr>
        </p:nvSpPr>
        <p:spPr/>
        <p:txBody>
          <a:bodyPr/>
          <a:lstStyle/>
          <a:p>
            <a:r>
              <a:rPr lang="en-US" dirty="0"/>
              <a:t>C Corporations:  Capital Structure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124657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3200" dirty="0"/>
              <a:t>When is it beneficial for a C Corp to retain (and invest) its earnings rather than paying them out?  Consider various combinations of the following parameters:</a:t>
            </a:r>
          </a:p>
          <a:p>
            <a:pPr lvl="1"/>
            <a:r>
              <a:rPr lang="en-US" sz="2800" dirty="0"/>
              <a:t>C Corp tax on earnings</a:t>
            </a:r>
          </a:p>
          <a:p>
            <a:pPr lvl="1"/>
            <a:r>
              <a:rPr lang="en-US" sz="2800" dirty="0" err="1"/>
              <a:t>SH</a:t>
            </a:r>
            <a:r>
              <a:rPr lang="en-US" sz="2800" dirty="0"/>
              <a:t> tax on current and future distributions of earnings</a:t>
            </a:r>
          </a:p>
          <a:p>
            <a:pPr lvl="1"/>
            <a:r>
              <a:rPr lang="en-US" sz="2800" dirty="0" err="1"/>
              <a:t>SH</a:t>
            </a:r>
            <a:r>
              <a:rPr lang="en-US" sz="2800" dirty="0"/>
              <a:t> tax on sale of shares</a:t>
            </a:r>
          </a:p>
          <a:p>
            <a:pPr lvl="1"/>
            <a:r>
              <a:rPr lang="en-US" sz="2800" dirty="0"/>
              <a:t>Investment opportunities of </a:t>
            </a:r>
            <a:r>
              <a:rPr lang="en-US" sz="2800" dirty="0" err="1"/>
              <a:t>SHs</a:t>
            </a:r>
            <a:r>
              <a:rPr lang="en-US" sz="2800" dirty="0"/>
              <a:t> and C Corps</a:t>
            </a:r>
          </a:p>
          <a:p>
            <a:pPr lvl="1"/>
            <a:r>
              <a:rPr lang="en-US" sz="2800" dirty="0"/>
              <a:t>See </a:t>
            </a:r>
            <a:r>
              <a:rPr lang="en-US" sz="2800" b="1" dirty="0">
                <a:hlinkClick r:id="rId2"/>
              </a:rPr>
              <a:t>rb.gy/p19en7</a:t>
            </a:r>
            <a:endParaRPr lang="en-US" sz="2800" dirty="0"/>
          </a:p>
        </p:txBody>
      </p:sp>
      <p:sp>
        <p:nvSpPr>
          <p:cNvPr id="3" name="Title 2"/>
          <p:cNvSpPr>
            <a:spLocks noGrp="1"/>
          </p:cNvSpPr>
          <p:nvPr>
            <p:ph type="title"/>
          </p:nvPr>
        </p:nvSpPr>
        <p:spPr/>
        <p:txBody>
          <a:bodyPr/>
          <a:lstStyle/>
          <a:p>
            <a:r>
              <a:rPr lang="en-US" dirty="0"/>
              <a:t>C Corporations:  Earnings Accumulation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139651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ctr">
              <a:buNone/>
            </a:pPr>
            <a:r>
              <a:rPr lang="en-US" b="1" u="sng" dirty="0"/>
              <a:t>Accumulated Earnings Tax (</a:t>
            </a:r>
            <a:r>
              <a:rPr lang="en-US" b="1" u="sng" dirty="0" err="1"/>
              <a:t>AET</a:t>
            </a:r>
            <a:r>
              <a:rPr lang="en-US" b="1" u="sng" dirty="0"/>
              <a:t>)</a:t>
            </a:r>
          </a:p>
          <a:p>
            <a:r>
              <a:rPr lang="en-US" dirty="0"/>
              <a:t>Applies to corporation formed or availed of for the purpose of avoiding tax by permitting E&amp;Ps to be accumulated instead of being distributed. </a:t>
            </a:r>
            <a:r>
              <a:rPr lang="en-US" altLang="en-US" dirty="0"/>
              <a:t>§532(a).</a:t>
            </a:r>
            <a:endParaRPr lang="en-US" dirty="0"/>
          </a:p>
          <a:p>
            <a:r>
              <a:rPr lang="en-US" dirty="0"/>
              <a:t>If </a:t>
            </a:r>
            <a:r>
              <a:rPr lang="en-US" dirty="0" err="1"/>
              <a:t>E&amp;Ps</a:t>
            </a:r>
            <a:r>
              <a:rPr lang="en-US" dirty="0"/>
              <a:t> accumulate “beyond the reasonable need of the business”, tax avoidance is presumed, unless corporation can prove to the contrary by a </a:t>
            </a:r>
            <a:r>
              <a:rPr lang="en-US" i="1" dirty="0"/>
              <a:t>preponderance of the evidence</a:t>
            </a:r>
            <a:r>
              <a:rPr lang="en-US" dirty="0"/>
              <a:t>. </a:t>
            </a:r>
            <a:r>
              <a:rPr lang="en-US" altLang="en-US" dirty="0"/>
              <a:t>§533(a).</a:t>
            </a:r>
            <a:r>
              <a:rPr lang="en-US" dirty="0"/>
              <a:t>  </a:t>
            </a:r>
          </a:p>
          <a:p>
            <a:r>
              <a:rPr lang="en-US" dirty="0"/>
              <a:t>20% corporate tax on accumulated taxable income (ATI). </a:t>
            </a:r>
            <a:r>
              <a:rPr lang="en-US" altLang="en-US" dirty="0"/>
              <a:t>§531.</a:t>
            </a:r>
            <a:r>
              <a:rPr lang="en-US" dirty="0"/>
              <a:t> </a:t>
            </a:r>
          </a:p>
          <a:p>
            <a:pPr lvl="1"/>
            <a:r>
              <a:rPr lang="en-US" dirty="0"/>
              <a:t>ATI= TI (with adjustments) - Dividends Paid – accumulated earnings credit (AEC)</a:t>
            </a:r>
          </a:p>
          <a:p>
            <a:pPr lvl="2"/>
            <a:r>
              <a:rPr lang="en-US" dirty="0"/>
              <a:t>Adjustments:</a:t>
            </a:r>
          </a:p>
          <a:p>
            <a:pPr lvl="3"/>
            <a:r>
              <a:rPr lang="en-US" i="1" dirty="0"/>
              <a:t>Less</a:t>
            </a:r>
            <a:r>
              <a:rPr lang="en-US" dirty="0"/>
              <a:t>: taxes, unlimited charitable contributions, capital losses </a:t>
            </a:r>
          </a:p>
          <a:p>
            <a:pPr lvl="3"/>
            <a:r>
              <a:rPr lang="en-US" i="1" dirty="0"/>
              <a:t>Plus</a:t>
            </a:r>
            <a:r>
              <a:rPr lang="en-US" dirty="0"/>
              <a:t>: </a:t>
            </a:r>
            <a:r>
              <a:rPr lang="en-US" dirty="0" err="1"/>
              <a:t>NOLs</a:t>
            </a:r>
            <a:r>
              <a:rPr lang="en-US" dirty="0"/>
              <a:t>, </a:t>
            </a:r>
            <a:r>
              <a:rPr lang="en-US" dirty="0" err="1"/>
              <a:t>DRD</a:t>
            </a:r>
            <a:r>
              <a:rPr lang="en-US" dirty="0"/>
              <a:t>.  </a:t>
            </a:r>
            <a:r>
              <a:rPr lang="en-US" altLang="en-US" dirty="0"/>
              <a:t>§535(a) and (b)</a:t>
            </a:r>
          </a:p>
          <a:p>
            <a:pPr lvl="2"/>
            <a:r>
              <a:rPr lang="en-US" altLang="en-US" dirty="0"/>
              <a:t>AEC: amount in excess of </a:t>
            </a:r>
            <a:r>
              <a:rPr lang="en-US" altLang="en-US" dirty="0" err="1"/>
              <a:t>E&amp;Ps</a:t>
            </a:r>
            <a:r>
              <a:rPr lang="en-US" altLang="en-US" dirty="0"/>
              <a:t> retained for reasonable needs of business</a:t>
            </a:r>
          </a:p>
          <a:p>
            <a:pPr lvl="2"/>
            <a:r>
              <a:rPr lang="en-US" altLang="en-US" dirty="0"/>
              <a:t>Minimum Credit: $250,000 ($150,000 for service corporations). §535(c). </a:t>
            </a:r>
            <a:endParaRPr lang="en-US" dirty="0"/>
          </a:p>
        </p:txBody>
      </p:sp>
      <p:sp>
        <p:nvSpPr>
          <p:cNvPr id="3" name="Title 2"/>
          <p:cNvSpPr>
            <a:spLocks noGrp="1"/>
          </p:cNvSpPr>
          <p:nvPr>
            <p:ph type="title"/>
          </p:nvPr>
        </p:nvSpPr>
        <p:spPr/>
        <p:txBody>
          <a:bodyPr/>
          <a:lstStyle/>
          <a:p>
            <a:r>
              <a:rPr lang="en-US" dirty="0"/>
              <a:t>C Corporations:  Earnings Accumulation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100812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lgn="ctr">
              <a:buNone/>
            </a:pPr>
            <a:r>
              <a:rPr lang="en-US" b="1" u="sng" dirty="0"/>
              <a:t>Personal Holding Company (</a:t>
            </a:r>
            <a:r>
              <a:rPr lang="en-US" b="1" u="sng" dirty="0" err="1"/>
              <a:t>PHC</a:t>
            </a:r>
            <a:r>
              <a:rPr lang="en-US" b="1" u="sng" dirty="0"/>
              <a:t>) Tax</a:t>
            </a:r>
          </a:p>
          <a:p>
            <a:r>
              <a:rPr lang="en-US" dirty="0"/>
              <a:t>20% tax on undistributed person holding company income of </a:t>
            </a:r>
            <a:r>
              <a:rPr lang="en-US" dirty="0" err="1"/>
              <a:t>PHC</a:t>
            </a:r>
            <a:r>
              <a:rPr lang="en-US" dirty="0"/>
              <a:t>. </a:t>
            </a:r>
            <a:r>
              <a:rPr lang="en-US" altLang="en-US" dirty="0"/>
              <a:t>§541</a:t>
            </a:r>
          </a:p>
          <a:p>
            <a:r>
              <a:rPr lang="en-US" dirty="0" err="1"/>
              <a:t>PHC</a:t>
            </a:r>
            <a:endParaRPr lang="en-US" dirty="0"/>
          </a:p>
          <a:p>
            <a:pPr lvl="1"/>
            <a:r>
              <a:rPr lang="en-US" dirty="0"/>
              <a:t>60% of </a:t>
            </a:r>
            <a:r>
              <a:rPr lang="en-US" dirty="0" err="1"/>
              <a:t>AOGI</a:t>
            </a:r>
            <a:r>
              <a:rPr lang="en-US" dirty="0"/>
              <a:t> is personal holding company income (</a:t>
            </a:r>
            <a:r>
              <a:rPr lang="en-US" dirty="0" err="1"/>
              <a:t>PHCI</a:t>
            </a:r>
            <a:r>
              <a:rPr lang="en-US" dirty="0"/>
              <a:t>); </a:t>
            </a:r>
            <a:r>
              <a:rPr lang="en-US" i="1" dirty="0"/>
              <a:t>and</a:t>
            </a:r>
          </a:p>
          <a:p>
            <a:pPr lvl="1"/>
            <a:r>
              <a:rPr lang="en-US" dirty="0"/>
              <a:t>More than 50% of value of stock is owned by 5 or fewer individuals (with constructive ownership rules). </a:t>
            </a:r>
            <a:r>
              <a:rPr lang="en-US" altLang="en-US" dirty="0"/>
              <a:t>§§542(a)(1) and (2); 544.</a:t>
            </a:r>
          </a:p>
          <a:p>
            <a:r>
              <a:rPr lang="en-US" dirty="0" err="1"/>
              <a:t>PHCI</a:t>
            </a:r>
            <a:endParaRPr lang="en-US" dirty="0"/>
          </a:p>
          <a:p>
            <a:pPr lvl="1"/>
            <a:r>
              <a:rPr lang="en-US" dirty="0"/>
              <a:t>Dividends, interest, royalties, certain rents, certain computer software royalties, certain film rents, rent from the use of corporate property by certain shareholders, income from personal service contracts. </a:t>
            </a:r>
            <a:r>
              <a:rPr lang="en-US" altLang="en-US" dirty="0"/>
              <a:t>§543.</a:t>
            </a:r>
          </a:p>
          <a:p>
            <a:pPr lvl="1"/>
            <a:r>
              <a:rPr lang="en-US" dirty="0"/>
              <a:t>Undistributed </a:t>
            </a:r>
            <a:r>
              <a:rPr lang="en-US" dirty="0" err="1"/>
              <a:t>PHCI</a:t>
            </a:r>
            <a:endParaRPr lang="en-US" dirty="0"/>
          </a:p>
          <a:p>
            <a:pPr lvl="2"/>
            <a:r>
              <a:rPr lang="en-US" dirty="0"/>
              <a:t>TI minus dividends paid, taxes, charitable contributions</a:t>
            </a:r>
          </a:p>
          <a:p>
            <a:r>
              <a:rPr lang="en-US" dirty="0"/>
              <a:t>Deduction for deficiency dividends. </a:t>
            </a:r>
            <a:r>
              <a:rPr lang="en-US" altLang="en-US" dirty="0"/>
              <a:t>§547.</a:t>
            </a:r>
            <a:r>
              <a:rPr lang="en-US" dirty="0"/>
              <a:t> </a:t>
            </a:r>
          </a:p>
          <a:p>
            <a:r>
              <a:rPr lang="en-US" dirty="0"/>
              <a:t>When this provision was enacted, what do you think was the corporate-individual tax rate differential? </a:t>
            </a:r>
          </a:p>
        </p:txBody>
      </p:sp>
      <p:sp>
        <p:nvSpPr>
          <p:cNvPr id="3" name="Title 2"/>
          <p:cNvSpPr>
            <a:spLocks noGrp="1"/>
          </p:cNvSpPr>
          <p:nvPr>
            <p:ph type="title"/>
          </p:nvPr>
        </p:nvSpPr>
        <p:spPr/>
        <p:txBody>
          <a:bodyPr/>
          <a:lstStyle/>
          <a:p>
            <a:r>
              <a:rPr lang="en-US" dirty="0"/>
              <a:t>C Corporations:  Earnings Accumulation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31</a:t>
            </a:fld>
            <a:endParaRPr lang="en-US" altLang="en-US" dirty="0"/>
          </a:p>
        </p:txBody>
      </p:sp>
      <p:sp>
        <p:nvSpPr>
          <p:cNvPr id="5" name="Footer Placeholder 4"/>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5978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D0354F-0FFC-880E-1BE9-473E2EEF8346}"/>
              </a:ext>
            </a:extLst>
          </p:cNvPr>
          <p:cNvSpPr>
            <a:spLocks noGrp="1"/>
          </p:cNvSpPr>
          <p:nvPr>
            <p:ph idx="1"/>
          </p:nvPr>
        </p:nvSpPr>
        <p:spPr/>
        <p:txBody>
          <a:bodyPr/>
          <a:lstStyle/>
          <a:p>
            <a:r>
              <a:rPr lang="en-US" sz="2800" b="1" dirty="0"/>
              <a:t>GAAP</a:t>
            </a:r>
            <a:r>
              <a:rPr lang="en-US" sz="2800" dirty="0"/>
              <a:t>:  Communicate financial performance of a company to outside stakeholders in a manner that is accurate, transparent, and consistent from one organization to another</a:t>
            </a:r>
          </a:p>
          <a:p>
            <a:pPr lvl="1"/>
            <a:r>
              <a:rPr lang="en-US" sz="2400" dirty="0"/>
              <a:t>Principle of conservatism (reduce risk of </a:t>
            </a:r>
            <a:r>
              <a:rPr lang="en-US" sz="2400" i="1" dirty="0"/>
              <a:t>overstating</a:t>
            </a:r>
            <a:r>
              <a:rPr lang="en-US" sz="2400" dirty="0"/>
              <a:t> NI)</a:t>
            </a:r>
          </a:p>
          <a:p>
            <a:pPr lvl="1"/>
            <a:r>
              <a:rPr lang="en-US" sz="2400" dirty="0"/>
              <a:t> FASB/SEC</a:t>
            </a:r>
          </a:p>
          <a:p>
            <a:pPr lvl="1"/>
            <a:endParaRPr lang="en-US" sz="2400" dirty="0"/>
          </a:p>
          <a:p>
            <a:r>
              <a:rPr lang="en-US" sz="2800" b="1" dirty="0"/>
              <a:t>Tax</a:t>
            </a:r>
            <a:r>
              <a:rPr lang="en-US" sz="2800" dirty="0"/>
              <a:t>: Collect revenue in proportion to ability to pay, encourage certain activities and industries, limit certain behavior</a:t>
            </a:r>
          </a:p>
          <a:p>
            <a:pPr lvl="1"/>
            <a:r>
              <a:rPr lang="en-US" sz="2400" dirty="0"/>
              <a:t>Minimize risk of </a:t>
            </a:r>
            <a:r>
              <a:rPr lang="en-US" sz="2400" i="1" dirty="0"/>
              <a:t>understating</a:t>
            </a:r>
            <a:r>
              <a:rPr lang="en-US" sz="2400" dirty="0"/>
              <a:t> income</a:t>
            </a:r>
          </a:p>
          <a:p>
            <a:pPr lvl="1"/>
            <a:endParaRPr lang="en-US" sz="2400" dirty="0"/>
          </a:p>
          <a:p>
            <a:r>
              <a:rPr lang="en-US" sz="2600" dirty="0"/>
              <a:t>Schedules M-1 &amp; M-3, Form 1120, reconcile book-tax.</a:t>
            </a:r>
          </a:p>
          <a:p>
            <a:endParaRPr lang="en-US" dirty="0"/>
          </a:p>
        </p:txBody>
      </p:sp>
      <p:sp>
        <p:nvSpPr>
          <p:cNvPr id="3" name="Title 2">
            <a:extLst>
              <a:ext uri="{FF2B5EF4-FFF2-40B4-BE49-F238E27FC236}">
                <a16:creationId xmlns:a16="http://schemas.microsoft.com/office/drawing/2014/main" id="{6E14D511-0014-3A20-5550-1F4B392616F6}"/>
              </a:ext>
            </a:extLst>
          </p:cNvPr>
          <p:cNvSpPr>
            <a:spLocks noGrp="1"/>
          </p:cNvSpPr>
          <p:nvPr>
            <p:ph type="title"/>
          </p:nvPr>
        </p:nvSpPr>
        <p:spPr/>
        <p:txBody>
          <a:bodyPr/>
          <a:lstStyle/>
          <a:p>
            <a:r>
              <a:rPr lang="en-US" dirty="0"/>
              <a:t>Different Goals of Tax and Accounting</a:t>
            </a:r>
          </a:p>
        </p:txBody>
      </p:sp>
      <p:sp>
        <p:nvSpPr>
          <p:cNvPr id="4" name="Slide Number Placeholder 3">
            <a:extLst>
              <a:ext uri="{FF2B5EF4-FFF2-40B4-BE49-F238E27FC236}">
                <a16:creationId xmlns:a16="http://schemas.microsoft.com/office/drawing/2014/main" id="{9AA651BE-8216-8637-F637-06DEEC8167CA}"/>
              </a:ext>
            </a:extLst>
          </p:cNvPr>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
        <p:nvSpPr>
          <p:cNvPr id="5" name="Footer Placeholder 4">
            <a:extLst>
              <a:ext uri="{FF2B5EF4-FFF2-40B4-BE49-F238E27FC236}">
                <a16:creationId xmlns:a16="http://schemas.microsoft.com/office/drawing/2014/main" id="{B0B64910-768E-7E31-C563-E7F979ABA46C}"/>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247250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898334DE-0B5E-D89B-E84B-E01718ADD062}"/>
              </a:ext>
            </a:extLst>
          </p:cNvPr>
          <p:cNvGraphicFramePr>
            <a:graphicFrameLocks noGrp="1"/>
          </p:cNvGraphicFramePr>
          <p:nvPr>
            <p:ph idx="1"/>
            <p:extLst>
              <p:ext uri="{D42A27DB-BD31-4B8C-83A1-F6EECF244321}">
                <p14:modId xmlns:p14="http://schemas.microsoft.com/office/powerpoint/2010/main" val="3747754267"/>
              </p:ext>
            </p:extLst>
          </p:nvPr>
        </p:nvGraphicFramePr>
        <p:xfrm>
          <a:off x="457200" y="591898"/>
          <a:ext cx="11277600" cy="5694368"/>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1584856445"/>
                    </a:ext>
                  </a:extLst>
                </a:gridCol>
                <a:gridCol w="3759200">
                  <a:extLst>
                    <a:ext uri="{9D8B030D-6E8A-4147-A177-3AD203B41FA5}">
                      <a16:colId xmlns:a16="http://schemas.microsoft.com/office/drawing/2014/main" val="33001682"/>
                    </a:ext>
                  </a:extLst>
                </a:gridCol>
                <a:gridCol w="3759200">
                  <a:extLst>
                    <a:ext uri="{9D8B030D-6E8A-4147-A177-3AD203B41FA5}">
                      <a16:colId xmlns:a16="http://schemas.microsoft.com/office/drawing/2014/main" val="78163298"/>
                    </a:ext>
                  </a:extLst>
                </a:gridCol>
              </a:tblGrid>
              <a:tr h="332579">
                <a:tc>
                  <a:txBody>
                    <a:bodyPr/>
                    <a:lstStyle/>
                    <a:p>
                      <a:pPr algn="ctr"/>
                      <a:r>
                        <a:rPr lang="en-US" dirty="0"/>
                        <a:t>Item</a:t>
                      </a:r>
                    </a:p>
                  </a:txBody>
                  <a:tcPr/>
                </a:tc>
                <a:tc>
                  <a:txBody>
                    <a:bodyPr/>
                    <a:lstStyle/>
                    <a:p>
                      <a:pPr algn="ctr"/>
                      <a:r>
                        <a:rPr lang="en-US" dirty="0"/>
                        <a:t>Book</a:t>
                      </a:r>
                    </a:p>
                  </a:txBody>
                  <a:tcPr/>
                </a:tc>
                <a:tc>
                  <a:txBody>
                    <a:bodyPr/>
                    <a:lstStyle/>
                    <a:p>
                      <a:pPr algn="ctr"/>
                      <a:r>
                        <a:rPr lang="en-US" dirty="0"/>
                        <a:t>Tax</a:t>
                      </a:r>
                    </a:p>
                  </a:txBody>
                  <a:tcPr/>
                </a:tc>
                <a:extLst>
                  <a:ext uri="{0D108BD9-81ED-4DB2-BD59-A6C34878D82A}">
                    <a16:rowId xmlns:a16="http://schemas.microsoft.com/office/drawing/2014/main" val="3096145793"/>
                  </a:ext>
                </a:extLst>
              </a:tr>
              <a:tr h="332579">
                <a:tc>
                  <a:txBody>
                    <a:bodyPr/>
                    <a:lstStyle/>
                    <a:p>
                      <a:pPr algn="ctr"/>
                      <a:r>
                        <a:rPr lang="en-US" dirty="0"/>
                        <a:t>Contingency reserves (litigation)</a:t>
                      </a:r>
                    </a:p>
                  </a:txBody>
                  <a:tcPr anchor="ctr"/>
                </a:tc>
                <a:tc>
                  <a:txBody>
                    <a:bodyPr/>
                    <a:lstStyle/>
                    <a:p>
                      <a:pPr algn="ctr"/>
                      <a:r>
                        <a:rPr lang="en-US" dirty="0"/>
                        <a:t>If probable and can be estimated </a:t>
                      </a:r>
                    </a:p>
                  </a:txBody>
                  <a:tcPr anchor="ctr"/>
                </a:tc>
                <a:tc>
                  <a:txBody>
                    <a:bodyPr/>
                    <a:lstStyle/>
                    <a:p>
                      <a:pPr algn="ctr"/>
                      <a:r>
                        <a:rPr lang="en-US" dirty="0"/>
                        <a:t>When all-events test satisfied</a:t>
                      </a:r>
                    </a:p>
                  </a:txBody>
                  <a:tcPr anchor="ctr"/>
                </a:tc>
                <a:extLst>
                  <a:ext uri="{0D108BD9-81ED-4DB2-BD59-A6C34878D82A}">
                    <a16:rowId xmlns:a16="http://schemas.microsoft.com/office/drawing/2014/main" val="699643504"/>
                  </a:ext>
                </a:extLst>
              </a:tr>
              <a:tr h="332579">
                <a:tc>
                  <a:txBody>
                    <a:bodyPr/>
                    <a:lstStyle/>
                    <a:p>
                      <a:pPr algn="ctr"/>
                      <a:r>
                        <a:rPr lang="en-US" dirty="0"/>
                        <a:t>Depreciation</a:t>
                      </a:r>
                    </a:p>
                  </a:txBody>
                  <a:tcPr anchor="ctr"/>
                </a:tc>
                <a:tc>
                  <a:txBody>
                    <a:bodyPr/>
                    <a:lstStyle/>
                    <a:p>
                      <a:pPr algn="ctr"/>
                      <a:r>
                        <a:rPr lang="en-US" dirty="0"/>
                        <a:t>SL over asset’s useful life</a:t>
                      </a:r>
                    </a:p>
                  </a:txBody>
                  <a:tcPr anchor="ctr"/>
                </a:tc>
                <a:tc>
                  <a:txBody>
                    <a:bodyPr/>
                    <a:lstStyle/>
                    <a:p>
                      <a:pPr algn="ctr"/>
                      <a:r>
                        <a:rPr lang="en-US" dirty="0"/>
                        <a:t>Accelerated or 100% today</a:t>
                      </a:r>
                    </a:p>
                  </a:txBody>
                  <a:tcPr anchor="ctr"/>
                </a:tc>
                <a:extLst>
                  <a:ext uri="{0D108BD9-81ED-4DB2-BD59-A6C34878D82A}">
                    <a16:rowId xmlns:a16="http://schemas.microsoft.com/office/drawing/2014/main" val="3302934992"/>
                  </a:ext>
                </a:extLst>
              </a:tr>
              <a:tr h="332579">
                <a:tc>
                  <a:txBody>
                    <a:bodyPr/>
                    <a:lstStyle/>
                    <a:p>
                      <a:pPr algn="ctr"/>
                      <a:r>
                        <a:rPr lang="en-US" dirty="0"/>
                        <a:t>Bad Debts</a:t>
                      </a:r>
                    </a:p>
                  </a:txBody>
                  <a:tcPr anchor="ctr"/>
                </a:tc>
                <a:tc>
                  <a:txBody>
                    <a:bodyPr/>
                    <a:lstStyle/>
                    <a:p>
                      <a:pPr algn="ctr"/>
                      <a:r>
                        <a:rPr lang="en-US"/>
                        <a:t>If probable </a:t>
                      </a:r>
                      <a:r>
                        <a:rPr lang="en-US" dirty="0"/>
                        <a:t>and can be estimated</a:t>
                      </a:r>
                    </a:p>
                  </a:txBody>
                  <a:tcPr anchor="ctr"/>
                </a:tc>
                <a:tc>
                  <a:txBody>
                    <a:bodyPr/>
                    <a:lstStyle/>
                    <a:p>
                      <a:pPr algn="ctr"/>
                      <a:r>
                        <a:rPr lang="en-US" dirty="0"/>
                        <a:t>When written off</a:t>
                      </a:r>
                    </a:p>
                  </a:txBody>
                  <a:tcPr anchor="ctr"/>
                </a:tc>
                <a:extLst>
                  <a:ext uri="{0D108BD9-81ED-4DB2-BD59-A6C34878D82A}">
                    <a16:rowId xmlns:a16="http://schemas.microsoft.com/office/drawing/2014/main" val="2686209609"/>
                  </a:ext>
                </a:extLst>
              </a:tr>
              <a:tr h="332579">
                <a:tc>
                  <a:txBody>
                    <a:bodyPr/>
                    <a:lstStyle/>
                    <a:p>
                      <a:pPr algn="ctr"/>
                      <a:r>
                        <a:rPr lang="en-US" dirty="0"/>
                        <a:t>COD</a:t>
                      </a:r>
                    </a:p>
                  </a:txBody>
                  <a:tcPr anchor="ctr"/>
                </a:tc>
                <a:tc>
                  <a:txBody>
                    <a:bodyPr/>
                    <a:lstStyle/>
                    <a:p>
                      <a:pPr algn="ctr"/>
                      <a:r>
                        <a:rPr lang="en-US" dirty="0"/>
                        <a:t>Recognized</a:t>
                      </a:r>
                    </a:p>
                  </a:txBody>
                  <a:tcPr anchor="ctr"/>
                </a:tc>
                <a:tc>
                  <a:txBody>
                    <a:bodyPr/>
                    <a:lstStyle/>
                    <a:p>
                      <a:pPr algn="ctr"/>
                      <a:r>
                        <a:rPr lang="en-US" dirty="0"/>
                        <a:t>Exempt if certain conditions satisfied</a:t>
                      </a:r>
                    </a:p>
                  </a:txBody>
                  <a:tcPr anchor="ctr"/>
                </a:tc>
                <a:extLst>
                  <a:ext uri="{0D108BD9-81ED-4DB2-BD59-A6C34878D82A}">
                    <a16:rowId xmlns:a16="http://schemas.microsoft.com/office/drawing/2014/main" val="2401727335"/>
                  </a:ext>
                </a:extLst>
              </a:tr>
              <a:tr h="332579">
                <a:tc>
                  <a:txBody>
                    <a:bodyPr/>
                    <a:lstStyle/>
                    <a:p>
                      <a:pPr algn="ctr"/>
                      <a:r>
                        <a:rPr lang="en-US" dirty="0"/>
                        <a:t>Deferred Comp</a:t>
                      </a:r>
                    </a:p>
                  </a:txBody>
                  <a:tcPr anchor="ctr"/>
                </a:tc>
                <a:tc>
                  <a:txBody>
                    <a:bodyPr/>
                    <a:lstStyle/>
                    <a:p>
                      <a:pPr algn="ctr"/>
                      <a:r>
                        <a:rPr lang="en-US" dirty="0"/>
                        <a:t>When earned (services provided)</a:t>
                      </a:r>
                    </a:p>
                  </a:txBody>
                  <a:tcPr anchor="ctr"/>
                </a:tc>
                <a:tc>
                  <a:txBody>
                    <a:bodyPr/>
                    <a:lstStyle/>
                    <a:p>
                      <a:pPr algn="ctr"/>
                      <a:r>
                        <a:rPr lang="en-US" dirty="0"/>
                        <a:t>When included in E/</a:t>
                      </a:r>
                      <a:r>
                        <a:rPr lang="en-US" dirty="0" err="1"/>
                        <a:t>ee’s</a:t>
                      </a:r>
                      <a:r>
                        <a:rPr lang="en-US" dirty="0"/>
                        <a:t> income</a:t>
                      </a:r>
                    </a:p>
                  </a:txBody>
                  <a:tcPr anchor="ctr"/>
                </a:tc>
                <a:extLst>
                  <a:ext uri="{0D108BD9-81ED-4DB2-BD59-A6C34878D82A}">
                    <a16:rowId xmlns:a16="http://schemas.microsoft.com/office/drawing/2014/main" val="191186543"/>
                  </a:ext>
                </a:extLst>
              </a:tr>
              <a:tr h="332579">
                <a:tc>
                  <a:txBody>
                    <a:bodyPr/>
                    <a:lstStyle/>
                    <a:p>
                      <a:pPr algn="ctr"/>
                      <a:r>
                        <a:rPr lang="en-US" dirty="0"/>
                        <a:t>Advance payments</a:t>
                      </a:r>
                    </a:p>
                  </a:txBody>
                  <a:tcPr anchor="ctr"/>
                </a:tc>
                <a:tc>
                  <a:txBody>
                    <a:bodyPr/>
                    <a:lstStyle/>
                    <a:p>
                      <a:pPr algn="ctr"/>
                      <a:r>
                        <a:rPr lang="en-US" dirty="0"/>
                        <a:t>When earned</a:t>
                      </a:r>
                    </a:p>
                  </a:txBody>
                  <a:tcPr anchor="ctr"/>
                </a:tc>
                <a:tc>
                  <a:txBody>
                    <a:bodyPr/>
                    <a:lstStyle/>
                    <a:p>
                      <a:pPr algn="ctr"/>
                      <a:r>
                        <a:rPr lang="en-US" dirty="0"/>
                        <a:t>When received</a:t>
                      </a:r>
                    </a:p>
                  </a:txBody>
                  <a:tcPr anchor="ctr"/>
                </a:tc>
                <a:extLst>
                  <a:ext uri="{0D108BD9-81ED-4DB2-BD59-A6C34878D82A}">
                    <a16:rowId xmlns:a16="http://schemas.microsoft.com/office/drawing/2014/main" val="767175421"/>
                  </a:ext>
                </a:extLst>
              </a:tr>
              <a:tr h="332579">
                <a:tc>
                  <a:txBody>
                    <a:bodyPr/>
                    <a:lstStyle/>
                    <a:p>
                      <a:pPr algn="ctr"/>
                      <a:r>
                        <a:rPr lang="en-US" dirty="0"/>
                        <a:t>Fines, penalties</a:t>
                      </a:r>
                    </a:p>
                  </a:txBody>
                  <a:tcPr anchor="ctr"/>
                </a:tc>
                <a:tc>
                  <a:txBody>
                    <a:bodyPr/>
                    <a:lstStyle/>
                    <a:p>
                      <a:pPr algn="ctr"/>
                      <a:r>
                        <a:rPr lang="en-US" dirty="0"/>
                        <a:t>Fully expensed</a:t>
                      </a:r>
                    </a:p>
                  </a:txBody>
                  <a:tcPr anchor="ctr"/>
                </a:tc>
                <a:tc>
                  <a:txBody>
                    <a:bodyPr/>
                    <a:lstStyle/>
                    <a:p>
                      <a:pPr algn="ctr"/>
                      <a:r>
                        <a:rPr lang="en-US" dirty="0"/>
                        <a:t>Not deductible</a:t>
                      </a:r>
                    </a:p>
                  </a:txBody>
                  <a:tcPr anchor="ctr"/>
                </a:tc>
                <a:extLst>
                  <a:ext uri="{0D108BD9-81ED-4DB2-BD59-A6C34878D82A}">
                    <a16:rowId xmlns:a16="http://schemas.microsoft.com/office/drawing/2014/main" val="1956903677"/>
                  </a:ext>
                </a:extLst>
              </a:tr>
              <a:tr h="831447">
                <a:tc>
                  <a:txBody>
                    <a:bodyPr/>
                    <a:lstStyle/>
                    <a:p>
                      <a:pPr algn="ctr"/>
                      <a:r>
                        <a:rPr lang="en-US" dirty="0"/>
                        <a:t>Non-recognition transactions (reorgs, transferred to controlled corps, spin offs, liquidations)</a:t>
                      </a:r>
                    </a:p>
                  </a:txBody>
                  <a:tcPr anchor="ctr"/>
                </a:tc>
                <a:tc>
                  <a:txBody>
                    <a:bodyPr/>
                    <a:lstStyle/>
                    <a:p>
                      <a:pPr algn="ctr"/>
                      <a:r>
                        <a:rPr lang="en-US" dirty="0"/>
                        <a:t>G/L for book purposes</a:t>
                      </a:r>
                    </a:p>
                  </a:txBody>
                  <a:tcPr anchor="ctr"/>
                </a:tc>
                <a:tc>
                  <a:txBody>
                    <a:bodyPr/>
                    <a:lstStyle/>
                    <a:p>
                      <a:pPr algn="ctr"/>
                      <a:r>
                        <a:rPr lang="en-US" dirty="0"/>
                        <a:t>Full or partial deferral</a:t>
                      </a:r>
                    </a:p>
                  </a:txBody>
                  <a:tcPr anchor="ctr"/>
                </a:tc>
                <a:extLst>
                  <a:ext uri="{0D108BD9-81ED-4DB2-BD59-A6C34878D82A}">
                    <a16:rowId xmlns:a16="http://schemas.microsoft.com/office/drawing/2014/main" val="4281612336"/>
                  </a:ext>
                </a:extLst>
              </a:tr>
              <a:tr h="573728">
                <a:tc>
                  <a:txBody>
                    <a:bodyPr/>
                    <a:lstStyle/>
                    <a:p>
                      <a:pPr algn="ctr"/>
                      <a:r>
                        <a:rPr lang="en-US" dirty="0"/>
                        <a:t>Interest Expense</a:t>
                      </a:r>
                    </a:p>
                  </a:txBody>
                  <a:tcPr anchor="ctr"/>
                </a:tc>
                <a:tc>
                  <a:txBody>
                    <a:bodyPr/>
                    <a:lstStyle/>
                    <a:p>
                      <a:pPr algn="ctr"/>
                      <a:r>
                        <a:rPr lang="en-US" dirty="0"/>
                        <a:t>Full deduction for interest expense</a:t>
                      </a:r>
                    </a:p>
                  </a:txBody>
                  <a:tcPr anchor="ctr"/>
                </a:tc>
                <a:tc>
                  <a:txBody>
                    <a:bodyPr/>
                    <a:lstStyle/>
                    <a:p>
                      <a:pPr algn="ctr"/>
                      <a:r>
                        <a:rPr lang="en-US" dirty="0"/>
                        <a:t>Limited by </a:t>
                      </a:r>
                      <a:r>
                        <a:rPr lang="en-US" altLang="en-US" dirty="0"/>
                        <a:t>§163(j): 30% of EBITDA</a:t>
                      </a:r>
                      <a:endParaRPr lang="en-US" dirty="0"/>
                    </a:p>
                  </a:txBody>
                  <a:tcPr anchor="ctr"/>
                </a:tc>
                <a:extLst>
                  <a:ext uri="{0D108BD9-81ED-4DB2-BD59-A6C34878D82A}">
                    <a16:rowId xmlns:a16="http://schemas.microsoft.com/office/drawing/2014/main" val="4197334068"/>
                  </a:ext>
                </a:extLst>
              </a:tr>
              <a:tr h="582013">
                <a:tc>
                  <a:txBody>
                    <a:bodyPr/>
                    <a:lstStyle/>
                    <a:p>
                      <a:pPr algn="ctr"/>
                      <a:r>
                        <a:rPr lang="en-US" dirty="0"/>
                        <a:t>Income of foreign subsidiaries</a:t>
                      </a:r>
                    </a:p>
                  </a:txBody>
                  <a:tcPr anchor="ctr"/>
                </a:tc>
                <a:tc>
                  <a:txBody>
                    <a:bodyPr/>
                    <a:lstStyle/>
                    <a:p>
                      <a:pPr algn="ctr"/>
                      <a:r>
                        <a:rPr lang="en-US" dirty="0"/>
                        <a:t>Included</a:t>
                      </a:r>
                    </a:p>
                  </a:txBody>
                  <a:tcPr anchor="ctr"/>
                </a:tc>
                <a:tc>
                  <a:txBody>
                    <a:bodyPr/>
                    <a:lstStyle/>
                    <a:p>
                      <a:pPr algn="ctr"/>
                      <a:r>
                        <a:rPr lang="en-US" dirty="0"/>
                        <a:t>Can’t be part of a consolidated return, but Subpart F, GILTI</a:t>
                      </a:r>
                    </a:p>
                  </a:txBody>
                  <a:tcPr anchor="ctr"/>
                </a:tc>
                <a:extLst>
                  <a:ext uri="{0D108BD9-81ED-4DB2-BD59-A6C34878D82A}">
                    <a16:rowId xmlns:a16="http://schemas.microsoft.com/office/drawing/2014/main" val="3967734736"/>
                  </a:ext>
                </a:extLst>
              </a:tr>
              <a:tr h="582013">
                <a:tc>
                  <a:txBody>
                    <a:bodyPr/>
                    <a:lstStyle/>
                    <a:p>
                      <a:pPr algn="ctr"/>
                      <a:r>
                        <a:rPr lang="en-US" dirty="0"/>
                        <a:t>Dividends from other corporations</a:t>
                      </a:r>
                    </a:p>
                  </a:txBody>
                  <a:tcPr anchor="ctr"/>
                </a:tc>
                <a:tc>
                  <a:txBody>
                    <a:bodyPr/>
                    <a:lstStyle/>
                    <a:p>
                      <a:pPr algn="ctr"/>
                      <a:r>
                        <a:rPr lang="en-US" dirty="0"/>
                        <a:t>Fully included</a:t>
                      </a:r>
                    </a:p>
                  </a:txBody>
                  <a:tcPr anchor="ctr"/>
                </a:tc>
                <a:tc>
                  <a:txBody>
                    <a:bodyPr/>
                    <a:lstStyle/>
                    <a:p>
                      <a:pPr algn="ctr"/>
                      <a:r>
                        <a:rPr lang="en-US" dirty="0"/>
                        <a:t>Under the DRD rules, some or all can be deducted</a:t>
                      </a:r>
                    </a:p>
                  </a:txBody>
                  <a:tcPr anchor="ctr"/>
                </a:tc>
                <a:extLst>
                  <a:ext uri="{0D108BD9-81ED-4DB2-BD59-A6C34878D82A}">
                    <a16:rowId xmlns:a16="http://schemas.microsoft.com/office/drawing/2014/main" val="1204866589"/>
                  </a:ext>
                </a:extLst>
              </a:tr>
            </a:tbl>
          </a:graphicData>
        </a:graphic>
      </p:graphicFrame>
      <p:sp>
        <p:nvSpPr>
          <p:cNvPr id="3" name="Title 2">
            <a:extLst>
              <a:ext uri="{FF2B5EF4-FFF2-40B4-BE49-F238E27FC236}">
                <a16:creationId xmlns:a16="http://schemas.microsoft.com/office/drawing/2014/main" id="{EBF16D99-2EA3-18B6-1D32-2513D0019BAC}"/>
              </a:ext>
            </a:extLst>
          </p:cNvPr>
          <p:cNvSpPr>
            <a:spLocks noGrp="1"/>
          </p:cNvSpPr>
          <p:nvPr>
            <p:ph type="title"/>
          </p:nvPr>
        </p:nvSpPr>
        <p:spPr/>
        <p:txBody>
          <a:bodyPr/>
          <a:lstStyle/>
          <a:p>
            <a:r>
              <a:rPr lang="en-US" dirty="0"/>
              <a:t>Some Examples of Book-Tax Differences</a:t>
            </a:r>
          </a:p>
        </p:txBody>
      </p:sp>
      <p:sp>
        <p:nvSpPr>
          <p:cNvPr id="4" name="Slide Number Placeholder 3">
            <a:extLst>
              <a:ext uri="{FF2B5EF4-FFF2-40B4-BE49-F238E27FC236}">
                <a16:creationId xmlns:a16="http://schemas.microsoft.com/office/drawing/2014/main" id="{642F645B-F495-73E3-A03B-BA3A173F79FE}"/>
              </a:ext>
            </a:extLst>
          </p:cNvPr>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
        <p:nvSpPr>
          <p:cNvPr id="5" name="Footer Placeholder 4">
            <a:extLst>
              <a:ext uri="{FF2B5EF4-FFF2-40B4-BE49-F238E27FC236}">
                <a16:creationId xmlns:a16="http://schemas.microsoft.com/office/drawing/2014/main" id="{0436657A-1D58-97C5-6EE7-1661421108AC}"/>
              </a:ext>
            </a:extLst>
          </p:cNvPr>
          <p:cNvSpPr>
            <a:spLocks noGrp="1"/>
          </p:cNvSpPr>
          <p:nvPr>
            <p:ph type="ftr" sz="quarter" idx="11"/>
          </p:nvPr>
        </p:nvSpPr>
        <p:spPr/>
        <p:txBody>
          <a:bodyPr/>
          <a:lstStyle/>
          <a:p>
            <a:pPr>
              <a:defRPr/>
            </a:pPr>
            <a:r>
              <a:rPr lang="en-US" dirty="0"/>
              <a:t>Taxation of C Corporations</a:t>
            </a:r>
          </a:p>
        </p:txBody>
      </p:sp>
    </p:spTree>
    <p:extLst>
      <p:ext uri="{BB962C8B-B14F-4D97-AF65-F5344CB8AC3E}">
        <p14:creationId xmlns:p14="http://schemas.microsoft.com/office/powerpoint/2010/main" val="3993493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6D251D-3E0B-9D44-4218-FFB7385B87AB}"/>
              </a:ext>
            </a:extLst>
          </p:cNvPr>
          <p:cNvSpPr>
            <a:spLocks noGrp="1"/>
          </p:cNvSpPr>
          <p:nvPr>
            <p:ph idx="1"/>
          </p:nvPr>
        </p:nvSpPr>
        <p:spPr/>
        <p:txBody>
          <a:bodyPr>
            <a:normAutofit/>
          </a:bodyPr>
          <a:lstStyle/>
          <a:p>
            <a:r>
              <a:rPr lang="en-US" dirty="0"/>
              <a:t>For post-’22 TYs, an </a:t>
            </a:r>
            <a:r>
              <a:rPr lang="en-US" i="1" dirty="0"/>
              <a:t>applicable corporation</a:t>
            </a:r>
            <a:r>
              <a:rPr lang="en-US" dirty="0"/>
              <a:t> is subject to a 15% CAMT on:</a:t>
            </a:r>
          </a:p>
          <a:p>
            <a:pPr lvl="1"/>
            <a:r>
              <a:rPr lang="en-US" b="1" i="1" dirty="0"/>
              <a:t>Adjusted financial statement income </a:t>
            </a:r>
            <a:r>
              <a:rPr lang="en-US" dirty="0"/>
              <a:t>(AFSI) above the CAMT FTC </a:t>
            </a:r>
            <a:r>
              <a:rPr lang="en-US" i="1" dirty="0"/>
              <a:t>minus </a:t>
            </a:r>
            <a:r>
              <a:rPr lang="en-US" dirty="0"/>
              <a:t>the corporation’s regular tax and any base erosion anti-abuse tax. </a:t>
            </a:r>
            <a:r>
              <a:rPr lang="en-US" altLang="en-US" dirty="0"/>
              <a:t>§§55(b)(2)(A); 56A(a)</a:t>
            </a:r>
          </a:p>
          <a:p>
            <a:pPr lvl="2"/>
            <a:r>
              <a:rPr lang="en-US" altLang="en-US"/>
              <a:t>(15</a:t>
            </a:r>
            <a:r>
              <a:rPr lang="en-US" altLang="en-US" dirty="0"/>
              <a:t>% * AFSI – CAMT FTC) – (Regular tax after FTC + BEAT)</a:t>
            </a:r>
          </a:p>
          <a:p>
            <a:pPr lvl="1"/>
            <a:r>
              <a:rPr lang="en-US" i="1" dirty="0"/>
              <a:t>AFSI</a:t>
            </a:r>
            <a:r>
              <a:rPr lang="en-US" dirty="0"/>
              <a:t>: net income or loss shown on the corporation’s financial statements (books). </a:t>
            </a:r>
            <a:r>
              <a:rPr lang="en-US" altLang="en-US" dirty="0"/>
              <a:t>§56A(b)</a:t>
            </a:r>
          </a:p>
          <a:p>
            <a:pPr lvl="1"/>
            <a:endParaRPr lang="en-US" altLang="en-US" dirty="0"/>
          </a:p>
        </p:txBody>
      </p:sp>
      <p:sp>
        <p:nvSpPr>
          <p:cNvPr id="3" name="Title 2">
            <a:extLst>
              <a:ext uri="{FF2B5EF4-FFF2-40B4-BE49-F238E27FC236}">
                <a16:creationId xmlns:a16="http://schemas.microsoft.com/office/drawing/2014/main" id="{72557E33-1402-88E0-C388-12A69C05F670}"/>
              </a:ext>
            </a:extLst>
          </p:cNvPr>
          <p:cNvSpPr>
            <a:spLocks noGrp="1"/>
          </p:cNvSpPr>
          <p:nvPr>
            <p:ph type="title"/>
          </p:nvPr>
        </p:nvSpPr>
        <p:spPr/>
        <p:txBody>
          <a:bodyPr/>
          <a:lstStyle/>
          <a:p>
            <a:r>
              <a:rPr lang="en-US" dirty="0">
                <a:solidFill>
                  <a:srgbClr val="FF0000"/>
                </a:solidFill>
              </a:rPr>
              <a:t>New</a:t>
            </a:r>
            <a:r>
              <a:rPr lang="en-US" dirty="0"/>
              <a:t> (and </a:t>
            </a:r>
            <a:r>
              <a:rPr lang="en-US" dirty="0">
                <a:solidFill>
                  <a:srgbClr val="FF0000"/>
                </a:solidFill>
              </a:rPr>
              <a:t>not improved</a:t>
            </a:r>
            <a:r>
              <a:rPr lang="en-US" dirty="0"/>
              <a:t>) Minimum Tax on Book Income (CAMT) of </a:t>
            </a:r>
            <a:r>
              <a:rPr lang="en-US" i="1" dirty="0"/>
              <a:t>Applicable Corporations</a:t>
            </a:r>
          </a:p>
        </p:txBody>
      </p:sp>
      <p:sp>
        <p:nvSpPr>
          <p:cNvPr id="4" name="Slide Number Placeholder 3">
            <a:extLst>
              <a:ext uri="{FF2B5EF4-FFF2-40B4-BE49-F238E27FC236}">
                <a16:creationId xmlns:a16="http://schemas.microsoft.com/office/drawing/2014/main" id="{E2ACB9D8-5C90-A1BE-1517-6664C7C6BD32}"/>
              </a:ext>
            </a:extLst>
          </p:cNvPr>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
        <p:nvSpPr>
          <p:cNvPr id="5" name="Footer Placeholder 4">
            <a:extLst>
              <a:ext uri="{FF2B5EF4-FFF2-40B4-BE49-F238E27FC236}">
                <a16:creationId xmlns:a16="http://schemas.microsoft.com/office/drawing/2014/main" id="{08058C1B-C17D-8714-377B-FF346FA9EE0F}"/>
              </a:ext>
            </a:extLst>
          </p:cNvPr>
          <p:cNvSpPr>
            <a:spLocks noGrp="1"/>
          </p:cNvSpPr>
          <p:nvPr>
            <p:ph type="ftr" sz="quarter" idx="11"/>
          </p:nvPr>
        </p:nvSpPr>
        <p:spPr/>
        <p:txBody>
          <a:bodyPr/>
          <a:lstStyle/>
          <a:p>
            <a:pPr>
              <a:defRPr/>
            </a:pPr>
            <a:r>
              <a:rPr lang="en-US"/>
              <a:t>Taxation of C Corporations</a:t>
            </a:r>
            <a:endParaRPr lang="en-US" dirty="0"/>
          </a:p>
        </p:txBody>
      </p:sp>
      <p:pic>
        <p:nvPicPr>
          <p:cNvPr id="7" name="Picture 6" descr="Diagram&#10;&#10;Description automatically generated">
            <a:extLst>
              <a:ext uri="{FF2B5EF4-FFF2-40B4-BE49-F238E27FC236}">
                <a16:creationId xmlns:a16="http://schemas.microsoft.com/office/drawing/2014/main" id="{F3E20AA2-FF16-7AAE-600E-D75A6346FA54}"/>
              </a:ext>
            </a:extLst>
          </p:cNvPr>
          <p:cNvPicPr>
            <a:picLocks noChangeAspect="1"/>
          </p:cNvPicPr>
          <p:nvPr/>
        </p:nvPicPr>
        <p:blipFill>
          <a:blip r:embed="rId2"/>
          <a:stretch>
            <a:fillRect/>
          </a:stretch>
        </p:blipFill>
        <p:spPr>
          <a:xfrm>
            <a:off x="1681701" y="3051468"/>
            <a:ext cx="8980013" cy="2359517"/>
          </a:xfrm>
          <a:prstGeom prst="rect">
            <a:avLst/>
          </a:prstGeom>
        </p:spPr>
      </p:pic>
    </p:spTree>
    <p:extLst>
      <p:ext uri="{BB962C8B-B14F-4D97-AF65-F5344CB8AC3E}">
        <p14:creationId xmlns:p14="http://schemas.microsoft.com/office/powerpoint/2010/main" val="2565300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91CED5-FB8E-16DE-8CEE-66758DD020BC}"/>
              </a:ext>
            </a:extLst>
          </p:cNvPr>
          <p:cNvSpPr>
            <a:spLocks noGrp="1"/>
          </p:cNvSpPr>
          <p:nvPr>
            <p:ph idx="1"/>
          </p:nvPr>
        </p:nvSpPr>
        <p:spPr/>
        <p:txBody>
          <a:bodyPr>
            <a:normAutofit lnSpcReduction="10000"/>
          </a:bodyPr>
          <a:lstStyle/>
          <a:p>
            <a:r>
              <a:rPr lang="en-US" sz="2800" b="1" i="1" dirty="0"/>
              <a:t>Applicable Corporation</a:t>
            </a:r>
          </a:p>
          <a:p>
            <a:pPr lvl="1"/>
            <a:r>
              <a:rPr lang="en-US" sz="2400" dirty="0"/>
              <a:t>Any corporation if </a:t>
            </a:r>
            <a:r>
              <a:rPr lang="en-US" sz="2400" b="1" i="1" dirty="0"/>
              <a:t>average AFSI</a:t>
            </a:r>
            <a:r>
              <a:rPr lang="en-US" sz="2400" b="1" dirty="0"/>
              <a:t> (over last 3 yrs) &gt; $1 Billion </a:t>
            </a:r>
            <a:r>
              <a:rPr lang="en-US" sz="2400" dirty="0"/>
              <a:t>(determined w/out any deduction for financial statement NOL). </a:t>
            </a:r>
            <a:r>
              <a:rPr lang="en-US" altLang="en-US" sz="2400" dirty="0"/>
              <a:t>§59(k)(1)(A)  </a:t>
            </a:r>
          </a:p>
          <a:p>
            <a:pPr lvl="2"/>
            <a:r>
              <a:rPr lang="en-US" sz="2400" dirty="0"/>
              <a:t>S Corps, RICs (mutual funds/ETFs), and REITs are excluded. </a:t>
            </a:r>
            <a:r>
              <a:rPr lang="en-US" altLang="en-US" sz="2400" dirty="0"/>
              <a:t>§59(k)(1)(A)</a:t>
            </a:r>
          </a:p>
          <a:p>
            <a:pPr lvl="2"/>
            <a:r>
              <a:rPr lang="en-US" altLang="en-US" sz="2400" dirty="0"/>
              <a:t>Once an applicable corporation, always an applicable corporation, with some </a:t>
            </a:r>
            <a:r>
              <a:rPr lang="en-US" altLang="en-US" sz="2400" i="1" dirty="0"/>
              <a:t>to be determined</a:t>
            </a:r>
            <a:r>
              <a:rPr lang="en-US" altLang="en-US" sz="2400" dirty="0"/>
              <a:t> regulatory exceptions (change of ownership and failure to satisfy the $1 Billion test). §59(k)(1)(C)</a:t>
            </a:r>
          </a:p>
          <a:p>
            <a:pPr lvl="1"/>
            <a:r>
              <a:rPr lang="en-US" sz="2400" dirty="0"/>
              <a:t>A corporation that is part of a </a:t>
            </a:r>
            <a:r>
              <a:rPr lang="en-US" sz="2400" i="1" dirty="0"/>
              <a:t>foreign-parented multinational group </a:t>
            </a:r>
            <a:r>
              <a:rPr lang="en-US" sz="2400" dirty="0"/>
              <a:t>that satisfies the </a:t>
            </a:r>
            <a:r>
              <a:rPr lang="en-US" sz="2400" i="1" dirty="0"/>
              <a:t>average AFSI test </a:t>
            </a:r>
            <a:r>
              <a:rPr lang="en-US" sz="2400" b="1" i="1" u="sng" dirty="0"/>
              <a:t>and</a:t>
            </a:r>
            <a:r>
              <a:rPr lang="en-US" sz="2400" i="1" dirty="0"/>
              <a:t> </a:t>
            </a:r>
            <a:r>
              <a:rPr lang="en-US" sz="2400" dirty="0"/>
              <a:t>the U.S. corporation’s AFSI is $100MM or more. </a:t>
            </a:r>
            <a:r>
              <a:rPr lang="en-US" altLang="en-US" sz="2400" dirty="0"/>
              <a:t>§59(k)(1)(B), (k)(2)(A) and (B)</a:t>
            </a:r>
          </a:p>
          <a:p>
            <a:pPr lvl="2"/>
            <a:r>
              <a:rPr lang="en-US" sz="2400" dirty="0"/>
              <a:t>AFSI determined w/out certain adjustments, e.g., for CFCs, ECI</a:t>
            </a:r>
            <a:endParaRPr lang="en-US" sz="2400" b="1" i="1" u="sng" dirty="0"/>
          </a:p>
          <a:p>
            <a:pPr lvl="1"/>
            <a:r>
              <a:rPr lang="en-US" sz="2400" dirty="0"/>
              <a:t>A US branch of a foreign corporation is treated as a separate US corporation. </a:t>
            </a:r>
            <a:r>
              <a:rPr lang="en-US" altLang="en-US" sz="2400" dirty="0"/>
              <a:t>§59(k)(2)(C)</a:t>
            </a:r>
          </a:p>
          <a:p>
            <a:pPr lvl="1"/>
            <a:r>
              <a:rPr lang="en-US" sz="2400" dirty="0"/>
              <a:t>SAFE harbor: </a:t>
            </a:r>
            <a:r>
              <a:rPr lang="en-US" sz="2400" i="1" dirty="0"/>
              <a:t>Unadjusted </a:t>
            </a:r>
            <a:r>
              <a:rPr lang="en-US" sz="2400" dirty="0"/>
              <a:t>AFSI is &lt;$500MM or $50MM for members of foreign group.  Notice 2023-7, </a:t>
            </a:r>
            <a:r>
              <a:rPr lang="en-US" altLang="en-US" sz="2400" dirty="0"/>
              <a:t>§5.03</a:t>
            </a:r>
            <a:endParaRPr lang="en-US" sz="2400" dirty="0"/>
          </a:p>
          <a:p>
            <a:endParaRPr lang="en-US" dirty="0"/>
          </a:p>
        </p:txBody>
      </p:sp>
      <p:sp>
        <p:nvSpPr>
          <p:cNvPr id="3" name="Title 2">
            <a:extLst>
              <a:ext uri="{FF2B5EF4-FFF2-40B4-BE49-F238E27FC236}">
                <a16:creationId xmlns:a16="http://schemas.microsoft.com/office/drawing/2014/main" id="{10C99793-9093-7D4B-0563-CCB755BA1C3D}"/>
              </a:ext>
            </a:extLst>
          </p:cNvPr>
          <p:cNvSpPr>
            <a:spLocks noGrp="1"/>
          </p:cNvSpPr>
          <p:nvPr>
            <p:ph type="title"/>
          </p:nvPr>
        </p:nvSpPr>
        <p:spPr/>
        <p:txBody>
          <a:bodyPr/>
          <a:lstStyle/>
          <a:p>
            <a:r>
              <a:rPr lang="en-US" dirty="0"/>
              <a:t>CAMT: Applicable Corporation</a:t>
            </a:r>
          </a:p>
        </p:txBody>
      </p:sp>
      <p:sp>
        <p:nvSpPr>
          <p:cNvPr id="4" name="Slide Number Placeholder 3">
            <a:extLst>
              <a:ext uri="{FF2B5EF4-FFF2-40B4-BE49-F238E27FC236}">
                <a16:creationId xmlns:a16="http://schemas.microsoft.com/office/drawing/2014/main" id="{0FDDF71C-71B5-9D19-08F4-2CAC8EA69F63}"/>
              </a:ext>
            </a:extLst>
          </p:cNvPr>
          <p:cNvSpPr>
            <a:spLocks noGrp="1"/>
          </p:cNvSpPr>
          <p:nvPr>
            <p:ph type="sldNum" sz="quarter" idx="10"/>
          </p:nvPr>
        </p:nvSpPr>
        <p:spPr/>
        <p:txBody>
          <a:bodyPr/>
          <a:lstStyle/>
          <a:p>
            <a:fld id="{7B3E355C-57B9-BC4B-95D8-406A1F834537}" type="slidenum">
              <a:rPr lang="en-US" altLang="en-US" smtClean="0"/>
              <a:pPr/>
              <a:t>35</a:t>
            </a:fld>
            <a:endParaRPr lang="en-US" altLang="en-US" dirty="0"/>
          </a:p>
        </p:txBody>
      </p:sp>
      <p:sp>
        <p:nvSpPr>
          <p:cNvPr id="5" name="Footer Placeholder 4">
            <a:extLst>
              <a:ext uri="{FF2B5EF4-FFF2-40B4-BE49-F238E27FC236}">
                <a16:creationId xmlns:a16="http://schemas.microsoft.com/office/drawing/2014/main" id="{5D8800FD-9935-A40C-836A-5C0EA1581E19}"/>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371217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1B6D75-F61D-8BA1-ACE2-5C5E5C278542}"/>
              </a:ext>
            </a:extLst>
          </p:cNvPr>
          <p:cNvSpPr>
            <a:spLocks noGrp="1"/>
          </p:cNvSpPr>
          <p:nvPr>
            <p:ph idx="1"/>
          </p:nvPr>
        </p:nvSpPr>
        <p:spPr/>
        <p:txBody>
          <a:bodyPr/>
          <a:lstStyle/>
          <a:p>
            <a:r>
              <a:rPr lang="en-US" sz="2800" dirty="0"/>
              <a:t>Some of </a:t>
            </a:r>
            <a:r>
              <a:rPr lang="en-US" sz="2800" i="1" dirty="0"/>
              <a:t>many, many </a:t>
            </a:r>
            <a:r>
              <a:rPr lang="en-US" sz="2800" dirty="0"/>
              <a:t>adjustments to arrive at AFSI</a:t>
            </a:r>
          </a:p>
          <a:p>
            <a:pPr lvl="1"/>
            <a:r>
              <a:rPr lang="en-US" sz="2400" dirty="0"/>
              <a:t>Federal income taxes added back. </a:t>
            </a:r>
            <a:r>
              <a:rPr lang="en-US" altLang="en-US" sz="2400"/>
              <a:t>§56A(c)(5)</a:t>
            </a:r>
            <a:endParaRPr lang="en-US" sz="2400" dirty="0"/>
          </a:p>
          <a:p>
            <a:pPr lvl="1"/>
            <a:r>
              <a:rPr lang="en-US" sz="2400" dirty="0"/>
              <a:t>AFSI is computed using tax depreciation. </a:t>
            </a:r>
            <a:r>
              <a:rPr lang="en-US" altLang="en-US" sz="2400" dirty="0"/>
              <a:t>§56A(c)(13)</a:t>
            </a:r>
          </a:p>
          <a:p>
            <a:pPr lvl="1"/>
            <a:r>
              <a:rPr lang="en-US" sz="2400" dirty="0"/>
              <a:t>AFSI of a P in a PSH takes into account the distributive shares of the PSH’s AFSI. </a:t>
            </a:r>
            <a:r>
              <a:rPr lang="en-US" altLang="en-US" sz="2400" dirty="0"/>
              <a:t>§56A(c)(2)(D)</a:t>
            </a:r>
          </a:p>
          <a:p>
            <a:pPr lvl="1"/>
            <a:r>
              <a:rPr lang="en-US" sz="2400" dirty="0"/>
              <a:t>For shareholders of CFCs, AFSI takes into account the SH’s pro rata shares of </a:t>
            </a:r>
            <a:r>
              <a:rPr lang="en-US" sz="2400" b="1" dirty="0"/>
              <a:t>each</a:t>
            </a:r>
            <a:r>
              <a:rPr lang="en-US" sz="2400" dirty="0"/>
              <a:t> CFC’s NI or NL. §56A(c)(3)(A)</a:t>
            </a:r>
          </a:p>
          <a:p>
            <a:pPr lvl="1"/>
            <a:r>
              <a:rPr lang="en-US" sz="2400" dirty="0"/>
              <a:t>Special rules for tax nonrecognition transactions (reorgs, spin-offs, 351 &amp; 721 contributions, liquidations)</a:t>
            </a:r>
          </a:p>
          <a:p>
            <a:pPr lvl="2"/>
            <a:r>
              <a:rPr lang="en-US" sz="2400" dirty="0"/>
              <a:t>Book G/L of </a:t>
            </a:r>
            <a:r>
              <a:rPr lang="en-US" sz="2400" i="1" dirty="0"/>
              <a:t>covered nonrecognition transactions </a:t>
            </a:r>
            <a:r>
              <a:rPr lang="en-US" sz="2400" dirty="0"/>
              <a:t>not taken into account for AFSI. </a:t>
            </a:r>
          </a:p>
          <a:p>
            <a:pPr lvl="1"/>
            <a:r>
              <a:rPr lang="en-US" sz="2400" dirty="0"/>
              <a:t>Any book income recognized on COD transactions is excluded if excluded for tax purposes. Notice 2023-7, §2.02 </a:t>
            </a:r>
          </a:p>
          <a:p>
            <a:r>
              <a:rPr lang="en-US" dirty="0"/>
              <a:t>Prop. Regs. issued in Sept. 2024; numerous IRS Notices have been issued to provide guidance on the application of the CAMT.  More on the way. 	  </a:t>
            </a:r>
          </a:p>
        </p:txBody>
      </p:sp>
      <p:sp>
        <p:nvSpPr>
          <p:cNvPr id="3" name="Title 2">
            <a:extLst>
              <a:ext uri="{FF2B5EF4-FFF2-40B4-BE49-F238E27FC236}">
                <a16:creationId xmlns:a16="http://schemas.microsoft.com/office/drawing/2014/main" id="{26FDCEA3-B763-0C21-A4A8-CC019B72A260}"/>
              </a:ext>
            </a:extLst>
          </p:cNvPr>
          <p:cNvSpPr>
            <a:spLocks noGrp="1"/>
          </p:cNvSpPr>
          <p:nvPr>
            <p:ph type="title"/>
          </p:nvPr>
        </p:nvSpPr>
        <p:spPr/>
        <p:txBody>
          <a:bodyPr/>
          <a:lstStyle/>
          <a:p>
            <a:r>
              <a:rPr lang="en-US" dirty="0">
                <a:solidFill>
                  <a:srgbClr val="FF0000"/>
                </a:solidFill>
              </a:rPr>
              <a:t>New</a:t>
            </a:r>
            <a:r>
              <a:rPr lang="en-US" dirty="0"/>
              <a:t> (and </a:t>
            </a:r>
            <a:r>
              <a:rPr lang="en-US" dirty="0">
                <a:solidFill>
                  <a:srgbClr val="FF0000"/>
                </a:solidFill>
              </a:rPr>
              <a:t>not improved</a:t>
            </a:r>
            <a:r>
              <a:rPr lang="en-US" dirty="0"/>
              <a:t>) Minimum Tax on Book Income (CAMT) of Applicable Corporations</a:t>
            </a:r>
          </a:p>
        </p:txBody>
      </p:sp>
      <p:sp>
        <p:nvSpPr>
          <p:cNvPr id="4" name="Slide Number Placeholder 3">
            <a:extLst>
              <a:ext uri="{FF2B5EF4-FFF2-40B4-BE49-F238E27FC236}">
                <a16:creationId xmlns:a16="http://schemas.microsoft.com/office/drawing/2014/main" id="{56A27F5B-8FF6-95CF-6B98-91548DEAC0CC}"/>
              </a:ext>
            </a:extLst>
          </p:cNvPr>
          <p:cNvSpPr>
            <a:spLocks noGrp="1"/>
          </p:cNvSpPr>
          <p:nvPr>
            <p:ph type="sldNum" sz="quarter" idx="10"/>
          </p:nvPr>
        </p:nvSpPr>
        <p:spPr/>
        <p:txBody>
          <a:bodyPr/>
          <a:lstStyle/>
          <a:p>
            <a:fld id="{7B3E355C-57B9-BC4B-95D8-406A1F834537}" type="slidenum">
              <a:rPr lang="en-US" altLang="en-US" smtClean="0"/>
              <a:pPr/>
              <a:t>36</a:t>
            </a:fld>
            <a:endParaRPr lang="en-US" altLang="en-US" dirty="0"/>
          </a:p>
        </p:txBody>
      </p:sp>
      <p:sp>
        <p:nvSpPr>
          <p:cNvPr id="5" name="Footer Placeholder 4">
            <a:extLst>
              <a:ext uri="{FF2B5EF4-FFF2-40B4-BE49-F238E27FC236}">
                <a16:creationId xmlns:a16="http://schemas.microsoft.com/office/drawing/2014/main" id="{EC9600D9-8CF5-6168-7409-2AACC38A4A08}"/>
              </a:ext>
            </a:extLst>
          </p:cNvPr>
          <p:cNvSpPr>
            <a:spLocks noGrp="1"/>
          </p:cNvSpPr>
          <p:nvPr>
            <p:ph type="ftr" sz="quarter" idx="11"/>
          </p:nvPr>
        </p:nvSpPr>
        <p:spPr/>
        <p:txBody>
          <a:bodyPr/>
          <a:lstStyle/>
          <a:p>
            <a:pPr>
              <a:defRPr/>
            </a:pPr>
            <a:r>
              <a:rPr lang="en-US"/>
              <a:t>Taxation of C Corporations</a:t>
            </a:r>
            <a:endParaRPr lang="en-US" dirty="0"/>
          </a:p>
        </p:txBody>
      </p:sp>
    </p:spTree>
    <p:extLst>
      <p:ext uri="{BB962C8B-B14F-4D97-AF65-F5344CB8AC3E}">
        <p14:creationId xmlns:p14="http://schemas.microsoft.com/office/powerpoint/2010/main" val="428468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20001</TotalTime>
  <Words>4842</Words>
  <Application>Microsoft Macintosh PowerPoint</Application>
  <PresentationFormat>Widescreen</PresentationFormat>
  <Paragraphs>410</Paragraphs>
  <Slides>36</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5" baseType="lpstr">
      <vt:lpstr>NSimSun</vt:lpstr>
      <vt:lpstr>Arial</vt:lpstr>
      <vt:lpstr>Calibri</vt:lpstr>
      <vt:lpstr>Courier New</vt:lpstr>
      <vt:lpstr>Times New Roman</vt:lpstr>
      <vt:lpstr>Wingdings</vt:lpstr>
      <vt:lpstr>Wingdings 2</vt:lpstr>
      <vt:lpstr>CG Body - Standard</vt:lpstr>
      <vt:lpstr>Worksheet</vt:lpstr>
      <vt:lpstr>Corporate Taxation</vt:lpstr>
      <vt:lpstr>C Corporations:  Commissioner v. Bollinger</vt:lpstr>
      <vt:lpstr>C Corporations: Individual and Tax Rates for 2026</vt:lpstr>
      <vt:lpstr>C Corporations: Tax Miscellanea</vt:lpstr>
      <vt:lpstr>C Corporations: Affiliated (Consolidated) Groups &amp; Controlled Groups</vt:lpstr>
      <vt:lpstr>C Corporations: Section 163(j)</vt:lpstr>
      <vt:lpstr>C Corporation Taxation:  Sections 168(k) and 179</vt:lpstr>
      <vt:lpstr>Benefits of 100% Expensing</vt:lpstr>
      <vt:lpstr>C Corporations: Taxation of C Corp Investors </vt:lpstr>
      <vt:lpstr>C Corporations: Special Rules for Qualified Small Business Stock (§1202).  VC Tax Party Time </vt:lpstr>
      <vt:lpstr>C Corporations: Section 1244 and Small Business Corporations</vt:lpstr>
      <vt:lpstr>C Corporations: Section 1045 and Sales of Small Business Stock</vt:lpstr>
      <vt:lpstr>C Corporations: Avoiding Corporate Tax with Compensation</vt:lpstr>
      <vt:lpstr>C Corporations: Avoiding Corporate Tax with Compensation</vt:lpstr>
      <vt:lpstr>Compensation</vt:lpstr>
      <vt:lpstr>C Corporations: Menard (Avoiding Corporate Tax with Compensation)</vt:lpstr>
      <vt:lpstr>Menard Updated</vt:lpstr>
      <vt:lpstr>C Corporations: Avoiding Corporate Tax with Compensation</vt:lpstr>
      <vt:lpstr>162(m):  Good intentions, mediocre outcomes</vt:lpstr>
      <vt:lpstr>C Corporations: Avoiding Corporate Tax with Compensation</vt:lpstr>
      <vt:lpstr>C Corporations: Avoiding Corporate Tax with Compensation</vt:lpstr>
      <vt:lpstr>C Corporations: Avoiding Corporate Tax with Compensation</vt:lpstr>
      <vt:lpstr>C Corporations:  Capital Structure</vt:lpstr>
      <vt:lpstr>C Corporations: Section 163(j)</vt:lpstr>
      <vt:lpstr>C Corporations:  Capital Structure (Pre-TCJA Example)</vt:lpstr>
      <vt:lpstr>C Corporations:  Capital Structure</vt:lpstr>
      <vt:lpstr>C Corporations:  Capital Structure</vt:lpstr>
      <vt:lpstr>C Corporations:  Capital Structure</vt:lpstr>
      <vt:lpstr>C Corporations:  Earnings Accumulation</vt:lpstr>
      <vt:lpstr>C Corporations:  Earnings Accumulation</vt:lpstr>
      <vt:lpstr>C Corporations:  Earnings Accumulation</vt:lpstr>
      <vt:lpstr>Different Goals of Tax and Accounting</vt:lpstr>
      <vt:lpstr>Some Examples of Book-Tax Differences</vt:lpstr>
      <vt:lpstr>New (and not improved) Minimum Tax on Book Income (CAMT) of Applicable Corporations</vt:lpstr>
      <vt:lpstr>CAMT: Applicable Corporation</vt:lpstr>
      <vt:lpstr>New (and not improved) Minimum Tax on Book Income (CAMT) of Applicable Corporations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Corporations:  Commissioner v. Bollinger</dc:title>
  <dc:creator>J Colon</dc:creator>
  <cp:lastModifiedBy>Colon, Jeffrey M.</cp:lastModifiedBy>
  <cp:revision>239</cp:revision>
  <cp:lastPrinted>2023-01-25T20:40:12Z</cp:lastPrinted>
  <dcterms:created xsi:type="dcterms:W3CDTF">2016-08-01T04:04:31Z</dcterms:created>
  <dcterms:modified xsi:type="dcterms:W3CDTF">2026-04-08T14:11:38Z</dcterms:modified>
</cp:coreProperties>
</file>