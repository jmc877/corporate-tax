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4"/>
  </p:notesMasterIdLst>
  <p:sldIdLst>
    <p:sldId id="256" r:id="rId2"/>
    <p:sldId id="257" r:id="rId3"/>
    <p:sldId id="258" r:id="rId4"/>
    <p:sldId id="280" r:id="rId5"/>
    <p:sldId id="281" r:id="rId6"/>
    <p:sldId id="282" r:id="rId7"/>
    <p:sldId id="283" r:id="rId8"/>
    <p:sldId id="284" r:id="rId9"/>
    <p:sldId id="259" r:id="rId10"/>
    <p:sldId id="260" r:id="rId11"/>
    <p:sldId id="299" r:id="rId12"/>
    <p:sldId id="262" r:id="rId13"/>
    <p:sldId id="305" r:id="rId14"/>
    <p:sldId id="303" r:id="rId15"/>
    <p:sldId id="301" r:id="rId16"/>
    <p:sldId id="263" r:id="rId17"/>
    <p:sldId id="308" r:id="rId18"/>
    <p:sldId id="307" r:id="rId19"/>
    <p:sldId id="306" r:id="rId20"/>
    <p:sldId id="267" r:id="rId21"/>
    <p:sldId id="269" r:id="rId22"/>
    <p:sldId id="30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7EC9B-A61D-D543-84D8-828AA896B576}" v="39" dt="2025-12-28T22:32:22.0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3"/>
    <p:restoredTop sz="91565"/>
  </p:normalViewPr>
  <p:slideViewPr>
    <p:cSldViewPr snapToGrid="0" snapToObjects="1">
      <p:cViewPr varScale="1">
        <p:scale>
          <a:sx n="117" d="100"/>
          <a:sy n="117" d="100"/>
        </p:scale>
        <p:origin x="91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08.27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1,'87'0,"-1"0,-12 0,4 0,2 0,15 3,3 1,4-1,-16-2,4-1,1 1,0 1,4 3,2 1,-1 1,-1-3,-1-2,0-1,-2-1,0 1,-7 2,-2 0,0 1,-1-2,-3-1,0-1,-2-1,-5 1,-2 0,-5 0,0 0,3 0,0 0,-2 0,15 0,-4 0,-4 0,1 0,16 0,2 0,7 0,0 0,-33 0,0 0,2 0,9 0,2 0,-1 0,-2 1,-1 0,1 1,9 1,2 1,-1 1,-5 0,0 1,0-1,0 1,-1 1,-1-2,-4-1,0 0,-2-1,-3-1,-2-1,0 0,27-1,-4 0,-12 0,-4 0,-6 0,-3 0,-10 0,-1 0,0 0,-1 0,22 0,-11 0,-12 0,-13 0,34 0,-19 0,28 0,-36 0,-3 0,-27 0,-8 0,14 0,-2 0,27 0,17 0,-16 0,5 0,14 0,2 0,2 0,0 0,-1 0,-5 0,9 0,-24 0,-41 0,0 0,-4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10.85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0,'97'0,"-1"0,-12 0,4 0,2 0,8 0,-6 0,-22 0,-3 0,-1 0,33 0,-8 0,-30 0,-10 0,1 0,-21 0,-19 0,4 0,4 0,-4 0,9 0,-12 0,-1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14.06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1,'86'0,"0"0,1 0,-9 0,-1 0,2 0,9 0,2 0,-4 0,-16 0,-3 0,0 0,31 0,-7 0,-27 0,-9 0,4 0,40 0,-37 0,1 0,1 0,14 0,15 0,7 0,-46 0,3 0,16 0,4 0,6 0,1 0,1 0,-1 0,0 0,-6 0,-26 0,-3 0,39 0,-66 0,7 0,-23 0,9 0,3 0,3 0,20 0,41 0,9 0,-34 0,-2 0,12 0,-28 0,-24 0,-9 0,3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1T22:17:21.085"/>
    </inkml:context>
    <inkml:brush xml:id="br0">
      <inkml:brushProperty name="width" value="0.1" units="cm"/>
      <inkml:brushProperty name="height" value="0.6" units="cm"/>
      <inkml:brushProperty name="color" value="#849398"/>
      <inkml:brushProperty name="inkEffects" value="pencil"/>
    </inkml:brush>
  </inkml:definitions>
  <inkml:trace contextRef="#ctx0" brushRef="#br0">0 21 16383,'89'0'0,"0"0"0,0 0 0,-1 0 0,1 0 0,0 0 0,0 0 0,5 0 0,3 0 0,-2 0 0,-3 0 0,-7 0 0,-10 0 0,4 0 0,-11 0 0,0 0 0,5 0 0,-1 0 0,-3 0 0,11 0 0,-3 0 0,6 0 0,1 0 0,3 0 0,-4 0 0,-19 0 0,-1 0 0,10 0 0,-4 0 0,24 0 0,-6 0 0,8 0 0,-43 0 0,5 0 0,23 0 0,5 1 0,4 3 0,3 2 0,-17-2 0,3 0 0,-2 2 0,-8 0 0,0 2 0,-2 0 0,33 2 0,-4 1 0,-16-1 0,-4-1 0,-12-2 0,-2-1 0,-7-1 0,0-2 0,45 0 0,-9-3 0,0 0 0,-10-1 0,16-6 0,-43 6 0,3-1 0,16-1 0,5-1 0,7 4 0,6 0 0,-15 0 0,4 0 0,3 0 0,-5 0 0,5 0 0,-1 0 0,-3 0 0,8 0 0,-4 0 0,3 0 0,-6 0 0,6 0 0,-4 0 0,-12 0 0,-7 0 0,-7 0 0,13 0 0,-12 0 0,-33 0 0,-9 0 0,-5-1 0,0-10 0,5 5 0,21-17 0,6 7 0,12-3 0,-12 5 0,-15 6 0,-14 5 0,-3 0 0,-4-1 0,-3 3 0,-7-3 0,2 4 0,-1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37.694"/>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1 102,'57'3,"0"-1,0 1,2-2,24 0,3-2,-6 1,0 0,3 0,0 0,3 0,3 0,-15 0,3 0,1 0,-2 0,0 0,5 0,0 0,5 0,3 0,-1 0,0 0,-1 0,2 0,3 0,-8 0,4 0,0 0,1 0,-3 0,-4 0,-1 0,-1 0,0 0,-2 0,16 0,-1 0,-2 0,-1 0,-6 0,-2 0,-1 0,-1 0,16 0,-3 0,-1 1,-4 1,-2 1,0 1,1 0,-1 0,-1 2,-8 0,-1 2,-1 0,-1-1,-1 1,-1-1,-4-1,0 1,-4-2,14 0,-7 0,28 0,-22-5,-7 0,-16 0,12 0,-25 0,-15 0,8 0,-11 0,14 0,7 0,21 0,9 0,-22 0,2 0,-3 0,0 0,1 0,0 0,2 0,-4 0,22-3,1-5,-33 1,-10-3,-18 3,-4-1,1-19,-4 16,0-23,-1 23,3-14,2 10,-2-6,-4 10,-2-2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0.137"/>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0 119,'92'0,"-1"0,-8 0,6 0,5 0,-2 0,5 0,3 0,-2 0,-4 0,-3 0,3 0,4 0,-15 0,5 0,3 0,-2 0,-3 0,-7 0,26 0,-9 0,3 0,-13 0,3 0,-3 0,-12 0,2 0,-13 0,11 0,-48 0,-18 0,-58-9,32 2,-39-5,-9-3,-2-10,-20 2,44 5,35 12,6 5,-2-2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2.375"/>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90,'80'-4,"0"1,0-1,0 1,12-2,-3 1,-1-2,0-2,-2-1,-8 0,-4 1,-10 0,25-7,-63 12,-23 3,-1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3.526"/>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8:42"/>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20:43.025"/>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1 120,'66'0,"-1"0,7 0,-1 0,-9 0,-1 0,3 0,-2 0,26 0,1 0,-46 0,55 0,-32 0,-1 0,5 0,-16 0,2 0,15 0,2 0,-6-2,0-1,9-2,1-1,5-2,-2-1,-5-1,-2 0,-10 1,-4 1,22-1,-36 4,-20 5,-11 0,-4-4,17 2,-4-2,18 3,-18-1,-3-2,-10 0,4 0,1 2,1 2,1 0,-4-4,4 3,1-3,5 4,6 0,5 0,-3 0,-1 0,-18 0,2 0,-8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20:50.446"/>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36,'79'0,"-1"0,0 0,9 0,5 0,3 0,-4 0,-10 0,-3 0,0 0,1 0,8 0,1 0,-1 0,-2 0,16 0,-3 0,-12 0,-16 0,-7 0,-1 0,-6 0,3 0,-25 0,36 0,-9 0,-4 0,7 0,11 0,5 0,-12 0,3 0,2 0,1 0,2 0,-1 0,-1-1,0-1,-5 0,4 1,-6-1,-9-2,-9-1,-12 1,-14-1,-19 1,-53 2,33-1,-39 3,46 4,0-3,-15 8,5-7,-18 3,3-5,4 0,-11 6,10-4,6 4,-3 0,21-4,-11 4,7-6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A6B8D7-CFCE-B84B-BA3D-E36F1D3D1033}" type="datetimeFigureOut">
              <a:rPr lang="en-US" smtClean="0"/>
              <a:t>12/28/25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73258D-F88C-F440-AD20-53E2DCDDB8B5}" type="slidenum">
              <a:rPr lang="en-US" smtClean="0"/>
              <a:t>‹#›</a:t>
            </a:fld>
            <a:endParaRPr lang="en-US"/>
          </a:p>
        </p:txBody>
      </p:sp>
    </p:spTree>
    <p:extLst>
      <p:ext uri="{BB962C8B-B14F-4D97-AF65-F5344CB8AC3E}">
        <p14:creationId xmlns:p14="http://schemas.microsoft.com/office/powerpoint/2010/main" val="460933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473258D-F88C-F440-AD20-53E2DCDDB8B5}" type="slidenum">
              <a:rPr lang="en-US" smtClean="0"/>
              <a:t>3</a:t>
            </a:fld>
            <a:endParaRPr lang="en-US"/>
          </a:p>
        </p:txBody>
      </p:sp>
    </p:spTree>
    <p:extLst>
      <p:ext uri="{BB962C8B-B14F-4D97-AF65-F5344CB8AC3E}">
        <p14:creationId xmlns:p14="http://schemas.microsoft.com/office/powerpoint/2010/main" val="1634747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4558C52D-64BB-C941-8CB6-E3187F3C9FF0}" type="slidenum">
              <a:rPr lang="en-US" altLang="en-US" sz="1200">
                <a:latin typeface="Times" charset="0"/>
              </a:rPr>
              <a:pPr/>
              <a:t>4</a:t>
            </a:fld>
            <a:endParaRPr lang="en-US" altLang="en-US" sz="1200">
              <a:latin typeface="Times" charset="0"/>
            </a:endParaRPr>
          </a:p>
        </p:txBody>
      </p:sp>
      <p:sp>
        <p:nvSpPr>
          <p:cNvPr id="19458" name="Rectangle 2"/>
          <p:cNvSpPr>
            <a:spLocks noGrp="1" noRot="1" noChangeAspect="1" noChangeArrowheads="1" noTextEdit="1"/>
          </p:cNvSpPr>
          <p:nvPr>
            <p:ph type="sldImg"/>
          </p:nvPr>
        </p:nvSpPr>
        <p:spPr>
          <a:ln/>
        </p:spPr>
      </p:sp>
      <p:sp>
        <p:nvSpPr>
          <p:cNvPr id="194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17493075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19872679-F730-7143-8969-515D153A372A}" type="slidenum">
              <a:rPr lang="en-US" altLang="en-US" sz="1200">
                <a:latin typeface="Times" charset="0"/>
              </a:rPr>
              <a:pPr/>
              <a:t>5</a:t>
            </a:fld>
            <a:endParaRPr lang="en-US" altLang="en-US" sz="1200">
              <a:latin typeface="Times" charset="0"/>
            </a:endParaRPr>
          </a:p>
        </p:txBody>
      </p:sp>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989262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6</a:t>
            </a:fld>
            <a:endParaRPr lang="en-US"/>
          </a:p>
        </p:txBody>
      </p:sp>
    </p:spTree>
    <p:extLst>
      <p:ext uri="{BB962C8B-B14F-4D97-AF65-F5344CB8AC3E}">
        <p14:creationId xmlns:p14="http://schemas.microsoft.com/office/powerpoint/2010/main" val="17568543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7A1E50C9-9D3D-CF4C-95BC-90F860D77D37}" type="slidenum">
              <a:rPr lang="en-US" altLang="en-US" sz="1200">
                <a:latin typeface="Times" charset="0"/>
              </a:rPr>
              <a:pPr/>
              <a:t>7</a:t>
            </a:fld>
            <a:endParaRPr lang="en-US" altLang="en-US" sz="1200">
              <a:latin typeface="Times" charset="0"/>
            </a:endParaRPr>
          </a:p>
        </p:txBody>
      </p:sp>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3918416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2A2FD415-3503-C54A-920B-CD0EF3E8E5CE}" type="slidenum">
              <a:rPr lang="en-US" altLang="en-US" sz="1200">
                <a:latin typeface="Times" charset="0"/>
              </a:rPr>
              <a:pPr/>
              <a:t>8</a:t>
            </a:fld>
            <a:endParaRPr lang="en-US" altLang="en-US" sz="1200">
              <a:latin typeface="Times" charset="0"/>
            </a:endParaRPr>
          </a:p>
        </p:txBody>
      </p:sp>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20041053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Introduction</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000" b="1"/>
            </a:lvl1pPr>
          </a:lstStyle>
          <a:p>
            <a:pPr lvl="0"/>
            <a:r>
              <a:rPr lang="en-US"/>
              <a:t>Click to edit Master title style</a:t>
            </a:r>
            <a:endParaRPr lang="en-US" dirty="0"/>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Introduction</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Introduction</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543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024520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10112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50769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76061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Introduction</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448545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416052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344818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7879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170367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45545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444763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3240263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525267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784782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004918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209844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17940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47754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6570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131279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871942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541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069551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631887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9321310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433748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98554645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61958301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9958287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332775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059831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0644388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559347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0181634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4692366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506504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128295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1136694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29889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58711758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869224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02434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20796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48866573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9006345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Introduction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135112013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9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Introduction</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_Intro_2026S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5.xml"/></Relationships>
</file>

<file path=ppt/slides/_rels/slide2.xml.rels><?xml version="1.0" encoding="UTF-8" standalone="yes"?>
<Relationships xmlns="http://schemas.openxmlformats.org/package/2006/relationships"><Relationship Id="rId3" Type="http://schemas.openxmlformats.org/officeDocument/2006/relationships/hyperlink" Target="https://taxnotes.com/research" TargetMode="External"/><Relationship Id="rId2" Type="http://schemas.openxmlformats.org/officeDocument/2006/relationships/hyperlink" Target="https://jmc877.github.io/Corporate-Tax/index.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customXml" Target="../ink/ink6.xml"/><Relationship Id="rId18" Type="http://schemas.openxmlformats.org/officeDocument/2006/relationships/image" Target="../media/image18.png"/><Relationship Id="rId3" Type="http://schemas.openxmlformats.org/officeDocument/2006/relationships/customXml" Target="../ink/ink1.xml"/><Relationship Id="rId21" Type="http://schemas.openxmlformats.org/officeDocument/2006/relationships/image" Target="../media/image19.png"/><Relationship Id="rId7" Type="http://schemas.openxmlformats.org/officeDocument/2006/relationships/customXml" Target="../ink/ink3.xml"/><Relationship Id="rId12" Type="http://schemas.openxmlformats.org/officeDocument/2006/relationships/image" Target="../media/image15.png"/><Relationship Id="rId17" Type="http://schemas.openxmlformats.org/officeDocument/2006/relationships/customXml" Target="../ink/ink8.xml"/><Relationship Id="rId2" Type="http://schemas.openxmlformats.org/officeDocument/2006/relationships/image" Target="../media/image10.png"/><Relationship Id="rId16" Type="http://schemas.openxmlformats.org/officeDocument/2006/relationships/image" Target="../media/image17.png"/><Relationship Id="rId20" Type="http://schemas.openxmlformats.org/officeDocument/2006/relationships/customXml" Target="../ink/ink10.xm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23" Type="http://schemas.openxmlformats.org/officeDocument/2006/relationships/image" Target="../media/image20.png"/><Relationship Id="rId10" Type="http://schemas.openxmlformats.org/officeDocument/2006/relationships/image" Target="../media/image14.png"/><Relationship Id="rId19" Type="http://schemas.openxmlformats.org/officeDocument/2006/relationships/customXml" Target="../ink/ink9.xml"/><Relationship Id="rId4" Type="http://schemas.openxmlformats.org/officeDocument/2006/relationships/image" Target="../media/image11.png"/><Relationship Id="rId9" Type="http://schemas.openxmlformats.org/officeDocument/2006/relationships/customXml" Target="../ink/ink4.xml"/><Relationship Id="rId14" Type="http://schemas.openxmlformats.org/officeDocument/2006/relationships/image" Target="../media/image16.png"/><Relationship Id="rId22" Type="http://schemas.openxmlformats.org/officeDocument/2006/relationships/customXml" Target="../ink/ink11.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r>
              <a:rPr lang="en-US" dirty="0"/>
              <a:t>Corporate Taxation</a:t>
            </a:r>
          </a:p>
        </p:txBody>
      </p:sp>
      <p:sp>
        <p:nvSpPr>
          <p:cNvPr id="3" name="Subtitle 2"/>
          <p:cNvSpPr>
            <a:spLocks noGrp="1"/>
          </p:cNvSpPr>
          <p:nvPr>
            <p:ph type="subTitle" idx="1"/>
          </p:nvPr>
        </p:nvSpPr>
        <p:spPr>
          <a:xfrm>
            <a:off x="1524000" y="2988641"/>
            <a:ext cx="9144000" cy="1655762"/>
          </a:xfrm>
        </p:spPr>
        <p:txBody>
          <a:bodyPr>
            <a:normAutofit/>
          </a:bodyPr>
          <a:lstStyle/>
          <a:p>
            <a:r>
              <a:rPr lang="en-US" sz="2800" dirty="0"/>
              <a:t>Prof. Colon</a:t>
            </a:r>
          </a:p>
          <a:p>
            <a:r>
              <a:rPr lang="en-US" sz="2800" dirty="0"/>
              <a:t>Spring 2026</a:t>
            </a:r>
          </a:p>
          <a:p>
            <a:r>
              <a:rPr lang="en-US" sz="2800" dirty="0"/>
              <a:t>Introduction</a:t>
            </a:r>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4893917"/>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a:bodyPr>
          <a:lstStyle/>
          <a:p>
            <a:r>
              <a:rPr lang="en-US" sz="2800" dirty="0"/>
              <a:t>Class Web Page: </a:t>
            </a:r>
            <a:r>
              <a:rPr lang="en-US" sz="2800" dirty="0">
                <a:hlinkClick r:id="rId2"/>
              </a:rPr>
              <a:t>https://jmc877.github.io/Corporate-Tax/</a:t>
            </a:r>
            <a:r>
              <a:rPr lang="en-US" sz="2800" dirty="0" err="1">
                <a:hlinkClick r:id="rId2"/>
              </a:rPr>
              <a:t>index.html</a:t>
            </a:r>
            <a:endParaRPr lang="en-US" sz="2800" dirty="0"/>
          </a:p>
          <a:p>
            <a:r>
              <a:rPr lang="en-US" sz="2800" dirty="0"/>
              <a:t>Textbook &amp; Code</a:t>
            </a:r>
          </a:p>
          <a:p>
            <a:pPr lvl="1"/>
            <a:r>
              <a:rPr lang="en-US" sz="2400" dirty="0"/>
              <a:t>Class textbook</a:t>
            </a:r>
          </a:p>
          <a:p>
            <a:pPr lvl="2"/>
            <a:r>
              <a:rPr lang="en-US" sz="2400" dirty="0"/>
              <a:t>Block, Glogower, &amp; Blank, </a:t>
            </a:r>
            <a:r>
              <a:rPr lang="en-US" sz="2400" i="1" dirty="0"/>
              <a:t>Examples &amp; Explanations: Corporate Taxation</a:t>
            </a:r>
            <a:r>
              <a:rPr lang="en-US" sz="2400" dirty="0"/>
              <a:t> (5th ed. 2022).  </a:t>
            </a:r>
            <a:endParaRPr lang="en-US" sz="2800" dirty="0"/>
          </a:p>
          <a:p>
            <a:pPr lvl="1"/>
            <a:r>
              <a:rPr lang="en-US" sz="2400" dirty="0"/>
              <a:t>Supplemental (not required) Materials</a:t>
            </a:r>
          </a:p>
          <a:p>
            <a:pPr lvl="2"/>
            <a:r>
              <a:rPr lang="en-US" sz="2400" dirty="0"/>
              <a:t>Yin &amp; Burke, </a:t>
            </a:r>
            <a:r>
              <a:rPr lang="en-US" sz="2400" i="1" dirty="0"/>
              <a:t>Corporate Taxation </a:t>
            </a:r>
            <a:r>
              <a:rPr lang="en-US" sz="2400" dirty="0"/>
              <a:t>(</a:t>
            </a:r>
            <a:r>
              <a:rPr lang="en-US" sz="2400" b="1"/>
              <a:t>2</a:t>
            </a:r>
            <a:r>
              <a:rPr lang="en-US" sz="2400" b="1" baseline="30000"/>
              <a:t>nd</a:t>
            </a:r>
            <a:r>
              <a:rPr lang="en-US" sz="2400"/>
              <a:t> ed. 2015</a:t>
            </a:r>
            <a:r>
              <a:rPr lang="en-US" sz="2400" dirty="0"/>
              <a:t>) and Yin &amp; Burke, </a:t>
            </a:r>
            <a:r>
              <a:rPr lang="en-US" sz="2400" i="1" dirty="0"/>
              <a:t>Supplement </a:t>
            </a:r>
            <a:r>
              <a:rPr lang="en-US" sz="2400" dirty="0"/>
              <a:t>(2018)</a:t>
            </a:r>
          </a:p>
          <a:p>
            <a:pPr lvl="2"/>
            <a:r>
              <a:rPr lang="en-US" sz="2400" dirty="0"/>
              <a:t>Burke, </a:t>
            </a:r>
            <a:r>
              <a:rPr lang="en-US" sz="2400" i="1" dirty="0"/>
              <a:t>Fed. Income Taxation of Corporations and Shareholders in a Nutshell</a:t>
            </a:r>
            <a:r>
              <a:rPr lang="en-US" sz="2400" dirty="0"/>
              <a:t> (9</a:t>
            </a:r>
            <a:r>
              <a:rPr lang="en-US" sz="2400" baseline="30000" dirty="0"/>
              <a:t>th</a:t>
            </a:r>
            <a:r>
              <a:rPr lang="en-US" sz="2400" dirty="0"/>
              <a:t> ed. 2024)</a:t>
            </a:r>
          </a:p>
          <a:p>
            <a:pPr lvl="2"/>
            <a:r>
              <a:rPr lang="en-US" sz="2400" dirty="0"/>
              <a:t>Schwarz &amp; Lathrope, </a:t>
            </a:r>
            <a:r>
              <a:rPr lang="en-US" sz="2400" i="1" dirty="0"/>
              <a:t>Corporate Taxation</a:t>
            </a:r>
            <a:r>
              <a:rPr lang="en-US" sz="2400" dirty="0"/>
              <a:t> (Black Letter) (9</a:t>
            </a:r>
            <a:r>
              <a:rPr lang="en-US" sz="2400" baseline="30000" dirty="0"/>
              <a:t>th</a:t>
            </a:r>
            <a:r>
              <a:rPr lang="en-US" sz="2400" dirty="0"/>
              <a:t> ed. 2019)</a:t>
            </a:r>
          </a:p>
          <a:p>
            <a:pPr lvl="1"/>
            <a:r>
              <a:rPr lang="en-US" sz="2400" dirty="0"/>
              <a:t>Code &amp; Regs: Pdf on web page</a:t>
            </a:r>
          </a:p>
          <a:p>
            <a:pPr lvl="2"/>
            <a:r>
              <a:rPr lang="en-US" sz="2400" dirty="0">
                <a:hlinkClick r:id="rId3"/>
              </a:rPr>
              <a:t>Tax Analysts Tax Research Database</a:t>
            </a:r>
            <a:r>
              <a:rPr lang="en-US" sz="2400" dirty="0"/>
              <a:t> (a great free resource)</a:t>
            </a:r>
          </a:p>
          <a:p>
            <a:r>
              <a:rPr lang="en-US" sz="3200" dirty="0"/>
              <a:t>Exam: Yes; 3 hours, MC and short answer </a:t>
            </a:r>
          </a:p>
          <a:p>
            <a:r>
              <a:rPr lang="en-US" sz="3200" dirty="0"/>
              <a:t>Recording: Yes</a:t>
            </a:r>
          </a:p>
        </p:txBody>
      </p:sp>
      <p:sp>
        <p:nvSpPr>
          <p:cNvPr id="2" name="Title 1"/>
          <p:cNvSpPr>
            <a:spLocks noGrp="1"/>
          </p:cNvSpPr>
          <p:nvPr>
            <p:ph type="title"/>
          </p:nvPr>
        </p:nvSpPr>
        <p:spPr/>
        <p:txBody>
          <a:bodyPr/>
          <a:lstStyle/>
          <a:p>
            <a:r>
              <a:rPr lang="en-US" dirty="0"/>
              <a:t>Administrative Details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Tree>
    <p:extLst>
      <p:ext uri="{BB962C8B-B14F-4D97-AF65-F5344CB8AC3E}">
        <p14:creationId xmlns:p14="http://schemas.microsoft.com/office/powerpoint/2010/main" val="722997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sz="2800" dirty="0"/>
              <a:t>Understand and be able to apply to problems the fundamental provisions of the US tax rules applicable to C and S corporations and their shareholders:</a:t>
            </a:r>
          </a:p>
          <a:p>
            <a:pPr lvl="1"/>
            <a:r>
              <a:rPr lang="en-US" sz="2400" dirty="0"/>
              <a:t>Subchapters C (90%) and S (10%) of the Internal Revenue Code and accompanying Treasury Regulations</a:t>
            </a:r>
          </a:p>
          <a:p>
            <a:pPr lvl="1"/>
            <a:r>
              <a:rPr lang="en-US" sz="2400" dirty="0"/>
              <a:t>IRS administrative guidance (revenue rulings, revenue procedures, notices, and PLRs)</a:t>
            </a:r>
          </a:p>
          <a:p>
            <a:pPr lvl="1"/>
            <a:r>
              <a:rPr lang="en-US" sz="2400" dirty="0"/>
              <a:t>Judicial decisions interpreting the Code and Regs, and especially the application of common law and statutory substance-over-form principles</a:t>
            </a:r>
          </a:p>
          <a:p>
            <a:pPr lvl="1"/>
            <a:r>
              <a:rPr lang="en-US" sz="2400" dirty="0"/>
              <a:t>Be able to do competently undertake basic corporate tax research </a:t>
            </a:r>
            <a:endParaRPr lang="en-US" dirty="0"/>
          </a:p>
        </p:txBody>
      </p:sp>
      <p:sp>
        <p:nvSpPr>
          <p:cNvPr id="2" name="Title 1"/>
          <p:cNvSpPr>
            <a:spLocks noGrp="1"/>
          </p:cNvSpPr>
          <p:nvPr>
            <p:ph type="title"/>
          </p:nvPr>
        </p:nvSpPr>
        <p:spPr/>
        <p:txBody>
          <a:bodyPr/>
          <a:lstStyle/>
          <a:p>
            <a:r>
              <a:rPr lang="en-US" dirty="0"/>
              <a:t>Course Goals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extLst>
      <p:ext uri="{BB962C8B-B14F-4D97-AF65-F5344CB8AC3E}">
        <p14:creationId xmlns:p14="http://schemas.microsoft.com/office/powerpoint/2010/main" val="94936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3"/>
          <p:cNvSpPr>
            <a:spLocks noGrp="1" noChangeArrowheads="1"/>
          </p:cNvSpPr>
          <p:nvPr>
            <p:ph idx="1"/>
          </p:nvPr>
        </p:nvSpPr>
        <p:spPr/>
        <p:txBody>
          <a:bodyPr/>
          <a:lstStyle/>
          <a:p>
            <a:pPr eaLnBrk="1" hangingPunct="1"/>
            <a:endParaRPr lang="en-US" altLang="en-US"/>
          </a:p>
          <a:p>
            <a:pPr eaLnBrk="1" hangingPunct="1"/>
            <a:endParaRPr lang="en-US" altLang="en-US"/>
          </a:p>
          <a:p>
            <a:pPr eaLnBrk="1" hangingPunct="1"/>
            <a:endParaRPr lang="en-US" altLang="en-US"/>
          </a:p>
        </p:txBody>
      </p:sp>
      <p:sp>
        <p:nvSpPr>
          <p:cNvPr id="18435" name="Rectangle 2"/>
          <p:cNvSpPr>
            <a:spLocks noGrp="1" noChangeArrowheads="1"/>
          </p:cNvSpPr>
          <p:nvPr>
            <p:ph type="title"/>
          </p:nvPr>
        </p:nvSpPr>
        <p:spPr/>
        <p:txBody>
          <a:bodyPr/>
          <a:lstStyle/>
          <a:p>
            <a:br>
              <a:rPr lang="en-US" altLang="en-US" sz="2400" b="1" dirty="0">
                <a:solidFill>
                  <a:srgbClr val="000000"/>
                </a:solidFill>
              </a:rPr>
            </a:br>
            <a:r>
              <a:rPr lang="en-US" altLang="en-US" dirty="0">
                <a:solidFill>
                  <a:srgbClr val="000000"/>
                </a:solidFill>
              </a:rPr>
              <a:t> Promulgating, Interpreting, and Administering U.S. Tax Law </a:t>
            </a:r>
            <a:endParaRPr lang="en-US" altLang="en-US" b="1" dirty="0">
              <a:solidFill>
                <a:srgbClr val="000000"/>
              </a:solidFill>
            </a:endParaRPr>
          </a:p>
        </p:txBody>
      </p:sp>
      <p:sp>
        <p:nvSpPr>
          <p:cNvPr id="5125" name="Rectangle 5"/>
          <p:cNvSpPr>
            <a:spLocks noChangeArrowheads="1"/>
          </p:cNvSpPr>
          <p:nvPr/>
        </p:nvSpPr>
        <p:spPr bwMode="auto">
          <a:xfrm>
            <a:off x="27937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dirty="0"/>
              <a:t>Executive Branch</a:t>
            </a:r>
          </a:p>
        </p:txBody>
      </p:sp>
      <p:sp>
        <p:nvSpPr>
          <p:cNvPr id="5126" name="Rectangle 6"/>
          <p:cNvSpPr>
            <a:spLocks noChangeArrowheads="1"/>
          </p:cNvSpPr>
          <p:nvPr/>
        </p:nvSpPr>
        <p:spPr bwMode="auto">
          <a:xfrm>
            <a:off x="69085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Judicial Branch</a:t>
            </a:r>
          </a:p>
        </p:txBody>
      </p:sp>
      <p:sp>
        <p:nvSpPr>
          <p:cNvPr id="5127" name="Rectangle 7"/>
          <p:cNvSpPr>
            <a:spLocks noChangeArrowheads="1"/>
          </p:cNvSpPr>
          <p:nvPr/>
        </p:nvSpPr>
        <p:spPr bwMode="auto">
          <a:xfrm>
            <a:off x="4965463" y="36355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Legislative Branch</a:t>
            </a:r>
          </a:p>
        </p:txBody>
      </p:sp>
      <p:cxnSp>
        <p:nvCxnSpPr>
          <p:cNvPr id="5129" name="AutoShape 9"/>
          <p:cNvCxnSpPr>
            <a:cxnSpLocks noChangeShapeType="1"/>
            <a:stCxn id="5125" idx="2"/>
            <a:endCxn id="5127" idx="0"/>
          </p:cNvCxnSpPr>
          <p:nvPr/>
        </p:nvCxnSpPr>
        <p:spPr bwMode="auto">
          <a:xfrm>
            <a:off x="3914537" y="2714771"/>
            <a:ext cx="21717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0" name="AutoShape 10"/>
          <p:cNvCxnSpPr>
            <a:cxnSpLocks noChangeShapeType="1"/>
            <a:stCxn id="5126" idx="2"/>
            <a:endCxn id="5127" idx="0"/>
          </p:cNvCxnSpPr>
          <p:nvPr/>
        </p:nvCxnSpPr>
        <p:spPr bwMode="auto">
          <a:xfrm flipH="1">
            <a:off x="6086237" y="2714771"/>
            <a:ext cx="19431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1" name="AutoShape 11"/>
          <p:cNvCxnSpPr>
            <a:cxnSpLocks noChangeShapeType="1"/>
            <a:stCxn id="5125" idx="3"/>
            <a:endCxn id="5126" idx="1"/>
          </p:cNvCxnSpPr>
          <p:nvPr/>
        </p:nvCxnSpPr>
        <p:spPr bwMode="auto">
          <a:xfrm>
            <a:off x="5033726" y="2298846"/>
            <a:ext cx="1874837" cy="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extLst>
      <p:ext uri="{BB962C8B-B14F-4D97-AF65-F5344CB8AC3E}">
        <p14:creationId xmlns:p14="http://schemas.microsoft.com/office/powerpoint/2010/main" val="14334634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12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13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2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5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 grpId="0" animBg="1"/>
      <p:bldP spid="5126" grpId="0" animBg="1"/>
      <p:bldP spid="512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US" altLang="en-US" sz="2400" b="1" dirty="0">
                <a:solidFill>
                  <a:srgbClr val="000000"/>
                </a:solidFill>
              </a:rPr>
              <a:t>Legislative Branch</a:t>
            </a:r>
            <a:endParaRPr lang="en-US" altLang="en-US" dirty="0">
              <a:solidFill>
                <a:srgbClr val="000000"/>
              </a:solidFill>
            </a:endParaRPr>
          </a:p>
        </p:txBody>
      </p:sp>
      <p:sp>
        <p:nvSpPr>
          <p:cNvPr id="3076" name="Rectangle 4"/>
          <p:cNvSpPr>
            <a:spLocks noChangeArrowheads="1"/>
          </p:cNvSpPr>
          <p:nvPr/>
        </p:nvSpPr>
        <p:spPr bwMode="auto">
          <a:xfrm>
            <a:off x="4038601" y="4940300"/>
            <a:ext cx="3770313"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Reconciliation Conference</a:t>
            </a:r>
          </a:p>
        </p:txBody>
      </p:sp>
      <p:sp>
        <p:nvSpPr>
          <p:cNvPr id="3078" name="Rectangle 6"/>
          <p:cNvSpPr>
            <a:spLocks noChangeArrowheads="1"/>
          </p:cNvSpPr>
          <p:nvPr/>
        </p:nvSpPr>
        <p:spPr bwMode="auto">
          <a:xfrm>
            <a:off x="4038601" y="31115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Sessions of Ways and Means and Senate Finance</a:t>
            </a:r>
          </a:p>
        </p:txBody>
      </p:sp>
      <p:sp>
        <p:nvSpPr>
          <p:cNvPr id="3079" name="Rectangle 7"/>
          <p:cNvSpPr>
            <a:spLocks noChangeArrowheads="1"/>
          </p:cNvSpPr>
          <p:nvPr/>
        </p:nvSpPr>
        <p:spPr bwMode="auto">
          <a:xfrm>
            <a:off x="4114801" y="5626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Returned to Full House and Senate</a:t>
            </a:r>
          </a:p>
        </p:txBody>
      </p:sp>
      <p:sp>
        <p:nvSpPr>
          <p:cNvPr id="3080" name="Rectangle 8"/>
          <p:cNvSpPr>
            <a:spLocks noChangeArrowheads="1"/>
          </p:cNvSpPr>
          <p:nvPr/>
        </p:nvSpPr>
        <p:spPr bwMode="auto">
          <a:xfrm>
            <a:off x="4038601" y="4102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House and Senate Floors</a:t>
            </a:r>
          </a:p>
        </p:txBody>
      </p:sp>
      <p:sp>
        <p:nvSpPr>
          <p:cNvPr id="20489" name="Rectangle 11"/>
          <p:cNvSpPr>
            <a:spLocks noChangeArrowheads="1"/>
          </p:cNvSpPr>
          <p:nvPr/>
        </p:nvSpPr>
        <p:spPr bwMode="auto">
          <a:xfrm>
            <a:off x="7239000" y="1273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0490" name="Rectangle 12"/>
          <p:cNvSpPr>
            <a:spLocks noChangeArrowheads="1"/>
          </p:cNvSpPr>
          <p:nvPr/>
        </p:nvSpPr>
        <p:spPr bwMode="auto">
          <a:xfrm>
            <a:off x="7162800" y="27209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3085" name="Rectangle 13"/>
          <p:cNvSpPr>
            <a:spLocks noChangeArrowheads="1"/>
          </p:cNvSpPr>
          <p:nvPr/>
        </p:nvSpPr>
        <p:spPr bwMode="auto">
          <a:xfrm>
            <a:off x="4038601" y="673100"/>
            <a:ext cx="3770313" cy="685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Introduced in the House of Representatives and Senate</a:t>
            </a:r>
          </a:p>
        </p:txBody>
      </p:sp>
      <p:sp>
        <p:nvSpPr>
          <p:cNvPr id="3088" name="Rectangle 16"/>
          <p:cNvSpPr>
            <a:spLocks noChangeArrowheads="1"/>
          </p:cNvSpPr>
          <p:nvPr/>
        </p:nvSpPr>
        <p:spPr bwMode="auto">
          <a:xfrm>
            <a:off x="4038601" y="1663700"/>
            <a:ext cx="3770313" cy="12001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and Public Hearings by House Committee on Ways and Means and Senate Committee on Finance</a:t>
            </a:r>
          </a:p>
        </p:txBody>
      </p:sp>
      <p:cxnSp>
        <p:nvCxnSpPr>
          <p:cNvPr id="3090" name="AutoShape 18"/>
          <p:cNvCxnSpPr>
            <a:cxnSpLocks noChangeShapeType="1"/>
            <a:stCxn id="3085" idx="2"/>
            <a:endCxn id="3088" idx="0"/>
          </p:cNvCxnSpPr>
          <p:nvPr/>
        </p:nvCxnSpPr>
        <p:spPr bwMode="auto">
          <a:xfrm>
            <a:off x="5924550" y="1358900"/>
            <a:ext cx="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1" name="AutoShape 19"/>
          <p:cNvCxnSpPr>
            <a:cxnSpLocks noChangeShapeType="1"/>
            <a:stCxn id="3088" idx="2"/>
            <a:endCxn id="3078" idx="0"/>
          </p:cNvCxnSpPr>
          <p:nvPr/>
        </p:nvCxnSpPr>
        <p:spPr bwMode="auto">
          <a:xfrm>
            <a:off x="5924550" y="2863850"/>
            <a:ext cx="0" cy="24765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2" name="AutoShape 20"/>
          <p:cNvCxnSpPr>
            <a:cxnSpLocks noChangeShapeType="1"/>
            <a:stCxn id="3078" idx="2"/>
          </p:cNvCxnSpPr>
          <p:nvPr/>
        </p:nvCxnSpPr>
        <p:spPr bwMode="auto">
          <a:xfrm>
            <a:off x="5924550" y="3762376"/>
            <a:ext cx="1588" cy="3587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3" name="AutoShape 21"/>
          <p:cNvCxnSpPr>
            <a:cxnSpLocks noChangeShapeType="1"/>
            <a:stCxn id="3080" idx="2"/>
          </p:cNvCxnSpPr>
          <p:nvPr/>
        </p:nvCxnSpPr>
        <p:spPr bwMode="auto">
          <a:xfrm>
            <a:off x="5924550" y="4752976"/>
            <a:ext cx="1588" cy="2063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097" name="Rectangle 25"/>
          <p:cNvSpPr>
            <a:spLocks noChangeArrowheads="1"/>
          </p:cNvSpPr>
          <p:nvPr/>
        </p:nvSpPr>
        <p:spPr bwMode="auto">
          <a:xfrm>
            <a:off x="8991600" y="2806700"/>
            <a:ext cx="1371600" cy="68580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Branch</a:t>
            </a:r>
          </a:p>
        </p:txBody>
      </p:sp>
      <p:cxnSp>
        <p:nvCxnSpPr>
          <p:cNvPr id="3099" name="AutoShape 27"/>
          <p:cNvCxnSpPr>
            <a:cxnSpLocks noChangeShapeType="1"/>
            <a:stCxn id="3079" idx="3"/>
            <a:endCxn id="3097" idx="2"/>
          </p:cNvCxnSpPr>
          <p:nvPr/>
        </p:nvCxnSpPr>
        <p:spPr bwMode="auto">
          <a:xfrm flipV="1">
            <a:off x="7885114" y="3492500"/>
            <a:ext cx="1792287" cy="2459038"/>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100" name="AutoShape 28"/>
          <p:cNvCxnSpPr>
            <a:cxnSpLocks noChangeShapeType="1"/>
            <a:stCxn id="3097" idx="0"/>
            <a:endCxn id="3085" idx="3"/>
          </p:cNvCxnSpPr>
          <p:nvPr/>
        </p:nvCxnSpPr>
        <p:spPr bwMode="auto">
          <a:xfrm flipH="1" flipV="1">
            <a:off x="7808914" y="1016000"/>
            <a:ext cx="1868487" cy="17907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105" name="Line 33"/>
          <p:cNvSpPr>
            <a:spLocks noChangeShapeType="1"/>
          </p:cNvSpPr>
          <p:nvPr/>
        </p:nvSpPr>
        <p:spPr bwMode="auto">
          <a:xfrm>
            <a:off x="5943600" y="53213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 name="Footer Placeholder 2"/>
          <p:cNvSpPr>
            <a:spLocks noGrp="1"/>
          </p:cNvSpPr>
          <p:nvPr>
            <p:ph type="ftr" sz="quarter" idx="11"/>
          </p:nvPr>
        </p:nvSpPr>
        <p:spPr/>
        <p:txBody>
          <a:bodyPr/>
          <a:lstStyle/>
          <a:p>
            <a:pPr>
              <a:defRPr/>
            </a:pPr>
            <a:r>
              <a:rPr lang="en-US"/>
              <a:t>Introduction</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Tree>
    <p:extLst>
      <p:ext uri="{BB962C8B-B14F-4D97-AF65-F5344CB8AC3E}">
        <p14:creationId xmlns:p14="http://schemas.microsoft.com/office/powerpoint/2010/main" val="156131920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09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310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08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309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308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3091"/>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3078"/>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3092"/>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3080"/>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3093"/>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3076"/>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105"/>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3079"/>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0"/>
                                          </p:stCondLst>
                                        </p:cTn>
                                        <p:tgtEl>
                                          <p:spTgt spid="30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6" grpId="0" animBg="1" autoUpdateAnimBg="0"/>
      <p:bldP spid="3078" grpId="0" animBg="1" autoUpdateAnimBg="0"/>
      <p:bldP spid="3079" grpId="0" animBg="1" autoUpdateAnimBg="0"/>
      <p:bldP spid="3080" grpId="0" animBg="1" autoUpdateAnimBg="0"/>
      <p:bldP spid="3085" grpId="0" animBg="1" autoUpdateAnimBg="0"/>
      <p:bldP spid="3088" grpId="0" animBg="1" autoUpdateAnimBg="0"/>
      <p:bldP spid="3097" grpId="0" animBg="1" autoUpdateAnimBg="0"/>
      <p:bldP spid="310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Content Placeholder 2"/>
          <p:cNvSpPr>
            <a:spLocks noGrp="1"/>
          </p:cNvSpPr>
          <p:nvPr>
            <p:ph idx="1"/>
          </p:nvPr>
        </p:nvSpPr>
        <p:spPr/>
        <p:txBody>
          <a:bodyPr>
            <a:normAutofit fontScale="92500" lnSpcReduction="10000"/>
          </a:bodyPr>
          <a:lstStyle/>
          <a:p>
            <a:pPr algn="ctr">
              <a:lnSpc>
                <a:spcPct val="90000"/>
              </a:lnSpc>
              <a:buFontTx/>
              <a:buNone/>
            </a:pPr>
            <a:r>
              <a:rPr lang="en-US" altLang="en-US" sz="1600" b="1" dirty="0"/>
              <a:t>Conference Committee Report (H.R. CONF. REP. NO. 115-466)</a:t>
            </a:r>
            <a:endParaRPr lang="en-US" altLang="en-US" sz="1600" dirty="0"/>
          </a:p>
          <a:p>
            <a:pPr algn="ctr">
              <a:lnSpc>
                <a:spcPct val="90000"/>
              </a:lnSpc>
              <a:buFontTx/>
              <a:buNone/>
            </a:pPr>
            <a:r>
              <a:rPr lang="en-US" altLang="en-US" sz="1800" b="1" i="1" dirty="0"/>
              <a:t>House Bill</a:t>
            </a:r>
          </a:p>
          <a:p>
            <a:pPr>
              <a:lnSpc>
                <a:spcPct val="90000"/>
              </a:lnSpc>
              <a:buFontTx/>
              <a:buNone/>
            </a:pPr>
            <a:r>
              <a:rPr lang="en-US" sz="1800" dirty="0"/>
              <a:t>The </a:t>
            </a:r>
            <a:r>
              <a:rPr lang="en-US" sz="1800" b="1" dirty="0"/>
              <a:t>deduction for business interest is limited to the sum of (1) business interest income; (2) 30% of the </a:t>
            </a:r>
            <a:r>
              <a:rPr lang="en-US" sz="1800" b="1" u="sng" dirty="0"/>
              <a:t>adjusted taxable income </a:t>
            </a:r>
            <a:r>
              <a:rPr lang="en-US" sz="1800" b="1" dirty="0"/>
              <a:t>of the taxpayer for the taxable year</a:t>
            </a:r>
            <a:r>
              <a:rPr lang="en-US" sz="1800" dirty="0"/>
              <a:t>; </a:t>
            </a:r>
            <a:r>
              <a:rPr lang="mr-IN" sz="1800" dirty="0"/>
              <a:t>…</a:t>
            </a:r>
            <a:r>
              <a:rPr lang="en-US" sz="1800" dirty="0"/>
              <a:t> The amount of any business interest not allowed as a deduction for any taxable year may be carried forward for up to five years beyond the year in which the business interest was paid or accrued, treating business interest as allowed as a deduction on a first-in, first-out basis</a:t>
            </a:r>
            <a:r>
              <a:rPr lang="mr-IN" sz="1800" dirty="0"/>
              <a:t>…</a:t>
            </a:r>
            <a:endParaRPr lang="en-US" sz="1800" dirty="0"/>
          </a:p>
          <a:p>
            <a:pPr>
              <a:lnSpc>
                <a:spcPct val="90000"/>
              </a:lnSpc>
              <a:buFontTx/>
              <a:buNone/>
            </a:pPr>
            <a:r>
              <a:rPr lang="en-US" sz="1800" dirty="0"/>
              <a:t> </a:t>
            </a:r>
          </a:p>
          <a:p>
            <a:pPr>
              <a:lnSpc>
                <a:spcPct val="90000"/>
              </a:lnSpc>
              <a:buFontTx/>
              <a:buNone/>
            </a:pPr>
            <a:r>
              <a:rPr lang="en-US" sz="1800" b="1" u="sng" dirty="0"/>
              <a:t>Adjusted taxable income</a:t>
            </a:r>
            <a:r>
              <a:rPr lang="en-US" sz="1800" dirty="0"/>
              <a:t> means the taxable income of the taxpayer computed </a:t>
            </a:r>
            <a:r>
              <a:rPr lang="en-US" sz="1800" b="1" dirty="0"/>
              <a:t>without regard to: […..] </a:t>
            </a:r>
            <a:r>
              <a:rPr lang="en-US" sz="1800" dirty="0"/>
              <a:t>(4) </a:t>
            </a:r>
            <a:r>
              <a:rPr lang="en-US" sz="1800" b="1" u="sng" dirty="0"/>
              <a:t>any deduction allowable for depreciation, amortization, or depletion</a:t>
            </a:r>
            <a:r>
              <a:rPr lang="mr-IN" sz="1800" b="1" u="sng" dirty="0"/>
              <a:t>…</a:t>
            </a:r>
            <a:r>
              <a:rPr lang="en-US" sz="1800" b="1" u="sng" dirty="0"/>
              <a:t>.</a:t>
            </a:r>
            <a:endParaRPr lang="en-US" altLang="en-US" sz="1800" b="1" u="sng" dirty="0"/>
          </a:p>
          <a:p>
            <a:pPr algn="ctr">
              <a:lnSpc>
                <a:spcPct val="90000"/>
              </a:lnSpc>
              <a:buFontTx/>
              <a:buNone/>
            </a:pPr>
            <a:endParaRPr lang="en-US" altLang="en-US" sz="1800" b="1" i="1" dirty="0"/>
          </a:p>
          <a:p>
            <a:pPr algn="ctr">
              <a:lnSpc>
                <a:spcPct val="90000"/>
              </a:lnSpc>
              <a:buFontTx/>
              <a:buNone/>
            </a:pPr>
            <a:r>
              <a:rPr lang="en-US" altLang="en-US" sz="1800" b="1" i="1" dirty="0"/>
              <a:t>Senate Amendment</a:t>
            </a:r>
          </a:p>
          <a:p>
            <a:pPr>
              <a:lnSpc>
                <a:spcPct val="90000"/>
              </a:lnSpc>
              <a:buFontTx/>
              <a:buNone/>
            </a:pPr>
            <a:r>
              <a:rPr lang="en-US" sz="1800" dirty="0"/>
              <a:t>The Senate amendment makes several changes to the definition of adjusted taxable income. Specifically</a:t>
            </a:r>
            <a:r>
              <a:rPr lang="en-US" sz="1800" b="1" u="sng" dirty="0"/>
              <a:t>, the Senate amendment does not add back deductions allowable for depreciation, amortization, or depletion</a:t>
            </a:r>
            <a:r>
              <a:rPr lang="en-US" sz="1800" dirty="0"/>
              <a:t>, […]The Senate amendment permits interest deductions to be carried forward indefinitely, subject to certain restrictions applicable to partnership</a:t>
            </a:r>
            <a:r>
              <a:rPr lang="mr-IN" sz="1800" dirty="0"/>
              <a:t>…</a:t>
            </a:r>
            <a:r>
              <a:rPr lang="en-US" sz="1800" dirty="0"/>
              <a:t>.</a:t>
            </a:r>
          </a:p>
          <a:p>
            <a:pPr algn="ctr">
              <a:lnSpc>
                <a:spcPct val="90000"/>
              </a:lnSpc>
              <a:buNone/>
            </a:pPr>
            <a:r>
              <a:rPr lang="en-US" altLang="en-US" sz="1800" b="1" i="1" dirty="0"/>
              <a:t>Conference Agreement</a:t>
            </a:r>
          </a:p>
          <a:p>
            <a:pPr>
              <a:lnSpc>
                <a:spcPct val="90000"/>
              </a:lnSpc>
              <a:buFontTx/>
              <a:buNone/>
            </a:pPr>
            <a:r>
              <a:rPr lang="en-US" sz="1800" dirty="0"/>
              <a:t>The conference agreement generally follows the Senate amendment, with the following modifications. Under the conference agreement, for taxable years beginning after December 31, </a:t>
            </a:r>
            <a:r>
              <a:rPr lang="en-US" sz="1800" dirty="0">
                <a:highlight>
                  <a:srgbClr val="FFFF00"/>
                </a:highlight>
              </a:rPr>
              <a:t>2017 and before January 1, 2022</a:t>
            </a:r>
            <a:r>
              <a:rPr lang="en-US" sz="1800" dirty="0"/>
              <a:t>, </a:t>
            </a:r>
            <a:r>
              <a:rPr lang="en-US" sz="1800" b="1" u="sng" dirty="0"/>
              <a:t>adjusted taxable income is computed without regard to deductions allowable for depreciation, amortization, or depletion</a:t>
            </a:r>
            <a:r>
              <a:rPr lang="mr-IN" sz="1800" dirty="0"/>
              <a:t>…</a:t>
            </a:r>
            <a:r>
              <a:rPr lang="en-US" sz="1800" dirty="0"/>
              <a:t>.</a:t>
            </a:r>
          </a:p>
          <a:p>
            <a:pPr>
              <a:lnSpc>
                <a:spcPct val="90000"/>
              </a:lnSpc>
              <a:buFontTx/>
              <a:buNone/>
            </a:pPr>
            <a:endParaRPr lang="en-US" altLang="en-US" sz="1800" dirty="0"/>
          </a:p>
          <a:p>
            <a:pPr algn="ctr">
              <a:lnSpc>
                <a:spcPct val="90000"/>
              </a:lnSpc>
              <a:buFontTx/>
              <a:buNone/>
            </a:pPr>
            <a:r>
              <a:rPr lang="en-US" sz="1800" b="1" i="1" dirty="0"/>
              <a:t>OBBBA </a:t>
            </a:r>
            <a:r>
              <a:rPr lang="en-US" sz="1800" b="1" dirty="0"/>
              <a:t>(P.L. 119-21, </a:t>
            </a:r>
            <a:r>
              <a:rPr lang="en-US" altLang="en-US" sz="1800" b="1" dirty="0"/>
              <a:t>§70303)</a:t>
            </a:r>
            <a:r>
              <a:rPr lang="en-US" sz="1800" b="1" dirty="0"/>
              <a:t> </a:t>
            </a:r>
            <a:endParaRPr lang="en-US" sz="1800" b="1" i="1" dirty="0"/>
          </a:p>
          <a:p>
            <a:pPr>
              <a:lnSpc>
                <a:spcPct val="90000"/>
              </a:lnSpc>
              <a:buFontTx/>
              <a:buNone/>
            </a:pPr>
            <a:r>
              <a:rPr lang="en-US" sz="1800" dirty="0"/>
              <a:t>For tax years </a:t>
            </a:r>
            <a:r>
              <a:rPr lang="en-US" sz="1800" dirty="0">
                <a:highlight>
                  <a:srgbClr val="FFFF00"/>
                </a:highlight>
              </a:rPr>
              <a:t>beginning after 2024</a:t>
            </a:r>
            <a:r>
              <a:rPr lang="en-US" sz="1800" dirty="0"/>
              <a:t>, adjusted taxable income (ATI) for purposes of </a:t>
            </a:r>
            <a:r>
              <a:rPr lang="en-US" altLang="en-US" sz="1800" dirty="0"/>
              <a:t>§</a:t>
            </a:r>
            <a:r>
              <a:rPr lang="en-US" sz="1800" dirty="0"/>
              <a:t> 163(j) business interest limitation corresponds to </a:t>
            </a:r>
            <a:r>
              <a:rPr lang="en-US" sz="1800" b="1" dirty="0"/>
              <a:t>earnings before interest, taxes, depreciation, and amortization (EBITDA), rather than earnings before interest and taxes (EBIT).</a:t>
            </a:r>
            <a:endParaRPr lang="en-US" altLang="en-US" sz="1800" b="1" dirty="0"/>
          </a:p>
        </p:txBody>
      </p:sp>
      <p:sp>
        <p:nvSpPr>
          <p:cNvPr id="22529" name="Title 1"/>
          <p:cNvSpPr>
            <a:spLocks noGrp="1"/>
          </p:cNvSpPr>
          <p:nvPr>
            <p:ph type="title"/>
          </p:nvPr>
        </p:nvSpPr>
        <p:spPr/>
        <p:txBody>
          <a:bodyPr/>
          <a:lstStyle/>
          <a:p>
            <a:r>
              <a:rPr lang="en-US" altLang="en-US" dirty="0"/>
              <a:t>Legislative History Example (TCJA 2017 and OBBBA): Section 163(j)</a:t>
            </a:r>
          </a:p>
        </p:txBody>
      </p: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cxnSp>
        <p:nvCxnSpPr>
          <p:cNvPr id="5" name="Straight Arrow Connector 4">
            <a:extLst>
              <a:ext uri="{FF2B5EF4-FFF2-40B4-BE49-F238E27FC236}">
                <a16:creationId xmlns:a16="http://schemas.microsoft.com/office/drawing/2014/main" id="{F8651682-8080-034A-9BA3-38D1A1F8F20F}"/>
              </a:ext>
            </a:extLst>
          </p:cNvPr>
          <p:cNvCxnSpPr>
            <a:cxnSpLocks/>
          </p:cNvCxnSpPr>
          <p:nvPr/>
        </p:nvCxnSpPr>
        <p:spPr>
          <a:xfrm>
            <a:off x="6953542" y="3439432"/>
            <a:ext cx="2453348" cy="10273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B18BF90-2E42-CB40-83E5-78D1141A0A25}"/>
              </a:ext>
            </a:extLst>
          </p:cNvPr>
          <p:cNvCxnSpPr>
            <a:cxnSpLocks/>
          </p:cNvCxnSpPr>
          <p:nvPr/>
        </p:nvCxnSpPr>
        <p:spPr>
          <a:xfrm flipH="1">
            <a:off x="4411980" y="4828147"/>
            <a:ext cx="5177258" cy="92114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987F278-EE4C-D345-A5A9-88D2BC213E4B}"/>
              </a:ext>
            </a:extLst>
          </p:cNvPr>
          <p:cNvCxnSpPr>
            <a:cxnSpLocks/>
          </p:cNvCxnSpPr>
          <p:nvPr/>
        </p:nvCxnSpPr>
        <p:spPr>
          <a:xfrm>
            <a:off x="6007849" y="2536131"/>
            <a:ext cx="4644911" cy="61479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D69D997-460F-044F-8A97-9E6F9B2F805F}"/>
              </a:ext>
            </a:extLst>
          </p:cNvPr>
          <p:cNvCxnSpPr>
            <a:cxnSpLocks/>
          </p:cNvCxnSpPr>
          <p:nvPr/>
        </p:nvCxnSpPr>
        <p:spPr>
          <a:xfrm>
            <a:off x="1386840" y="1451610"/>
            <a:ext cx="510540" cy="77724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341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53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53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2530">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530">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530">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2530">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530">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2530">
                                            <p:txEl>
                                              <p:pRg st="11" end="11"/>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2530">
                                            <p:txEl>
                                              <p:pRg st="12" end="1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sz="2400" b="1" dirty="0">
                <a:solidFill>
                  <a:srgbClr val="000000"/>
                </a:solidFill>
              </a:rPr>
              <a:t>Executive Branch</a:t>
            </a:r>
            <a:endParaRPr lang="en-US" altLang="en-US" dirty="0">
              <a:solidFill>
                <a:srgbClr val="000000"/>
              </a:solidFill>
            </a:endParaRPr>
          </a:p>
        </p:txBody>
      </p:sp>
      <p:sp>
        <p:nvSpPr>
          <p:cNvPr id="6148" name="Rectangle 4"/>
          <p:cNvSpPr>
            <a:spLocks noChangeArrowheads="1"/>
          </p:cNvSpPr>
          <p:nvPr/>
        </p:nvSpPr>
        <p:spPr bwMode="auto">
          <a:xfrm>
            <a:off x="5334000" y="3949700"/>
            <a:ext cx="2209800" cy="1371600"/>
          </a:xfrm>
          <a:prstGeom prst="rect">
            <a:avLst/>
          </a:prstGeom>
          <a:noFill/>
          <a:ln w="9525">
            <a:solidFill>
              <a:schemeClr val="tx1"/>
            </a:solidFill>
            <a:miter lim="800000"/>
            <a:headEnd/>
            <a:tailEnd/>
          </a:ln>
        </p:spPr>
        <p:txBody>
          <a:bodyPr anchor="ctr"/>
          <a:lstStyle/>
          <a:p>
            <a:pPr algn="l">
              <a:buFont typeface="Arial" pitchFamily="34" charset="0"/>
              <a:buChar char="•"/>
              <a:defRPr/>
            </a:pPr>
            <a:r>
              <a:rPr lang="en-US" sz="1600" dirty="0">
                <a:latin typeface="Verdana" pitchFamily="34" charset="0"/>
              </a:rPr>
              <a:t>Revenue Rulings</a:t>
            </a:r>
          </a:p>
          <a:p>
            <a:pPr algn="l">
              <a:buFont typeface="Arial" pitchFamily="34" charset="0"/>
              <a:buChar char="•"/>
              <a:defRPr/>
            </a:pPr>
            <a:r>
              <a:rPr lang="en-US" sz="1600" dirty="0">
                <a:latin typeface="Verdana" pitchFamily="34" charset="0"/>
              </a:rPr>
              <a:t>Priv. Letter Rul.</a:t>
            </a:r>
          </a:p>
          <a:p>
            <a:pPr algn="l">
              <a:buFont typeface="Arial" pitchFamily="34" charset="0"/>
              <a:buChar char="•"/>
              <a:defRPr/>
            </a:pPr>
            <a:r>
              <a:rPr lang="en-US" sz="1600" dirty="0">
                <a:latin typeface="Verdana" pitchFamily="34" charset="0"/>
              </a:rPr>
              <a:t>Tech. Adv. </a:t>
            </a:r>
            <a:r>
              <a:rPr lang="en-US" sz="1600" dirty="0" err="1">
                <a:latin typeface="Verdana" pitchFamily="34" charset="0"/>
              </a:rPr>
              <a:t>Mem</a:t>
            </a:r>
            <a:r>
              <a:rPr lang="en-US" sz="1600" dirty="0">
                <a:latin typeface="Verdana" pitchFamily="34" charset="0"/>
              </a:rPr>
              <a:t>.</a:t>
            </a:r>
          </a:p>
          <a:p>
            <a:pPr marL="114300" indent="-114300">
              <a:buFont typeface="Arial" pitchFamily="34" charset="0"/>
              <a:buChar char="•"/>
              <a:defRPr/>
            </a:pPr>
            <a:r>
              <a:rPr lang="en-US" sz="1600" dirty="0">
                <a:latin typeface="Verdana" pitchFamily="34" charset="0"/>
              </a:rPr>
              <a:t>Gen Legal Advice           </a:t>
            </a:r>
            <a:r>
              <a:rPr lang="en-US" sz="1600" dirty="0" err="1">
                <a:latin typeface="Verdana" pitchFamily="34" charset="0"/>
              </a:rPr>
              <a:t>Mem</a:t>
            </a:r>
            <a:r>
              <a:rPr lang="en-US" sz="1600" dirty="0">
                <a:latin typeface="Verdana" pitchFamily="34" charset="0"/>
              </a:rPr>
              <a:t>.</a:t>
            </a:r>
          </a:p>
        </p:txBody>
      </p:sp>
      <p:sp>
        <p:nvSpPr>
          <p:cNvPr id="6149" name="Rectangle 5"/>
          <p:cNvSpPr>
            <a:spLocks noChangeArrowheads="1"/>
          </p:cNvSpPr>
          <p:nvPr/>
        </p:nvSpPr>
        <p:spPr bwMode="auto">
          <a:xfrm>
            <a:off x="2590800" y="2613026"/>
            <a:ext cx="2667000"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Assistant  Secretary for Tax Policy</a:t>
            </a:r>
          </a:p>
        </p:txBody>
      </p:sp>
      <p:sp>
        <p:nvSpPr>
          <p:cNvPr id="6150" name="Rectangle 6"/>
          <p:cNvSpPr>
            <a:spLocks noChangeArrowheads="1"/>
          </p:cNvSpPr>
          <p:nvPr/>
        </p:nvSpPr>
        <p:spPr bwMode="auto">
          <a:xfrm>
            <a:off x="2819401" y="37973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Regulations</a:t>
            </a:r>
          </a:p>
        </p:txBody>
      </p:sp>
      <p:sp>
        <p:nvSpPr>
          <p:cNvPr id="6151" name="Rectangle 7"/>
          <p:cNvSpPr>
            <a:spLocks noChangeArrowheads="1"/>
          </p:cNvSpPr>
          <p:nvPr/>
        </p:nvSpPr>
        <p:spPr bwMode="auto">
          <a:xfrm>
            <a:off x="6324601" y="2655889"/>
            <a:ext cx="2193925" cy="3762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IRS</a:t>
            </a:r>
          </a:p>
        </p:txBody>
      </p:sp>
      <p:sp>
        <p:nvSpPr>
          <p:cNvPr id="23561" name="Rectangle 8"/>
          <p:cNvSpPr>
            <a:spLocks noChangeArrowheads="1"/>
          </p:cNvSpPr>
          <p:nvPr/>
        </p:nvSpPr>
        <p:spPr bwMode="auto">
          <a:xfrm>
            <a:off x="6705600" y="14255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3562" name="Rectangle 9"/>
          <p:cNvSpPr>
            <a:spLocks noChangeArrowheads="1"/>
          </p:cNvSpPr>
          <p:nvPr/>
        </p:nvSpPr>
        <p:spPr bwMode="auto">
          <a:xfrm>
            <a:off x="6629400" y="28733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6154" name="Rectangle 10"/>
          <p:cNvSpPr>
            <a:spLocks noChangeArrowheads="1"/>
          </p:cNvSpPr>
          <p:nvPr/>
        </p:nvSpPr>
        <p:spPr bwMode="auto">
          <a:xfrm>
            <a:off x="4465639" y="9779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President</a:t>
            </a:r>
          </a:p>
        </p:txBody>
      </p:sp>
      <p:sp>
        <p:nvSpPr>
          <p:cNvPr id="6155" name="Rectangle 11"/>
          <p:cNvSpPr>
            <a:spLocks noChangeArrowheads="1"/>
          </p:cNvSpPr>
          <p:nvPr/>
        </p:nvSpPr>
        <p:spPr bwMode="auto">
          <a:xfrm>
            <a:off x="4465639" y="18161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Treasury</a:t>
            </a:r>
          </a:p>
        </p:txBody>
      </p:sp>
      <p:cxnSp>
        <p:nvCxnSpPr>
          <p:cNvPr id="6156" name="AutoShape 12"/>
          <p:cNvCxnSpPr>
            <a:cxnSpLocks noChangeShapeType="1"/>
            <a:stCxn id="6154" idx="2"/>
            <a:endCxn id="6155" idx="0"/>
          </p:cNvCxnSpPr>
          <p:nvPr/>
        </p:nvCxnSpPr>
        <p:spPr bwMode="auto">
          <a:xfrm>
            <a:off x="5562600" y="1354138"/>
            <a:ext cx="0" cy="4619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65" name="Rectangle 21"/>
          <p:cNvSpPr>
            <a:spLocks noChangeArrowheads="1"/>
          </p:cNvSpPr>
          <p:nvPr/>
        </p:nvSpPr>
        <p:spPr bwMode="auto">
          <a:xfrm>
            <a:off x="7772400" y="44069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dirty="0"/>
              <a:t>30-Day Letter</a:t>
            </a:r>
          </a:p>
        </p:txBody>
      </p:sp>
      <p:sp>
        <p:nvSpPr>
          <p:cNvPr id="6166" name="Rectangle 22"/>
          <p:cNvSpPr>
            <a:spLocks noChangeArrowheads="1"/>
          </p:cNvSpPr>
          <p:nvPr/>
        </p:nvSpPr>
        <p:spPr bwMode="auto">
          <a:xfrm>
            <a:off x="7772400" y="49403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90-Day Letter</a:t>
            </a:r>
          </a:p>
        </p:txBody>
      </p:sp>
      <p:cxnSp>
        <p:nvCxnSpPr>
          <p:cNvPr id="6167" name="AutoShape 23"/>
          <p:cNvCxnSpPr>
            <a:cxnSpLocks noChangeShapeType="1"/>
            <a:stCxn id="6155" idx="2"/>
            <a:endCxn id="6149" idx="0"/>
          </p:cNvCxnSpPr>
          <p:nvPr/>
        </p:nvCxnSpPr>
        <p:spPr bwMode="auto">
          <a:xfrm rot="5400000">
            <a:off x="4533107" y="1583532"/>
            <a:ext cx="420687" cy="1638300"/>
          </a:xfrm>
          <a:prstGeom prst="bentConnector3">
            <a:avLst>
              <a:gd name="adj1" fmla="val 4981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68" name="AutoShape 24"/>
          <p:cNvCxnSpPr>
            <a:cxnSpLocks noChangeShapeType="1"/>
          </p:cNvCxnSpPr>
          <p:nvPr/>
        </p:nvCxnSpPr>
        <p:spPr bwMode="auto">
          <a:xfrm rot="16200000" flipH="1">
            <a:off x="6278563" y="1465263"/>
            <a:ext cx="411162" cy="1858962"/>
          </a:xfrm>
          <a:prstGeom prst="bentConnector3">
            <a:avLst>
              <a:gd name="adj1" fmla="val 49829"/>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70" name="AutoShape 26"/>
          <p:cNvCxnSpPr>
            <a:cxnSpLocks noChangeShapeType="1"/>
            <a:stCxn id="6165" idx="2"/>
            <a:endCxn id="6166" idx="0"/>
          </p:cNvCxnSpPr>
          <p:nvPr/>
        </p:nvCxnSpPr>
        <p:spPr bwMode="auto">
          <a:xfrm>
            <a:off x="8763000" y="47831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5" name="Line 31"/>
          <p:cNvSpPr>
            <a:spLocks noChangeShapeType="1"/>
          </p:cNvSpPr>
          <p:nvPr/>
        </p:nvSpPr>
        <p:spPr bwMode="auto">
          <a:xfrm>
            <a:off x="8686800" y="58547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cxnSp>
        <p:nvCxnSpPr>
          <p:cNvPr id="6177" name="AutoShape 33"/>
          <p:cNvCxnSpPr>
            <a:cxnSpLocks noChangeShapeType="1"/>
            <a:stCxn id="6149" idx="2"/>
            <a:endCxn id="6150" idx="0"/>
          </p:cNvCxnSpPr>
          <p:nvPr/>
        </p:nvCxnSpPr>
        <p:spPr bwMode="auto">
          <a:xfrm flipH="1">
            <a:off x="3916364" y="3263900"/>
            <a:ext cx="7937" cy="5334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9" name="Rectangle 35"/>
          <p:cNvSpPr>
            <a:spLocks noChangeArrowheads="1"/>
          </p:cNvSpPr>
          <p:nvPr/>
        </p:nvSpPr>
        <p:spPr bwMode="auto">
          <a:xfrm>
            <a:off x="7772400" y="38735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Audit</a:t>
            </a:r>
          </a:p>
        </p:txBody>
      </p:sp>
      <p:sp>
        <p:nvSpPr>
          <p:cNvPr id="6180" name="Line 36"/>
          <p:cNvSpPr>
            <a:spLocks noChangeShapeType="1"/>
          </p:cNvSpPr>
          <p:nvPr/>
        </p:nvSpPr>
        <p:spPr bwMode="auto">
          <a:xfrm>
            <a:off x="8686800" y="5321300"/>
            <a:ext cx="0" cy="533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cxnSp>
        <p:nvCxnSpPr>
          <p:cNvPr id="6182" name="AutoShape 38"/>
          <p:cNvCxnSpPr>
            <a:cxnSpLocks noChangeShapeType="1"/>
            <a:stCxn id="6179" idx="2"/>
            <a:endCxn id="6165" idx="0"/>
          </p:cNvCxnSpPr>
          <p:nvPr/>
        </p:nvCxnSpPr>
        <p:spPr bwMode="auto">
          <a:xfrm>
            <a:off x="8763000" y="42497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6183" name="AutoShape 39"/>
          <p:cNvCxnSpPr>
            <a:cxnSpLocks noChangeShapeType="1"/>
            <a:stCxn id="6149" idx="1"/>
          </p:cNvCxnSpPr>
          <p:nvPr/>
        </p:nvCxnSpPr>
        <p:spPr bwMode="auto">
          <a:xfrm flipH="1">
            <a:off x="1219200" y="2938463"/>
            <a:ext cx="13716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84" name="Rectangle 40"/>
          <p:cNvSpPr>
            <a:spLocks noChangeArrowheads="1"/>
          </p:cNvSpPr>
          <p:nvPr/>
        </p:nvSpPr>
        <p:spPr bwMode="auto">
          <a:xfrm>
            <a:off x="1219200" y="2197100"/>
            <a:ext cx="1295400" cy="6096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Legislative</a:t>
            </a:r>
          </a:p>
          <a:p>
            <a:r>
              <a:rPr lang="en-US" altLang="en-US" sz="1800"/>
              <a:t>Proposals</a:t>
            </a:r>
          </a:p>
        </p:txBody>
      </p:sp>
      <p:sp>
        <p:nvSpPr>
          <p:cNvPr id="6185" name="Rectangle 41"/>
          <p:cNvSpPr>
            <a:spLocks noChangeArrowheads="1"/>
          </p:cNvSpPr>
          <p:nvPr/>
        </p:nvSpPr>
        <p:spPr bwMode="auto">
          <a:xfrm>
            <a:off x="8534400" y="5930900"/>
            <a:ext cx="1219200" cy="3810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Tax Court</a:t>
            </a:r>
          </a:p>
        </p:txBody>
      </p:sp>
      <p:cxnSp>
        <p:nvCxnSpPr>
          <p:cNvPr id="6186" name="AutoShape 42"/>
          <p:cNvCxnSpPr>
            <a:cxnSpLocks noChangeShapeType="1"/>
            <a:stCxn id="6151" idx="2"/>
            <a:endCxn id="6148" idx="0"/>
          </p:cNvCxnSpPr>
          <p:nvPr/>
        </p:nvCxnSpPr>
        <p:spPr bwMode="auto">
          <a:xfrm rot="5400000">
            <a:off x="6471445" y="2999582"/>
            <a:ext cx="917575" cy="982663"/>
          </a:xfrm>
          <a:prstGeom prst="bentConnector3">
            <a:avLst>
              <a:gd name="adj1" fmla="val 51556"/>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88" name="AutoShape 44"/>
          <p:cNvCxnSpPr>
            <a:cxnSpLocks noChangeShapeType="1"/>
            <a:stCxn id="6151" idx="2"/>
            <a:endCxn id="6179" idx="0"/>
          </p:cNvCxnSpPr>
          <p:nvPr/>
        </p:nvCxnSpPr>
        <p:spPr bwMode="auto">
          <a:xfrm rot="16200000" flipH="1">
            <a:off x="7671595" y="2782095"/>
            <a:ext cx="841375" cy="1341437"/>
          </a:xfrm>
          <a:prstGeom prst="bentConnector3">
            <a:avLst>
              <a:gd name="adj1" fmla="val 5584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90" name="AutoShape 46"/>
          <p:cNvCxnSpPr>
            <a:cxnSpLocks noChangeShapeType="1"/>
            <a:stCxn id="6151" idx="2"/>
            <a:endCxn id="6150" idx="0"/>
          </p:cNvCxnSpPr>
          <p:nvPr/>
        </p:nvCxnSpPr>
        <p:spPr bwMode="auto">
          <a:xfrm rot="5400000">
            <a:off x="5286376" y="1662113"/>
            <a:ext cx="765175" cy="35052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a:defRPr/>
            </a:pPr>
            <a:r>
              <a:rPr lang="en-US" dirty="0"/>
              <a:t>Introduction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Tree>
    <p:extLst>
      <p:ext uri="{BB962C8B-B14F-4D97-AF65-F5344CB8AC3E}">
        <p14:creationId xmlns:p14="http://schemas.microsoft.com/office/powerpoint/2010/main" val="20739096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1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15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15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15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6167"/>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14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6183"/>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184"/>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6168"/>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615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6177"/>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6190"/>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6150"/>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6186"/>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6148"/>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nodeType="clickEffect">
                                  <p:stCondLst>
                                    <p:cond delay="0"/>
                                  </p:stCondLst>
                                  <p:childTnLst>
                                    <p:set>
                                      <p:cBhvr>
                                        <p:cTn id="66" dur="1" fill="hold">
                                          <p:stCondLst>
                                            <p:cond delay="0"/>
                                          </p:stCondLst>
                                        </p:cTn>
                                        <p:tgtEl>
                                          <p:spTgt spid="6188"/>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499"/>
                                          </p:stCondLst>
                                        </p:cTn>
                                        <p:tgtEl>
                                          <p:spTgt spid="6179"/>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6182"/>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499"/>
                                          </p:stCondLst>
                                        </p:cTn>
                                        <p:tgtEl>
                                          <p:spTgt spid="6165"/>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nodeType="clickEffect">
                                  <p:stCondLst>
                                    <p:cond delay="0"/>
                                  </p:stCondLst>
                                  <p:childTnLst>
                                    <p:set>
                                      <p:cBhvr>
                                        <p:cTn id="82" dur="1" fill="hold">
                                          <p:stCondLst>
                                            <p:cond delay="499"/>
                                          </p:stCondLst>
                                        </p:cTn>
                                        <p:tgtEl>
                                          <p:spTgt spid="6170"/>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499"/>
                                          </p:stCondLst>
                                        </p:cTn>
                                        <p:tgtEl>
                                          <p:spTgt spid="6166"/>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499"/>
                                          </p:stCondLst>
                                        </p:cTn>
                                        <p:tgtEl>
                                          <p:spTgt spid="6180"/>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499"/>
                                          </p:stCondLst>
                                        </p:cTn>
                                        <p:tgtEl>
                                          <p:spTgt spid="6175"/>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499"/>
                                          </p:stCondLst>
                                        </p:cTn>
                                        <p:tgtEl>
                                          <p:spTgt spid="6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autoUpdateAnimBg="0"/>
      <p:bldP spid="6148" grpId="0" animBg="1" autoUpdateAnimBg="0"/>
      <p:bldP spid="6149" grpId="0" animBg="1" autoUpdateAnimBg="0"/>
      <p:bldP spid="6150" grpId="0" animBg="1" autoUpdateAnimBg="0"/>
      <p:bldP spid="6151" grpId="0" animBg="1" autoUpdateAnimBg="0"/>
      <p:bldP spid="6154" grpId="0" animBg="1" autoUpdateAnimBg="0"/>
      <p:bldP spid="6155" grpId="0" animBg="1" autoUpdateAnimBg="0"/>
      <p:bldP spid="6165" grpId="0" animBg="1" autoUpdateAnimBg="0"/>
      <p:bldP spid="6166" grpId="0" animBg="1" autoUpdateAnimBg="0"/>
      <p:bldP spid="6175" grpId="0" animBg="1"/>
      <p:bldP spid="6179" grpId="0" animBg="1" autoUpdateAnimBg="0"/>
      <p:bldP spid="6180" grpId="0" animBg="1"/>
      <p:bldP spid="6184" grpId="0" animBg="1" autoUpdateAnimBg="0"/>
      <p:bldP spid="6185" grpId="0" animBg="1" autoUpdateAnimBg="0"/>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1" name="Rectangle 3"/>
          <p:cNvSpPr>
            <a:spLocks noGrp="1" noChangeArrowheads="1"/>
          </p:cNvSpPr>
          <p:nvPr>
            <p:ph idx="1"/>
          </p:nvPr>
        </p:nvSpPr>
        <p:spPr/>
        <p:txBody>
          <a:bodyPr/>
          <a:lstStyle/>
          <a:p>
            <a:pPr eaLnBrk="1" hangingPunct="1">
              <a:buFontTx/>
              <a:buNone/>
            </a:pPr>
            <a:r>
              <a:rPr lang="en-US" altLang="en-US"/>
              <a:t> </a:t>
            </a:r>
          </a:p>
        </p:txBody>
      </p:sp>
      <p:sp>
        <p:nvSpPr>
          <p:cNvPr id="7170" name="Rectangle 2"/>
          <p:cNvSpPr>
            <a:spLocks noGrp="1" noChangeArrowheads="1"/>
          </p:cNvSpPr>
          <p:nvPr>
            <p:ph type="title"/>
          </p:nvPr>
        </p:nvSpPr>
        <p:spPr/>
        <p:txBody>
          <a:bodyPr/>
          <a:lstStyle/>
          <a:p>
            <a:pPr eaLnBrk="1" hangingPunct="1"/>
            <a:r>
              <a:rPr lang="en-US" altLang="en-US" sz="2400" b="1" dirty="0">
                <a:solidFill>
                  <a:srgbClr val="000000"/>
                </a:solidFill>
              </a:rPr>
              <a:t>Judicial Branch</a:t>
            </a:r>
            <a:endParaRPr lang="en-US" altLang="en-US" dirty="0">
              <a:solidFill>
                <a:srgbClr val="000000"/>
              </a:solidFill>
            </a:endParaRPr>
          </a:p>
        </p:txBody>
      </p:sp>
      <p:sp>
        <p:nvSpPr>
          <p:cNvPr id="26625" name="Footer Placeholder 3"/>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800" dirty="0">
                <a:latin typeface="+mn-lt"/>
              </a:rPr>
              <a:t>Introduction</a:t>
            </a:r>
          </a:p>
        </p:txBody>
      </p:sp>
      <p:sp>
        <p:nvSpPr>
          <p:cNvPr id="7173" name="Rectangle 5"/>
          <p:cNvSpPr>
            <a:spLocks noChangeArrowheads="1"/>
          </p:cNvSpPr>
          <p:nvPr/>
        </p:nvSpPr>
        <p:spPr bwMode="auto">
          <a:xfrm>
            <a:off x="4999039" y="38100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Appellate Courts</a:t>
            </a:r>
          </a:p>
        </p:txBody>
      </p:sp>
      <p:sp>
        <p:nvSpPr>
          <p:cNvPr id="7174" name="Rectangle 6"/>
          <p:cNvSpPr>
            <a:spLocks noChangeArrowheads="1"/>
          </p:cNvSpPr>
          <p:nvPr/>
        </p:nvSpPr>
        <p:spPr bwMode="auto">
          <a:xfrm>
            <a:off x="4999039" y="54102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Supreme Court</a:t>
            </a:r>
          </a:p>
        </p:txBody>
      </p:sp>
      <p:sp>
        <p:nvSpPr>
          <p:cNvPr id="7175" name="Rectangle 7"/>
          <p:cNvSpPr>
            <a:spLocks noChangeArrowheads="1"/>
          </p:cNvSpPr>
          <p:nvPr/>
        </p:nvSpPr>
        <p:spPr bwMode="auto">
          <a:xfrm>
            <a:off x="73914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District Court</a:t>
            </a:r>
          </a:p>
        </p:txBody>
      </p:sp>
      <p:sp>
        <p:nvSpPr>
          <p:cNvPr id="7177" name="Rectangle 9"/>
          <p:cNvSpPr>
            <a:spLocks noChangeArrowheads="1"/>
          </p:cNvSpPr>
          <p:nvPr/>
        </p:nvSpPr>
        <p:spPr bwMode="auto">
          <a:xfrm>
            <a:off x="7162800" y="30384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endParaRPr lang="en-US" altLang="en-US" sz="2400"/>
          </a:p>
        </p:txBody>
      </p:sp>
      <p:sp>
        <p:nvSpPr>
          <p:cNvPr id="7178" name="Rectangle 10"/>
          <p:cNvSpPr>
            <a:spLocks noChangeArrowheads="1"/>
          </p:cNvSpPr>
          <p:nvPr/>
        </p:nvSpPr>
        <p:spPr bwMode="auto">
          <a:xfrm>
            <a:off x="25908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Tax Court</a:t>
            </a:r>
          </a:p>
        </p:txBody>
      </p:sp>
      <p:sp>
        <p:nvSpPr>
          <p:cNvPr id="7179" name="Rectangle 11"/>
          <p:cNvSpPr>
            <a:spLocks noChangeArrowheads="1"/>
          </p:cNvSpPr>
          <p:nvPr/>
        </p:nvSpPr>
        <p:spPr bwMode="auto">
          <a:xfrm>
            <a:off x="4999039"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Claims Court</a:t>
            </a:r>
          </a:p>
        </p:txBody>
      </p:sp>
      <p:cxnSp>
        <p:nvCxnSpPr>
          <p:cNvPr id="7188" name="AutoShape 20"/>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7198" name="Rectangle 30"/>
          <p:cNvSpPr>
            <a:spLocks noChangeArrowheads="1"/>
          </p:cNvSpPr>
          <p:nvPr/>
        </p:nvSpPr>
        <p:spPr bwMode="auto">
          <a:xfrm>
            <a:off x="6553200" y="1371600"/>
            <a:ext cx="18288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Refund Suits</a:t>
            </a:r>
          </a:p>
        </p:txBody>
      </p:sp>
      <p:cxnSp>
        <p:nvCxnSpPr>
          <p:cNvPr id="7199" name="AutoShape 31"/>
          <p:cNvCxnSpPr>
            <a:cxnSpLocks noChangeShapeType="1"/>
            <a:stCxn id="7198" idx="2"/>
            <a:endCxn id="7179" idx="0"/>
          </p:cNvCxnSpPr>
          <p:nvPr/>
        </p:nvCxnSpPr>
        <p:spPr bwMode="auto">
          <a:xfrm rot="5400000">
            <a:off x="6515100" y="1257300"/>
            <a:ext cx="533400" cy="13716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0" name="AutoShape 32"/>
          <p:cNvCxnSpPr>
            <a:cxnSpLocks noChangeShapeType="1"/>
            <a:stCxn id="7198" idx="2"/>
            <a:endCxn id="7175" idx="0"/>
          </p:cNvCxnSpPr>
          <p:nvPr/>
        </p:nvCxnSpPr>
        <p:spPr bwMode="auto">
          <a:xfrm rot="16200000" flipH="1">
            <a:off x="7711282" y="1432719"/>
            <a:ext cx="533400" cy="1020763"/>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1" name="AutoShape 33"/>
          <p:cNvCxnSpPr>
            <a:cxnSpLocks noChangeShapeType="1"/>
            <a:stCxn id="7179" idx="2"/>
            <a:endCxn id="7173" idx="0"/>
          </p:cNvCxnSpPr>
          <p:nvPr/>
        </p:nvCxnSpPr>
        <p:spPr bwMode="auto">
          <a:xfrm>
            <a:off x="6096000" y="28590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2" name="AutoShape 34"/>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3" name="AutoShape 35"/>
          <p:cNvCxnSpPr>
            <a:cxnSpLocks noChangeShapeType="1"/>
            <a:stCxn id="7178" idx="2"/>
            <a:endCxn id="7173" idx="0"/>
          </p:cNvCxnSpPr>
          <p:nvPr/>
        </p:nvCxnSpPr>
        <p:spPr bwMode="auto">
          <a:xfrm rot="16200000" flipH="1">
            <a:off x="4416426" y="2130426"/>
            <a:ext cx="950912" cy="2408237"/>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4" name="AutoShape 36"/>
          <p:cNvCxnSpPr>
            <a:cxnSpLocks noChangeShapeType="1"/>
            <a:stCxn id="7175" idx="2"/>
            <a:endCxn id="7173" idx="0"/>
          </p:cNvCxnSpPr>
          <p:nvPr/>
        </p:nvCxnSpPr>
        <p:spPr bwMode="auto">
          <a:xfrm rot="5400000">
            <a:off x="6816726" y="2138363"/>
            <a:ext cx="950912" cy="2392363"/>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7205" name="Line 37"/>
          <p:cNvSpPr>
            <a:spLocks noChangeShapeType="1"/>
          </p:cNvSpPr>
          <p:nvPr/>
        </p:nvSpPr>
        <p:spPr bwMode="auto">
          <a:xfrm>
            <a:off x="1524000" y="25146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algn="ctr"/>
            <a:endParaRPr lang="en-US"/>
          </a:p>
        </p:txBody>
      </p:sp>
      <p:sp>
        <p:nvSpPr>
          <p:cNvPr id="7206" name="Rectangle 38"/>
          <p:cNvSpPr>
            <a:spLocks noChangeArrowheads="1"/>
          </p:cNvSpPr>
          <p:nvPr/>
        </p:nvSpPr>
        <p:spPr bwMode="auto">
          <a:xfrm>
            <a:off x="1600200" y="1905000"/>
            <a:ext cx="914400" cy="5334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600"/>
              <a:t>90 day </a:t>
            </a:r>
          </a:p>
          <a:p>
            <a:pPr algn="ctr"/>
            <a:r>
              <a:rPr lang="en-US" altLang="en-US" sz="1600"/>
              <a:t>Letter</a:t>
            </a:r>
            <a:endParaRPr lang="en-US" altLang="en-US" sz="1800"/>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extLst>
      <p:ext uri="{BB962C8B-B14F-4D97-AF65-F5344CB8AC3E}">
        <p14:creationId xmlns:p14="http://schemas.microsoft.com/office/powerpoint/2010/main" val="162564949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2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20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17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19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719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179"/>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7200"/>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175"/>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7204"/>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7203"/>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720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7173"/>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7188"/>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7174"/>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499"/>
                                          </p:stCondLst>
                                        </p:cTn>
                                        <p:tgtEl>
                                          <p:spTgt spid="7171">
                                            <p:txEl>
                                              <p:pRg st="0" end="0"/>
                                            </p:txEl>
                                          </p:spTgt>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nodePh="1">
                                  <p:stCondLst>
                                    <p:cond delay="0"/>
                                  </p:stCondLst>
                                  <p:endCondLst>
                                    <p:cond evt="begin" delay="0">
                                      <p:tn val="69"/>
                                    </p:cond>
                                  </p:endCondLst>
                                  <p:childTnLst>
                                    <p:set>
                                      <p:cBhvr>
                                        <p:cTn id="70" dur="1" fill="hold">
                                          <p:stCondLst>
                                            <p:cond delay="499"/>
                                          </p:stCondLst>
                                        </p:cTn>
                                        <p:tgtEl>
                                          <p:spTgt spid="7177"/>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7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autoUpdateAnimBg="0"/>
      <p:bldP spid="7170" grpId="0" autoUpdateAnimBg="0"/>
      <p:bldP spid="7173" grpId="0" animBg="1" autoUpdateAnimBg="0"/>
      <p:bldP spid="7174" grpId="0" animBg="1" autoUpdateAnimBg="0"/>
      <p:bldP spid="7175" grpId="0" animBg="1" autoUpdateAnimBg="0"/>
      <p:bldP spid="7177" grpId="0" autoUpdateAnimBg="0"/>
      <p:bldP spid="7178" grpId="0" animBg="1" autoUpdateAnimBg="0"/>
      <p:bldP spid="7179" grpId="0" animBg="1" autoUpdateAnimBg="0"/>
      <p:bldP spid="7198" grpId="0" animBg="1" autoUpdateAnimBg="0"/>
      <p:bldP spid="7205" grpId="0" animBg="1"/>
      <p:bldP spid="7206" grpId="0" animBg="1"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IRC:  Title 26 of the U.S. Code</a:t>
            </a:r>
            <a:endParaRPr lang="en-US" sz="2400" dirty="0">
              <a:ea typeface="ＭＳ Ｐゴシック" charset="0"/>
              <a:cs typeface="ＭＳ Ｐゴシック" charset="0"/>
            </a:endParaRPr>
          </a:p>
          <a:p>
            <a:pPr>
              <a:lnSpc>
                <a:spcPct val="80000"/>
              </a:lnSpc>
              <a:tabLst>
                <a:tab pos="914400" algn="l"/>
              </a:tabLst>
            </a:pPr>
            <a:r>
              <a:rPr lang="en-US" sz="2400" dirty="0">
                <a:ea typeface="ＭＳ Ｐゴシック" charset="0"/>
                <a:cs typeface="ＭＳ Ｐゴシック" charset="0"/>
              </a:rPr>
              <a:t>Subtitles (A-K)</a:t>
            </a:r>
          </a:p>
          <a:p>
            <a:pPr lvl="1" indent="-279400">
              <a:lnSpc>
                <a:spcPct val="80000"/>
              </a:lnSpc>
              <a:tabLst>
                <a:tab pos="914400" algn="l"/>
              </a:tabLst>
            </a:pPr>
            <a:r>
              <a:rPr lang="en-US" sz="2000" dirty="0">
                <a:ea typeface="ＭＳ Ｐゴシック" charset="0"/>
              </a:rPr>
              <a:t>A (Income Taxes) and (B) Estate and Gift Taxes</a:t>
            </a:r>
          </a:p>
          <a:p>
            <a:pPr>
              <a:lnSpc>
                <a:spcPct val="80000"/>
              </a:lnSpc>
              <a:tabLst>
                <a:tab pos="914400" algn="l"/>
              </a:tabLst>
            </a:pPr>
            <a:r>
              <a:rPr lang="en-US" sz="2400" dirty="0">
                <a:ea typeface="ＭＳ Ｐゴシック" charset="0"/>
                <a:cs typeface="ＭＳ Ｐゴシック" charset="0"/>
              </a:rPr>
              <a:t>Chapters and Subchapters</a:t>
            </a:r>
          </a:p>
          <a:p>
            <a:pPr lvl="1" indent="-279400">
              <a:lnSpc>
                <a:spcPct val="80000"/>
              </a:lnSpc>
              <a:tabLst>
                <a:tab pos="914400" algn="l"/>
              </a:tabLst>
            </a:pPr>
            <a:r>
              <a:rPr lang="en-US" sz="2000" dirty="0">
                <a:ea typeface="ＭＳ Ｐゴシック" charset="0"/>
              </a:rPr>
              <a:t>Chapter 1 (Normal Taxes) [</a:t>
            </a:r>
            <a:r>
              <a:rPr lang="en-US" altLang="en-US" dirty="0"/>
              <a:t>§§</a:t>
            </a:r>
            <a:r>
              <a:rPr lang="en-US" sz="2000" dirty="0">
                <a:ea typeface="ＭＳ Ｐゴシック" charset="0"/>
              </a:rPr>
              <a:t>1-1400L]</a:t>
            </a:r>
          </a:p>
          <a:p>
            <a:pPr marL="1092200" lvl="2" indent="-292100">
              <a:lnSpc>
                <a:spcPct val="80000"/>
              </a:lnSpc>
              <a:tabLst>
                <a:tab pos="914400" algn="l"/>
              </a:tabLst>
            </a:pPr>
            <a:r>
              <a:rPr lang="en-US" sz="1800" b="1" dirty="0">
                <a:highlight>
                  <a:srgbClr val="00FFFF"/>
                </a:highlight>
                <a:ea typeface="ＭＳ Ｐゴシック" charset="0"/>
              </a:rPr>
              <a:t>Subchapter C:  Corporate Distributions and Adjustments [</a:t>
            </a:r>
            <a:r>
              <a:rPr lang="en-US" altLang="en-US" sz="1800" b="1" dirty="0">
                <a:highlight>
                  <a:srgbClr val="00FFFF"/>
                </a:highlight>
              </a:rPr>
              <a:t>§§</a:t>
            </a:r>
            <a:r>
              <a:rPr lang="en-US" sz="1800" b="1" dirty="0">
                <a:highlight>
                  <a:srgbClr val="00FFFF"/>
                </a:highlight>
                <a:ea typeface="ＭＳ Ｐゴシック" charset="0"/>
              </a:rPr>
              <a:t>301-385]</a:t>
            </a:r>
          </a:p>
          <a:p>
            <a:pPr marL="1092200" lvl="2" indent="-292100">
              <a:lnSpc>
                <a:spcPct val="80000"/>
              </a:lnSpc>
              <a:tabLst>
                <a:tab pos="914400" algn="l"/>
              </a:tabLst>
            </a:pPr>
            <a:r>
              <a:rPr lang="en-US" sz="1800" dirty="0">
                <a:ea typeface="ＭＳ Ｐゴシック" charset="0"/>
              </a:rPr>
              <a:t>Subchapter K:  Partners and Partnerships [</a:t>
            </a:r>
            <a:r>
              <a:rPr lang="en-US" altLang="en-US" sz="1800" dirty="0"/>
              <a:t>§§</a:t>
            </a:r>
            <a:r>
              <a:rPr lang="en-US" sz="1800" dirty="0">
                <a:ea typeface="ＭＳ Ｐゴシック" charset="0"/>
              </a:rPr>
              <a:t>701-777]</a:t>
            </a:r>
          </a:p>
          <a:p>
            <a:pPr marL="1092200" lvl="2" indent="-292100">
              <a:lnSpc>
                <a:spcPct val="80000"/>
              </a:lnSpc>
              <a:tabLst>
                <a:tab pos="914400" algn="l"/>
              </a:tabLst>
            </a:pPr>
            <a:r>
              <a:rPr lang="en-US" sz="1800" b="1" dirty="0">
                <a:highlight>
                  <a:srgbClr val="00FFFF"/>
                </a:highlight>
                <a:ea typeface="ＭＳ Ｐゴシック" charset="0"/>
              </a:rPr>
              <a:t>Subchapter S:  S Corporations and Their Shareholders [</a:t>
            </a:r>
            <a:r>
              <a:rPr lang="en-US" altLang="en-US" sz="1800" b="1" dirty="0">
                <a:highlight>
                  <a:srgbClr val="00FFFF"/>
                </a:highlight>
              </a:rPr>
              <a:t>§§</a:t>
            </a:r>
            <a:r>
              <a:rPr lang="en-US" sz="1800" b="1" dirty="0">
                <a:highlight>
                  <a:srgbClr val="00FFFF"/>
                </a:highlight>
                <a:ea typeface="ＭＳ Ｐゴシック" charset="0"/>
              </a:rPr>
              <a:t>1361-1379]</a:t>
            </a:r>
          </a:p>
          <a:p>
            <a:pPr>
              <a:lnSpc>
                <a:spcPct val="80000"/>
              </a:lnSpc>
              <a:tabLst>
                <a:tab pos="914400" algn="l"/>
              </a:tabLst>
            </a:pPr>
            <a:r>
              <a:rPr lang="en-US" sz="2400" dirty="0">
                <a:ea typeface="ＭＳ Ｐゴシック" charset="0"/>
                <a:cs typeface="ＭＳ Ｐゴシック" charset="0"/>
              </a:rPr>
              <a:t>Parts [I], Sections [61], Subsections [c], Paragraphs [1], Subparagraphs [A], Clauses [</a:t>
            </a:r>
            <a:r>
              <a:rPr lang="en-US" sz="2400" dirty="0" err="1">
                <a:ea typeface="ＭＳ Ｐゴシック" charset="0"/>
                <a:cs typeface="ＭＳ Ｐゴシック" charset="0"/>
              </a:rPr>
              <a:t>i</a:t>
            </a:r>
            <a:r>
              <a:rPr lang="en-US" sz="2400" dirty="0">
                <a:ea typeface="ＭＳ Ｐゴシック" charset="0"/>
                <a:cs typeface="ＭＳ Ｐゴシック" charset="0"/>
              </a:rPr>
              <a:t>], and </a:t>
            </a:r>
            <a:r>
              <a:rPr lang="en-US" sz="2400" dirty="0" err="1">
                <a:ea typeface="ＭＳ Ｐゴシック" charset="0"/>
                <a:cs typeface="ＭＳ Ｐゴシック" charset="0"/>
              </a:rPr>
              <a:t>Subclauses</a:t>
            </a:r>
            <a:r>
              <a:rPr lang="en-US" sz="2400" dirty="0">
                <a:ea typeface="ＭＳ Ｐゴシック" charset="0"/>
                <a:cs typeface="ＭＳ Ｐゴシック" charset="0"/>
              </a:rPr>
              <a:t> [II]</a:t>
            </a:r>
          </a:p>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Treasury Regulations:  Title 26 of the CFR  </a:t>
            </a:r>
          </a:p>
          <a:p>
            <a:pPr>
              <a:lnSpc>
                <a:spcPct val="80000"/>
              </a:lnSpc>
              <a:tabLst>
                <a:tab pos="914400" algn="l"/>
              </a:tabLst>
            </a:pPr>
            <a:r>
              <a:rPr lang="en-US" sz="2400" dirty="0">
                <a:ea typeface="ＭＳ Ｐゴシック" charset="0"/>
                <a:cs typeface="ＭＳ Ｐゴシック" charset="0"/>
              </a:rPr>
              <a:t>Chapter, Parts, Sections [</a:t>
            </a:r>
            <a:r>
              <a:rPr lang="en-US" altLang="en-US" dirty="0"/>
              <a:t>§§</a:t>
            </a:r>
            <a:r>
              <a:rPr lang="en-US" sz="2400" dirty="0">
                <a:ea typeface="ＭＳ Ｐゴシック" charset="0"/>
                <a:cs typeface="ＭＳ Ｐゴシック" charset="0"/>
              </a:rPr>
              <a:t>1.1 and 301.7701], Subsections [-1], Paragraphs[-1(d)]; Subparagraphs [-1(d)(1)]; and Subdivisions [-1(d)(1)(ii)] </a:t>
            </a:r>
          </a:p>
          <a:p>
            <a:endParaRPr lang="en-US" dirty="0"/>
          </a:p>
        </p:txBody>
      </p:sp>
      <p:sp>
        <p:nvSpPr>
          <p:cNvPr id="2" name="Title 1"/>
          <p:cNvSpPr>
            <a:spLocks noGrp="1"/>
          </p:cNvSpPr>
          <p:nvPr>
            <p:ph type="title"/>
          </p:nvPr>
        </p:nvSpPr>
        <p:spPr/>
        <p:txBody>
          <a:bodyPr/>
          <a:lstStyle/>
          <a:p>
            <a:r>
              <a:rPr lang="en-US" dirty="0"/>
              <a:t>Internal Revenue Code and Regulations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extLst>
      <p:ext uri="{BB962C8B-B14F-4D97-AF65-F5344CB8AC3E}">
        <p14:creationId xmlns:p14="http://schemas.microsoft.com/office/powerpoint/2010/main" val="17067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Business Entity Returns by Types (1980-2021)</a:t>
            </a:r>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pic>
        <p:nvPicPr>
          <p:cNvPr id="10" name="Content Placeholder 9" descr="A graph of tax returns&#10;&#10;AI-generated content may be incorrect.">
            <a:extLst>
              <a:ext uri="{FF2B5EF4-FFF2-40B4-BE49-F238E27FC236}">
                <a16:creationId xmlns:a16="http://schemas.microsoft.com/office/drawing/2014/main" id="{02CA3A85-DFDE-4265-0F37-059AFF892FC9}"/>
              </a:ext>
            </a:extLst>
          </p:cNvPr>
          <p:cNvPicPr>
            <a:picLocks noChangeAspect="1"/>
          </p:cNvPicPr>
          <p:nvPr/>
        </p:nvPicPr>
        <p:blipFill>
          <a:blip r:embed="rId2"/>
          <a:stretch>
            <a:fillRect/>
          </a:stretch>
        </p:blipFill>
        <p:spPr>
          <a:xfrm>
            <a:off x="512063" y="695739"/>
            <a:ext cx="11277599" cy="5526157"/>
          </a:xfrm>
          <a:prstGeom prst="rect">
            <a:avLst/>
          </a:prstGeom>
        </p:spPr>
      </p:pic>
    </p:spTree>
    <p:extLst>
      <p:ext uri="{BB962C8B-B14F-4D97-AF65-F5344CB8AC3E}">
        <p14:creationId xmlns:p14="http://schemas.microsoft.com/office/powerpoint/2010/main" val="172108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0A0373A-7D72-9A49-AD10-C634DACD5960}"/>
              </a:ext>
            </a:extLst>
          </p:cNvPr>
          <p:cNvSpPr>
            <a:spLocks noGrp="1"/>
          </p:cNvSpPr>
          <p:nvPr>
            <p:ph type="title"/>
          </p:nvPr>
        </p:nvSpPr>
        <p:spPr/>
        <p:txBody>
          <a:bodyPr/>
          <a:lstStyle/>
          <a:p>
            <a:r>
              <a:rPr lang="en-US" dirty="0"/>
              <a:t>Share of Total Business Tax Returns by Type (1980-2021)</a:t>
            </a:r>
          </a:p>
        </p:txBody>
      </p:sp>
      <p:sp>
        <p:nvSpPr>
          <p:cNvPr id="4" name="Slide Number Placeholder 3">
            <a:extLst>
              <a:ext uri="{FF2B5EF4-FFF2-40B4-BE49-F238E27FC236}">
                <a16:creationId xmlns:a16="http://schemas.microsoft.com/office/drawing/2014/main" id="{22EB6031-046D-824F-88CE-9E1A73CB582D}"/>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a:extLst>
              <a:ext uri="{FF2B5EF4-FFF2-40B4-BE49-F238E27FC236}">
                <a16:creationId xmlns:a16="http://schemas.microsoft.com/office/drawing/2014/main" id="{20C2795B-320D-4442-881C-400A55E8903D}"/>
              </a:ext>
            </a:extLst>
          </p:cNvPr>
          <p:cNvSpPr>
            <a:spLocks noGrp="1"/>
          </p:cNvSpPr>
          <p:nvPr>
            <p:ph type="ftr" sz="quarter" idx="11"/>
          </p:nvPr>
        </p:nvSpPr>
        <p:spPr/>
        <p:txBody>
          <a:bodyPr/>
          <a:lstStyle/>
          <a:p>
            <a:pPr>
              <a:defRPr/>
            </a:pPr>
            <a:r>
              <a:rPr lang="en-US"/>
              <a:t>Introduction</a:t>
            </a:r>
            <a:endParaRPr lang="en-US" dirty="0"/>
          </a:p>
        </p:txBody>
      </p:sp>
      <p:pic>
        <p:nvPicPr>
          <p:cNvPr id="14" name="Content Placeholder 13" descr="A graph showing the cost of tax returns&#10;&#10;AI-generated content may be incorrect.">
            <a:extLst>
              <a:ext uri="{FF2B5EF4-FFF2-40B4-BE49-F238E27FC236}">
                <a16:creationId xmlns:a16="http://schemas.microsoft.com/office/drawing/2014/main" id="{D729365E-55FA-72DF-C520-A116D87EADE4}"/>
              </a:ext>
            </a:extLst>
          </p:cNvPr>
          <p:cNvPicPr>
            <a:picLocks noGrp="1" noChangeAspect="1"/>
          </p:cNvPicPr>
          <p:nvPr>
            <p:ph idx="1"/>
          </p:nvPr>
        </p:nvPicPr>
        <p:blipFill>
          <a:blip r:embed="rId2"/>
          <a:stretch>
            <a:fillRect/>
          </a:stretch>
        </p:blipFill>
        <p:spPr>
          <a:xfrm>
            <a:off x="512063" y="658873"/>
            <a:ext cx="11277599" cy="5642536"/>
          </a:xfrm>
        </p:spPr>
      </p:pic>
    </p:spTree>
    <p:extLst>
      <p:ext uri="{BB962C8B-B14F-4D97-AF65-F5344CB8AC3E}">
        <p14:creationId xmlns:p14="http://schemas.microsoft.com/office/powerpoint/2010/main" val="3418219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Partnership Returns</a:t>
            </a:r>
          </a:p>
        </p:txBody>
      </p:sp>
      <p:sp>
        <p:nvSpPr>
          <p:cNvPr id="4" name="Footer Placeholder 3"/>
          <p:cNvSpPr>
            <a:spLocks noGrp="1"/>
          </p:cNvSpPr>
          <p:nvPr>
            <p:ph type="ftr" sz="quarter" idx="11"/>
          </p:nvPr>
        </p:nvSpPr>
        <p:spPr/>
        <p:txBody>
          <a:bodyPr/>
          <a:lstStyle/>
          <a:p>
            <a:pPr>
              <a:defRPr/>
            </a:pPr>
            <a:r>
              <a:rPr lang="en-US" dirty="0"/>
              <a:t>Introduction</a:t>
            </a:r>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10" name="TextBox 9">
            <a:extLst>
              <a:ext uri="{FF2B5EF4-FFF2-40B4-BE49-F238E27FC236}">
                <a16:creationId xmlns:a16="http://schemas.microsoft.com/office/drawing/2014/main" id="{BD7F93A9-7759-43D0-9FF9-EC7EF6E5D453}"/>
              </a:ext>
            </a:extLst>
          </p:cNvPr>
          <p:cNvSpPr txBox="1"/>
          <p:nvPr/>
        </p:nvSpPr>
        <p:spPr>
          <a:xfrm>
            <a:off x="5181071" y="6196266"/>
            <a:ext cx="1805302" cy="246221"/>
          </a:xfrm>
          <a:prstGeom prst="rect">
            <a:avLst/>
          </a:prstGeom>
          <a:noFill/>
        </p:spPr>
        <p:txBody>
          <a:bodyPr wrap="none" rtlCol="0">
            <a:spAutoFit/>
          </a:bodyPr>
          <a:lstStyle/>
          <a:p>
            <a:r>
              <a:rPr lang="en-US" sz="1000" dirty="0"/>
              <a:t>Source: SOI, PSH Returns, 2022</a:t>
            </a:r>
          </a:p>
        </p:txBody>
      </p:sp>
      <p:pic>
        <p:nvPicPr>
          <p:cNvPr id="9" name="Content Placeholder 8" descr="A graph of a number of tax years&#10;&#10;AI-generated content may be incorrect.">
            <a:extLst>
              <a:ext uri="{FF2B5EF4-FFF2-40B4-BE49-F238E27FC236}">
                <a16:creationId xmlns:a16="http://schemas.microsoft.com/office/drawing/2014/main" id="{76944B75-8FCC-56D2-1972-6CD3276EE737}"/>
              </a:ext>
            </a:extLst>
          </p:cNvPr>
          <p:cNvPicPr>
            <a:picLocks noGrp="1" noChangeAspect="1"/>
          </p:cNvPicPr>
          <p:nvPr>
            <p:ph idx="1"/>
          </p:nvPr>
        </p:nvPicPr>
        <p:blipFill>
          <a:blip r:embed="rId2"/>
          <a:stretch>
            <a:fillRect/>
          </a:stretch>
        </p:blipFill>
        <p:spPr>
          <a:xfrm>
            <a:off x="512064" y="785019"/>
            <a:ext cx="11104203" cy="5308600"/>
          </a:xfrm>
        </p:spPr>
      </p:pic>
    </p:spTree>
    <p:extLst>
      <p:ext uri="{BB962C8B-B14F-4D97-AF65-F5344CB8AC3E}">
        <p14:creationId xmlns:p14="http://schemas.microsoft.com/office/powerpoint/2010/main" val="654615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7B74C3-9091-763C-CA02-538DE9BF7C32}"/>
              </a:ext>
            </a:extLst>
          </p:cNvPr>
          <p:cNvSpPr>
            <a:spLocks noGrp="1"/>
          </p:cNvSpPr>
          <p:nvPr>
            <p:ph type="title"/>
          </p:nvPr>
        </p:nvSpPr>
        <p:spPr/>
        <p:txBody>
          <a:bodyPr/>
          <a:lstStyle/>
          <a:p>
            <a:r>
              <a:rPr lang="en-US" dirty="0"/>
              <a:t>Source of Federal Revenue</a:t>
            </a:r>
          </a:p>
        </p:txBody>
      </p:sp>
      <p:sp>
        <p:nvSpPr>
          <p:cNvPr id="4" name="Slide Number Placeholder 3">
            <a:extLst>
              <a:ext uri="{FF2B5EF4-FFF2-40B4-BE49-F238E27FC236}">
                <a16:creationId xmlns:a16="http://schemas.microsoft.com/office/drawing/2014/main" id="{AE8583F7-62C5-1712-C257-700565FE544E}"/>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a:extLst>
              <a:ext uri="{FF2B5EF4-FFF2-40B4-BE49-F238E27FC236}">
                <a16:creationId xmlns:a16="http://schemas.microsoft.com/office/drawing/2014/main" id="{FB8B7526-3C31-3C3B-F12A-D0A16AE35AE7}"/>
              </a:ext>
            </a:extLst>
          </p:cNvPr>
          <p:cNvSpPr>
            <a:spLocks noGrp="1"/>
          </p:cNvSpPr>
          <p:nvPr>
            <p:ph type="ftr" sz="quarter" idx="11"/>
          </p:nvPr>
        </p:nvSpPr>
        <p:spPr/>
        <p:txBody>
          <a:bodyPr/>
          <a:lstStyle/>
          <a:p>
            <a:pPr>
              <a:defRPr/>
            </a:pPr>
            <a:r>
              <a:rPr lang="en-US"/>
              <a:t>Introduction</a:t>
            </a:r>
            <a:endParaRPr lang="en-US" dirty="0"/>
          </a:p>
        </p:txBody>
      </p:sp>
      <p:pic>
        <p:nvPicPr>
          <p:cNvPr id="7" name="Picture 6">
            <a:extLst>
              <a:ext uri="{FF2B5EF4-FFF2-40B4-BE49-F238E27FC236}">
                <a16:creationId xmlns:a16="http://schemas.microsoft.com/office/drawing/2014/main" id="{ED440A24-E40D-CA7F-6D62-6365AF75CFD1}"/>
              </a:ext>
            </a:extLst>
          </p:cNvPr>
          <p:cNvPicPr>
            <a:picLocks noChangeAspect="1"/>
          </p:cNvPicPr>
          <p:nvPr/>
        </p:nvPicPr>
        <p:blipFill>
          <a:blip r:embed="rId2"/>
          <a:stretch>
            <a:fillRect/>
          </a:stretch>
        </p:blipFill>
        <p:spPr>
          <a:xfrm>
            <a:off x="512064" y="728663"/>
            <a:ext cx="11277600" cy="5486400"/>
          </a:xfrm>
          <a:prstGeom prst="rect">
            <a:avLst/>
          </a:prstGeom>
        </p:spPr>
      </p:pic>
    </p:spTree>
    <p:extLst>
      <p:ext uri="{BB962C8B-B14F-4D97-AF65-F5344CB8AC3E}">
        <p14:creationId xmlns:p14="http://schemas.microsoft.com/office/powerpoint/2010/main" val="2114327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hart, line chart&#10;&#10;Description automatically generated">
            <a:extLst>
              <a:ext uri="{FF2B5EF4-FFF2-40B4-BE49-F238E27FC236}">
                <a16:creationId xmlns:a16="http://schemas.microsoft.com/office/drawing/2014/main" id="{8E5AEF14-344D-F547-8C37-47671E68D969}"/>
              </a:ext>
            </a:extLst>
          </p:cNvPr>
          <p:cNvPicPr>
            <a:picLocks noGrp="1" noChangeAspect="1"/>
          </p:cNvPicPr>
          <p:nvPr>
            <p:ph idx="1"/>
          </p:nvPr>
        </p:nvPicPr>
        <p:blipFill>
          <a:blip r:embed="rId2"/>
          <a:stretch>
            <a:fillRect/>
          </a:stretch>
        </p:blipFill>
        <p:spPr>
          <a:xfrm>
            <a:off x="373488" y="533400"/>
            <a:ext cx="11416176" cy="5811838"/>
          </a:xfrm>
        </p:spPr>
      </p:pic>
      <p:sp>
        <p:nvSpPr>
          <p:cNvPr id="3" name="Title 2">
            <a:extLst>
              <a:ext uri="{FF2B5EF4-FFF2-40B4-BE49-F238E27FC236}">
                <a16:creationId xmlns:a16="http://schemas.microsoft.com/office/drawing/2014/main" id="{C18C1F6B-66A7-AC7C-5ADD-515F098E84E8}"/>
              </a:ext>
            </a:extLst>
          </p:cNvPr>
          <p:cNvSpPr>
            <a:spLocks noGrp="1"/>
          </p:cNvSpPr>
          <p:nvPr>
            <p:ph type="title"/>
          </p:nvPr>
        </p:nvSpPr>
        <p:spPr/>
        <p:txBody>
          <a:bodyPr/>
          <a:lstStyle/>
          <a:p>
            <a:r>
              <a:rPr lang="en-US" dirty="0"/>
              <a:t>Federal Receipts as Share of Total Receipts: 1950-2021</a:t>
            </a:r>
          </a:p>
        </p:txBody>
      </p:sp>
      <p:sp>
        <p:nvSpPr>
          <p:cNvPr id="4" name="Slide Number Placeholder 3">
            <a:extLst>
              <a:ext uri="{FF2B5EF4-FFF2-40B4-BE49-F238E27FC236}">
                <a16:creationId xmlns:a16="http://schemas.microsoft.com/office/drawing/2014/main" id="{788302E2-92D5-21D6-470B-CBF7716BBB7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73F550A3-3E8A-7040-6F9F-E2C1412EDCA5}"/>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796058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8ADFA32B-198A-D144-A4C4-BC2F77E0EE2F}"/>
              </a:ext>
            </a:extLst>
          </p:cNvPr>
          <p:cNvPicPr>
            <a:picLocks noGrp="1" noChangeAspect="1"/>
          </p:cNvPicPr>
          <p:nvPr>
            <p:ph idx="1"/>
          </p:nvPr>
        </p:nvPicPr>
        <p:blipFill>
          <a:blip r:embed="rId2"/>
          <a:stretch>
            <a:fillRect/>
          </a:stretch>
        </p:blipFill>
        <p:spPr>
          <a:xfrm>
            <a:off x="371475" y="592550"/>
            <a:ext cx="11418189" cy="5655850"/>
          </a:xfrm>
        </p:spPr>
      </p:pic>
      <p:sp>
        <p:nvSpPr>
          <p:cNvPr id="3" name="Title 2">
            <a:extLst>
              <a:ext uri="{FF2B5EF4-FFF2-40B4-BE49-F238E27FC236}">
                <a16:creationId xmlns:a16="http://schemas.microsoft.com/office/drawing/2014/main" id="{910B6C17-0CFD-FA40-A7E9-BFA85B699AF4}"/>
              </a:ext>
            </a:extLst>
          </p:cNvPr>
          <p:cNvSpPr>
            <a:spLocks noGrp="1"/>
          </p:cNvSpPr>
          <p:nvPr>
            <p:ph type="title"/>
          </p:nvPr>
        </p:nvSpPr>
        <p:spPr/>
        <p:txBody>
          <a:bodyPr/>
          <a:lstStyle/>
          <a:p>
            <a:r>
              <a:rPr lang="en-US" dirty="0"/>
              <a:t>Net Income of Business Tax Returns by Types by Percent of Total (1980-2015)</a:t>
            </a:r>
          </a:p>
        </p:txBody>
      </p:sp>
      <p:sp>
        <p:nvSpPr>
          <p:cNvPr id="4" name="Slide Number Placeholder 3">
            <a:extLst>
              <a:ext uri="{FF2B5EF4-FFF2-40B4-BE49-F238E27FC236}">
                <a16:creationId xmlns:a16="http://schemas.microsoft.com/office/drawing/2014/main" id="{565E2F5A-9C78-7D4A-9A80-F824A9841797}"/>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5" name="Footer Placeholder 4">
            <a:extLst>
              <a:ext uri="{FF2B5EF4-FFF2-40B4-BE49-F238E27FC236}">
                <a16:creationId xmlns:a16="http://schemas.microsoft.com/office/drawing/2014/main" id="{18F7BD69-ED10-2743-8193-31CBA44F8C95}"/>
              </a:ext>
            </a:extLst>
          </p:cNvPr>
          <p:cNvSpPr>
            <a:spLocks noGrp="1"/>
          </p:cNvSpPr>
          <p:nvPr>
            <p:ph type="ftr" sz="quarter" idx="11"/>
          </p:nvPr>
        </p:nvSpPr>
        <p:spPr/>
        <p:txBody>
          <a:bodyPr/>
          <a:lstStyle/>
          <a:p>
            <a:pPr>
              <a:defRPr/>
            </a:pPr>
            <a:r>
              <a:rPr lang="en-US"/>
              <a:t>Introduction</a:t>
            </a:r>
            <a:endParaRPr lang="en-US" dirty="0"/>
          </a:p>
        </p:txBody>
      </p:sp>
      <p:sp>
        <p:nvSpPr>
          <p:cNvPr id="8" name="Rectangle 7">
            <a:extLst>
              <a:ext uri="{FF2B5EF4-FFF2-40B4-BE49-F238E27FC236}">
                <a16:creationId xmlns:a16="http://schemas.microsoft.com/office/drawing/2014/main" id="{BA7EBBB8-722B-BE47-A62A-789A31304FA5}"/>
              </a:ext>
            </a:extLst>
          </p:cNvPr>
          <p:cNvSpPr/>
          <p:nvPr/>
        </p:nvSpPr>
        <p:spPr>
          <a:xfrm>
            <a:off x="4953000" y="6218445"/>
            <a:ext cx="2590800" cy="215444"/>
          </a:xfrm>
          <a:prstGeom prst="rect">
            <a:avLst/>
          </a:prstGeom>
        </p:spPr>
        <p:txBody>
          <a:bodyPr wrap="square">
            <a:spAutoFit/>
          </a:bodyPr>
          <a:lstStyle/>
          <a:p>
            <a:pPr lvl="0"/>
            <a:r>
              <a:rPr lang="en-US" sz="800" dirty="0">
                <a:solidFill>
                  <a:prstClr val="black"/>
                </a:solidFill>
              </a:rPr>
              <a:t>Source: TPC, Key Elements of US Tax System</a:t>
            </a:r>
          </a:p>
        </p:txBody>
      </p:sp>
    </p:spTree>
    <p:extLst>
      <p:ext uri="{BB962C8B-B14F-4D97-AF65-F5344CB8AC3E}">
        <p14:creationId xmlns:p14="http://schemas.microsoft.com/office/powerpoint/2010/main" val="146189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Net Income by Business Entity</a:t>
            </a:r>
          </a:p>
        </p:txBody>
      </p:sp>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32185" y="631514"/>
            <a:ext cx="7090117" cy="5146621"/>
          </a:xfrm>
        </p:spPr>
      </p:pic>
      <p:sp>
        <p:nvSpPr>
          <p:cNvPr id="9" name="TextBox 8"/>
          <p:cNvSpPr txBox="1"/>
          <p:nvPr/>
        </p:nvSpPr>
        <p:spPr>
          <a:xfrm>
            <a:off x="5516031" y="6122241"/>
            <a:ext cx="1122423" cy="246221"/>
          </a:xfrm>
          <a:prstGeom prst="rect">
            <a:avLst/>
          </a:prstGeom>
          <a:noFill/>
        </p:spPr>
        <p:txBody>
          <a:bodyPr wrap="none" rtlCol="0">
            <a:spAutoFit/>
          </a:bodyPr>
          <a:lstStyle/>
          <a:p>
            <a:r>
              <a:rPr lang="en-US" sz="1000" dirty="0"/>
              <a:t>Source</a:t>
            </a:r>
            <a:r>
              <a:rPr lang="en-US" sz="1000"/>
              <a:t>: JCX-42-17</a:t>
            </a:r>
            <a:endParaRPr lang="en-US" sz="1000" dirty="0"/>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Tree>
    <p:extLst>
      <p:ext uri="{BB962C8B-B14F-4D97-AF65-F5344CB8AC3E}">
        <p14:creationId xmlns:p14="http://schemas.microsoft.com/office/powerpoint/2010/main" val="5574638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93D9DA-D1E2-F639-2E1A-6E459CA6548D}"/>
              </a:ext>
            </a:extLst>
          </p:cNvPr>
          <p:cNvSpPr>
            <a:spLocks noGrp="1"/>
          </p:cNvSpPr>
          <p:nvPr>
            <p:ph type="title"/>
          </p:nvPr>
        </p:nvSpPr>
        <p:spPr/>
        <p:txBody>
          <a:bodyPr/>
          <a:lstStyle/>
          <a:p>
            <a:r>
              <a:rPr lang="en-US" dirty="0"/>
              <a:t>Total Number of Corporate Returns</a:t>
            </a:r>
          </a:p>
        </p:txBody>
      </p:sp>
      <p:sp>
        <p:nvSpPr>
          <p:cNvPr id="4" name="Slide Number Placeholder 3">
            <a:extLst>
              <a:ext uri="{FF2B5EF4-FFF2-40B4-BE49-F238E27FC236}">
                <a16:creationId xmlns:a16="http://schemas.microsoft.com/office/drawing/2014/main" id="{25EACA4A-09D2-E5C4-0922-08B95300AEFE}"/>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0C9FD47C-D2D5-E2BD-6057-FDEC531F2207}"/>
              </a:ext>
            </a:extLst>
          </p:cNvPr>
          <p:cNvSpPr>
            <a:spLocks noGrp="1"/>
          </p:cNvSpPr>
          <p:nvPr>
            <p:ph type="ftr" sz="quarter" idx="11"/>
          </p:nvPr>
        </p:nvSpPr>
        <p:spPr/>
        <p:txBody>
          <a:bodyPr/>
          <a:lstStyle/>
          <a:p>
            <a:pPr>
              <a:defRPr/>
            </a:pPr>
            <a:r>
              <a:rPr lang="en-US"/>
              <a:t>Introduction</a:t>
            </a:r>
            <a:endParaRPr lang="en-US" dirty="0"/>
          </a:p>
        </p:txBody>
      </p:sp>
      <p:pic>
        <p:nvPicPr>
          <p:cNvPr id="11" name="Content Placeholder 10" descr="A table with numbers and a number of people&#10;&#10;AI-generated content may be incorrect.">
            <a:extLst>
              <a:ext uri="{FF2B5EF4-FFF2-40B4-BE49-F238E27FC236}">
                <a16:creationId xmlns:a16="http://schemas.microsoft.com/office/drawing/2014/main" id="{F19A1B0B-AF29-9E74-1BAF-A9AF1E84F6AD}"/>
              </a:ext>
            </a:extLst>
          </p:cNvPr>
          <p:cNvPicPr>
            <a:picLocks noGrp="1" noChangeAspect="1"/>
          </p:cNvPicPr>
          <p:nvPr>
            <p:ph idx="1"/>
          </p:nvPr>
        </p:nvPicPr>
        <p:blipFill>
          <a:blip r:embed="rId2"/>
          <a:stretch>
            <a:fillRect/>
          </a:stretch>
        </p:blipFill>
        <p:spPr>
          <a:xfrm>
            <a:off x="512064" y="702364"/>
            <a:ext cx="11136597" cy="5565913"/>
          </a:xfrm>
        </p:spPr>
      </p:pic>
    </p:spTree>
    <p:extLst>
      <p:ext uri="{BB962C8B-B14F-4D97-AF65-F5344CB8AC3E}">
        <p14:creationId xmlns:p14="http://schemas.microsoft.com/office/powerpoint/2010/main" val="4181466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spreadsheet&#10;&#10;AI-generated content may be incorrect.">
            <a:extLst>
              <a:ext uri="{FF2B5EF4-FFF2-40B4-BE49-F238E27FC236}">
                <a16:creationId xmlns:a16="http://schemas.microsoft.com/office/drawing/2014/main" id="{6DA77169-AF3A-28D4-F6D6-246E2A9A211A}"/>
              </a:ext>
            </a:extLst>
          </p:cNvPr>
          <p:cNvPicPr>
            <a:picLocks noGrp="1" noChangeAspect="1"/>
          </p:cNvPicPr>
          <p:nvPr>
            <p:ph idx="1"/>
          </p:nvPr>
        </p:nvPicPr>
        <p:blipFill>
          <a:blip r:embed="rId2"/>
          <a:stretch>
            <a:fillRect/>
          </a:stretch>
        </p:blipFill>
        <p:spPr>
          <a:xfrm>
            <a:off x="665163" y="622852"/>
            <a:ext cx="10972800" cy="5605670"/>
          </a:xfrm>
        </p:spPr>
      </p:pic>
      <p:sp>
        <p:nvSpPr>
          <p:cNvPr id="3" name="Title 2">
            <a:extLst>
              <a:ext uri="{FF2B5EF4-FFF2-40B4-BE49-F238E27FC236}">
                <a16:creationId xmlns:a16="http://schemas.microsoft.com/office/drawing/2014/main" id="{6F875661-C7E3-C7E5-FDC8-580B9E20F56A}"/>
              </a:ext>
            </a:extLst>
          </p:cNvPr>
          <p:cNvSpPr>
            <a:spLocks noGrp="1"/>
          </p:cNvSpPr>
          <p:nvPr>
            <p:ph type="title"/>
          </p:nvPr>
        </p:nvSpPr>
        <p:spPr/>
        <p:txBody>
          <a:bodyPr/>
          <a:lstStyle/>
          <a:p>
            <a:r>
              <a:rPr lang="en-US" dirty="0"/>
              <a:t>Returns of Active Corporations: 2021 ($ in ‘000s, except Total Assets)</a:t>
            </a:r>
          </a:p>
        </p:txBody>
      </p:sp>
      <p:sp>
        <p:nvSpPr>
          <p:cNvPr id="4" name="Slide Number Placeholder 3">
            <a:extLst>
              <a:ext uri="{FF2B5EF4-FFF2-40B4-BE49-F238E27FC236}">
                <a16:creationId xmlns:a16="http://schemas.microsoft.com/office/drawing/2014/main" id="{71BCCF6A-ED1B-43D4-82C8-BABD8FB797D6}"/>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a:extLst>
              <a:ext uri="{FF2B5EF4-FFF2-40B4-BE49-F238E27FC236}">
                <a16:creationId xmlns:a16="http://schemas.microsoft.com/office/drawing/2014/main" id="{2AD39E7D-735C-04DB-67A8-435927B0892A}"/>
              </a:ext>
            </a:extLst>
          </p:cNvPr>
          <p:cNvSpPr>
            <a:spLocks noGrp="1"/>
          </p:cNvSpPr>
          <p:nvPr>
            <p:ph type="ftr" sz="quarter" idx="11"/>
          </p:nvPr>
        </p:nvSpPr>
        <p:spPr/>
        <p:txBody>
          <a:bodyPr/>
          <a:lstStyle/>
          <a:p>
            <a:pPr>
              <a:defRPr/>
            </a:pPr>
            <a:r>
              <a:rPr lang="en-US"/>
              <a:t>Introduction</a:t>
            </a:r>
            <a:endParaRPr lang="en-US" dirty="0"/>
          </a:p>
        </p:txBody>
      </p:sp>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05923C89-E3D6-6F10-1458-80D5EDF56FCC}"/>
                  </a:ext>
                </a:extLst>
              </p14:cNvPr>
              <p14:cNvContentPartPr/>
              <p14:nvPr/>
            </p14:nvContentPartPr>
            <p14:xfrm>
              <a:off x="837428" y="5891410"/>
              <a:ext cx="2685960" cy="42840"/>
            </p14:xfrm>
          </p:contentPart>
        </mc:Choice>
        <mc:Fallback xmlns="">
          <p:pic>
            <p:nvPicPr>
              <p:cNvPr id="8" name="Ink 7">
                <a:extLst>
                  <a:ext uri="{FF2B5EF4-FFF2-40B4-BE49-F238E27FC236}">
                    <a16:creationId xmlns:a16="http://schemas.microsoft.com/office/drawing/2014/main" id="{05923C89-E3D6-6F10-1458-80D5EDF56FCC}"/>
                  </a:ext>
                </a:extLst>
              </p:cNvPr>
              <p:cNvPicPr/>
              <p:nvPr/>
            </p:nvPicPr>
            <p:blipFill>
              <a:blip r:embed="rId4"/>
              <a:stretch>
                <a:fillRect/>
              </a:stretch>
            </p:blipFill>
            <p:spPr>
              <a:xfrm>
                <a:off x="783428" y="5783770"/>
                <a:ext cx="279360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BB0269E8-C588-AE99-45AC-E4BDDFC0D99E}"/>
                  </a:ext>
                </a:extLst>
              </p14:cNvPr>
              <p14:cNvContentPartPr/>
              <p14:nvPr/>
            </p14:nvContentPartPr>
            <p14:xfrm>
              <a:off x="3888428" y="5945410"/>
              <a:ext cx="485280" cy="360"/>
            </p14:xfrm>
          </p:contentPart>
        </mc:Choice>
        <mc:Fallback xmlns="">
          <p:pic>
            <p:nvPicPr>
              <p:cNvPr id="9" name="Ink 8">
                <a:extLst>
                  <a:ext uri="{FF2B5EF4-FFF2-40B4-BE49-F238E27FC236}">
                    <a16:creationId xmlns:a16="http://schemas.microsoft.com/office/drawing/2014/main" id="{BB0269E8-C588-AE99-45AC-E4BDDFC0D99E}"/>
                  </a:ext>
                </a:extLst>
              </p:cNvPr>
              <p:cNvPicPr/>
              <p:nvPr/>
            </p:nvPicPr>
            <p:blipFill>
              <a:blip r:embed="rId6"/>
              <a:stretch>
                <a:fillRect/>
              </a:stretch>
            </p:blipFill>
            <p:spPr>
              <a:xfrm>
                <a:off x="3834428" y="5837410"/>
                <a:ext cx="59292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4145F595-01F2-E1CC-9BA9-5F99489A1E47}"/>
                  </a:ext>
                </a:extLst>
              </p14:cNvPr>
              <p14:cNvContentPartPr/>
              <p14:nvPr/>
            </p14:nvContentPartPr>
            <p14:xfrm>
              <a:off x="10519988" y="5954410"/>
              <a:ext cx="1227240" cy="360"/>
            </p14:xfrm>
          </p:contentPart>
        </mc:Choice>
        <mc:Fallback xmlns="">
          <p:pic>
            <p:nvPicPr>
              <p:cNvPr id="10" name="Ink 9">
                <a:extLst>
                  <a:ext uri="{FF2B5EF4-FFF2-40B4-BE49-F238E27FC236}">
                    <a16:creationId xmlns:a16="http://schemas.microsoft.com/office/drawing/2014/main" id="{4145F595-01F2-E1CC-9BA9-5F99489A1E47}"/>
                  </a:ext>
                </a:extLst>
              </p:cNvPr>
              <p:cNvPicPr/>
              <p:nvPr/>
            </p:nvPicPr>
            <p:blipFill>
              <a:blip r:embed="rId8"/>
              <a:stretch>
                <a:fillRect/>
              </a:stretch>
            </p:blipFill>
            <p:spPr>
              <a:xfrm>
                <a:off x="10466348" y="5846770"/>
                <a:ext cx="1334880" cy="216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11" name="Ink 10">
                <a:extLst>
                  <a:ext uri="{FF2B5EF4-FFF2-40B4-BE49-F238E27FC236}">
                    <a16:creationId xmlns:a16="http://schemas.microsoft.com/office/drawing/2014/main" id="{7CF0E52F-6C53-1211-A5B5-F301268AAE52}"/>
                  </a:ext>
                </a:extLst>
              </p14:cNvPr>
              <p14:cNvContentPartPr/>
              <p14:nvPr/>
            </p14:nvContentPartPr>
            <p14:xfrm>
              <a:off x="770468" y="5601610"/>
              <a:ext cx="2388600" cy="47880"/>
            </p14:xfrm>
          </p:contentPart>
        </mc:Choice>
        <mc:Fallback xmlns="">
          <p:pic>
            <p:nvPicPr>
              <p:cNvPr id="11" name="Ink 10">
                <a:extLst>
                  <a:ext uri="{FF2B5EF4-FFF2-40B4-BE49-F238E27FC236}">
                    <a16:creationId xmlns:a16="http://schemas.microsoft.com/office/drawing/2014/main" id="{7CF0E52F-6C53-1211-A5B5-F301268AAE52}"/>
                  </a:ext>
                </a:extLst>
              </p:cNvPr>
              <p:cNvPicPr/>
              <p:nvPr/>
            </p:nvPicPr>
            <p:blipFill>
              <a:blip r:embed="rId10"/>
              <a:stretch>
                <a:fillRect/>
              </a:stretch>
            </p:blipFill>
            <p:spPr>
              <a:xfrm>
                <a:off x="752468" y="5493970"/>
                <a:ext cx="2424240" cy="2635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2" name="Ink 11">
                <a:extLst>
                  <a:ext uri="{FF2B5EF4-FFF2-40B4-BE49-F238E27FC236}">
                    <a16:creationId xmlns:a16="http://schemas.microsoft.com/office/drawing/2014/main" id="{65844295-5A72-F032-1EDC-113A1A23D45B}"/>
                  </a:ext>
                </a:extLst>
              </p14:cNvPr>
              <p14:cNvContentPartPr/>
              <p14:nvPr/>
            </p14:nvContentPartPr>
            <p14:xfrm>
              <a:off x="758588" y="5558050"/>
              <a:ext cx="2376000" cy="76320"/>
            </p14:xfrm>
          </p:contentPart>
        </mc:Choice>
        <mc:Fallback xmlns="">
          <p:pic>
            <p:nvPicPr>
              <p:cNvPr id="12" name="Ink 11">
                <a:extLst>
                  <a:ext uri="{FF2B5EF4-FFF2-40B4-BE49-F238E27FC236}">
                    <a16:creationId xmlns:a16="http://schemas.microsoft.com/office/drawing/2014/main" id="{65844295-5A72-F032-1EDC-113A1A23D45B}"/>
                  </a:ext>
                </a:extLst>
              </p:cNvPr>
              <p:cNvPicPr/>
              <p:nvPr/>
            </p:nvPicPr>
            <p:blipFill>
              <a:blip r:embed="rId12"/>
              <a:stretch>
                <a:fillRect/>
              </a:stretch>
            </p:blipFill>
            <p:spPr>
              <a:xfrm>
                <a:off x="704948" y="5450410"/>
                <a:ext cx="248364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3" name="Ink 12">
                <a:extLst>
                  <a:ext uri="{FF2B5EF4-FFF2-40B4-BE49-F238E27FC236}">
                    <a16:creationId xmlns:a16="http://schemas.microsoft.com/office/drawing/2014/main" id="{A5390272-71B6-32AC-11BF-D8B6BA067FC1}"/>
                  </a:ext>
                </a:extLst>
              </p14:cNvPr>
              <p14:cNvContentPartPr/>
              <p14:nvPr/>
            </p14:nvContentPartPr>
            <p14:xfrm>
              <a:off x="10752188" y="5659570"/>
              <a:ext cx="940320" cy="43200"/>
            </p14:xfrm>
          </p:contentPart>
        </mc:Choice>
        <mc:Fallback xmlns="">
          <p:pic>
            <p:nvPicPr>
              <p:cNvPr id="13" name="Ink 12">
                <a:extLst>
                  <a:ext uri="{FF2B5EF4-FFF2-40B4-BE49-F238E27FC236}">
                    <a16:creationId xmlns:a16="http://schemas.microsoft.com/office/drawing/2014/main" id="{A5390272-71B6-32AC-11BF-D8B6BA067FC1}"/>
                  </a:ext>
                </a:extLst>
              </p:cNvPr>
              <p:cNvPicPr/>
              <p:nvPr/>
            </p:nvPicPr>
            <p:blipFill>
              <a:blip r:embed="rId14"/>
              <a:stretch>
                <a:fillRect/>
              </a:stretch>
            </p:blipFill>
            <p:spPr>
              <a:xfrm>
                <a:off x="10698188" y="5551570"/>
                <a:ext cx="1047960" cy="258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4" name="Ink 13">
                <a:extLst>
                  <a:ext uri="{FF2B5EF4-FFF2-40B4-BE49-F238E27FC236}">
                    <a16:creationId xmlns:a16="http://schemas.microsoft.com/office/drawing/2014/main" id="{5DED7AAA-E9BC-D52F-AF7F-28E896E10F54}"/>
                  </a:ext>
                </a:extLst>
              </p14:cNvPr>
              <p14:cNvContentPartPr/>
              <p14:nvPr/>
            </p14:nvContentPartPr>
            <p14:xfrm>
              <a:off x="3831548" y="5604490"/>
              <a:ext cx="396000" cy="32400"/>
            </p14:xfrm>
          </p:contentPart>
        </mc:Choice>
        <mc:Fallback xmlns="">
          <p:pic>
            <p:nvPicPr>
              <p:cNvPr id="14" name="Ink 13">
                <a:extLst>
                  <a:ext uri="{FF2B5EF4-FFF2-40B4-BE49-F238E27FC236}">
                    <a16:creationId xmlns:a16="http://schemas.microsoft.com/office/drawing/2014/main" id="{5DED7AAA-E9BC-D52F-AF7F-28E896E10F54}"/>
                  </a:ext>
                </a:extLst>
              </p:cNvPr>
              <p:cNvPicPr/>
              <p:nvPr/>
            </p:nvPicPr>
            <p:blipFill>
              <a:blip r:embed="rId16"/>
              <a:stretch>
                <a:fillRect/>
              </a:stretch>
            </p:blipFill>
            <p:spPr>
              <a:xfrm>
                <a:off x="3777908" y="5496850"/>
                <a:ext cx="50364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5" name="Ink 14">
                <a:extLst>
                  <a:ext uri="{FF2B5EF4-FFF2-40B4-BE49-F238E27FC236}">
                    <a16:creationId xmlns:a16="http://schemas.microsoft.com/office/drawing/2014/main" id="{3C51D9D5-02AE-7F31-49AC-452EB0918B8B}"/>
                  </a:ext>
                </a:extLst>
              </p14:cNvPr>
              <p14:cNvContentPartPr/>
              <p14:nvPr/>
            </p14:nvContentPartPr>
            <p14:xfrm>
              <a:off x="4169948" y="8220250"/>
              <a:ext cx="360" cy="360"/>
            </p14:xfrm>
          </p:contentPart>
        </mc:Choice>
        <mc:Fallback xmlns="">
          <p:pic>
            <p:nvPicPr>
              <p:cNvPr id="15" name="Ink 14">
                <a:extLst>
                  <a:ext uri="{FF2B5EF4-FFF2-40B4-BE49-F238E27FC236}">
                    <a16:creationId xmlns:a16="http://schemas.microsoft.com/office/drawing/2014/main" id="{3C51D9D5-02AE-7F31-49AC-452EB0918B8B}"/>
                  </a:ext>
                </a:extLst>
              </p:cNvPr>
              <p:cNvPicPr/>
              <p:nvPr/>
            </p:nvPicPr>
            <p:blipFill>
              <a:blip r:embed="rId18"/>
              <a:stretch>
                <a:fillRect/>
              </a:stretch>
            </p:blipFill>
            <p:spPr>
              <a:xfrm>
                <a:off x="4116308" y="8112610"/>
                <a:ext cx="10800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6" name="Ink 15">
                <a:extLst>
                  <a:ext uri="{FF2B5EF4-FFF2-40B4-BE49-F238E27FC236}">
                    <a16:creationId xmlns:a16="http://schemas.microsoft.com/office/drawing/2014/main" id="{5C670584-963E-35EC-3F23-776BF669CC99}"/>
                  </a:ext>
                </a:extLst>
              </p14:cNvPr>
              <p14:cNvContentPartPr/>
              <p14:nvPr/>
            </p14:nvContentPartPr>
            <p14:xfrm>
              <a:off x="-2175772" y="3367450"/>
              <a:ext cx="360" cy="360"/>
            </p14:xfrm>
          </p:contentPart>
        </mc:Choice>
        <mc:Fallback xmlns="">
          <p:pic>
            <p:nvPicPr>
              <p:cNvPr id="16" name="Ink 15">
                <a:extLst>
                  <a:ext uri="{FF2B5EF4-FFF2-40B4-BE49-F238E27FC236}">
                    <a16:creationId xmlns:a16="http://schemas.microsoft.com/office/drawing/2014/main" id="{5C670584-963E-35EC-3F23-776BF669CC99}"/>
                  </a:ext>
                </a:extLst>
              </p:cNvPr>
              <p:cNvPicPr/>
              <p:nvPr/>
            </p:nvPicPr>
            <p:blipFill>
              <a:blip r:embed="rId18"/>
              <a:stretch>
                <a:fillRect/>
              </a:stretch>
            </p:blipFill>
            <p:spPr>
              <a:xfrm>
                <a:off x="-2229412" y="3259810"/>
                <a:ext cx="10800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7" name="Ink 16">
                <a:extLst>
                  <a:ext uri="{FF2B5EF4-FFF2-40B4-BE49-F238E27FC236}">
                    <a16:creationId xmlns:a16="http://schemas.microsoft.com/office/drawing/2014/main" id="{F151ABFD-2F81-24B1-7C8E-D793A2FAE07A}"/>
                  </a:ext>
                </a:extLst>
              </p14:cNvPr>
              <p14:cNvContentPartPr/>
              <p14:nvPr/>
            </p14:nvContentPartPr>
            <p14:xfrm>
              <a:off x="8159828" y="5577130"/>
              <a:ext cx="944640" cy="43560"/>
            </p14:xfrm>
          </p:contentPart>
        </mc:Choice>
        <mc:Fallback xmlns="">
          <p:pic>
            <p:nvPicPr>
              <p:cNvPr id="17" name="Ink 16">
                <a:extLst>
                  <a:ext uri="{FF2B5EF4-FFF2-40B4-BE49-F238E27FC236}">
                    <a16:creationId xmlns:a16="http://schemas.microsoft.com/office/drawing/2014/main" id="{F151ABFD-2F81-24B1-7C8E-D793A2FAE07A}"/>
                  </a:ext>
                </a:extLst>
              </p:cNvPr>
              <p:cNvPicPr/>
              <p:nvPr/>
            </p:nvPicPr>
            <p:blipFill>
              <a:blip r:embed="rId21"/>
              <a:stretch>
                <a:fillRect/>
              </a:stretch>
            </p:blipFill>
            <p:spPr>
              <a:xfrm>
                <a:off x="8106188" y="5469130"/>
                <a:ext cx="1052280" cy="259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8" name="Ink 17">
                <a:extLst>
                  <a:ext uri="{FF2B5EF4-FFF2-40B4-BE49-F238E27FC236}">
                    <a16:creationId xmlns:a16="http://schemas.microsoft.com/office/drawing/2014/main" id="{8614B84B-D834-C189-62DB-0DC22B36AEA0}"/>
                  </a:ext>
                </a:extLst>
              </p14:cNvPr>
              <p14:cNvContentPartPr/>
              <p14:nvPr/>
            </p14:nvContentPartPr>
            <p14:xfrm>
              <a:off x="8115188" y="5893570"/>
              <a:ext cx="1175040" cy="18000"/>
            </p14:xfrm>
          </p:contentPart>
        </mc:Choice>
        <mc:Fallback xmlns="">
          <p:pic>
            <p:nvPicPr>
              <p:cNvPr id="18" name="Ink 17">
                <a:extLst>
                  <a:ext uri="{FF2B5EF4-FFF2-40B4-BE49-F238E27FC236}">
                    <a16:creationId xmlns:a16="http://schemas.microsoft.com/office/drawing/2014/main" id="{8614B84B-D834-C189-62DB-0DC22B36AEA0}"/>
                  </a:ext>
                </a:extLst>
              </p:cNvPr>
              <p:cNvPicPr/>
              <p:nvPr/>
            </p:nvPicPr>
            <p:blipFill>
              <a:blip r:embed="rId23"/>
              <a:stretch>
                <a:fillRect/>
              </a:stretch>
            </p:blipFill>
            <p:spPr>
              <a:xfrm>
                <a:off x="8061188" y="5785930"/>
                <a:ext cx="1282680" cy="233640"/>
              </a:xfrm>
              <a:prstGeom prst="rect">
                <a:avLst/>
              </a:prstGeom>
            </p:spPr>
          </p:pic>
        </mc:Fallback>
      </mc:AlternateContent>
    </p:spTree>
    <p:extLst>
      <p:ext uri="{BB962C8B-B14F-4D97-AF65-F5344CB8AC3E}">
        <p14:creationId xmlns:p14="http://schemas.microsoft.com/office/powerpoint/2010/main" val="35243207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with blue and orange lines&#10;&#10;AI-generated content may be incorrect.">
            <a:extLst>
              <a:ext uri="{FF2B5EF4-FFF2-40B4-BE49-F238E27FC236}">
                <a16:creationId xmlns:a16="http://schemas.microsoft.com/office/drawing/2014/main" id="{FF45B6E1-ED9F-C3AA-7955-67E61BA67613}"/>
              </a:ext>
            </a:extLst>
          </p:cNvPr>
          <p:cNvPicPr>
            <a:picLocks noGrp="1" noChangeAspect="1"/>
          </p:cNvPicPr>
          <p:nvPr>
            <p:ph idx="1"/>
          </p:nvPr>
        </p:nvPicPr>
        <p:blipFill>
          <a:blip r:embed="rId2"/>
          <a:stretch>
            <a:fillRect/>
          </a:stretch>
        </p:blipFill>
        <p:spPr>
          <a:xfrm>
            <a:off x="732693" y="817407"/>
            <a:ext cx="11056971" cy="5223185"/>
          </a:xfrm>
        </p:spPr>
      </p:pic>
      <p:sp>
        <p:nvSpPr>
          <p:cNvPr id="3" name="Title 2">
            <a:extLst>
              <a:ext uri="{FF2B5EF4-FFF2-40B4-BE49-F238E27FC236}">
                <a16:creationId xmlns:a16="http://schemas.microsoft.com/office/drawing/2014/main" id="{2F72B4CD-6C0F-EC17-5D2C-E433C819F2F8}"/>
              </a:ext>
            </a:extLst>
          </p:cNvPr>
          <p:cNvSpPr>
            <a:spLocks noGrp="1"/>
          </p:cNvSpPr>
          <p:nvPr>
            <p:ph type="title"/>
          </p:nvPr>
        </p:nvSpPr>
        <p:spPr/>
        <p:txBody>
          <a:bodyPr/>
          <a:lstStyle/>
          <a:p>
            <a:r>
              <a:rPr lang="en-US" dirty="0"/>
              <a:t>Current Personal, Corporate, and Tariff Receipts</a:t>
            </a:r>
          </a:p>
        </p:txBody>
      </p:sp>
      <p:sp>
        <p:nvSpPr>
          <p:cNvPr id="4" name="Slide Number Placeholder 3">
            <a:extLst>
              <a:ext uri="{FF2B5EF4-FFF2-40B4-BE49-F238E27FC236}">
                <a16:creationId xmlns:a16="http://schemas.microsoft.com/office/drawing/2014/main" id="{4C26F044-3386-071B-BA10-FCB024B9AA12}"/>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B6845021-1486-0599-9308-72689D3508C4}"/>
              </a:ext>
            </a:extLst>
          </p:cNvPr>
          <p:cNvSpPr>
            <a:spLocks noGrp="1"/>
          </p:cNvSpPr>
          <p:nvPr>
            <p:ph type="ftr" sz="quarter" idx="11"/>
          </p:nvPr>
        </p:nvSpPr>
        <p:spPr/>
        <p:txBody>
          <a:bodyPr/>
          <a:lstStyle/>
          <a:p>
            <a:pPr>
              <a:defRPr/>
            </a:pPr>
            <a:r>
              <a:rPr lang="en-US" dirty="0"/>
              <a:t>Introduction</a:t>
            </a:r>
          </a:p>
        </p:txBody>
      </p:sp>
      <p:sp>
        <p:nvSpPr>
          <p:cNvPr id="8" name="TextBox 7">
            <a:extLst>
              <a:ext uri="{FF2B5EF4-FFF2-40B4-BE49-F238E27FC236}">
                <a16:creationId xmlns:a16="http://schemas.microsoft.com/office/drawing/2014/main" id="{36F025A3-4EC5-F73E-5491-1902505FB13C}"/>
              </a:ext>
            </a:extLst>
          </p:cNvPr>
          <p:cNvSpPr txBox="1"/>
          <p:nvPr/>
        </p:nvSpPr>
        <p:spPr>
          <a:xfrm>
            <a:off x="7175900" y="6088731"/>
            <a:ext cx="4613764" cy="276999"/>
          </a:xfrm>
          <a:prstGeom prst="rect">
            <a:avLst/>
          </a:prstGeom>
          <a:noFill/>
        </p:spPr>
        <p:txBody>
          <a:bodyPr wrap="none" rtlCol="0">
            <a:spAutoFit/>
          </a:bodyPr>
          <a:lstStyle/>
          <a:p>
            <a:r>
              <a:rPr lang="en-US" sz="1200" dirty="0"/>
              <a:t>BEA, Table 3.2. Federal Government Current Receipts and Expenditures</a:t>
            </a:r>
          </a:p>
        </p:txBody>
      </p:sp>
    </p:spTree>
    <p:extLst>
      <p:ext uri="{BB962C8B-B14F-4D97-AF65-F5344CB8AC3E}">
        <p14:creationId xmlns:p14="http://schemas.microsoft.com/office/powerpoint/2010/main" val="21549282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r>
              <a:rPr lang="en-US" dirty="0"/>
              <a:t>Choice of Entity considerations</a:t>
            </a:r>
          </a:p>
          <a:p>
            <a:r>
              <a:rPr lang="en-US" dirty="0"/>
              <a:t>Tax classification of </a:t>
            </a:r>
            <a:r>
              <a:rPr lang="en-US" i="1" dirty="0"/>
              <a:t>business entities</a:t>
            </a:r>
          </a:p>
          <a:p>
            <a:r>
              <a:rPr lang="en-US" dirty="0"/>
              <a:t>Operation and taxation of corporations and shareholders</a:t>
            </a:r>
          </a:p>
          <a:p>
            <a:pPr lvl="1"/>
            <a:r>
              <a:rPr lang="en-US" dirty="0"/>
              <a:t>Rates</a:t>
            </a:r>
          </a:p>
          <a:p>
            <a:pPr lvl="1"/>
            <a:r>
              <a:rPr lang="en-US" dirty="0"/>
              <a:t>Special Treatment of:  Losses, Capital Gains, Depreciation, and Interest</a:t>
            </a:r>
          </a:p>
          <a:p>
            <a:pPr lvl="1"/>
            <a:r>
              <a:rPr lang="en-US" dirty="0"/>
              <a:t>Double Tax (and techniques to avoid double tax)</a:t>
            </a:r>
          </a:p>
          <a:p>
            <a:r>
              <a:rPr lang="en-US" dirty="0"/>
              <a:t>Formation and ongoing transfers of property to controlled corporations</a:t>
            </a:r>
          </a:p>
          <a:p>
            <a:r>
              <a:rPr lang="en-US" dirty="0"/>
              <a:t>Distributions to shareholders </a:t>
            </a:r>
          </a:p>
          <a:p>
            <a:pPr lvl="1"/>
            <a:r>
              <a:rPr lang="en-US" dirty="0"/>
              <a:t>Ordinary distributions and </a:t>
            </a:r>
            <a:r>
              <a:rPr lang="en-US" i="1" dirty="0"/>
              <a:t>redemptions (buybacks)</a:t>
            </a:r>
          </a:p>
          <a:p>
            <a:pPr lvl="1"/>
            <a:r>
              <a:rPr lang="en-US" dirty="0"/>
              <a:t>Liquidating distributions</a:t>
            </a:r>
          </a:p>
          <a:p>
            <a:r>
              <a:rPr lang="en-US" dirty="0"/>
              <a:t>Redemptions involving related corporations</a:t>
            </a:r>
          </a:p>
          <a:p>
            <a:r>
              <a:rPr lang="en-US" dirty="0"/>
              <a:t>Distributions of stock or stock rights</a:t>
            </a:r>
          </a:p>
          <a:p>
            <a:r>
              <a:rPr lang="en-US" b="1" dirty="0"/>
              <a:t>Taxable sales of shares and assets </a:t>
            </a:r>
          </a:p>
          <a:p>
            <a:r>
              <a:rPr lang="en-US" b="1" dirty="0"/>
              <a:t>Non-taxable exchanges of shares and assets (reorganizations) </a:t>
            </a:r>
          </a:p>
          <a:p>
            <a:r>
              <a:rPr lang="en-US" b="1" dirty="0"/>
              <a:t>Tax-free division of corporate assets</a:t>
            </a:r>
          </a:p>
          <a:p>
            <a:pPr lvl="1"/>
            <a:r>
              <a:rPr lang="en-US" dirty="0"/>
              <a:t>Spin-offs, split-ups, split-offs</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Overview of Class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Tree>
    <p:extLst>
      <p:ext uri="{BB962C8B-B14F-4D97-AF65-F5344CB8AC3E}">
        <p14:creationId xmlns:p14="http://schemas.microsoft.com/office/powerpoint/2010/main" val="1693286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txEl>
                                              <p:pRg st="14" end="14"/>
                                            </p:txEl>
                                          </p:spTgt>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b="1" u="sng" dirty="0">
                <a:ea typeface="ＭＳ Ｐゴシック" charset="0"/>
                <a:cs typeface="ＭＳ Ｐゴシック" charset="0"/>
              </a:rPr>
              <a:t>Separate Owner and Entity Taxation</a:t>
            </a:r>
            <a:r>
              <a:rPr lang="en-US" dirty="0">
                <a:ea typeface="ＭＳ Ｐゴシック" charset="0"/>
                <a:cs typeface="ＭＳ Ｐゴシック" charset="0"/>
              </a:rPr>
              <a:t> [Sub. C] (aka:  double taxation)</a:t>
            </a:r>
          </a:p>
          <a:p>
            <a:pPr lvl="1"/>
            <a:r>
              <a:rPr lang="en-US" dirty="0">
                <a:ea typeface="ＭＳ Ｐゴシック" charset="0"/>
              </a:rPr>
              <a:t>Income Earned by Entity Taxed Separately from Owners</a:t>
            </a:r>
            <a:r>
              <a:rPr lang="ja-JP" altLang="en-US" dirty="0">
                <a:ea typeface="ＭＳ Ｐゴシック" charset="0"/>
              </a:rPr>
              <a:t>’</a:t>
            </a:r>
            <a:r>
              <a:rPr lang="en-US" altLang="ja-JP" dirty="0">
                <a:ea typeface="ＭＳ Ｐゴシック" charset="0"/>
              </a:rPr>
              <a:t> Income</a:t>
            </a:r>
          </a:p>
          <a:p>
            <a:pPr lvl="1"/>
            <a:r>
              <a:rPr lang="en-US" dirty="0">
                <a:ea typeface="ＭＳ Ｐゴシック" charset="0"/>
              </a:rPr>
              <a:t>Income Earned by Entity Taxed Again to Owners when Distributed</a:t>
            </a:r>
          </a:p>
          <a:p>
            <a:pPr lvl="2">
              <a:buNone/>
            </a:pPr>
            <a:endParaRPr lang="en-US" u="sng" dirty="0">
              <a:ea typeface="ＭＳ Ｐゴシック" charset="0"/>
            </a:endParaRPr>
          </a:p>
          <a:p>
            <a:r>
              <a:rPr lang="en-US" b="1" u="sng" dirty="0" err="1">
                <a:ea typeface="ＭＳ Ｐゴシック" charset="0"/>
                <a:cs typeface="ＭＳ Ｐゴシック" charset="0"/>
              </a:rPr>
              <a:t>Passthrough</a:t>
            </a:r>
            <a:r>
              <a:rPr lang="en-US" b="1" u="sng" dirty="0">
                <a:ea typeface="ＭＳ Ｐゴシック" charset="0"/>
                <a:cs typeface="ＭＳ Ｐゴシック" charset="0"/>
              </a:rPr>
              <a:t> Taxation</a:t>
            </a:r>
            <a:r>
              <a:rPr lang="en-US" dirty="0">
                <a:ea typeface="ＭＳ Ｐゴシック" charset="0"/>
                <a:cs typeface="ＭＳ Ｐゴシック" charset="0"/>
              </a:rPr>
              <a:t> [Sub. K and Sub. S]</a:t>
            </a:r>
          </a:p>
          <a:p>
            <a:pPr lvl="1"/>
            <a:r>
              <a:rPr lang="en-US" dirty="0">
                <a:ea typeface="ＭＳ Ｐゴシック" charset="0"/>
              </a:rPr>
              <a:t>Income Earned by Entity is Taxed Directly to Entity’</a:t>
            </a:r>
            <a:r>
              <a:rPr lang="en-US" altLang="ja-JP" dirty="0">
                <a:ea typeface="ＭＳ Ｐゴシック" charset="0"/>
              </a:rPr>
              <a:t>s Owners (whether or not actually received)</a:t>
            </a:r>
          </a:p>
          <a:p>
            <a:pPr lvl="1"/>
            <a:r>
              <a:rPr lang="en-US" dirty="0">
                <a:ea typeface="ＭＳ Ｐゴシック" charset="0"/>
              </a:rPr>
              <a:t>Income Earned by Entity not Taxed Again to Owners When Actually Received</a:t>
            </a:r>
          </a:p>
          <a:p>
            <a:endParaRPr lang="en-US" dirty="0"/>
          </a:p>
        </p:txBody>
      </p:sp>
      <p:sp>
        <p:nvSpPr>
          <p:cNvPr id="2" name="Title 1"/>
          <p:cNvSpPr>
            <a:spLocks noGrp="1"/>
          </p:cNvSpPr>
          <p:nvPr>
            <p:ph type="title"/>
          </p:nvPr>
        </p:nvSpPr>
        <p:spPr/>
        <p:txBody>
          <a:bodyPr/>
          <a:lstStyle/>
          <a:p>
            <a:r>
              <a:rPr lang="en-US" dirty="0"/>
              <a:t>Overview of Federal Taxation of Business Income</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Tree>
    <p:extLst>
      <p:ext uri="{BB962C8B-B14F-4D97-AF65-F5344CB8AC3E}">
        <p14:creationId xmlns:p14="http://schemas.microsoft.com/office/powerpoint/2010/main" val="15295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4FE484-969C-DF88-2262-9BA61A4A359A}"/>
              </a:ext>
            </a:extLst>
          </p:cNvPr>
          <p:cNvSpPr>
            <a:spLocks noGrp="1"/>
          </p:cNvSpPr>
          <p:nvPr>
            <p:ph idx="1"/>
          </p:nvPr>
        </p:nvSpPr>
        <p:spPr/>
        <p:txBody>
          <a:bodyPr>
            <a:normAutofit lnSpcReduction="10000"/>
          </a:bodyPr>
          <a:lstStyle/>
          <a:p>
            <a:r>
              <a:rPr lang="en-US" sz="2000" b="1" dirty="0"/>
              <a:t>Question:  </a:t>
            </a:r>
            <a:r>
              <a:rPr lang="en-US" sz="2000" kern="100" dirty="0">
                <a:latin typeface="Calibri" panose="020F0502020204030204" pitchFamily="34" charset="0"/>
                <a:ea typeface="Calibri" panose="020F0502020204030204" pitchFamily="34" charset="0"/>
                <a:cs typeface="Times New Roman" panose="02020603050405020304" pitchFamily="18" charset="0"/>
              </a:rPr>
              <a:t>A partner contributes property worth 100,000 and an adjusted basis of 30,000 to a partnership that is subject to a 20,000 liability.  What are the amounts in the partner's capital account and </a:t>
            </a:r>
            <a:r>
              <a:rPr lang="en-US" sz="2000" b="1" kern="100" dirty="0">
                <a:latin typeface="Calibri" panose="020F0502020204030204" pitchFamily="34" charset="0"/>
                <a:ea typeface="Calibri" panose="020F0502020204030204" pitchFamily="34" charset="0"/>
                <a:cs typeface="Times New Roman" panose="02020603050405020304" pitchFamily="18" charset="0"/>
              </a:rPr>
              <a:t>tax capital account</a:t>
            </a:r>
            <a:r>
              <a:rPr lang="en-US" sz="2000" kern="100" dirty="0">
                <a:latin typeface="Calibri" panose="020F0502020204030204" pitchFamily="34" charset="0"/>
                <a:ea typeface="Calibri" panose="020F0502020204030204" pitchFamily="34" charset="0"/>
                <a:cs typeface="Times New Roman" panose="02020603050405020304" pitchFamily="18" charset="0"/>
              </a:rPr>
              <a:t>?</a:t>
            </a:r>
          </a:p>
          <a:p>
            <a:endParaRPr lang="en-US"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#1 Answer: </a:t>
            </a:r>
          </a:p>
          <a:p>
            <a:pPr lvl="1"/>
            <a:r>
              <a:rPr lang="en-US" kern="100" dirty="0">
                <a:latin typeface="Calibri" panose="020F0502020204030204" pitchFamily="34" charset="0"/>
                <a:ea typeface="Calibri" panose="020F0502020204030204" pitchFamily="34" charset="0"/>
                <a:cs typeface="Times New Roman" panose="02020603050405020304" pitchFamily="18" charset="0"/>
              </a:rPr>
              <a:t>The tax capital account, also known as the tax basis capital account, is used for tax purposes. It is based on the adjusted basis of the property contributed, adjusted for the liability assumed.  Adjusted Tax Basis = Tax Basis + Liability Assumed. The amount in the partner's tax capital account would be </a:t>
            </a:r>
            <a:r>
              <a:rPr lang="en-US" b="1" kern="100" dirty="0">
                <a:latin typeface="Calibri" panose="020F0502020204030204" pitchFamily="34" charset="0"/>
                <a:ea typeface="Calibri" panose="020F0502020204030204" pitchFamily="34" charset="0"/>
                <a:cs typeface="Times New Roman" panose="02020603050405020304" pitchFamily="18" charset="0"/>
              </a:rPr>
              <a:t>$50,000.</a:t>
            </a:r>
          </a:p>
          <a:p>
            <a:pPr lvl="1"/>
            <a:endParaRPr lang="en-US" sz="1800" b="1"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#2 Answer: </a:t>
            </a:r>
          </a:p>
          <a:p>
            <a:pPr lvl="1"/>
            <a:r>
              <a:rPr lang="en-US" kern="100" dirty="0">
                <a:latin typeface="Calibri" panose="020F0502020204030204" pitchFamily="34" charset="0"/>
                <a:ea typeface="Calibri" panose="020F0502020204030204" pitchFamily="34" charset="0"/>
                <a:cs typeface="Times New Roman" panose="02020603050405020304" pitchFamily="18" charset="0"/>
              </a:rPr>
              <a:t>The tax capital account is credited for the adjusted basis of the contributed property, $30,000. The tax capital account is debited for the liability assumed by the partnership, $20,000 so the tax capital account amount is $30,000 - $20,000 = </a:t>
            </a:r>
            <a:r>
              <a:rPr lang="en-US" b="1" kern="100" dirty="0">
                <a:latin typeface="Calibri" panose="020F0502020204030204" pitchFamily="34" charset="0"/>
                <a:ea typeface="Calibri" panose="020F0502020204030204" pitchFamily="34" charset="0"/>
                <a:cs typeface="Times New Roman" panose="02020603050405020304" pitchFamily="18" charset="0"/>
              </a:rPr>
              <a:t>$10,000</a:t>
            </a:r>
          </a:p>
          <a:p>
            <a:pPr lvl="1"/>
            <a:endParaRPr lang="en-US" b="1" kern="100" dirty="0">
              <a:latin typeface="Calibri" panose="020F0502020204030204" pitchFamily="34" charset="0"/>
              <a:ea typeface="Calibri" panose="020F0502020204030204" pitchFamily="34" charset="0"/>
              <a:cs typeface="Times New Roman" panose="02020603050405020304" pitchFamily="18" charset="0"/>
            </a:endParaRPr>
          </a:p>
          <a:p>
            <a:r>
              <a:rPr lang="en-US" sz="2000" dirty="0"/>
              <a:t>Regardless of any current weaknesses, which are diminishing, I highly recommend that you explore and become familiar with one or multiple LLMs—Chat, Gemini, Claude, etc.—and use them during the semester.</a:t>
            </a:r>
          </a:p>
        </p:txBody>
      </p:sp>
      <p:sp>
        <p:nvSpPr>
          <p:cNvPr id="3" name="Title 2">
            <a:extLst>
              <a:ext uri="{FF2B5EF4-FFF2-40B4-BE49-F238E27FC236}">
                <a16:creationId xmlns:a16="http://schemas.microsoft.com/office/drawing/2014/main" id="{C662B330-8437-43F4-DCB3-08C38F5BE6F4}"/>
              </a:ext>
            </a:extLst>
          </p:cNvPr>
          <p:cNvSpPr>
            <a:spLocks noGrp="1"/>
          </p:cNvSpPr>
          <p:nvPr>
            <p:ph type="title"/>
          </p:nvPr>
        </p:nvSpPr>
        <p:spPr/>
        <p:txBody>
          <a:bodyPr/>
          <a:lstStyle/>
          <a:p>
            <a:r>
              <a:rPr lang="en-US" dirty="0"/>
              <a:t>ChatGPT: Not quite ready for tax prime time, yet</a:t>
            </a:r>
          </a:p>
        </p:txBody>
      </p:sp>
      <p:sp>
        <p:nvSpPr>
          <p:cNvPr id="4" name="Slide Number Placeholder 3">
            <a:extLst>
              <a:ext uri="{FF2B5EF4-FFF2-40B4-BE49-F238E27FC236}">
                <a16:creationId xmlns:a16="http://schemas.microsoft.com/office/drawing/2014/main" id="{02743C13-5A12-7C6B-1789-795B4474A844}"/>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3762EC43-94F5-0823-A8EF-59E889F4B8E7}"/>
              </a:ext>
            </a:extLst>
          </p:cNvPr>
          <p:cNvSpPr>
            <a:spLocks noGrp="1"/>
          </p:cNvSpPr>
          <p:nvPr>
            <p:ph type="ftr" sz="quarter" idx="11"/>
          </p:nvPr>
        </p:nvSpPr>
        <p:spPr/>
        <p:txBody>
          <a:bodyPr/>
          <a:lstStyle/>
          <a:p>
            <a:pPr>
              <a:defRPr/>
            </a:pPr>
            <a:r>
              <a:rPr lang="en-US"/>
              <a:t>Introduction</a:t>
            </a:r>
            <a:endParaRPr lang="en-US" dirty="0"/>
          </a:p>
        </p:txBody>
      </p:sp>
      <p:sp>
        <p:nvSpPr>
          <p:cNvPr id="6" name="Content Placeholder 1">
            <a:extLst>
              <a:ext uri="{FF2B5EF4-FFF2-40B4-BE49-F238E27FC236}">
                <a16:creationId xmlns:a16="http://schemas.microsoft.com/office/drawing/2014/main" id="{55C7F530-1931-B288-86B0-A48000947728}"/>
              </a:ext>
            </a:extLst>
          </p:cNvPr>
          <p:cNvSpPr txBox="1">
            <a:spLocks/>
          </p:cNvSpPr>
          <p:nvPr/>
        </p:nvSpPr>
        <p:spPr>
          <a:xfrm>
            <a:off x="512064" y="518741"/>
            <a:ext cx="11277600" cy="5812064"/>
          </a:xfrm>
          <a:prstGeom prst="rect">
            <a:avLst/>
          </a:prstGeom>
        </p:spPr>
        <p:txBody>
          <a:bodyPr/>
          <a:lstStyle>
            <a:lvl1pPr marL="228600" indent="-228600" algn="just" defTabSz="9144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rtl="0" eaLnBrk="1" fontAlgn="base" hangingPunct="1">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rtl="0" eaLnBrk="1" fontAlgn="base" hangingPunct="1">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rtl="0" eaLnBrk="1" fontAlgn="base" hangingPunct="1">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indent="-228600" algn="just" rtl="0" eaLnBrk="1" fontAlgn="base" hangingPunct="1">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cxnSp>
        <p:nvCxnSpPr>
          <p:cNvPr id="7" name="Straight Arrow Connector 6">
            <a:extLst>
              <a:ext uri="{FF2B5EF4-FFF2-40B4-BE49-F238E27FC236}">
                <a16:creationId xmlns:a16="http://schemas.microsoft.com/office/drawing/2014/main" id="{6D583DA8-9662-84AD-61BE-CEF42BD32C48}"/>
              </a:ext>
            </a:extLst>
          </p:cNvPr>
          <p:cNvCxnSpPr>
            <a:cxnSpLocks/>
          </p:cNvCxnSpPr>
          <p:nvPr/>
        </p:nvCxnSpPr>
        <p:spPr>
          <a:xfrm flipH="1" flipV="1">
            <a:off x="2015836" y="3224727"/>
            <a:ext cx="2957253" cy="512722"/>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CB35410A-69BC-ACC2-89A7-06A737B4A98B}"/>
              </a:ext>
            </a:extLst>
          </p:cNvPr>
          <p:cNvCxnSpPr>
            <a:cxnSpLocks/>
          </p:cNvCxnSpPr>
          <p:nvPr/>
        </p:nvCxnSpPr>
        <p:spPr>
          <a:xfrm>
            <a:off x="4973089" y="3752108"/>
            <a:ext cx="829106" cy="91633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7D72886E-D836-12B6-7526-E1E23E66CF0C}"/>
              </a:ext>
            </a:extLst>
          </p:cNvPr>
          <p:cNvSpPr/>
          <p:nvPr/>
        </p:nvSpPr>
        <p:spPr>
          <a:xfrm>
            <a:off x="4973089" y="3424773"/>
            <a:ext cx="3349752" cy="53880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n w="0"/>
                <a:solidFill>
                  <a:schemeClr val="tx2"/>
                </a:solidFill>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rPr>
              <a:t>Which is correct?</a:t>
            </a:r>
            <a:endParaRPr lang="en-US" sz="1800" dirty="0">
              <a:solidFill>
                <a:schemeClr val="tx2"/>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783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7676</TotalTime>
  <Words>1407</Words>
  <Application>Microsoft Macintosh PowerPoint</Application>
  <PresentationFormat>Widescreen</PresentationFormat>
  <Paragraphs>192</Paragraphs>
  <Slides>22</Slides>
  <Notes>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22</vt:i4>
      </vt:variant>
    </vt:vector>
  </HeadingPairs>
  <TitlesOfParts>
    <vt:vector size="33" baseType="lpstr">
      <vt:lpstr>ＭＳ Ｐゴシック</vt:lpstr>
      <vt:lpstr>NSimSun</vt:lpstr>
      <vt:lpstr>Arial</vt:lpstr>
      <vt:lpstr>Calibri</vt:lpstr>
      <vt:lpstr>Courier New</vt:lpstr>
      <vt:lpstr>Times</vt:lpstr>
      <vt:lpstr>Times New Roman</vt:lpstr>
      <vt:lpstr>Verdana</vt:lpstr>
      <vt:lpstr>Wingdings</vt:lpstr>
      <vt:lpstr>Wingdings 2</vt:lpstr>
      <vt:lpstr>CG Body - Standard</vt:lpstr>
      <vt:lpstr>Corporate Taxation</vt:lpstr>
      <vt:lpstr>Administrative Details</vt:lpstr>
      <vt:lpstr>Course Goals</vt:lpstr>
      <vt:lpstr>  Promulgating, Interpreting, and Administering U.S. Tax Law </vt:lpstr>
      <vt:lpstr>Legislative Branch</vt:lpstr>
      <vt:lpstr>Legislative History Example (TCJA 2017 and OBBBA): Section 163(j)</vt:lpstr>
      <vt:lpstr>Executive Branch</vt:lpstr>
      <vt:lpstr>Judicial Branch</vt:lpstr>
      <vt:lpstr>Internal Revenue Code and Regulations</vt:lpstr>
      <vt:lpstr>Business Entity Returns by Types (1980-2021)</vt:lpstr>
      <vt:lpstr>Share of Total Business Tax Returns by Type (1980-2021)</vt:lpstr>
      <vt:lpstr>Partnership Returns</vt:lpstr>
      <vt:lpstr>Source of Federal Revenue</vt:lpstr>
      <vt:lpstr>Federal Receipts as Share of Total Receipts: 1950-2021</vt:lpstr>
      <vt:lpstr>Net Income of Business Tax Returns by Types by Percent of Total (1980-2015)</vt:lpstr>
      <vt:lpstr>Net Income by Business Entity</vt:lpstr>
      <vt:lpstr>Total Number of Corporate Returns</vt:lpstr>
      <vt:lpstr>Returns of Active Corporations: 2021 ($ in ‘000s, except Total Assets)</vt:lpstr>
      <vt:lpstr>Current Personal, Corporate, and Tariff Receipts</vt:lpstr>
      <vt:lpstr>Overview of Class</vt:lpstr>
      <vt:lpstr>Overview of Federal Taxation of Business Income</vt:lpstr>
      <vt:lpstr>ChatGPT: Not quite ready for tax prime time, yet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Corporate Taxation</dc:title>
  <dc:creator>J Colon</dc:creator>
  <cp:lastModifiedBy>Colon, Jeffrey M.</cp:lastModifiedBy>
  <cp:revision>73</cp:revision>
  <dcterms:created xsi:type="dcterms:W3CDTF">2016-08-01T04:04:31Z</dcterms:created>
  <dcterms:modified xsi:type="dcterms:W3CDTF">2025-12-28T22:32:23Z</dcterms:modified>
</cp:coreProperties>
</file>