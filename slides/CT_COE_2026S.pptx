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  <p:sldMasterId id="2147484158" r:id="rId2"/>
  </p:sldMasterIdLst>
  <p:notesMasterIdLst>
    <p:notesMasterId r:id="rId27"/>
  </p:notesMasterIdLst>
  <p:handoutMasterIdLst>
    <p:handoutMasterId r:id="rId28"/>
  </p:handoutMasterIdLst>
  <p:sldIdLst>
    <p:sldId id="298" r:id="rId3"/>
    <p:sldId id="256" r:id="rId4"/>
    <p:sldId id="261" r:id="rId5"/>
    <p:sldId id="288" r:id="rId6"/>
    <p:sldId id="293" r:id="rId7"/>
    <p:sldId id="299" r:id="rId8"/>
    <p:sldId id="280" r:id="rId9"/>
    <p:sldId id="281" r:id="rId10"/>
    <p:sldId id="294" r:id="rId11"/>
    <p:sldId id="295" r:id="rId12"/>
    <p:sldId id="296" r:id="rId13"/>
    <p:sldId id="290" r:id="rId14"/>
    <p:sldId id="297" r:id="rId15"/>
    <p:sldId id="268" r:id="rId16"/>
    <p:sldId id="269" r:id="rId17"/>
    <p:sldId id="271" r:id="rId18"/>
    <p:sldId id="270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6858000" type="screen4x3"/>
  <p:notesSz cx="6985000" cy="92837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charset="0"/>
        <a:ea typeface="Arial" charset="0"/>
        <a:cs typeface="Arial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3888">
          <p15:clr>
            <a:srgbClr val="A4A3A4"/>
          </p15:clr>
        </p15:guide>
        <p15:guide id="2" pos="547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4">
          <p15:clr>
            <a:srgbClr val="A4A3A4"/>
          </p15:clr>
        </p15:guide>
        <p15:guide id="2" pos="22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C0C0"/>
    <a:srgbClr val="FEECC2"/>
    <a:srgbClr val="FFF6E8"/>
    <a:srgbClr val="FF9933"/>
    <a:srgbClr val="000000"/>
    <a:srgbClr val="FFFFFF"/>
    <a:srgbClr val="666666"/>
    <a:srgbClr val="B01C2E"/>
    <a:srgbClr val="B01C1A"/>
    <a:srgbClr val="4D4D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B2F8625-0A48-A743-B5D0-1FC2FA991857}" v="6" dt="2025-12-28T22:45:42.1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53" autoAdjust="0"/>
    <p:restoredTop sz="97056" autoAdjust="0"/>
  </p:normalViewPr>
  <p:slideViewPr>
    <p:cSldViewPr>
      <p:cViewPr varScale="1">
        <p:scale>
          <a:sx n="128" d="100"/>
          <a:sy n="128" d="100"/>
        </p:scale>
        <p:origin x="1304" y="184"/>
      </p:cViewPr>
      <p:guideLst>
        <p:guide orient="horz" pos="3888"/>
        <p:guide pos="547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47" d="100"/>
          <a:sy n="47" d="100"/>
        </p:scale>
        <p:origin x="-2196" y="-108"/>
      </p:cViewPr>
      <p:guideLst>
        <p:guide orient="horz" pos="2924"/>
        <p:guide pos="22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modSld">
      <pc:chgData name="Colon, Jeffrey M." userId="615143b1-cdee-493d-9a9d-1565ce8666d9" providerId="ADAL" clId="{458F5B4D-4674-51EB-AE0A-4CE030354E61}" dt="2025-12-28T22:45:42.198" v="26" actId="20577"/>
      <pc:docMkLst>
        <pc:docMk/>
      </pc:docMkLst>
      <pc:sldChg chg="modSp">
        <pc:chgData name="Colon, Jeffrey M." userId="615143b1-cdee-493d-9a9d-1565ce8666d9" providerId="ADAL" clId="{458F5B4D-4674-51EB-AE0A-4CE030354E61}" dt="2025-12-28T22:45:42.198" v="26" actId="20577"/>
        <pc:sldMkLst>
          <pc:docMk/>
          <pc:sldMk cId="1862958348" sldId="270"/>
        </pc:sldMkLst>
        <pc:spChg chg="mod">
          <ac:chgData name="Colon, Jeffrey M." userId="615143b1-cdee-493d-9a9d-1565ce8666d9" providerId="ADAL" clId="{458F5B4D-4674-51EB-AE0A-4CE030354E61}" dt="2025-12-28T22:45:42.198" v="26" actId="20577"/>
          <ac:spMkLst>
            <pc:docMk/>
            <pc:sldMk cId="1862958348" sldId="270"/>
            <ac:spMk id="2" creationId="{00000000-0000-0000-0000-000000000000}"/>
          </ac:spMkLst>
        </pc:spChg>
      </pc:sldChg>
      <pc:sldChg chg="modSp mod">
        <pc:chgData name="Colon, Jeffrey M." userId="615143b1-cdee-493d-9a9d-1565ce8666d9" providerId="ADAL" clId="{458F5B4D-4674-51EB-AE0A-4CE030354E61}" dt="2025-12-28T22:41:45.193" v="22" actId="20577"/>
        <pc:sldMkLst>
          <pc:docMk/>
          <pc:sldMk cId="3511947658" sldId="280"/>
        </pc:sldMkLst>
        <pc:graphicFrameChg chg="modGraphic">
          <ac:chgData name="Colon, Jeffrey M." userId="615143b1-cdee-493d-9a9d-1565ce8666d9" providerId="ADAL" clId="{458F5B4D-4674-51EB-AE0A-4CE030354E61}" dt="2025-12-28T22:41:45.193" v="22" actId="20577"/>
          <ac:graphicFrameMkLst>
            <pc:docMk/>
            <pc:sldMk cId="3511947658" sldId="280"/>
            <ac:graphicFrameMk id="4" creationId="{00000000-0000-0000-0000-000000000000}"/>
          </ac:graphicFrameMkLst>
        </pc:graphicFrameChg>
      </pc:sldChg>
      <pc:sldChg chg="modSp mod modAnim">
        <pc:chgData name="Colon, Jeffrey M." userId="615143b1-cdee-493d-9a9d-1565ce8666d9" providerId="ADAL" clId="{458F5B4D-4674-51EB-AE0A-4CE030354E61}" dt="2025-12-28T22:35:30.805" v="4"/>
        <pc:sldMkLst>
          <pc:docMk/>
          <pc:sldMk cId="2189102931" sldId="293"/>
        </pc:sldMkLst>
        <pc:picChg chg="mod">
          <ac:chgData name="Colon, Jeffrey M." userId="615143b1-cdee-493d-9a9d-1565ce8666d9" providerId="ADAL" clId="{458F5B4D-4674-51EB-AE0A-4CE030354E61}" dt="2025-12-28T22:34:47.576" v="2" actId="14100"/>
          <ac:picMkLst>
            <pc:docMk/>
            <pc:sldMk cId="2189102931" sldId="293"/>
            <ac:picMk id="13" creationId="{75996FC0-A2E7-8A23-352B-1F0D7331242C}"/>
          </ac:picMkLst>
        </pc:picChg>
      </pc:sldChg>
    </pc:docChg>
  </pc:docChgLst>
  <pc:docChgLst>
    <pc:chgData name="Colon, Jeffrey M." userId="615143b1-cdee-493d-9a9d-1565ce8666d9" providerId="ADAL" clId="{DC1DB158-BAB1-5930-B714-AEF472873853}"/>
    <pc:docChg chg="custSel addSld modSld modMainMaster">
      <pc:chgData name="Colon, Jeffrey M." userId="615143b1-cdee-493d-9a9d-1565ce8666d9" providerId="ADAL" clId="{DC1DB158-BAB1-5930-B714-AEF472873853}" dt="2025-12-23T14:19:43.074" v="214" actId="20577"/>
      <pc:docMkLst>
        <pc:docMk/>
      </pc:docMkLst>
      <pc:sldChg chg="addSp delSp modSp mod">
        <pc:chgData name="Colon, Jeffrey M." userId="615143b1-cdee-493d-9a9d-1565ce8666d9" providerId="ADAL" clId="{DC1DB158-BAB1-5930-B714-AEF472873853}" dt="2025-12-23T14:05:51.943" v="139" actId="20577"/>
        <pc:sldMkLst>
          <pc:docMk/>
          <pc:sldMk cId="2189102931" sldId="293"/>
        </pc:sldMkLst>
        <pc:spChg chg="mod">
          <ac:chgData name="Colon, Jeffrey M." userId="615143b1-cdee-493d-9a9d-1565ce8666d9" providerId="ADAL" clId="{DC1DB158-BAB1-5930-B714-AEF472873853}" dt="2025-12-23T13:55:07.348" v="34" actId="20577"/>
          <ac:spMkLst>
            <pc:docMk/>
            <pc:sldMk cId="2189102931" sldId="293"/>
            <ac:spMk id="3" creationId="{C790169F-6D46-3244-BA47-17047563E5F7}"/>
          </ac:spMkLst>
        </pc:spChg>
        <pc:spChg chg="add mod">
          <ac:chgData name="Colon, Jeffrey M." userId="615143b1-cdee-493d-9a9d-1565ce8666d9" providerId="ADAL" clId="{DC1DB158-BAB1-5930-B714-AEF472873853}" dt="2025-12-23T14:05:04.094" v="133" actId="1076"/>
          <ac:spMkLst>
            <pc:docMk/>
            <pc:sldMk cId="2189102931" sldId="293"/>
            <ac:spMk id="16" creationId="{DB43F11B-3CC2-EA08-DD20-4D244E6F5920}"/>
          </ac:spMkLst>
        </pc:spChg>
        <pc:spChg chg="add mod">
          <ac:chgData name="Colon, Jeffrey M." userId="615143b1-cdee-493d-9a9d-1565ce8666d9" providerId="ADAL" clId="{DC1DB158-BAB1-5930-B714-AEF472873853}" dt="2025-12-23T14:05:51.943" v="139" actId="20577"/>
          <ac:spMkLst>
            <pc:docMk/>
            <pc:sldMk cId="2189102931" sldId="293"/>
            <ac:spMk id="17" creationId="{46FD6387-A7F8-A63E-DBA3-0BC874D260E7}"/>
          </ac:spMkLst>
        </pc:spChg>
        <pc:picChg chg="add mod">
          <ac:chgData name="Colon, Jeffrey M." userId="615143b1-cdee-493d-9a9d-1565ce8666d9" providerId="ADAL" clId="{DC1DB158-BAB1-5930-B714-AEF472873853}" dt="2025-12-23T14:00:09.106" v="94" actId="14100"/>
          <ac:picMkLst>
            <pc:docMk/>
            <pc:sldMk cId="2189102931" sldId="293"/>
            <ac:picMk id="9" creationId="{0C83359E-ADAD-FDE5-5F17-93605CBF134B}"/>
          </ac:picMkLst>
        </pc:picChg>
        <pc:picChg chg="add mod">
          <ac:chgData name="Colon, Jeffrey M." userId="615143b1-cdee-493d-9a9d-1565ce8666d9" providerId="ADAL" clId="{DC1DB158-BAB1-5930-B714-AEF472873853}" dt="2025-12-23T14:05:08.587" v="134" actId="1076"/>
          <ac:picMkLst>
            <pc:docMk/>
            <pc:sldMk cId="2189102931" sldId="293"/>
            <ac:picMk id="13" creationId="{75996FC0-A2E7-8A23-352B-1F0D7331242C}"/>
          </ac:picMkLst>
        </pc:picChg>
        <pc:picChg chg="add mod">
          <ac:chgData name="Colon, Jeffrey M." userId="615143b1-cdee-493d-9a9d-1565ce8666d9" providerId="ADAL" clId="{DC1DB158-BAB1-5930-B714-AEF472873853}" dt="2025-12-23T14:04:39.831" v="115" actId="14100"/>
          <ac:picMkLst>
            <pc:docMk/>
            <pc:sldMk cId="2189102931" sldId="293"/>
            <ac:picMk id="15" creationId="{48AFB231-6448-DDA3-A7D6-0CB2B15CBE49}"/>
          </ac:picMkLst>
        </pc:picChg>
      </pc:sldChg>
      <pc:sldChg chg="modSp mod">
        <pc:chgData name="Colon, Jeffrey M." userId="615143b1-cdee-493d-9a9d-1565ce8666d9" providerId="ADAL" clId="{DC1DB158-BAB1-5930-B714-AEF472873853}" dt="2025-12-23T13:24:14.160" v="26" actId="1076"/>
        <pc:sldMkLst>
          <pc:docMk/>
          <pc:sldMk cId="748285888" sldId="296"/>
        </pc:sldMkLst>
        <pc:spChg chg="mod">
          <ac:chgData name="Colon, Jeffrey M." userId="615143b1-cdee-493d-9a9d-1565ce8666d9" providerId="ADAL" clId="{DC1DB158-BAB1-5930-B714-AEF472873853}" dt="2025-12-23T13:24:14.160" v="26" actId="1076"/>
          <ac:spMkLst>
            <pc:docMk/>
            <pc:sldMk cId="748285888" sldId="296"/>
            <ac:spMk id="2" creationId="{A4F6E15B-D1F8-EA35-AE2C-9D84F832FD3E}"/>
          </ac:spMkLst>
        </pc:spChg>
      </pc:sldChg>
      <pc:sldChg chg="modSp">
        <pc:chgData name="Colon, Jeffrey M." userId="615143b1-cdee-493d-9a9d-1565ce8666d9" providerId="ADAL" clId="{DC1DB158-BAB1-5930-B714-AEF472873853}" dt="2025-12-23T14:19:43.074" v="214" actId="20577"/>
        <pc:sldMkLst>
          <pc:docMk/>
          <pc:sldMk cId="2215171304" sldId="297"/>
        </pc:sldMkLst>
        <pc:spChg chg="mod">
          <ac:chgData name="Colon, Jeffrey M." userId="615143b1-cdee-493d-9a9d-1565ce8666d9" providerId="ADAL" clId="{DC1DB158-BAB1-5930-B714-AEF472873853}" dt="2025-12-23T14:19:43.074" v="214" actId="20577"/>
          <ac:spMkLst>
            <pc:docMk/>
            <pc:sldMk cId="2215171304" sldId="297"/>
            <ac:spMk id="2" creationId="{DC8C4A35-B168-9B44-BF49-F4AB6A777DD4}"/>
          </ac:spMkLst>
        </pc:spChg>
      </pc:sldChg>
      <pc:sldChg chg="addSp delSp modSp new mod">
        <pc:chgData name="Colon, Jeffrey M." userId="615143b1-cdee-493d-9a9d-1565ce8666d9" providerId="ADAL" clId="{DC1DB158-BAB1-5930-B714-AEF472873853}" dt="2025-12-23T13:58:36.134" v="86" actId="14100"/>
        <pc:sldMkLst>
          <pc:docMk/>
          <pc:sldMk cId="2421660017" sldId="299"/>
        </pc:sldMkLst>
        <pc:spChg chg="mod">
          <ac:chgData name="Colon, Jeffrey M." userId="615143b1-cdee-493d-9a9d-1565ce8666d9" providerId="ADAL" clId="{DC1DB158-BAB1-5930-B714-AEF472873853}" dt="2025-12-23T13:57:44.194" v="79" actId="20577"/>
          <ac:spMkLst>
            <pc:docMk/>
            <pc:sldMk cId="2421660017" sldId="299"/>
            <ac:spMk id="3" creationId="{CEB53ED5-8D9A-D970-6888-9EE0C9B6A97C}"/>
          </ac:spMkLst>
        </pc:spChg>
        <pc:picChg chg="add mod">
          <ac:chgData name="Colon, Jeffrey M." userId="615143b1-cdee-493d-9a9d-1565ce8666d9" providerId="ADAL" clId="{DC1DB158-BAB1-5930-B714-AEF472873853}" dt="2025-12-23T13:58:36.134" v="86" actId="14100"/>
          <ac:picMkLst>
            <pc:docMk/>
            <pc:sldMk cId="2421660017" sldId="299"/>
            <ac:picMk id="11" creationId="{720CF8D9-4E7A-9777-7B0B-43A774D8D4D6}"/>
          </ac:picMkLst>
        </pc:picChg>
      </pc:sldChg>
      <pc:sldMasterChg chg="modSp mod">
        <pc:chgData name="Colon, Jeffrey M." userId="615143b1-cdee-493d-9a9d-1565ce8666d9" providerId="ADAL" clId="{DC1DB158-BAB1-5930-B714-AEF472873853}" dt="2025-12-23T13:23:08.168" v="2" actId="20577"/>
        <pc:sldMasterMkLst>
          <pc:docMk/>
          <pc:sldMasterMk cId="0" sldId="2147483709"/>
        </pc:sldMasterMkLst>
        <pc:spChg chg="mod">
          <ac:chgData name="Colon, Jeffrey M." userId="615143b1-cdee-493d-9a9d-1565ce8666d9" providerId="ADAL" clId="{DC1DB158-BAB1-5930-B714-AEF472873853}" dt="2025-12-23T13:23:08.168" v="2" actId="20577"/>
          <ac:spMkLst>
            <pc:docMk/>
            <pc:sldMasterMk cId="0" sldId="2147483709"/>
            <ac:spMk id="9" creationId="{00000000-0000-0000-0000-00000000000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5605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fld id="{3ACC1E0E-E391-524E-9F30-C67969167413}" type="datetimeFigureOut">
              <a:rPr lang="en-US"/>
              <a:pPr>
                <a:defRPr/>
              </a:pPr>
              <a:t>12/28/25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5605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3BC3918-49F7-364E-8F10-2D6CA2B6B0B2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0294571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56050" y="0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fld id="{2482BA89-AA63-5848-ACDE-E131169857D8}" type="datetimeFigureOut">
              <a:rPr lang="en-US"/>
              <a:pPr>
                <a:defRPr/>
              </a:pPr>
              <a:t>12/28/25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71575" y="696913"/>
            <a:ext cx="4641850" cy="3481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58" tIns="46479" rIns="92958" bIns="46479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8500" y="4410075"/>
            <a:ext cx="5588000" cy="4176713"/>
          </a:xfrm>
          <a:prstGeom prst="rect">
            <a:avLst/>
          </a:prstGeom>
        </p:spPr>
        <p:txBody>
          <a:bodyPr vert="horz" lIns="92958" tIns="46479" rIns="92958" bIns="46479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Calibri" pitchFamily="34" charset="0"/>
                <a:ea typeface="+mn-ea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56050" y="8818563"/>
            <a:ext cx="3027363" cy="463550"/>
          </a:xfrm>
          <a:prstGeom prst="rect">
            <a:avLst/>
          </a:prstGeom>
        </p:spPr>
        <p:txBody>
          <a:bodyPr vert="horz" wrap="square" lIns="92958" tIns="46479" rIns="92958" bIns="46479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97D129C8-AF54-954B-A96E-7B14F2126CB7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3804250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73258D-F88C-F440-AD20-53E2DCDDB8B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9373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 defTabSz="931863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algn="ctr" defTabSz="931863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fld id="{43CF19C2-34E8-4346-AB67-9984E6DD6A78}" type="slidenum">
              <a:rPr lang="en-US" sz="1200">
                <a:latin typeface="Calibri" charset="0"/>
              </a:rPr>
              <a:pPr/>
              <a:t>3</a:t>
            </a:fld>
            <a:endParaRPr lang="en-US" sz="1200" dirty="0">
              <a:latin typeface="Calibri" charset="0"/>
            </a:endParaRPr>
          </a:p>
        </p:txBody>
      </p:sp>
      <p:sp>
        <p:nvSpPr>
          <p:cNvPr id="2048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48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64421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961632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151473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972797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13AF7CB-E8F0-0C43-959B-A53601DDBE16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46632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 eaLnBrk="0" hangingPunct="0"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5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fld id="{0B45BF9D-5587-2C45-9E0D-C63FC847C0BF}" type="slidenum">
              <a:rPr lang="en-US" sz="1200">
                <a:latin typeface="Calibri" charset="0"/>
              </a:rPr>
              <a:pPr/>
              <a:t>10</a:t>
            </a:fld>
            <a:endParaRPr lang="en-US" sz="1200" dirty="0">
              <a:latin typeface="Calibri" charset="0"/>
            </a:endParaRPr>
          </a:p>
        </p:txBody>
      </p:sp>
      <p:sp>
        <p:nvSpPr>
          <p:cNvPr id="378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78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FAA26D3D-D897-4be2-8F04-BA451C77F1D7}">
              <ma14:placeholderFlag xmlns="" xmlns:ma14="http://schemas.microsoft.com/office/mac/drawingml/2011/main" val="1"/>
            </a:ex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pt-BR">
              <a:ea typeface="ＭＳ Ｐゴシック" charset="0"/>
              <a:cs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34905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16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963878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7D129C8-AF54-954B-A96E-7B14F2126CB7}" type="slidenum">
              <a:rPr lang="en-US" altLang="en-US" smtClean="0"/>
              <a:pPr/>
              <a:t>17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44201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6474732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03217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533400"/>
            <a:ext cx="84582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41932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000" b="1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4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 dirty="0"/>
              <a:t>Choice of Entity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384048" y="407059"/>
            <a:ext cx="84582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07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2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18848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72092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66887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35932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767059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045094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3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2" y="3778175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34340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09697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768883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85781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205694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36428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5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5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5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0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3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39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1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0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8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5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7123153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7012764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8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0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8" y="3460750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184183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0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0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0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0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0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0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0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0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6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6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3108464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2281572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0076876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5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0" y="1911350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0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8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1322455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8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1"/>
            <a:ext cx="2523744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056938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853460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7217856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6290578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0101891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08652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763475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2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0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5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9693278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12291289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037822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3298210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8" y="1981200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0" y="1982788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8" y="1981200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5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4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2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0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9031725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8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7605224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5" y="1497013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54701573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7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5" y="3590925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3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5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6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2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5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4771191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8" y="1782763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8" y="5300663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8" y="4129088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8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2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5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8767482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3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88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2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6991328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3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8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19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3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4" y="1282929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6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4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7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72275449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0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3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3" y="1566863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3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0" y="1468438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5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3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5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3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0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39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39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39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39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39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39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39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39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39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1360763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8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5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4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0379181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0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0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0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2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2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2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2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0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78042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79" y="1419225"/>
            <a:ext cx="2532185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04461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0263739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243572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6045620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6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4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1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6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3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3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5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1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1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6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4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6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3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3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5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1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1" y="3962400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/>
              <a:t>Drag picture to placeholder or click icon to add</a:t>
            </a:r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675246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0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0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0877704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8543714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1850778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51364956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7275531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61374083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Choice of Entity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975191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7906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9144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200400" y="6474732"/>
            <a:ext cx="28956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9714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84048" y="762000"/>
            <a:ext cx="8458200" cy="5457825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18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18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384048" y="152400"/>
            <a:ext cx="84582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40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8385048" y="6471104"/>
            <a:ext cx="4572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7463803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206102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052690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381000" y="3886200"/>
            <a:ext cx="8382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5865648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4648200" y="1417320"/>
            <a:ext cx="41148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381000" y="14173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381000" y="3931920"/>
            <a:ext cx="41148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107510342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80181702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724400" y="1371600"/>
            <a:ext cx="4040188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4724400" y="1807534"/>
            <a:ext cx="4041648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3394032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4038600" y="3046413"/>
            <a:ext cx="9906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28800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2239742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4019343" y="2692959"/>
            <a:ext cx="994787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4070502" y="3778175"/>
            <a:ext cx="1014887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379412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5029200" y="1371600"/>
            <a:ext cx="36576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379412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5029200" y="1807534"/>
            <a:ext cx="36576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2904335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4479952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180753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141732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4114800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9484571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4244941" y="3276598"/>
            <a:ext cx="654118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4572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4800600" y="1783080"/>
            <a:ext cx="38862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505014"/>
            <a:ext cx="82296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457200" y="4114800"/>
            <a:ext cx="8229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4572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4800600" y="1417928"/>
            <a:ext cx="38862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290980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46434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376238" y="4627745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3762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4643438" y="3015622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46434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376238" y="1403499"/>
            <a:ext cx="38862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62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6238" y="3302419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62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4643438" y="167640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4643438" y="3302418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4643438" y="4914990"/>
            <a:ext cx="38862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3781604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451174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3847770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5556729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7310438" y="1402080"/>
            <a:ext cx="150876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451174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13360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3847770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5556729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7310438" y="1676400"/>
            <a:ext cx="150876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16954181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457200" y="1417320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457200" y="3065544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457200" y="4713767"/>
            <a:ext cx="1682496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417320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3065543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4713767"/>
            <a:ext cx="6556248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7327789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422275" y="1397000"/>
            <a:ext cx="1738313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060575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5335590" y="1397000"/>
            <a:ext cx="1738312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3698875" y="1397000"/>
            <a:ext cx="1736725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6973890" y="1397000"/>
            <a:ext cx="173672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422275" y="2954338"/>
            <a:ext cx="2147888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2468563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6561139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4514851" y="2954338"/>
            <a:ext cx="2149475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431800" y="4497388"/>
            <a:ext cx="2816225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3170238" y="4497388"/>
            <a:ext cx="2816225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endParaRPr lang="en-US" dirty="0"/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5908675" y="4497388"/>
            <a:ext cx="2816225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3134852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33600" y="1344304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33600" y="2360778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133600" y="3377252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133600" y="4393726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133600" y="5410200"/>
            <a:ext cx="66294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457200" y="1344304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457200" y="2357366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457200" y="3370428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457200" y="4383490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457200" y="5396552"/>
            <a:ext cx="1905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39471127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44196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2286000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6753225" y="3632200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458788" y="3478213"/>
            <a:ext cx="7769225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3429000" y="3651250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16764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5562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7696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3281363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452438" y="3413125"/>
            <a:ext cx="8239125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611188" y="3460750"/>
            <a:ext cx="7769225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2535866" y="12954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0668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358140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530352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7223760" y="3733800"/>
            <a:ext cx="4572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9144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69342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15240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4800600" y="2133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2667000" y="51816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5991225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3657600" y="4114800"/>
            <a:ext cx="1524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457658549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914400" y="129540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914400" y="1800013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914400" y="2304626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914400" y="2809239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914400" y="3313852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914400" y="3818465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914400" y="4323078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914400" y="4827691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457200" y="129540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457200" y="1800013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457200" y="2304626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457200" y="2809239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457200" y="3313852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457200" y="3818465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457200" y="4323078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457200" y="4827691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8229600" y="129540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8229600" y="1800013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8229600" y="2304626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8229600" y="2809239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8229600" y="3313852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8229600" y="3818465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8229600" y="4323078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8229600" y="4827691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911776" y="5332304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454575" y="5332304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8226975" y="5332304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911776" y="5836920"/>
            <a:ext cx="7174523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454575" y="5836920"/>
            <a:ext cx="4572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8226975" y="5836920"/>
            <a:ext cx="4572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5892743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1335024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457200" y="3744363"/>
            <a:ext cx="13716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1905000" y="1348565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1905000" y="3763963"/>
            <a:ext cx="9144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1905000" y="2199167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1905000" y="4619625"/>
            <a:ext cx="9144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19400" y="1348565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19400" y="3763963"/>
            <a:ext cx="5870448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19400" y="2199167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19400" y="4619625"/>
            <a:ext cx="5870448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878499251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4646613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752475" y="1914525"/>
            <a:ext cx="36576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2262459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6157271" y="-89846"/>
            <a:ext cx="636898" cy="36576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752108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4646920" y="2282953"/>
            <a:ext cx="36576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8476800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441325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2552700" y="1911350"/>
            <a:ext cx="1919288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4648200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6770688" y="1911350"/>
            <a:ext cx="1920875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095755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320617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5301996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7425119" y="794004"/>
            <a:ext cx="612648" cy="192024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endParaRPr lang="en-US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41959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55238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648200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771323" y="2155123"/>
            <a:ext cx="192024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2116109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338328" y="1450181"/>
            <a:ext cx="259689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3273554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6208778" y="1447804"/>
            <a:ext cx="2651125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273552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208776" y="2057400"/>
            <a:ext cx="2523744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38328" y="2057401"/>
            <a:ext cx="2523744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110006723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7129272" y="1493520"/>
            <a:ext cx="1481328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457200" y="16002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457200" y="48768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457200" y="3238500"/>
            <a:ext cx="16002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191512" y="16002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191512" y="32385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191512" y="4876800"/>
            <a:ext cx="4864608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5962666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684213" y="2635250"/>
            <a:ext cx="7777162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05156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4572000" y="1417320"/>
            <a:ext cx="329184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05156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4572000" y="1874520"/>
            <a:ext cx="329184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834607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4384675" y="3341688"/>
            <a:ext cx="376238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835152" y="1417320"/>
            <a:ext cx="303580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5266627" y="1417320"/>
            <a:ext cx="3054096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835152" y="1874520"/>
            <a:ext cx="329184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5028883" y="1874520"/>
            <a:ext cx="329184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436696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6181725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484632" y="1577977"/>
            <a:ext cx="2487168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2667000" y="18288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2667000" y="242316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2667000" y="301752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2667000" y="361188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2667000" y="420624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2667000" y="4800600"/>
            <a:ext cx="393192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endParaRPr lang="en-US" dirty="0"/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2514600" y="1981200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2514600" y="2570074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2514600" y="315894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2514600" y="3747822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2514600" y="4336696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2514600" y="4925568"/>
            <a:ext cx="237744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7050964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396240" y="160020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621280" y="160020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96240" y="274828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621280" y="274828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96240" y="389636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2621280" y="389636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2266" y="5044440"/>
            <a:ext cx="18288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2627306" y="5044440"/>
            <a:ext cx="612648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3342110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731520" y="1097281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362200" y="1371600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2362200" y="2474977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2362200" y="3578353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2362200" y="4681728"/>
            <a:ext cx="6217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731520" y="2200657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731520" y="3304033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731520" y="4407408"/>
            <a:ext cx="1271016" cy="1819656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8073040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5297488" y="3346450"/>
            <a:ext cx="4406900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760413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754062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2266950" y="3351213"/>
            <a:ext cx="4416425" cy="13716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3781425" y="3351213"/>
            <a:ext cx="4416425" cy="13716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762000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2276475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3789363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53038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6815138" y="1417320"/>
            <a:ext cx="13716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09600" y="21336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09600" y="3390901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4648200"/>
            <a:ext cx="7891272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44343441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3273552" y="1444752"/>
            <a:ext cx="2596896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endParaRPr lang="en-US" dirty="0"/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370576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609600" y="152400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370576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609600" y="255016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70576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609600" y="357632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5370576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609600" y="4602480"/>
            <a:ext cx="3163824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67371244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248400" y="1420504"/>
            <a:ext cx="2587752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502920" y="15544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502920" y="27482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502920" y="39420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502920" y="5135880"/>
            <a:ext cx="553212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482048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304800" y="2362200"/>
            <a:ext cx="6117336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04800" y="3491484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304800" y="4620768"/>
            <a:ext cx="6096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6411433" y="1417320"/>
            <a:ext cx="210312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4391025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774061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157097" y="2136788"/>
            <a:ext cx="1481328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157097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2774061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4391025" y="1738919"/>
            <a:ext cx="1481328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6411433" y="1861185"/>
            <a:ext cx="210312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5761025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3068638" y="1981200"/>
            <a:ext cx="2536825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457200" y="1982788"/>
            <a:ext cx="2530475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5684838" y="1981200"/>
            <a:ext cx="2871787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5680885" y="1983087"/>
            <a:ext cx="287574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3068559" y="1983087"/>
            <a:ext cx="2674468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457200" y="4038600"/>
            <a:ext cx="80772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457200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4585778" y="5937504"/>
            <a:ext cx="3950208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7200" y="1417320"/>
            <a:ext cx="5193792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5656263" y="1417324"/>
            <a:ext cx="3035808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1983087"/>
            <a:ext cx="2674468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457200" y="1981200"/>
            <a:ext cx="2473180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3144322" y="1988239"/>
            <a:ext cx="238753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457200" y="4343400"/>
            <a:ext cx="80772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5762430" y="1987175"/>
            <a:ext cx="2794197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endParaRPr lang="en-US" dirty="0"/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1790861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5507038" y="1755775"/>
            <a:ext cx="679450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2993735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477838" y="1290639"/>
            <a:ext cx="237744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2993735" y="1290638"/>
            <a:ext cx="237744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6300383" y="1290638"/>
            <a:ext cx="237744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477838" y="1290638"/>
            <a:ext cx="237744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endParaRPr lang="en-US" dirty="0"/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569278" y="173126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569278" y="235712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569278" y="2982976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69278" y="3608832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569278" y="4234688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569278" y="5486400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569278" y="4860544"/>
            <a:ext cx="219456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3085175" y="174345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3085175" y="236931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3085175" y="2995168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3085175" y="3621024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3085175" y="4246880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3085175" y="5498592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3085175" y="4872736"/>
            <a:ext cx="219456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6300383" y="174345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6300383" y="236931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6300383" y="2995168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6300383" y="3621024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6300383" y="4246880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6300383" y="5498592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6300383" y="4872736"/>
            <a:ext cx="237744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014550203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5349875" y="1497013"/>
            <a:ext cx="679450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7082028" y="330708"/>
            <a:ext cx="640080" cy="2569464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6117336" y="1981200"/>
            <a:ext cx="2569464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3810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3810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3810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0574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0574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0574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3733802" y="1497015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3733802" y="298543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3733802" y="4473857"/>
            <a:ext cx="1513753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23395764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909638" y="2395537"/>
            <a:ext cx="768350" cy="6381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066925" y="3590925"/>
            <a:ext cx="752475" cy="625475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3234532" y="4814093"/>
            <a:ext cx="698500" cy="595313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3881705" y="4986243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479116" y="1441358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1612732" y="2622986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2755735" y="3804614"/>
            <a:ext cx="4809859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964031726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712788" y="1782763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712788" y="5300663"/>
            <a:ext cx="7969250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712788" y="4129088"/>
            <a:ext cx="7969250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712788" y="2955925"/>
            <a:ext cx="7969250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708691" y="1501649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708691" y="5019702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708691" y="3847015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708691" y="2674334"/>
            <a:ext cx="7450574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14079574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477838" y="3294063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477838" y="4670425"/>
            <a:ext cx="7988300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477838" y="6046788"/>
            <a:ext cx="7988300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1582996" y="1290642"/>
            <a:ext cx="1870718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6896505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511428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332064" y="1290642"/>
            <a:ext cx="1903870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457200" y="2068960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7200" y="343666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57200" y="4802487"/>
            <a:ext cx="100584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1582996" y="2068960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1582996" y="344150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1582996" y="4807328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33206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333206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333206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5114284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114284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114284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6896505" y="2066925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6896505" y="343947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896505" y="4805293"/>
            <a:ext cx="1655064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62048842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151063" y="1277938"/>
            <a:ext cx="6618287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160588" y="1568450"/>
            <a:ext cx="6608762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-167481" y="3604419"/>
            <a:ext cx="4665662" cy="1270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2584450" y="1576388"/>
            <a:ext cx="5530850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468313" y="1860550"/>
            <a:ext cx="8069262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468313" y="1277938"/>
            <a:ext cx="1692275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b="1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473075" y="1277938"/>
            <a:ext cx="16764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159964" y="1282929"/>
            <a:ext cx="6372290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301612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344159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16516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59064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471802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514350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386707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29254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6419929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45405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556897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599445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7270881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7696357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8121833" y="1574557"/>
            <a:ext cx="414746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548056" y="1548247"/>
            <a:ext cx="645582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401427" y="1278087"/>
            <a:ext cx="645582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533400" y="1905000"/>
            <a:ext cx="155448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68595897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1555750" y="1828800"/>
            <a:ext cx="7131050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447675" y="2189163"/>
            <a:ext cx="1098550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442913" y="1819275"/>
            <a:ext cx="8234362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512763" y="1566863"/>
            <a:ext cx="884237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512763" y="1939925"/>
            <a:ext cx="884237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442913" y="2200275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442913" y="5486400"/>
            <a:ext cx="82296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1555750" y="1468438"/>
            <a:ext cx="7102475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1546225" y="1828800"/>
            <a:ext cx="649288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1546225" y="1835813"/>
            <a:ext cx="64591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203313" y="1835813"/>
            <a:ext cx="64688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850205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3497093" y="1835813"/>
            <a:ext cx="64202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139118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795736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5437760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084650" y="1835813"/>
            <a:ext cx="65175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731540" y="1835813"/>
            <a:ext cx="64689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383292" y="1835813"/>
            <a:ext cx="649224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8025320" y="1835813"/>
            <a:ext cx="65316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469239" y="223026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469239" y="259557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469239" y="296088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469239" y="332619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469239" y="369150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469239" y="405681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469239" y="5152742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469239" y="442212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469239" y="4787430"/>
            <a:ext cx="1055427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1562267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20331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285020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3497093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41391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4795736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543776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608465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6731540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7383292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8025318" y="1531015"/>
            <a:ext cx="649224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1546225" y="232170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1546225" y="268701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1546225" y="305232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1546225" y="341763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1546225" y="3782940"/>
            <a:ext cx="4572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1546225" y="4148250"/>
            <a:ext cx="914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1546225" y="4513560"/>
            <a:ext cx="1828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1546225" y="4878870"/>
            <a:ext cx="2743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1546225" y="5244182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3436620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3048000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5355067" y="5562600"/>
            <a:ext cx="13716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4966447" y="5817472"/>
            <a:ext cx="9144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52774200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1779588" y="5981700"/>
            <a:ext cx="5495925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1792288" y="5453935"/>
            <a:ext cx="54864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1166754"/>
            <a:ext cx="54864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6042020"/>
            <a:ext cx="54864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769503" y="0"/>
            <a:ext cx="7604994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871829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452440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452440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452440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7003442" y="14478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7003442" y="26670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7003442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7003442" y="51054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452440" y="3886200"/>
            <a:ext cx="1688123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454551723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159379" y="1419225"/>
            <a:ext cx="2532185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8230261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357505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38175640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57201" y="1419225"/>
            <a:ext cx="5111750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5773265" y="1419226"/>
            <a:ext cx="2918298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8957138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076450" y="2667000"/>
            <a:ext cx="66294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066925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5505450" y="1108075"/>
            <a:ext cx="32004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067306" y="2743200"/>
            <a:ext cx="6638544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455612" y="1108074"/>
            <a:ext cx="1170432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455615" y="2722996"/>
            <a:ext cx="1525587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endParaRPr lang="en-US" dirty="0"/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05450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067306" y="2144554"/>
            <a:ext cx="32004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067306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5505450" y="2308860"/>
            <a:ext cx="32004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endParaRPr lang="en-US" dirty="0"/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067306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5505450" y="1295400"/>
            <a:ext cx="32004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298627373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576986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576984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467881" y="1246188"/>
            <a:ext cx="8188325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197968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197966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3850123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3850123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5491887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5491885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7144041" y="2982769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7144041" y="1589233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576986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576984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197968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197966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3850123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3850123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5491887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5491885" y="3927186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endParaRPr lang="en-US" noProof="0" dirty="0"/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7144041" y="5320723"/>
            <a:ext cx="1428461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7144041" y="3962400"/>
            <a:ext cx="1069975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endParaRPr lang="en-US" noProof="0" dirty="0"/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57249879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441325" y="14398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438150" y="18970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441325" y="3268663"/>
            <a:ext cx="835025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438150" y="3725863"/>
            <a:ext cx="8353425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260858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477901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6949440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481328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4724400" y="3886200"/>
            <a:ext cx="2971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52440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481328" y="4800600"/>
            <a:ext cx="621792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438151" y="2019300"/>
            <a:ext cx="18288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31202529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200889683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4508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4508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111456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111456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3772062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3772062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5432668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5432668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7105650" y="121920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7105650" y="262032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4508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4508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4508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4508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111456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11145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111456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111456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3772062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3772062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3772062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3772062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5432668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543266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432668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432668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105650" y="4623125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10565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7105650" y="2914650"/>
            <a:ext cx="1584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7105650" y="4315770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909314453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450850" y="6020181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45085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113838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3776826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5439814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7102800" y="261823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113838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113838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3776826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3776826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5439814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439814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102800" y="4313682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6024245"/>
            <a:ext cx="1584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373647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280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5123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51460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210050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919125"/>
            <a:ext cx="1584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61447479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45085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45085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45085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113838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3776826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5439814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7102800" y="121920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113838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113838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3776826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3776826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5439814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5439814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7102800" y="2914650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7102800" y="4626864"/>
            <a:ext cx="1584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45085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113837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3776824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5439811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7102800" y="2432304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45085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113837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3776824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5439811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7102800" y="4133088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45085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113837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3776824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5439811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7102800" y="5843016"/>
            <a:ext cx="1584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endParaRPr lang="en-US" dirty="0"/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447675" y="2"/>
            <a:ext cx="8239125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Choice of Entity</a:t>
            </a:r>
          </a:p>
        </p:txBody>
      </p:sp>
    </p:spTree>
    <p:extLst>
      <p:ext uri="{BB962C8B-B14F-4D97-AF65-F5344CB8AC3E}">
        <p14:creationId xmlns:p14="http://schemas.microsoft.com/office/powerpoint/2010/main" val="157502683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"/>
            <a:ext cx="77724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14400"/>
            <a:ext cx="77724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Choice of Entity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777536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8.xml"/><Relationship Id="rId18" Type="http://schemas.openxmlformats.org/officeDocument/2006/relationships/slideLayout" Target="../slideLayouts/slideLayout73.xml"/><Relationship Id="rId26" Type="http://schemas.openxmlformats.org/officeDocument/2006/relationships/slideLayout" Target="../slideLayouts/slideLayout81.xml"/><Relationship Id="rId39" Type="http://schemas.openxmlformats.org/officeDocument/2006/relationships/slideLayout" Target="../slideLayouts/slideLayout94.xml"/><Relationship Id="rId21" Type="http://schemas.openxmlformats.org/officeDocument/2006/relationships/slideLayout" Target="../slideLayouts/slideLayout76.xml"/><Relationship Id="rId34" Type="http://schemas.openxmlformats.org/officeDocument/2006/relationships/slideLayout" Target="../slideLayouts/slideLayout89.xml"/><Relationship Id="rId42" Type="http://schemas.openxmlformats.org/officeDocument/2006/relationships/slideLayout" Target="../slideLayouts/slideLayout97.xml"/><Relationship Id="rId47" Type="http://schemas.openxmlformats.org/officeDocument/2006/relationships/slideLayout" Target="../slideLayouts/slideLayout102.xml"/><Relationship Id="rId50" Type="http://schemas.openxmlformats.org/officeDocument/2006/relationships/slideLayout" Target="../slideLayouts/slideLayout105.xml"/><Relationship Id="rId55" Type="http://schemas.openxmlformats.org/officeDocument/2006/relationships/theme" Target="../theme/theme2.xml"/><Relationship Id="rId7" Type="http://schemas.openxmlformats.org/officeDocument/2006/relationships/slideLayout" Target="../slideLayouts/slideLayout62.xml"/><Relationship Id="rId2" Type="http://schemas.openxmlformats.org/officeDocument/2006/relationships/slideLayout" Target="../slideLayouts/slideLayout57.xml"/><Relationship Id="rId16" Type="http://schemas.openxmlformats.org/officeDocument/2006/relationships/slideLayout" Target="../slideLayouts/slideLayout71.xml"/><Relationship Id="rId29" Type="http://schemas.openxmlformats.org/officeDocument/2006/relationships/slideLayout" Target="../slideLayouts/slideLayout84.xml"/><Relationship Id="rId11" Type="http://schemas.openxmlformats.org/officeDocument/2006/relationships/slideLayout" Target="../slideLayouts/slideLayout66.xml"/><Relationship Id="rId24" Type="http://schemas.openxmlformats.org/officeDocument/2006/relationships/slideLayout" Target="../slideLayouts/slideLayout79.xml"/><Relationship Id="rId32" Type="http://schemas.openxmlformats.org/officeDocument/2006/relationships/slideLayout" Target="../slideLayouts/slideLayout87.xml"/><Relationship Id="rId37" Type="http://schemas.openxmlformats.org/officeDocument/2006/relationships/slideLayout" Target="../slideLayouts/slideLayout92.xml"/><Relationship Id="rId40" Type="http://schemas.openxmlformats.org/officeDocument/2006/relationships/slideLayout" Target="../slideLayouts/slideLayout95.xml"/><Relationship Id="rId45" Type="http://schemas.openxmlformats.org/officeDocument/2006/relationships/slideLayout" Target="../slideLayouts/slideLayout100.xml"/><Relationship Id="rId53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19" Type="http://schemas.openxmlformats.org/officeDocument/2006/relationships/slideLayout" Target="../slideLayouts/slideLayout74.xml"/><Relationship Id="rId31" Type="http://schemas.openxmlformats.org/officeDocument/2006/relationships/slideLayout" Target="../slideLayouts/slideLayout86.xml"/><Relationship Id="rId44" Type="http://schemas.openxmlformats.org/officeDocument/2006/relationships/slideLayout" Target="../slideLayouts/slideLayout99.xml"/><Relationship Id="rId52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slideLayout" Target="../slideLayouts/slideLayout69.xml"/><Relationship Id="rId22" Type="http://schemas.openxmlformats.org/officeDocument/2006/relationships/slideLayout" Target="../slideLayouts/slideLayout77.xml"/><Relationship Id="rId27" Type="http://schemas.openxmlformats.org/officeDocument/2006/relationships/slideLayout" Target="../slideLayouts/slideLayout82.xml"/><Relationship Id="rId30" Type="http://schemas.openxmlformats.org/officeDocument/2006/relationships/slideLayout" Target="../slideLayouts/slideLayout85.xml"/><Relationship Id="rId35" Type="http://schemas.openxmlformats.org/officeDocument/2006/relationships/slideLayout" Target="../slideLayouts/slideLayout90.xml"/><Relationship Id="rId43" Type="http://schemas.openxmlformats.org/officeDocument/2006/relationships/slideLayout" Target="../slideLayouts/slideLayout98.xml"/><Relationship Id="rId48" Type="http://schemas.openxmlformats.org/officeDocument/2006/relationships/slideLayout" Target="../slideLayouts/slideLayout103.xml"/><Relationship Id="rId8" Type="http://schemas.openxmlformats.org/officeDocument/2006/relationships/slideLayout" Target="../slideLayouts/slideLayout63.xml"/><Relationship Id="rId51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67.xml"/><Relationship Id="rId17" Type="http://schemas.openxmlformats.org/officeDocument/2006/relationships/slideLayout" Target="../slideLayouts/slideLayout72.xml"/><Relationship Id="rId25" Type="http://schemas.openxmlformats.org/officeDocument/2006/relationships/slideLayout" Target="../slideLayouts/slideLayout80.xml"/><Relationship Id="rId33" Type="http://schemas.openxmlformats.org/officeDocument/2006/relationships/slideLayout" Target="../slideLayouts/slideLayout88.xml"/><Relationship Id="rId38" Type="http://schemas.openxmlformats.org/officeDocument/2006/relationships/slideLayout" Target="../slideLayouts/slideLayout93.xml"/><Relationship Id="rId46" Type="http://schemas.openxmlformats.org/officeDocument/2006/relationships/slideLayout" Target="../slideLayouts/slideLayout101.xml"/><Relationship Id="rId20" Type="http://schemas.openxmlformats.org/officeDocument/2006/relationships/slideLayout" Target="../slideLayouts/slideLayout75.xml"/><Relationship Id="rId41" Type="http://schemas.openxmlformats.org/officeDocument/2006/relationships/slideLayout" Target="../slideLayouts/slideLayout96.xml"/><Relationship Id="rId54" Type="http://schemas.openxmlformats.org/officeDocument/2006/relationships/slideLayout" Target="../slideLayouts/slideLayout109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5" Type="http://schemas.openxmlformats.org/officeDocument/2006/relationships/slideLayout" Target="../slideLayouts/slideLayout70.xml"/><Relationship Id="rId23" Type="http://schemas.openxmlformats.org/officeDocument/2006/relationships/slideLayout" Target="../slideLayouts/slideLayout78.xml"/><Relationship Id="rId28" Type="http://schemas.openxmlformats.org/officeDocument/2006/relationships/slideLayout" Target="../slideLayouts/slideLayout83.xml"/><Relationship Id="rId36" Type="http://schemas.openxmlformats.org/officeDocument/2006/relationships/slideLayout" Target="../slideLayouts/slideLayout91.xml"/><Relationship Id="rId49" Type="http://schemas.openxmlformats.org/officeDocument/2006/relationships/slideLayout" Target="../slideLayouts/slideLayout10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3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124200" y="6442486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b="1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dirty="0"/>
              <a:t>Choice of Entity</a:t>
            </a:r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7"/>
            <a:ext cx="2362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_COE_2026S</a:t>
            </a:r>
            <a:endParaRPr lang="en-US" sz="800" dirty="0"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22" r:id="rId1"/>
    <p:sldLayoutId id="2147484123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124" r:id="rId8"/>
    <p:sldLayoutId id="2147484125" r:id="rId9"/>
    <p:sldLayoutId id="2147484126" r:id="rId10"/>
    <p:sldLayoutId id="2147484127" r:id="rId11"/>
    <p:sldLayoutId id="2147484091" r:id="rId12"/>
    <p:sldLayoutId id="2147484092" r:id="rId13"/>
    <p:sldLayoutId id="2147484093" r:id="rId14"/>
    <p:sldLayoutId id="2147484094" r:id="rId15"/>
    <p:sldLayoutId id="2147484095" r:id="rId16"/>
    <p:sldLayoutId id="2147484128" r:id="rId17"/>
    <p:sldLayoutId id="2147484096" r:id="rId18"/>
    <p:sldLayoutId id="2147484097" r:id="rId19"/>
    <p:sldLayoutId id="2147484129" r:id="rId20"/>
    <p:sldLayoutId id="2147484130" r:id="rId21"/>
    <p:sldLayoutId id="2147484098" r:id="rId22"/>
    <p:sldLayoutId id="2147484099" r:id="rId23"/>
    <p:sldLayoutId id="2147484131" r:id="rId24"/>
    <p:sldLayoutId id="2147484132" r:id="rId25"/>
    <p:sldLayoutId id="2147484100" r:id="rId26"/>
    <p:sldLayoutId id="2147484101" r:id="rId27"/>
    <p:sldLayoutId id="2147484102" r:id="rId28"/>
    <p:sldLayoutId id="2147484133" r:id="rId29"/>
    <p:sldLayoutId id="2147484103" r:id="rId30"/>
    <p:sldLayoutId id="2147484104" r:id="rId31"/>
    <p:sldLayoutId id="2147484105" r:id="rId32"/>
    <p:sldLayoutId id="2147484134" r:id="rId33"/>
    <p:sldLayoutId id="2147484135" r:id="rId34"/>
    <p:sldLayoutId id="2147484136" r:id="rId35"/>
    <p:sldLayoutId id="2147484137" r:id="rId36"/>
    <p:sldLayoutId id="2147484138" r:id="rId37"/>
    <p:sldLayoutId id="2147484139" r:id="rId38"/>
    <p:sldLayoutId id="2147484140" r:id="rId39"/>
    <p:sldLayoutId id="2147484141" r:id="rId40"/>
    <p:sldLayoutId id="2147484142" r:id="rId41"/>
    <p:sldLayoutId id="2147484106" r:id="rId42"/>
    <p:sldLayoutId id="2147484107" r:id="rId43"/>
    <p:sldLayoutId id="2147484108" r:id="rId44"/>
    <p:sldLayoutId id="2147484109" r:id="rId45"/>
    <p:sldLayoutId id="2147484143" r:id="rId46"/>
    <p:sldLayoutId id="2147484110" r:id="rId47"/>
    <p:sldLayoutId id="2147484144" r:id="rId48"/>
    <p:sldLayoutId id="2147484111" r:id="rId49"/>
    <p:sldLayoutId id="2147484112" r:id="rId50"/>
    <p:sldLayoutId id="2147484113" r:id="rId51"/>
    <p:sldLayoutId id="2147484114" r:id="rId52"/>
    <p:sldLayoutId id="2147484115" r:id="rId53"/>
    <p:sldLayoutId id="2147484157" r:id="rId54"/>
    <p:sldLayoutId id="2147484213" r:id="rId55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9144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8610600" y="6436633"/>
            <a:ext cx="457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3200400" y="6436633"/>
            <a:ext cx="2895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10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72409" y="6423027"/>
            <a:ext cx="23622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Goodbye</a:t>
            </a:r>
          </a:p>
        </p:txBody>
      </p:sp>
    </p:spTree>
    <p:extLst>
      <p:ext uri="{BB962C8B-B14F-4D97-AF65-F5344CB8AC3E}">
        <p14:creationId xmlns:p14="http://schemas.microsoft.com/office/powerpoint/2010/main" val="5353617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59" r:id="rId1"/>
    <p:sldLayoutId id="2147484160" r:id="rId2"/>
    <p:sldLayoutId id="2147484161" r:id="rId3"/>
    <p:sldLayoutId id="2147484162" r:id="rId4"/>
    <p:sldLayoutId id="2147484163" r:id="rId5"/>
    <p:sldLayoutId id="2147484164" r:id="rId6"/>
    <p:sldLayoutId id="2147484165" r:id="rId7"/>
    <p:sldLayoutId id="2147484166" r:id="rId8"/>
    <p:sldLayoutId id="2147484167" r:id="rId9"/>
    <p:sldLayoutId id="2147484168" r:id="rId10"/>
    <p:sldLayoutId id="2147484169" r:id="rId11"/>
    <p:sldLayoutId id="2147484170" r:id="rId12"/>
    <p:sldLayoutId id="2147484171" r:id="rId13"/>
    <p:sldLayoutId id="2147484172" r:id="rId14"/>
    <p:sldLayoutId id="2147484173" r:id="rId15"/>
    <p:sldLayoutId id="2147484174" r:id="rId16"/>
    <p:sldLayoutId id="2147484175" r:id="rId17"/>
    <p:sldLayoutId id="2147484176" r:id="rId18"/>
    <p:sldLayoutId id="2147484177" r:id="rId19"/>
    <p:sldLayoutId id="2147484178" r:id="rId20"/>
    <p:sldLayoutId id="2147484179" r:id="rId21"/>
    <p:sldLayoutId id="2147484180" r:id="rId22"/>
    <p:sldLayoutId id="2147484181" r:id="rId23"/>
    <p:sldLayoutId id="2147484182" r:id="rId24"/>
    <p:sldLayoutId id="2147484183" r:id="rId25"/>
    <p:sldLayoutId id="2147484184" r:id="rId26"/>
    <p:sldLayoutId id="2147484185" r:id="rId27"/>
    <p:sldLayoutId id="2147484186" r:id="rId28"/>
    <p:sldLayoutId id="2147484187" r:id="rId29"/>
    <p:sldLayoutId id="2147484188" r:id="rId30"/>
    <p:sldLayoutId id="2147484189" r:id="rId31"/>
    <p:sldLayoutId id="2147484190" r:id="rId32"/>
    <p:sldLayoutId id="2147484191" r:id="rId33"/>
    <p:sldLayoutId id="2147484192" r:id="rId34"/>
    <p:sldLayoutId id="2147484193" r:id="rId35"/>
    <p:sldLayoutId id="2147484194" r:id="rId36"/>
    <p:sldLayoutId id="2147484195" r:id="rId37"/>
    <p:sldLayoutId id="2147484196" r:id="rId38"/>
    <p:sldLayoutId id="2147484197" r:id="rId39"/>
    <p:sldLayoutId id="2147484198" r:id="rId40"/>
    <p:sldLayoutId id="2147484199" r:id="rId41"/>
    <p:sldLayoutId id="2147484200" r:id="rId42"/>
    <p:sldLayoutId id="2147484201" r:id="rId43"/>
    <p:sldLayoutId id="2147484202" r:id="rId44"/>
    <p:sldLayoutId id="2147484203" r:id="rId45"/>
    <p:sldLayoutId id="2147484204" r:id="rId46"/>
    <p:sldLayoutId id="2147484205" r:id="rId47"/>
    <p:sldLayoutId id="2147484206" r:id="rId48"/>
    <p:sldLayoutId id="2147484207" r:id="rId49"/>
    <p:sldLayoutId id="2147484208" r:id="rId50"/>
    <p:sldLayoutId id="2147484209" r:id="rId51"/>
    <p:sldLayoutId id="2147484210" r:id="rId52"/>
    <p:sldLayoutId id="2147484211" r:id="rId53"/>
    <p:sldLayoutId id="2147484212" r:id="rId54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2F2KsbX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bit.ly/2F2KsbX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eic.energy/current-mlps-and-mlp-funds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" y="1122363"/>
            <a:ext cx="8915400" cy="1496385"/>
          </a:xfrm>
        </p:spPr>
        <p:txBody>
          <a:bodyPr/>
          <a:lstStyle/>
          <a:p>
            <a:r>
              <a:rPr lang="en-US" b="1" dirty="0"/>
              <a:t>Corporate Taxation</a:t>
            </a:r>
            <a:br>
              <a:rPr lang="en-US" b="1" dirty="0"/>
            </a:br>
            <a:r>
              <a:rPr lang="en-US" b="1" dirty="0"/>
              <a:t>Choice of Entity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Introduction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D85B43-D788-46F7-A773-91C165729B06}" type="slidenum">
              <a:rPr lang="en-US" smtClean="0"/>
              <a:t>1</a:t>
            </a:fld>
            <a:endParaRPr lang="en-US"/>
          </a:p>
        </p:txBody>
      </p:sp>
      <p:pic>
        <p:nvPicPr>
          <p:cNvPr id="8" name="Picture 7" descr="pic1.tiff">
            <a:extLst>
              <a:ext uri="{FF2B5EF4-FFF2-40B4-BE49-F238E27FC236}">
                <a16:creationId xmlns:a16="http://schemas.microsoft.com/office/drawing/2014/main" id="{875BC4D3-57EF-9946-909E-614DC0E96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1" y="4972051"/>
            <a:ext cx="2155246" cy="487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0591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4" name="Rectangle 4"/>
          <p:cNvSpPr>
            <a:spLocks noChangeArrowheads="1"/>
          </p:cNvSpPr>
          <p:nvPr/>
        </p:nvSpPr>
        <p:spPr bwMode="auto">
          <a:xfrm>
            <a:off x="5029200" y="1600200"/>
            <a:ext cx="13716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 Corp</a:t>
            </a:r>
          </a:p>
        </p:txBody>
      </p:sp>
      <p:sp>
        <p:nvSpPr>
          <p:cNvPr id="5" name="Rectangle 5"/>
          <p:cNvSpPr>
            <a:spLocks noChangeArrowheads="1"/>
          </p:cNvSpPr>
          <p:nvPr/>
        </p:nvSpPr>
        <p:spPr bwMode="auto">
          <a:xfrm>
            <a:off x="1600200" y="1593925"/>
            <a:ext cx="12954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LLC</a:t>
            </a:r>
          </a:p>
        </p:txBody>
      </p:sp>
      <p:sp>
        <p:nvSpPr>
          <p:cNvPr id="6" name="AutoShape 6"/>
          <p:cNvSpPr>
            <a:spLocks noChangeArrowheads="1"/>
          </p:cNvSpPr>
          <p:nvPr/>
        </p:nvSpPr>
        <p:spPr bwMode="auto">
          <a:xfrm>
            <a:off x="1799178" y="3798884"/>
            <a:ext cx="1219200" cy="914400"/>
          </a:xfrm>
          <a:prstGeom prst="triangle">
            <a:avLst>
              <a:gd name="adj" fmla="val 50000"/>
            </a:avLst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/>
            <a:r>
              <a:rPr lang="en-US" sz="2000" b="1" dirty="0" err="1">
                <a:latin typeface="Calibri" charset="0"/>
              </a:rPr>
              <a:t>PSH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7" name="Line 7"/>
          <p:cNvSpPr>
            <a:spLocks noChangeShapeType="1"/>
          </p:cNvSpPr>
          <p:nvPr/>
        </p:nvSpPr>
        <p:spPr bwMode="auto">
          <a:xfrm flipH="1">
            <a:off x="1638300" y="1579872"/>
            <a:ext cx="6096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8" name="Line 8"/>
          <p:cNvSpPr>
            <a:spLocks noChangeShapeType="1"/>
          </p:cNvSpPr>
          <p:nvPr/>
        </p:nvSpPr>
        <p:spPr bwMode="auto">
          <a:xfrm>
            <a:off x="2247900" y="1593925"/>
            <a:ext cx="609600" cy="59554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9" name="Rectangle 4"/>
          <p:cNvSpPr>
            <a:spLocks noChangeArrowheads="1"/>
          </p:cNvSpPr>
          <p:nvPr/>
        </p:nvSpPr>
        <p:spPr bwMode="auto">
          <a:xfrm>
            <a:off x="5028304" y="4103078"/>
            <a:ext cx="1371600" cy="609600"/>
          </a:xfrm>
          <a:prstGeom prst="rect">
            <a:avLst/>
          </a:prstGeom>
          <a:solidFill>
            <a:schemeClr val="accent3">
              <a:lumMod val="10000"/>
              <a:lumOff val="9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S Corp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2998033"/>
            <a:ext cx="35137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?</a:t>
            </a:r>
            <a:endParaRPr lang="en-US" b="1" dirty="0"/>
          </a:p>
        </p:txBody>
      </p:sp>
      <p:cxnSp>
        <p:nvCxnSpPr>
          <p:cNvPr id="12" name="Straight Connector 11"/>
          <p:cNvCxnSpPr>
            <a:endCxn id="10" idx="3"/>
          </p:cNvCxnSpPr>
          <p:nvPr/>
        </p:nvCxnSpPr>
        <p:spPr>
          <a:xfrm flipH="1">
            <a:off x="4199478" y="2300053"/>
            <a:ext cx="1439322" cy="95959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>
            <a:endCxn id="10" idx="1"/>
          </p:cNvCxnSpPr>
          <p:nvPr/>
        </p:nvCxnSpPr>
        <p:spPr>
          <a:xfrm>
            <a:off x="2286000" y="2405382"/>
            <a:ext cx="1562100" cy="8542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V="1">
            <a:off x="2781300" y="3431436"/>
            <a:ext cx="1104900" cy="7092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 flipV="1">
            <a:off x="4199478" y="3362966"/>
            <a:ext cx="1439322" cy="67563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8548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5" name="Rectangle 3"/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Sole Proprietorship/Branch/Division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Partnership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GP, LP, LLP, and LLLP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LLC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Corporation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Business Trust</a:t>
            </a:r>
          </a:p>
          <a:p>
            <a:pPr marL="457200" indent="-457200" eaLnBrk="1" hangingPunct="1">
              <a:tabLst>
                <a:tab pos="914400" algn="l"/>
              </a:tabLst>
            </a:pPr>
            <a:r>
              <a:rPr lang="en-US" sz="2400" dirty="0">
                <a:ea typeface="ＭＳ Ｐゴシック" charset="0"/>
                <a:cs typeface="ＭＳ Ｐゴシック" charset="0"/>
              </a:rPr>
              <a:t>Analysis: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Is there a separate entity for </a:t>
            </a:r>
            <a:r>
              <a:rPr lang="en-US" sz="2000" b="1" i="1" dirty="0">
                <a:ea typeface="ＭＳ Ｐゴシック" charset="0"/>
              </a:rPr>
              <a:t>federal </a:t>
            </a:r>
            <a:r>
              <a:rPr lang="en-US" sz="2000" dirty="0">
                <a:ea typeface="ＭＳ Ｐゴシック" charset="0"/>
              </a:rPr>
              <a:t>tax purposes?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sz="2000" dirty="0">
                <a:ea typeface="ＭＳ Ｐゴシック" charset="0"/>
              </a:rPr>
              <a:t>Is the entity a SP/B/D, PSH, or Corp?</a:t>
            </a:r>
          </a:p>
        </p:txBody>
      </p:sp>
      <p:sp>
        <p:nvSpPr>
          <p:cNvPr id="307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Choice of Business Entity</a:t>
            </a:r>
          </a:p>
        </p:txBody>
      </p:sp>
      <p:sp>
        <p:nvSpPr>
          <p:cNvPr id="2" name="Oval 1"/>
          <p:cNvSpPr/>
          <p:nvPr/>
        </p:nvSpPr>
        <p:spPr bwMode="auto">
          <a:xfrm>
            <a:off x="152400" y="914400"/>
            <a:ext cx="3733800" cy="1219200"/>
          </a:xfrm>
          <a:prstGeom prst="ellipse">
            <a:avLst/>
          </a:prstGeom>
          <a:noFill/>
          <a:ln w="190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7391360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9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195" grpId="0" uiExpand="1" build="p"/>
      <p:bldP spid="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Rate Comparison</a:t>
            </a:r>
          </a:p>
          <a:p>
            <a:pPr lvl="1"/>
            <a:r>
              <a:rPr lang="en-US" b="1" dirty="0"/>
              <a:t>C Corp</a:t>
            </a:r>
          </a:p>
          <a:p>
            <a:pPr lvl="2"/>
            <a:r>
              <a:rPr lang="en-US" dirty="0"/>
              <a:t>C Corp: 21% Corporate rate + 23.8% (CGs or dividends + 3.8% NII)</a:t>
            </a:r>
          </a:p>
          <a:p>
            <a:pPr lvl="2"/>
            <a:r>
              <a:rPr lang="en-US" b="1" i="1" dirty="0"/>
              <a:t>New </a:t>
            </a:r>
            <a:r>
              <a:rPr lang="en-US" i="1" dirty="0"/>
              <a:t>(post-2022 tax years)</a:t>
            </a:r>
            <a:r>
              <a:rPr lang="en-US" dirty="0"/>
              <a:t>: </a:t>
            </a:r>
            <a:r>
              <a:rPr lang="en-US" i="1" dirty="0"/>
              <a:t> 15% Corporate Minimum Alternative Tax </a:t>
            </a:r>
            <a:r>
              <a:rPr lang="en-US" dirty="0"/>
              <a:t>(CMAT)</a:t>
            </a:r>
            <a:r>
              <a:rPr lang="en-US" i="1" dirty="0"/>
              <a:t> on large corporations based on financial statement income (book)</a:t>
            </a:r>
            <a:endParaRPr lang="en-US" dirty="0"/>
          </a:p>
          <a:p>
            <a:pPr lvl="1"/>
            <a:r>
              <a:rPr lang="en-US" b="1" dirty="0"/>
              <a:t>Pass-through</a:t>
            </a:r>
            <a:endParaRPr lang="en-US" dirty="0"/>
          </a:p>
          <a:p>
            <a:pPr lvl="2"/>
            <a:r>
              <a:rPr lang="en-US" dirty="0"/>
              <a:t>37% for operating income (individuals), but 29.6% for QBI (note, this rate doesn’t apply to CGs)</a:t>
            </a:r>
          </a:p>
          <a:p>
            <a:pPr lvl="2"/>
            <a:r>
              <a:rPr lang="en-US" dirty="0"/>
              <a:t>3.8% for NII</a:t>
            </a:r>
          </a:p>
          <a:p>
            <a:pPr lvl="2"/>
            <a:r>
              <a:rPr lang="en-US" dirty="0"/>
              <a:t>20% for qualified dividends and NCGs</a:t>
            </a:r>
          </a:p>
          <a:p>
            <a:r>
              <a:rPr lang="en-US" dirty="0"/>
              <a:t>Other considerations</a:t>
            </a:r>
          </a:p>
          <a:p>
            <a:pPr lvl="1"/>
            <a:r>
              <a:rPr lang="en-US" dirty="0"/>
              <a:t>Deferral of SH-level tax </a:t>
            </a:r>
          </a:p>
          <a:p>
            <a:pPr lvl="1"/>
            <a:r>
              <a:rPr lang="en-US" dirty="0"/>
              <a:t>Step-up basis at death of shares</a:t>
            </a:r>
          </a:p>
          <a:p>
            <a:pPr lvl="1"/>
            <a:r>
              <a:rPr lang="en-US" dirty="0"/>
              <a:t>Investment of passive earnings by C Corp or SH</a:t>
            </a:r>
          </a:p>
          <a:p>
            <a:pPr lvl="1"/>
            <a:r>
              <a:rPr lang="en-US" dirty="0"/>
              <a:t>Use of losses</a:t>
            </a:r>
          </a:p>
          <a:p>
            <a:pPr lvl="1"/>
            <a:r>
              <a:rPr lang="en-US" dirty="0"/>
              <a:t>Qualified Small Business Stock exclusion (</a:t>
            </a:r>
            <a:r>
              <a:rPr lang="en-US" altLang="en-US" dirty="0"/>
              <a:t>§</a:t>
            </a:r>
            <a:r>
              <a:rPr lang="en-US" dirty="0"/>
              <a:t>1202) 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 Corp vs. Pass-through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2748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90169F-6D46-3244-BA47-17047563E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Rates for 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9EDD64-64F8-AE48-BE18-9E27FDF880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D724E7-882D-184B-85F1-FC21C71B7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pic>
        <p:nvPicPr>
          <p:cNvPr id="9" name="Picture 8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0C83359E-ADAD-FDE5-5F17-93605CBF1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33400"/>
            <a:ext cx="8458200" cy="4054734"/>
          </a:xfrm>
          <a:prstGeom prst="rect">
            <a:avLst/>
          </a:prstGeom>
        </p:spPr>
      </p:pic>
      <p:pic>
        <p:nvPicPr>
          <p:cNvPr id="13" name="Picture 12" descr="A screenshot of a phone&#10;&#10;AI-generated content may be incorrect.">
            <a:extLst>
              <a:ext uri="{FF2B5EF4-FFF2-40B4-BE49-F238E27FC236}">
                <a16:creationId xmlns:a16="http://schemas.microsoft.com/office/drawing/2014/main" id="{75996FC0-A2E7-8A23-352B-1F0D733124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801" y="4796559"/>
            <a:ext cx="3276600" cy="1451842"/>
          </a:xfrm>
          <a:prstGeom prst="rect">
            <a:avLst/>
          </a:prstGeom>
        </p:spPr>
      </p:pic>
      <p:pic>
        <p:nvPicPr>
          <p:cNvPr id="15" name="Picture 14" descr="A screenshot of a phone&#10;&#10;AI-generated content may be incorrect.">
            <a:extLst>
              <a:ext uri="{FF2B5EF4-FFF2-40B4-BE49-F238E27FC236}">
                <a16:creationId xmlns:a16="http://schemas.microsoft.com/office/drawing/2014/main" id="{48AFB231-6448-DDA3-A7D6-0CB2B15CBE4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4816475"/>
            <a:ext cx="5178552" cy="150812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B43F11B-3CC2-EA08-DD20-4D244E6F5920}"/>
              </a:ext>
            </a:extLst>
          </p:cNvPr>
          <p:cNvSpPr txBox="1"/>
          <p:nvPr/>
        </p:nvSpPr>
        <p:spPr>
          <a:xfrm>
            <a:off x="2220069" y="4552130"/>
            <a:ext cx="11575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Capital Gains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FD6387-A7F8-A63E-DBA3-0BC874D260E7}"/>
              </a:ext>
            </a:extLst>
          </p:cNvPr>
          <p:cNvSpPr txBox="1"/>
          <p:nvPr/>
        </p:nvSpPr>
        <p:spPr>
          <a:xfrm>
            <a:off x="6345150" y="4539974"/>
            <a:ext cx="4571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QBI</a:t>
            </a:r>
          </a:p>
        </p:txBody>
      </p:sp>
    </p:spTree>
    <p:extLst>
      <p:ext uri="{BB962C8B-B14F-4D97-AF65-F5344CB8AC3E}">
        <p14:creationId xmlns:p14="http://schemas.microsoft.com/office/powerpoint/2010/main" val="2189102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EB53ED5-8D9A-D970-6888-9EE0C9B6A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vs. Effective (Average) Tax Rates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4F0F7C-ADF0-06C3-9570-62F6406540E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CBABA-67B7-8027-8768-3B570037A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pic>
        <p:nvPicPr>
          <p:cNvPr id="11" name="Content Placeholder 10" descr="A screenshot of a graph&#10;&#10;AI-generated content may be incorrect.">
            <a:extLst>
              <a:ext uri="{FF2B5EF4-FFF2-40B4-BE49-F238E27FC236}">
                <a16:creationId xmlns:a16="http://schemas.microsoft.com/office/drawing/2014/main" id="{720CF8D9-4E7A-9777-7B0B-43A774D8D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" y="533400"/>
            <a:ext cx="8458200" cy="5811838"/>
          </a:xfrm>
        </p:spPr>
      </p:pic>
    </p:spTree>
    <p:extLst>
      <p:ext uri="{BB962C8B-B14F-4D97-AF65-F5344CB8AC3E}">
        <p14:creationId xmlns:p14="http://schemas.microsoft.com/office/powerpoint/2010/main" val="24216600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22176324"/>
              </p:ext>
            </p:extLst>
          </p:nvPr>
        </p:nvGraphicFramePr>
        <p:xfrm>
          <a:off x="343055" y="1422627"/>
          <a:ext cx="8572348" cy="3899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3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3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 Corporations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 Corporations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Partnerships (GPs, LPs, LLCs)</a:t>
                      </a:r>
                    </a:p>
                  </a:txBody>
                  <a:tcPr marL="70040" marR="7004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Entity’s</a:t>
                      </a:r>
                      <a:r>
                        <a:rPr lang="en-US" sz="1100" b="1" baseline="0" dirty="0">
                          <a:solidFill>
                            <a:schemeClr val="tx1"/>
                          </a:solidFill>
                        </a:rPr>
                        <a:t> Income</a:t>
                      </a:r>
                      <a:endParaRPr lang="en-US" sz="1100" b="1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to entity </a:t>
                      </a:r>
                    </a:p>
                    <a:p>
                      <a:pPr algn="ctr"/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(21% max. rate)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  owners with basis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adjustment (37% max rate; 29.6% if QBI)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 owners with basis adjustment 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(37% max rate; 29.6% if QBI)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3085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Entity’s Losses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against corporate income; NOLs can offset 80% of TI and be carried forward indefinitely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 by owners, limited by basis in stock; individual excess business loss subject to 256k (512k)/yr limitation 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Deductible by owners; limited by basis in PSH; excess business loss subject to 256k (512k)/yr limitation </a:t>
                      </a: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8664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Distributions of $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Taxed to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SHs to extent of E&amp;Ps, return of basis, and then gain; Qualified dividends taxed at 20% max + 3.8% NII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taxation;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reduction of basis and then gain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taxation; reduction of basis and then gain</a:t>
                      </a: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541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Distributions of Property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Gain but not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loss recognized; taxed to SHs as dividend to extent of FMV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Gain but not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loss recognized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 G/L to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1100" baseline="0" dirty="0" err="1">
                          <a:solidFill>
                            <a:schemeClr val="tx1"/>
                          </a:solidFill>
                        </a:rPr>
                        <a:t>PSH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; CO basis to Ps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53085">
                <a:tc>
                  <a:txBody>
                    <a:bodyPr/>
                    <a:lstStyle/>
                    <a:p>
                      <a:pPr algn="ctr"/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Transfer of Equity Interests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</a:p>
                  </a:txBody>
                  <a:tcPr marL="70040" marR="7004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Capital G/L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with look-through to extent of OI assets; can elect to adjust basis of </a:t>
                      </a:r>
                      <a:r>
                        <a:rPr lang="en-US" sz="1100" baseline="0" dirty="0" err="1">
                          <a:solidFill>
                            <a:schemeClr val="tx1"/>
                          </a:solidFill>
                        </a:rPr>
                        <a:t>PSH</a:t>
                      </a:r>
                      <a:r>
                        <a:rPr lang="en-US" sz="1100" baseline="0" dirty="0">
                          <a:solidFill>
                            <a:schemeClr val="tx1"/>
                          </a:solidFill>
                        </a:rPr>
                        <a:t> property</a:t>
                      </a:r>
                      <a:endParaRPr 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 marL="70040" marR="7004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Differences: C, S, and K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F371888-22CA-6E45-85ED-F5822DF01BA5}"/>
              </a:ext>
            </a:extLst>
          </p:cNvPr>
          <p:cNvSpPr/>
          <p:nvPr/>
        </p:nvSpPr>
        <p:spPr>
          <a:xfrm>
            <a:off x="2133600" y="2362200"/>
            <a:ext cx="7010400" cy="10668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94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251748" y="1503811"/>
          <a:ext cx="8681012" cy="3499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025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702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endParaRPr 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 Corporations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 Corporations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Partnerships (GPs, LPs, LLCs)</a:t>
                      </a:r>
                    </a:p>
                  </a:txBody>
                  <a:tcPr marL="73550" marR="73550" marT="34290" marB="34290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Mergers with Corporations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Tax-free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Tax-free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Can’t undertake tax-free reorg with corporation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1221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Classes of Equity Interests and Maximum # of Owners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limitation; no maximum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class of stock; 100 maximum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limitation; no max, but minimum of 2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632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Foreign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</a:rPr>
                        <a:t> Owners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 Eligible</a:t>
                      </a: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</a:t>
                      </a: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8490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Tax-exempt</a:t>
                      </a:r>
                      <a:r>
                        <a:rPr lang="en-US" sz="1200" b="1" baseline="0" dirty="0">
                          <a:solidFill>
                            <a:schemeClr val="tx1"/>
                          </a:solidFill>
                        </a:rPr>
                        <a:t> Owners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Eligible;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dividends not subject to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Generally not eligible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except charitable organizations and retirement plans; income is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Eligible,</a:t>
                      </a:r>
                      <a:r>
                        <a:rPr lang="en-US" sz="1200" baseline="0" dirty="0">
                          <a:solidFill>
                            <a:schemeClr val="tx1"/>
                          </a:solidFill>
                        </a:rPr>
                        <a:t> but subject to </a:t>
                      </a:r>
                      <a:r>
                        <a:rPr lang="en-US" sz="1200" baseline="0" dirty="0" err="1">
                          <a:solidFill>
                            <a:schemeClr val="tx1"/>
                          </a:solidFill>
                        </a:rPr>
                        <a:t>UBIT</a:t>
                      </a:r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93916"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solidFill>
                          <a:schemeClr val="tx1"/>
                        </a:solidFill>
                      </a:endParaRPr>
                    </a:p>
                  </a:txBody>
                  <a:tcPr marL="73550" marR="73550" marT="34290" marB="3429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Tax Differences: C, S, and K</a:t>
            </a:r>
          </a:p>
        </p:txBody>
      </p:sp>
      <p:sp>
        <p:nvSpPr>
          <p:cNvPr id="3" name="TextBox 2"/>
          <p:cNvSpPr txBox="1"/>
          <p:nvPr/>
        </p:nvSpPr>
        <p:spPr>
          <a:xfrm flipH="1">
            <a:off x="3808639" y="5174726"/>
            <a:ext cx="1263831" cy="1962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75" dirty="0"/>
              <a:t>Source: JCT-71-15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411C8C7-1590-E05D-7FE7-1A509D13BF76}"/>
              </a:ext>
            </a:extLst>
          </p:cNvPr>
          <p:cNvSpPr/>
          <p:nvPr/>
        </p:nvSpPr>
        <p:spPr>
          <a:xfrm>
            <a:off x="76200" y="1312744"/>
            <a:ext cx="9067800" cy="1354256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87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4C9BE5-70DF-DB43-8209-BFE034059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of AT-Returns for C Corporation and S Corp/PSH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3E243B-5412-594B-A0FB-89763F15E0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5D6109-8DD4-024B-94FD-20BFD25301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Choice of Entity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7B538379-6EA7-D447-A7BD-E45778053F4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49557558"/>
              </p:ext>
            </p:extLst>
          </p:nvPr>
        </p:nvGraphicFramePr>
        <p:xfrm>
          <a:off x="461771" y="812182"/>
          <a:ext cx="8302753" cy="1973580"/>
        </p:xfrm>
        <a:graphic>
          <a:graphicData uri="http://schemas.openxmlformats.org/drawingml/2006/table">
            <a:tbl>
              <a:tblPr/>
              <a:tblGrid>
                <a:gridCol w="1906079">
                  <a:extLst>
                    <a:ext uri="{9D8B030D-6E8A-4147-A177-3AD203B41FA5}">
                      <a16:colId xmlns:a16="http://schemas.microsoft.com/office/drawing/2014/main" val="1724527342"/>
                    </a:ext>
                  </a:extLst>
                </a:gridCol>
                <a:gridCol w="1615322">
                  <a:extLst>
                    <a:ext uri="{9D8B030D-6E8A-4147-A177-3AD203B41FA5}">
                      <a16:colId xmlns:a16="http://schemas.microsoft.com/office/drawing/2014/main" val="3936268055"/>
                    </a:ext>
                  </a:extLst>
                </a:gridCol>
                <a:gridCol w="1066113">
                  <a:extLst>
                    <a:ext uri="{9D8B030D-6E8A-4147-A177-3AD203B41FA5}">
                      <a16:colId xmlns:a16="http://schemas.microsoft.com/office/drawing/2014/main" val="853687093"/>
                    </a:ext>
                  </a:extLst>
                </a:gridCol>
                <a:gridCol w="1841466">
                  <a:extLst>
                    <a:ext uri="{9D8B030D-6E8A-4147-A177-3AD203B41FA5}">
                      <a16:colId xmlns:a16="http://schemas.microsoft.com/office/drawing/2014/main" val="2842639015"/>
                    </a:ext>
                  </a:extLst>
                </a:gridCol>
                <a:gridCol w="1873773">
                  <a:extLst>
                    <a:ext uri="{9D8B030D-6E8A-4147-A177-3AD203B41FA5}">
                      <a16:colId xmlns:a16="http://schemas.microsoft.com/office/drawing/2014/main" val="3671113844"/>
                    </a:ext>
                  </a:extLst>
                </a:gridCol>
              </a:tblGrid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rowSpan="2" gridSpan="2"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Choice of Entity Examples Assumptions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0E3"/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106136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7507693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9829044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Ret PSH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10%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OI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37.0%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629511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Ret Corp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10%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</a:t>
                      </a:r>
                      <a:r>
                        <a:rPr lang="en-US" sz="1600" b="1" dirty="0" err="1">
                          <a:effectLst/>
                        </a:rPr>
                        <a:t>Div</a:t>
                      </a:r>
                      <a:endParaRPr lang="en-US" sz="1600" b="1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23.8%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034273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Tax Corp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21%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CG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23.8%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57674102"/>
                  </a:ext>
                </a:extLst>
              </a:tr>
              <a:tr h="200025"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Amount Invested</a:t>
                      </a:r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>
                          <a:effectLst/>
                        </a:rPr>
                        <a:t>10,000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6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Tax SH/P 199A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600" b="1" dirty="0">
                          <a:effectLst/>
                        </a:rPr>
                        <a:t>29.6%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19080806"/>
                  </a:ext>
                </a:extLst>
              </a:tr>
            </a:tbl>
          </a:graphicData>
        </a:graphic>
      </p:graphicFrame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3061BA13-D68D-224F-9E4F-4EE34349EC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11016834"/>
              </p:ext>
            </p:extLst>
          </p:nvPr>
        </p:nvGraphicFramePr>
        <p:xfrm>
          <a:off x="152400" y="3129539"/>
          <a:ext cx="8378952" cy="2388703"/>
        </p:xfrm>
        <a:graphic>
          <a:graphicData uri="http://schemas.openxmlformats.org/drawingml/2006/table">
            <a:tbl>
              <a:tblPr/>
              <a:tblGrid>
                <a:gridCol w="316905">
                  <a:extLst>
                    <a:ext uri="{9D8B030D-6E8A-4147-A177-3AD203B41FA5}">
                      <a16:colId xmlns:a16="http://schemas.microsoft.com/office/drawing/2014/main" val="2809396512"/>
                    </a:ext>
                  </a:extLst>
                </a:gridCol>
                <a:gridCol w="3308836">
                  <a:extLst>
                    <a:ext uri="{9D8B030D-6E8A-4147-A177-3AD203B41FA5}">
                      <a16:colId xmlns:a16="http://schemas.microsoft.com/office/drawing/2014/main" val="1908009635"/>
                    </a:ext>
                  </a:extLst>
                </a:gridCol>
                <a:gridCol w="87108">
                  <a:extLst>
                    <a:ext uri="{9D8B030D-6E8A-4147-A177-3AD203B41FA5}">
                      <a16:colId xmlns:a16="http://schemas.microsoft.com/office/drawing/2014/main" val="3603751275"/>
                    </a:ext>
                  </a:extLst>
                </a:gridCol>
                <a:gridCol w="204089">
                  <a:extLst>
                    <a:ext uri="{9D8B030D-6E8A-4147-A177-3AD203B41FA5}">
                      <a16:colId xmlns:a16="http://schemas.microsoft.com/office/drawing/2014/main" val="2587573051"/>
                    </a:ext>
                  </a:extLst>
                </a:gridCol>
                <a:gridCol w="1445085">
                  <a:extLst>
                    <a:ext uri="{9D8B030D-6E8A-4147-A177-3AD203B41FA5}">
                      <a16:colId xmlns:a16="http://schemas.microsoft.com/office/drawing/2014/main" val="1543531253"/>
                    </a:ext>
                  </a:extLst>
                </a:gridCol>
                <a:gridCol w="1470436">
                  <a:extLst>
                    <a:ext uri="{9D8B030D-6E8A-4147-A177-3AD203B41FA5}">
                      <a16:colId xmlns:a16="http://schemas.microsoft.com/office/drawing/2014/main" val="3689813582"/>
                    </a:ext>
                  </a:extLst>
                </a:gridCol>
                <a:gridCol w="1546493">
                  <a:extLst>
                    <a:ext uri="{9D8B030D-6E8A-4147-A177-3AD203B41FA5}">
                      <a16:colId xmlns:a16="http://schemas.microsoft.com/office/drawing/2014/main" val="3199487435"/>
                    </a:ext>
                  </a:extLst>
                </a:gridCol>
              </a:tblGrid>
              <a:tr h="275381"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b="1">
                          <a:effectLst/>
                        </a:rPr>
                        <a:t>Pass-through vs. C Corporation: One Period</a:t>
                      </a:r>
                    </a:p>
                  </a:txBody>
                  <a:tcPr marL="0" marR="0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3647183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1400" b="1" dirty="0">
                          <a:effectLst/>
                        </a:rPr>
                        <a:t>C Corporation</a:t>
                      </a:r>
                    </a:p>
                  </a:txBody>
                  <a:tcPr marL="25737" marR="25737" marT="17158" marB="17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400" b="1" dirty="0">
                          <a:effectLst/>
                        </a:rPr>
                        <a:t>S</a:t>
                      </a:r>
                      <a:r>
                        <a:rPr lang="en-US" sz="1400" b="1" baseline="0" dirty="0">
                          <a:effectLst/>
                        </a:rPr>
                        <a:t> Corp/ PSH</a:t>
                      </a:r>
                      <a:r>
                        <a:rPr lang="en-US" sz="1400" b="1" dirty="0">
                          <a:effectLst/>
                        </a:rPr>
                        <a:t> </a:t>
                      </a:r>
                      <a:br>
                        <a:rPr lang="en-US" sz="1400" b="1" dirty="0">
                          <a:effectLst/>
                        </a:rPr>
                      </a:br>
                      <a:r>
                        <a:rPr lang="en-US" sz="1400" b="1" dirty="0">
                          <a:effectLst/>
                        </a:rPr>
                        <a:t>w/ </a:t>
                      </a:r>
                      <a:r>
                        <a:rPr lang="en-US" sz="1400" b="1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199A</a:t>
                      </a:r>
                    </a:p>
                  </a:txBody>
                  <a:tcPr marL="25737" marR="25737" marT="17158" marB="1715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b="1" dirty="0">
                          <a:effectLst/>
                        </a:rPr>
                        <a:t>  S Corp/ PSH </a:t>
                      </a:r>
                      <a:br>
                        <a:rPr lang="en-US" sz="1400" b="1" dirty="0">
                          <a:effectLst/>
                        </a:rPr>
                      </a:br>
                      <a:r>
                        <a:rPr lang="en-US" sz="1400" b="1" dirty="0">
                          <a:effectLst/>
                        </a:rPr>
                        <a:t>w/out 199A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1401957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 dirty="0">
                          <a:effectLst/>
                        </a:rPr>
                        <a:t>1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Pre-Tax Income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1,000.00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72990540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2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Corp / (SH or P) Tax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 dirty="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(210.00)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(296.00)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(370.00)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5535684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3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After-Tax Income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790.00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704.00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630.00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6757854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4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Tax on Distribution of AT Earnings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(188.02)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57387909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5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Net Amount to C or P: [1+2+4]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601.98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704.00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630.00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2939436"/>
                  </a:ext>
                </a:extLst>
              </a:tr>
              <a:tr h="275381"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400">
                          <a:effectLst/>
                        </a:rPr>
                        <a:t>6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r>
                        <a:rPr lang="en-US" sz="1400" dirty="0">
                          <a:effectLst/>
                        </a:rPr>
                        <a:t>Effective Tax Rate [(PT Inc - AT Inc) / PT Inc]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400">
                        <a:effectLst/>
                      </a:endParaRP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39.80%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>
                          <a:effectLst/>
                        </a:rPr>
                        <a:t>29.60%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400" dirty="0">
                          <a:effectLst/>
                        </a:rPr>
                        <a:t>37.00%</a:t>
                      </a:r>
                    </a:p>
                  </a:txBody>
                  <a:tcPr marL="25737" marR="25737" marT="17158" marB="17158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0661176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FF660363-D4F0-BD47-B57C-512152718991}"/>
              </a:ext>
            </a:extLst>
          </p:cNvPr>
          <p:cNvSpPr/>
          <p:nvPr/>
        </p:nvSpPr>
        <p:spPr>
          <a:xfrm>
            <a:off x="4222484" y="5764427"/>
            <a:ext cx="1632178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hlinkClick r:id="rId3"/>
              </a:rPr>
              <a:t>https://</a:t>
            </a:r>
            <a:r>
              <a:rPr lang="en-US" sz="1000" dirty="0" err="1">
                <a:hlinkClick r:id="rId3"/>
              </a:rPr>
              <a:t>bit.ly</a:t>
            </a:r>
            <a:r>
              <a:rPr lang="en-US" sz="1000" dirty="0">
                <a:hlinkClick r:id="rId3"/>
              </a:rPr>
              <a:t>/2F2KsbX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712800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0967" name="Object 3"/>
          <p:cNvGraphicFramePr>
            <a:graphicFrameLocks noGrp="1" noChangeAspect="1"/>
          </p:cNvGraphicFramePr>
          <p:nvPr>
            <p:ph idx="1"/>
          </p:nvPr>
        </p:nvGraphicFramePr>
        <p:xfrm>
          <a:off x="457200" y="609600"/>
          <a:ext cx="8077200" cy="609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3355200" imgH="191880" progId="Equation.3">
                  <p:embed/>
                </p:oleObj>
              </mc:Choice>
              <mc:Fallback>
                <p:oleObj name="Equation" r:id="rId3" imgW="3355200" imgH="191880" progId="Equation.3">
                  <p:embed/>
                  <p:pic>
                    <p:nvPicPr>
                      <p:cNvPr id="40967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57200" y="609600"/>
                        <a:ext cx="8077200" cy="609600"/>
                      </a:xfrm>
                      <a:prstGeom prst="rect">
                        <a:avLst/>
                      </a:prstGeom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2000" b="1" dirty="0">
                <a:ea typeface="ＭＳ Ｐゴシック" charset="0"/>
                <a:cs typeface="ＭＳ Ｐゴシック" charset="0"/>
              </a:rPr>
              <a:t>Partnership vs. Corporation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384048" y="762000"/>
            <a:ext cx="8378952" cy="5715000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ct val="0"/>
              </a:spcBef>
              <a:buSzTx/>
              <a:buFontTx/>
              <a:buNone/>
            </a:pPr>
            <a:endParaRPr lang="en-US" sz="1600" b="1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4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P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and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=0, neither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P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and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&gt;0,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dirty="0">
                <a:ea typeface="ＭＳ Ｐゴシック" charset="0"/>
                <a:cs typeface="ＭＳ Ｐゴシック" charset="0"/>
              </a:rPr>
              <a:t>If T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C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&lt;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P</a:t>
            </a:r>
            <a:r>
              <a:rPr lang="en-US" sz="2800" baseline="-25000" dirty="0">
                <a:ea typeface="ＭＳ Ｐゴシック" charset="0"/>
                <a:cs typeface="ＭＳ Ｐゴシック" charset="0"/>
              </a:rPr>
              <a:t> 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and </a:t>
            </a:r>
            <a:r>
              <a:rPr lang="en-US" sz="2800" dirty="0" err="1">
                <a:ea typeface="ＭＳ Ｐゴシック" charset="0"/>
                <a:cs typeface="ＭＳ Ｐゴシック" charset="0"/>
              </a:rPr>
              <a:t>T</a:t>
            </a:r>
            <a:r>
              <a:rPr lang="en-US" sz="2800" baseline="-25000" dirty="0" err="1">
                <a:ea typeface="ＭＳ Ｐゴシック" charset="0"/>
                <a:cs typeface="ＭＳ Ｐゴシック" charset="0"/>
              </a:rPr>
              <a:t>CG</a:t>
            </a:r>
            <a:r>
              <a:rPr lang="en-US" sz="2800" dirty="0">
                <a:ea typeface="ＭＳ Ｐゴシック" charset="0"/>
                <a:cs typeface="ＭＳ Ｐゴシック" charset="0"/>
              </a:rPr>
              <a:t>=0, Corporation dominates</a:t>
            </a: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solidFill>
                <a:schemeClr val="hlink"/>
              </a:solidFill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endParaRPr lang="en-US" sz="2800" dirty="0">
              <a:solidFill>
                <a:srgbClr val="F31B4E"/>
              </a:solidFill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  <a:spcBef>
                <a:spcPct val="0"/>
              </a:spcBef>
              <a:buSzTx/>
            </a:pP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If T</a:t>
            </a:r>
            <a:r>
              <a:rPr lang="en-US" sz="2800" b="1" baseline="-25000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C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&lt;</a:t>
            </a:r>
            <a:r>
              <a:rPr lang="en-US" sz="2800" b="1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T</a:t>
            </a:r>
            <a:r>
              <a:rPr lang="en-US" sz="2800" b="1" baseline="-25000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P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 and </a:t>
            </a:r>
            <a:r>
              <a:rPr lang="en-US" sz="2800" b="1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T</a:t>
            </a:r>
            <a:r>
              <a:rPr lang="en-US" sz="2800" b="1" baseline="-25000" dirty="0" err="1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CG</a:t>
            </a:r>
            <a:r>
              <a:rPr lang="en-US" sz="2800" b="1" dirty="0">
                <a:solidFill>
                  <a:srgbClr val="F31B4E"/>
                </a:solidFill>
                <a:ea typeface="ＭＳ Ｐゴシック" charset="0"/>
                <a:cs typeface="ＭＳ Ｐゴシック" charset="0"/>
              </a:rPr>
              <a:t>&gt;0, no clear preference</a:t>
            </a:r>
            <a:endParaRPr lang="en-US" sz="2800" baseline="-25000" dirty="0">
              <a:solidFill>
                <a:srgbClr val="F31B4E"/>
              </a:solidFill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92DB9B7-AA3D-1046-9756-127E134FE4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C136158-C497-1349-A42F-22A338D637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941586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096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962" grpId="0" autoUpdateAnimBg="0"/>
      <p:bldP spid="40963" grpId="0" build="p" autoUpdateAnimBg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ABA65625-54D9-C94E-B91C-BE050270C9A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69270621"/>
              </p:ext>
            </p:extLst>
          </p:nvPr>
        </p:nvGraphicFramePr>
        <p:xfrm>
          <a:off x="342900" y="1549704"/>
          <a:ext cx="8458200" cy="3998804"/>
        </p:xfrm>
        <a:graphic>
          <a:graphicData uri="http://schemas.openxmlformats.org/drawingml/2006/table">
            <a:tbl>
              <a:tblPr/>
              <a:tblGrid>
                <a:gridCol w="1569288">
                  <a:extLst>
                    <a:ext uri="{9D8B030D-6E8A-4147-A177-3AD203B41FA5}">
                      <a16:colId xmlns:a16="http://schemas.microsoft.com/office/drawing/2014/main" val="1655091437"/>
                    </a:ext>
                  </a:extLst>
                </a:gridCol>
                <a:gridCol w="1329906">
                  <a:extLst>
                    <a:ext uri="{9D8B030D-6E8A-4147-A177-3AD203B41FA5}">
                      <a16:colId xmlns:a16="http://schemas.microsoft.com/office/drawing/2014/main" val="1712569693"/>
                    </a:ext>
                  </a:extLst>
                </a:gridCol>
                <a:gridCol w="877739">
                  <a:extLst>
                    <a:ext uri="{9D8B030D-6E8A-4147-A177-3AD203B41FA5}">
                      <a16:colId xmlns:a16="http://schemas.microsoft.com/office/drawing/2014/main" val="2911941277"/>
                    </a:ext>
                  </a:extLst>
                </a:gridCol>
                <a:gridCol w="1516092">
                  <a:extLst>
                    <a:ext uri="{9D8B030D-6E8A-4147-A177-3AD203B41FA5}">
                      <a16:colId xmlns:a16="http://schemas.microsoft.com/office/drawing/2014/main" val="2947680126"/>
                    </a:ext>
                  </a:extLst>
                </a:gridCol>
                <a:gridCol w="1542690">
                  <a:extLst>
                    <a:ext uri="{9D8B030D-6E8A-4147-A177-3AD203B41FA5}">
                      <a16:colId xmlns:a16="http://schemas.microsoft.com/office/drawing/2014/main" val="2365344557"/>
                    </a:ext>
                  </a:extLst>
                </a:gridCol>
                <a:gridCol w="1622485">
                  <a:extLst>
                    <a:ext uri="{9D8B030D-6E8A-4147-A177-3AD203B41FA5}">
                      <a16:colId xmlns:a16="http://schemas.microsoft.com/office/drawing/2014/main" val="3720315787"/>
                    </a:ext>
                  </a:extLst>
                </a:gridCol>
              </a:tblGrid>
              <a:tr h="426508">
                <a:tc gridSpan="6">
                  <a:txBody>
                    <a:bodyPr/>
                    <a:lstStyle/>
                    <a:p>
                      <a:pPr rtl="0" fontAlgn="b"/>
                      <a:r>
                        <a:rPr lang="en-US" sz="1600" b="1" dirty="0">
                          <a:effectLst/>
                        </a:rPr>
                        <a:t>Pass-through vs. C Corporation: Benefits of Deferral (AT Returns are Reinvested and then Liquidated)</a:t>
                      </a:r>
                    </a:p>
                  </a:txBody>
                  <a:tcPr marL="0" marR="0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tc hMerge="1">
                  <a:txBody>
                    <a:bodyPr/>
                    <a:lstStyle/>
                    <a:p>
                      <a:pPr rtl="0" fontAlgn="b"/>
                      <a:endParaRPr lang="en-US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D0E0E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893215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sz="1800" b="1" dirty="0">
                          <a:effectLst/>
                        </a:rPr>
                        <a:t>C Corporation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800" b="1" dirty="0">
                          <a:effectLst/>
                        </a:rPr>
                        <a:t>S Corp/PSH </a:t>
                      </a:r>
                      <a:br>
                        <a:rPr lang="en-US" sz="1800" b="1" dirty="0">
                          <a:effectLst/>
                        </a:rPr>
                      </a:br>
                      <a:r>
                        <a:rPr lang="en-US" sz="1800" b="1" dirty="0">
                          <a:effectLst/>
                        </a:rPr>
                        <a:t>w/ 199A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S Corp/PSH </a:t>
                      </a:r>
                      <a:br>
                        <a:rPr lang="en-US" sz="1800" b="1" dirty="0">
                          <a:effectLst/>
                        </a:rPr>
                      </a:br>
                      <a:r>
                        <a:rPr lang="en-US" sz="1800" b="1" dirty="0">
                          <a:effectLst/>
                        </a:rPr>
                        <a:t>w/out 199A</a:t>
                      </a:r>
                    </a:p>
                  </a:txBody>
                  <a:tcPr marL="28575" marR="28575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4523395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13,525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14,052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13,573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7111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 dirty="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10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18,679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19,745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18,422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2205012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>
                          <a:effectLst/>
                        </a:rPr>
                        <a:t>Year of 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15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26,218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27,745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25,003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83677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>
                          <a:effectLst/>
                        </a:rPr>
                        <a:t>Liquidation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25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53,371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54,784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46,061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39592974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35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>
                          <a:effectLst/>
                        </a:rPr>
                        <a:t>111,450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108,172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84,852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7041258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45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>
                          <a:effectLst/>
                        </a:rPr>
                        <a:t>235,683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213,587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156,314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966880"/>
                  </a:ext>
                </a:extLst>
              </a:tr>
              <a:tr h="426508"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rtl="0" fontAlgn="b"/>
                      <a:endParaRPr lang="en-US" sz="1800">
                        <a:effectLst/>
                      </a:endParaRP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b="1" dirty="0">
                          <a:effectLst/>
                        </a:rPr>
                        <a:t>50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b"/>
                      <a:r>
                        <a:rPr lang="en-US" sz="1800" dirty="0">
                          <a:effectLst/>
                        </a:rPr>
                        <a:t>343,594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>
                          <a:effectLst/>
                        </a:rPr>
                        <a:t>300,127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en-US" sz="1800" dirty="0">
                          <a:effectLst/>
                        </a:rPr>
                        <a:t>212,160</a:t>
                      </a:r>
                    </a:p>
                  </a:txBody>
                  <a:tcPr marL="28575" marR="28575" marT="19050" marB="1905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28688401"/>
                  </a:ext>
                </a:extLst>
              </a:tr>
            </a:tbl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A1611819-C6DA-8541-984A-300562961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048" y="50387"/>
            <a:ext cx="8458200" cy="365127"/>
          </a:xfrm>
        </p:spPr>
        <p:txBody>
          <a:bodyPr/>
          <a:lstStyle/>
          <a:p>
            <a:r>
              <a:rPr lang="en-US" sz="1800" dirty="0"/>
              <a:t>Comparison of AT-Returns for C Corp and S Corp/PSH: The Benefits of Deferral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D83475-C6B3-664B-842E-82E3481086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408BE-A077-104D-8852-65986DC6C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B6114D-11FE-A54C-9528-A12DA539F17B}"/>
              </a:ext>
            </a:extLst>
          </p:cNvPr>
          <p:cNvSpPr/>
          <p:nvPr/>
        </p:nvSpPr>
        <p:spPr>
          <a:xfrm>
            <a:off x="4222484" y="5764427"/>
            <a:ext cx="1632178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000" dirty="0">
                <a:hlinkClick r:id="rId2"/>
              </a:rPr>
              <a:t>https://</a:t>
            </a:r>
            <a:r>
              <a:rPr lang="en-US" sz="1000" dirty="0" err="1">
                <a:hlinkClick r:id="rId2"/>
              </a:rPr>
              <a:t>bit.ly</a:t>
            </a:r>
            <a:r>
              <a:rPr lang="en-US" sz="1000" dirty="0">
                <a:hlinkClick r:id="rId2"/>
              </a:rPr>
              <a:t>/2F2KsbX</a:t>
            </a:r>
            <a:endParaRPr 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F6E15B-D1F8-EA35-AE2C-9D84F832FD3E}"/>
              </a:ext>
            </a:extLst>
          </p:cNvPr>
          <p:cNvSpPr txBox="1"/>
          <p:nvPr/>
        </p:nvSpPr>
        <p:spPr>
          <a:xfrm>
            <a:off x="685800" y="827796"/>
            <a:ext cx="7536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Investment at T</a:t>
            </a:r>
            <a:r>
              <a:rPr lang="en-US" baseline="-25000" dirty="0"/>
              <a:t>0 </a:t>
            </a:r>
            <a:r>
              <a:rPr lang="en-US" dirty="0"/>
              <a:t>of 10K generating a pre-tax return of 10%, which is reinvested</a:t>
            </a:r>
          </a:p>
        </p:txBody>
      </p:sp>
    </p:spTree>
    <p:extLst>
      <p:ext uri="{BB962C8B-B14F-4D97-AF65-F5344CB8AC3E}">
        <p14:creationId xmlns:p14="http://schemas.microsoft.com/office/powerpoint/2010/main" val="748285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Espaço Reservado para Tex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Tx/>
              <a:buNone/>
            </a:pPr>
            <a:r>
              <a:rPr lang="pt-BR" dirty="0">
                <a:ea typeface="ＭＳ Ｐゴシック" charset="0"/>
                <a:cs typeface="ＭＳ Ｐゴシック" charset="0"/>
              </a:rPr>
              <a:t> </a:t>
            </a:r>
          </a:p>
        </p:txBody>
      </p:sp>
      <p:sp>
        <p:nvSpPr>
          <p:cNvPr id="2048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b="1" dirty="0">
                <a:ea typeface="ＭＳ Ｐゴシック" charset="0"/>
                <a:cs typeface="ＭＳ Ｐゴシック" charset="0"/>
              </a:rPr>
              <a:t>Marginal </a:t>
            </a:r>
            <a:r>
              <a:rPr lang="pt-BR" b="1" dirty="0" err="1">
                <a:ea typeface="ＭＳ Ｐゴシック" charset="0"/>
                <a:cs typeface="ＭＳ Ｐゴシック" charset="0"/>
              </a:rPr>
              <a:t>Tax</a:t>
            </a:r>
            <a:r>
              <a:rPr lang="pt-BR" b="1" dirty="0">
                <a:ea typeface="ＭＳ Ｐゴシック" charset="0"/>
                <a:cs typeface="ＭＳ Ｐゴシック" charset="0"/>
              </a:rPr>
              <a:t> Rates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7205404-6526-2542-8250-EBBAED52E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Introduction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E4B7D9-0DF2-EC49-80C5-FE56BE21B7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pic>
        <p:nvPicPr>
          <p:cNvPr id="6" name="Picture 5" descr="A close up of a map&#10;&#10;Description automatically generated">
            <a:extLst>
              <a:ext uri="{FF2B5EF4-FFF2-40B4-BE49-F238E27FC236}">
                <a16:creationId xmlns:a16="http://schemas.microsoft.com/office/drawing/2014/main" id="{91CCC8A9-FF4D-7848-B981-C4EFED8258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400" y="685800"/>
            <a:ext cx="8226552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3143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8C4A35-B168-9B44-BF49-F4AB6A777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20% </a:t>
            </a:r>
            <a:r>
              <a:rPr lang="en-US" u="sng" dirty="0"/>
              <a:t>deduction</a:t>
            </a:r>
            <a:r>
              <a:rPr lang="en-US" dirty="0"/>
              <a:t> of a </a:t>
            </a:r>
            <a:r>
              <a:rPr lang="en-US" i="1" dirty="0"/>
              <a:t>non-corporate</a:t>
            </a:r>
            <a:r>
              <a:rPr lang="en-US" dirty="0"/>
              <a:t> taxpayer’s </a:t>
            </a:r>
            <a:r>
              <a:rPr lang="en-US" i="1" dirty="0"/>
              <a:t>Qualified Business Income Amount (QBIA)</a:t>
            </a:r>
          </a:p>
          <a:p>
            <a:r>
              <a:rPr lang="en-US" dirty="0"/>
              <a:t>QBIA: the </a:t>
            </a:r>
            <a:r>
              <a:rPr lang="en-US" b="1" i="1" dirty="0"/>
              <a:t>lesser of:</a:t>
            </a:r>
          </a:p>
          <a:p>
            <a:pPr lvl="1"/>
            <a:r>
              <a:rPr lang="en-US" sz="2200" dirty="0"/>
              <a:t>(A) 20% of QBI with respect to the </a:t>
            </a:r>
            <a:r>
              <a:rPr lang="en-US" sz="2200" i="1" dirty="0"/>
              <a:t>QT/B, or</a:t>
            </a:r>
          </a:p>
          <a:p>
            <a:pPr marL="171450" lvl="1" indent="0">
              <a:buNone/>
            </a:pPr>
            <a:r>
              <a:rPr lang="en-US" sz="2200" dirty="0"/>
              <a:t>		</a:t>
            </a:r>
            <a:r>
              <a:rPr lang="en-US" sz="2200" b="1" dirty="0"/>
              <a:t>the greater of </a:t>
            </a:r>
          </a:p>
          <a:p>
            <a:pPr lvl="1"/>
            <a:r>
              <a:rPr lang="en-US" sz="2200" dirty="0"/>
              <a:t>(B)(</a:t>
            </a:r>
            <a:r>
              <a:rPr lang="en-US" sz="2200" dirty="0" err="1"/>
              <a:t>i</a:t>
            </a:r>
            <a:r>
              <a:rPr lang="en-US" sz="2200" dirty="0"/>
              <a:t>) 50% of the W-2 wages of the QT/B, or</a:t>
            </a:r>
          </a:p>
          <a:p>
            <a:pPr lvl="1"/>
            <a:r>
              <a:rPr lang="en-US" sz="2200" dirty="0"/>
              <a:t>(B)(ii) Sum of 25% W-2 wages PLUS 2.5% of the unadjusted basis immediately after acquisition of all </a:t>
            </a:r>
            <a:r>
              <a:rPr lang="en-US" sz="2200" i="1" dirty="0"/>
              <a:t>qualified property. </a:t>
            </a:r>
            <a:r>
              <a:rPr lang="en-US" sz="2200" dirty="0"/>
              <a:t>§199A(b)(2).</a:t>
            </a:r>
            <a:endParaRPr lang="en-US" sz="2200" i="1" dirty="0"/>
          </a:p>
          <a:p>
            <a:pPr lvl="1"/>
            <a:r>
              <a:rPr lang="en-US" sz="2200" dirty="0"/>
              <a:t>The (B) limit doesn’t apply if the taxpayer’s income is less than $201,775 ($403,500) (inflation adjusted for 2026 </a:t>
            </a:r>
            <a:r>
              <a:rPr lang="en-US" sz="2200"/>
              <a:t>with phaseouts of 75K and 150K)</a:t>
            </a:r>
            <a:endParaRPr lang="en-US" sz="2200" dirty="0"/>
          </a:p>
          <a:p>
            <a:r>
              <a:rPr lang="en-US" i="1" dirty="0"/>
              <a:t>QT/B: </a:t>
            </a:r>
            <a:r>
              <a:rPr lang="en-US" dirty="0"/>
              <a:t>Any business </a:t>
            </a:r>
            <a:r>
              <a:rPr lang="en-US" b="1" dirty="0"/>
              <a:t>except the T/B of being an employee, and</a:t>
            </a:r>
            <a:r>
              <a:rPr lang="en-US" dirty="0"/>
              <a:t>: health, law, accounting, actuarial science, performing arts, consulting, athletics, financial service, brokerage services, </a:t>
            </a:r>
            <a:r>
              <a:rPr lang="en-US" b="1" dirty="0"/>
              <a:t>or any T/b where the principal assets of the T/B is the reputation or skill of 1 or more of its employees</a:t>
            </a:r>
            <a:r>
              <a:rPr lang="en-US" dirty="0"/>
              <a:t>;</a:t>
            </a:r>
          </a:p>
          <a:p>
            <a:pPr lvl="1"/>
            <a:r>
              <a:rPr lang="en-US" sz="2200" dirty="0"/>
              <a:t>Scope of “principal assets of the T/B is the reputation or skill…”? </a:t>
            </a:r>
            <a:r>
              <a:rPr lang="en-US" sz="2200" i="1" dirty="0"/>
              <a:t>See</a:t>
            </a:r>
            <a:r>
              <a:rPr lang="en-US" sz="2200" dirty="0"/>
              <a:t> Reg. §1.199A-5(b)(2)(xiv)</a:t>
            </a:r>
          </a:p>
          <a:p>
            <a:pPr lvl="1"/>
            <a:r>
              <a:rPr lang="en-US" sz="2200" dirty="0"/>
              <a:t>Exception for </a:t>
            </a:r>
            <a:r>
              <a:rPr lang="en-US" sz="2200" i="1" dirty="0"/>
              <a:t>specified service business</a:t>
            </a:r>
            <a:r>
              <a:rPr lang="en-US" sz="2200" dirty="0"/>
              <a:t>: If the taxpayer’s income is less than $182,100 ($364,200) (2026), a specified service, </a:t>
            </a:r>
            <a:r>
              <a:rPr lang="en-US" sz="2200" b="1" dirty="0"/>
              <a:t>e.g., law</a:t>
            </a:r>
            <a:r>
              <a:rPr lang="en-US" sz="2200" dirty="0"/>
              <a:t>, will be treated as a QT/B. §199A(d)(3)(A).</a:t>
            </a:r>
          </a:p>
          <a:p>
            <a:pPr lvl="2"/>
            <a:endParaRPr lang="en-US" i="1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0FCEDB-B3AA-B544-98D3-81D3BAF58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199A:  Ugh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C8C64-92AD-0E4C-BE5C-1F3404C1C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13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44CDEF-D1AA-EC4A-9E09-518B78256F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517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Sole Proprietorship/Branch/Division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Partnership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GP, LP, LLP, and </a:t>
            </a:r>
            <a:r>
              <a:rPr lang="en-US" dirty="0" err="1">
                <a:ea typeface="ＭＳ Ｐゴシック" charset="0"/>
              </a:rPr>
              <a:t>LLLP</a:t>
            </a:r>
            <a:endParaRPr lang="en-US" dirty="0">
              <a:ea typeface="ＭＳ Ｐゴシック" charset="0"/>
            </a:endParaRP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LLC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Corporation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Business Trust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Analysis: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Is there a separate entity for </a:t>
            </a:r>
            <a:r>
              <a:rPr lang="en-US" b="1" i="1" dirty="0">
                <a:ea typeface="ＭＳ Ｐゴシック" charset="0"/>
              </a:rPr>
              <a:t>federal </a:t>
            </a:r>
            <a:r>
              <a:rPr lang="en-US" dirty="0">
                <a:ea typeface="ＭＳ Ｐゴシック" charset="0"/>
              </a:rPr>
              <a:t>tax purposes?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Is the entity a SP/B/D, </a:t>
            </a: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, or Corp?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Choice of Business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Oval 6"/>
          <p:cNvSpPr/>
          <p:nvPr/>
        </p:nvSpPr>
        <p:spPr bwMode="auto">
          <a:xfrm>
            <a:off x="228600" y="2133600"/>
            <a:ext cx="3429000" cy="1143000"/>
          </a:xfrm>
          <a:prstGeom prst="ellipse">
            <a:avLst/>
          </a:prstGeom>
          <a:noFill/>
          <a:ln w="222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1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Verdana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57031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Any entity recognized for federal tax purposes (including a single member entity (“SME”)) that is not a trust or subject to special treatment under the IRC</a:t>
            </a:r>
          </a:p>
          <a:p>
            <a:pPr>
              <a:lnSpc>
                <a:spcPct val="90000"/>
              </a:lnSpc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u="sng" dirty="0">
                <a:ea typeface="ＭＳ Ｐゴシック" charset="0"/>
                <a:cs typeface="ＭＳ Ｐゴシック" charset="0"/>
              </a:rPr>
              <a:t>Business Entity with 2 or more members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Corporation, or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Partnership</a:t>
            </a:r>
          </a:p>
          <a:p>
            <a:pPr>
              <a:lnSpc>
                <a:spcPct val="90000"/>
              </a:lnSpc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90000"/>
              </a:lnSpc>
            </a:pPr>
            <a:r>
              <a:rPr lang="en-US" u="sng" dirty="0">
                <a:ea typeface="ＭＳ Ｐゴシック" charset="0"/>
                <a:cs typeface="ＭＳ Ｐゴシック" charset="0"/>
              </a:rPr>
              <a:t>Business Entity with 1 member (SME)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Disregarded Entity (</a:t>
            </a:r>
            <a:r>
              <a:rPr lang="ja-JP" altLang="en-US" dirty="0">
                <a:ea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</a:rPr>
              <a:t>tax nothing</a:t>
            </a:r>
            <a:r>
              <a:rPr lang="ja-JP" altLang="en-US" dirty="0">
                <a:ea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</a:rPr>
              <a:t>), or </a:t>
            </a:r>
          </a:p>
          <a:p>
            <a:pPr lvl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Corporation.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301.7701-2(a).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Business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15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0440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Business entity not classified as a corporation—an Eligible Entity (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EE</a:t>
            </a:r>
            <a:r>
              <a:rPr lang="ja-JP" altLang="en-US" dirty="0">
                <a:ea typeface="ＭＳ Ｐゴシック" charset="0"/>
                <a:cs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)—can choose its tax status   √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EE with two or more members is either an  association or a </a:t>
            </a:r>
            <a:r>
              <a:rPr lang="en-US" dirty="0" err="1">
                <a:ea typeface="ＭＳ Ｐゴシック" charset="0"/>
              </a:rPr>
              <a:t>PSH</a:t>
            </a:r>
            <a:endParaRPr lang="en-US" dirty="0">
              <a:ea typeface="ＭＳ Ｐゴシック" charset="0"/>
            </a:endParaRPr>
          </a:p>
          <a:p>
            <a:pPr lvl="1" eaLnBrk="1" hangingPunct="1"/>
            <a:r>
              <a:rPr lang="en-US" dirty="0">
                <a:ea typeface="ＭＳ Ｐゴシック" charset="0"/>
              </a:rPr>
              <a:t>EE with one member (</a:t>
            </a:r>
            <a:r>
              <a:rPr lang="ja-JP" altLang="en-US" dirty="0">
                <a:ea typeface="ＭＳ Ｐゴシック" charset="0"/>
              </a:rPr>
              <a:t>“</a:t>
            </a:r>
            <a:r>
              <a:rPr lang="en-US" altLang="ja-JP" dirty="0">
                <a:ea typeface="ＭＳ Ｐゴシック" charset="0"/>
              </a:rPr>
              <a:t>SME</a:t>
            </a:r>
            <a:r>
              <a:rPr lang="ja-JP" altLang="en-US" dirty="0">
                <a:ea typeface="ＭＳ Ｐゴシック" charset="0"/>
              </a:rPr>
              <a:t>”</a:t>
            </a:r>
            <a:r>
              <a:rPr lang="en-US" altLang="ja-JP" dirty="0">
                <a:ea typeface="ＭＳ Ｐゴシック" charset="0"/>
              </a:rPr>
              <a:t>) is either:</a:t>
            </a:r>
          </a:p>
          <a:p>
            <a:pPr lvl="2" eaLnBrk="1" hangingPunct="1"/>
            <a:r>
              <a:rPr lang="en-US" altLang="ja-JP" dirty="0">
                <a:ea typeface="ＭＳ Ｐゴシック" charset="0"/>
              </a:rPr>
              <a:t>Association, or </a:t>
            </a:r>
          </a:p>
          <a:p>
            <a:pPr lvl="2" eaLnBrk="1" hangingPunct="1"/>
            <a:r>
              <a:rPr lang="en-US" altLang="ja-JP" dirty="0">
                <a:ea typeface="ＭＳ Ｐゴシック" charset="0"/>
              </a:rPr>
              <a:t>disregarded entity (sole proprietorship, branch, division) (-2(a))</a:t>
            </a:r>
          </a:p>
          <a:p>
            <a:r>
              <a:rPr lang="en-US" dirty="0">
                <a:solidFill>
                  <a:srgbClr val="E9171F"/>
                </a:solidFill>
                <a:ea typeface="ＭＳ Ｐゴシック" charset="0"/>
                <a:cs typeface="ＭＳ Ｐゴシック" charset="0"/>
              </a:rPr>
              <a:t>Default</a:t>
            </a:r>
            <a:r>
              <a:rPr lang="en-US" dirty="0">
                <a:solidFill>
                  <a:srgbClr val="FF1029"/>
                </a:solidFill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ea typeface="ＭＳ Ｐゴシック" charset="0"/>
                <a:cs typeface="ＭＳ Ｐゴシック" charset="0"/>
              </a:rPr>
              <a:t>classification for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domestic</a:t>
            </a:r>
            <a:r>
              <a:rPr lang="en-US" dirty="0">
                <a:ea typeface="ＭＳ Ｐゴシック" charset="0"/>
                <a:cs typeface="ＭＳ Ｐゴシック" charset="0"/>
              </a:rPr>
              <a:t> EE:</a:t>
            </a:r>
          </a:p>
          <a:p>
            <a:pPr lvl="1" eaLnBrk="1" hangingPunct="1"/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 if 2 or more members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Disregarded entity if single owner (-3(b))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Eligible Entity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7" name="Rectangle 6"/>
          <p:cNvSpPr>
            <a:spLocks noChangeArrowheads="1"/>
          </p:cNvSpPr>
          <p:nvPr/>
        </p:nvSpPr>
        <p:spPr bwMode="auto">
          <a:xfrm>
            <a:off x="4800600" y="990600"/>
            <a:ext cx="457200" cy="381000"/>
          </a:xfrm>
          <a:prstGeom prst="rect">
            <a:avLst/>
          </a:prstGeom>
          <a:noFill/>
          <a:ln w="19050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34704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Federal law controls, but legal relations governed by state law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Entity organized pursuant to state corporate statutes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Certain foreign entities are </a:t>
            </a:r>
            <a:r>
              <a:rPr lang="en-US" i="1" dirty="0">
                <a:ea typeface="ＭＳ Ｐゴシック" charset="0"/>
              </a:rPr>
              <a:t>per se</a:t>
            </a:r>
            <a:r>
              <a:rPr lang="en-US" dirty="0">
                <a:ea typeface="ＭＳ Ｐゴシック" charset="0"/>
              </a:rPr>
              <a:t> corporations:</a:t>
            </a:r>
          </a:p>
          <a:p>
            <a:pPr lvl="2" eaLnBrk="1" hangingPunct="1"/>
            <a:r>
              <a:rPr lang="en-US" dirty="0">
                <a:ea typeface="ＭＳ Ｐゴシック" charset="0"/>
              </a:rPr>
              <a:t>Sociedad </a:t>
            </a:r>
            <a:r>
              <a:rPr lang="en-US" dirty="0" err="1">
                <a:ea typeface="ＭＳ Ｐゴシック" charset="0"/>
              </a:rPr>
              <a:t>Anónima</a:t>
            </a:r>
            <a:r>
              <a:rPr lang="en-US" dirty="0">
                <a:ea typeface="ＭＳ Ｐゴシック" charset="0"/>
              </a:rPr>
              <a:t> (SA)</a:t>
            </a:r>
          </a:p>
          <a:p>
            <a:pPr lvl="2" eaLnBrk="1" hangingPunct="1"/>
            <a:r>
              <a:rPr lang="en-US">
                <a:ea typeface="ＭＳ Ｐゴシック" charset="0"/>
              </a:rPr>
              <a:t>Société </a:t>
            </a:r>
            <a:r>
              <a:rPr lang="en-US" dirty="0">
                <a:ea typeface="ＭＳ Ｐゴシック" charset="0"/>
              </a:rPr>
              <a:t>Anonyme (SA)</a:t>
            </a:r>
          </a:p>
          <a:p>
            <a:pPr lvl="2" eaLnBrk="1" hangingPunct="1"/>
            <a:r>
              <a:rPr lang="en-US" dirty="0">
                <a:ea typeface="ＭＳ Ｐゴシック" charset="0"/>
              </a:rPr>
              <a:t>Public Limited Company</a:t>
            </a:r>
          </a:p>
          <a:p>
            <a:pPr lvl="2" eaLnBrk="1" hangingPunct="1"/>
            <a:r>
              <a:rPr lang="en-US" dirty="0" err="1">
                <a:ea typeface="ＭＳ Ｐゴシック" charset="0"/>
              </a:rPr>
              <a:t>Aktiengesellschaft</a:t>
            </a:r>
            <a:r>
              <a:rPr lang="en-US" dirty="0">
                <a:ea typeface="ＭＳ Ｐゴシック" charset="0"/>
              </a:rPr>
              <a:t> (AG)</a:t>
            </a:r>
          </a:p>
          <a:p>
            <a:pPr lvl="2" eaLnBrk="1" hangingPunct="1"/>
            <a:r>
              <a:rPr lang="en-US" dirty="0" err="1">
                <a:ea typeface="ＭＳ Ｐゴシック" charset="0"/>
              </a:rPr>
              <a:t>Gufen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Youxian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Gongsi</a:t>
            </a:r>
            <a:endParaRPr lang="en-US" dirty="0">
              <a:ea typeface="ＭＳ Ｐゴシック" charset="0"/>
            </a:endParaRPr>
          </a:p>
          <a:p>
            <a:pPr lvl="2" eaLnBrk="1" hangingPunct="1"/>
            <a:r>
              <a:rPr lang="en-US" dirty="0" err="1">
                <a:ea typeface="ＭＳ Ｐゴシック" charset="0"/>
              </a:rPr>
              <a:t>Societas</a:t>
            </a:r>
            <a:r>
              <a:rPr lang="en-US" dirty="0">
                <a:ea typeface="ＭＳ Ｐゴシック" charset="0"/>
              </a:rPr>
              <a:t> </a:t>
            </a:r>
            <a:r>
              <a:rPr lang="en-US" dirty="0" err="1">
                <a:ea typeface="ＭＳ Ｐゴシック" charset="0"/>
              </a:rPr>
              <a:t>Europaea</a:t>
            </a:r>
            <a:r>
              <a:rPr lang="en-US" dirty="0">
                <a:ea typeface="ＭＳ Ｐゴシック" charset="0"/>
              </a:rPr>
              <a:t> (-2(b)(8))</a:t>
            </a:r>
          </a:p>
          <a:p>
            <a:pPr lvl="1" eaLnBrk="1" hangingPunct="1"/>
            <a:r>
              <a:rPr lang="en-US" dirty="0">
                <a:ea typeface="ＭＳ Ｐゴシック" charset="0"/>
              </a:rPr>
              <a:t>Insurance companies</a:t>
            </a:r>
          </a:p>
          <a:p>
            <a:pPr lvl="1"/>
            <a:r>
              <a:rPr lang="en-US" dirty="0">
                <a:ea typeface="ＭＳ Ｐゴシック" charset="0"/>
              </a:rPr>
              <a:t>Associations.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7701(a)(3);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301.7701-2(b)</a:t>
            </a:r>
          </a:p>
          <a:p>
            <a:pPr lvl="1" eaLnBrk="1" hangingPunct="1">
              <a:buFont typeface="Wingdings" charset="0"/>
              <a:buNone/>
            </a:pPr>
            <a:endParaRPr lang="en-US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Corporation Defined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2958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EE can </a:t>
            </a:r>
            <a:r>
              <a:rPr lang="en-US" dirty="0">
                <a:solidFill>
                  <a:srgbClr val="FF1029"/>
                </a:solidFill>
                <a:ea typeface="ＭＳ Ｐゴシック" charset="0"/>
                <a:cs typeface="ＭＳ Ｐゴシック" charset="0"/>
              </a:rPr>
              <a:t>elect</a:t>
            </a:r>
            <a:r>
              <a:rPr lang="en-US" dirty="0">
                <a:ea typeface="ＭＳ Ｐゴシック" charset="0"/>
                <a:cs typeface="ＭＳ Ｐゴシック" charset="0"/>
              </a:rPr>
              <a:t>  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√</a:t>
            </a:r>
            <a:r>
              <a:rPr lang="en-US" dirty="0">
                <a:ea typeface="ＭＳ Ｐゴシック" charset="0"/>
                <a:cs typeface="ＭＳ Ｐゴシック" charset="0"/>
              </a:rPr>
              <a:t>    alternate tax status: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EE with 2 or more members can elect to be taxed as an association (corporation)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SME can elect to be taxed as an association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Form 8832 (-3(c))</a:t>
            </a:r>
          </a:p>
          <a:p>
            <a:pPr marL="965200" lvl="1" indent="-279400" eaLnBrk="1" hangingPunct="1">
              <a:tabLst>
                <a:tab pos="914400" algn="l"/>
              </a:tabLst>
            </a:pPr>
            <a:endParaRPr lang="en-US" sz="2800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Election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18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6" name="Rectangle 5"/>
          <p:cNvSpPr>
            <a:spLocks noChangeArrowheads="1"/>
          </p:cNvSpPr>
          <p:nvPr/>
        </p:nvSpPr>
        <p:spPr bwMode="auto">
          <a:xfrm>
            <a:off x="2438400" y="568377"/>
            <a:ext cx="457200" cy="457200"/>
          </a:xfrm>
          <a:prstGeom prst="rect">
            <a:avLst/>
          </a:prstGeom>
          <a:noFill/>
          <a:ln w="2222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00410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tabLst>
                <a:tab pos="914400" algn="l"/>
              </a:tabLst>
            </a:pP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if two or more members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and</a:t>
            </a:r>
            <a:r>
              <a:rPr lang="en-US" dirty="0">
                <a:ea typeface="ＭＳ Ｐゴシック" charset="0"/>
                <a:cs typeface="ＭＳ Ｐゴシック" charset="0"/>
              </a:rPr>
              <a:t> at least one member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doesn’</a:t>
            </a:r>
            <a:r>
              <a:rPr lang="en-US" altLang="ja-JP" u="sng" dirty="0">
                <a:ea typeface="ＭＳ Ｐゴシック" charset="0"/>
                <a:cs typeface="ＭＳ Ｐゴシック" charset="0"/>
              </a:rPr>
              <a:t>t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Association if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all</a:t>
            </a:r>
            <a:r>
              <a:rPr lang="en-US" dirty="0">
                <a:ea typeface="ＭＳ Ｐゴシック" charset="0"/>
                <a:cs typeface="ＭＳ Ｐゴシック" charset="0"/>
              </a:rPr>
              <a:t> members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DRE if single owner who does not have limited liability</a:t>
            </a:r>
          </a:p>
          <a:p>
            <a:pPr marL="457200" indent="-457200"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Liability determined under foreign law or organizational documents (-3(b)(2))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CTB</a:t>
            </a:r>
            <a:r>
              <a:rPr lang="en-US" dirty="0"/>
              <a:t> </a:t>
            </a:r>
            <a:r>
              <a:rPr lang="en-US" dirty="0" err="1"/>
              <a:t>Regs</a:t>
            </a:r>
            <a:r>
              <a:rPr lang="en-US" dirty="0"/>
              <a:t>: Default Classification of </a:t>
            </a:r>
            <a:r>
              <a:rPr lang="en-US" i="1" dirty="0"/>
              <a:t>Foreign</a:t>
            </a:r>
            <a:r>
              <a:rPr lang="en-US" dirty="0"/>
              <a:t> Eligible Entities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19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963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u="sng" dirty="0">
                <a:ea typeface="ＭＳ Ｐゴシック" charset="0"/>
                <a:cs typeface="ＭＳ Ｐゴシック" charset="0"/>
              </a:rPr>
              <a:t>Effective date</a:t>
            </a:r>
            <a:r>
              <a:rPr lang="en-US" dirty="0">
                <a:ea typeface="ＭＳ Ｐゴシック" charset="0"/>
                <a:cs typeface="ＭＳ Ｐゴシック" charset="0"/>
              </a:rPr>
              <a:t>:  dated listed on Form 8832 or filing date, but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Not more than 75 days prior to filing date, or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Not more than 12 months after filing date. (-3(c)(1)(iii))</a:t>
            </a: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endParaRPr lang="en-US" u="sng" dirty="0">
              <a:ea typeface="ＭＳ Ｐゴシック" charset="0"/>
              <a:cs typeface="ＭＳ Ｐゴシック" charset="0"/>
            </a:endParaRP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u="sng" dirty="0">
                <a:ea typeface="ＭＳ Ｐゴシック" charset="0"/>
                <a:cs typeface="ＭＳ Ｐゴシック" charset="0"/>
              </a:rPr>
              <a:t>Relief for Late Filing</a:t>
            </a:r>
            <a:r>
              <a:rPr lang="en-US" dirty="0">
                <a:ea typeface="ＭＳ Ｐゴシック" charset="0"/>
                <a:cs typeface="ＭＳ Ｐゴシック" charset="0"/>
              </a:rPr>
              <a:t>:  Rev. Proc. 2013-30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New entity can request relief for late filing if election filed by return due date</a:t>
            </a: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 marL="223838" indent="-223838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  <a:cs typeface="ＭＳ Ｐゴシック" charset="0"/>
              </a:rPr>
              <a:t>An EE that </a:t>
            </a:r>
            <a:r>
              <a:rPr lang="en-US" u="sng" dirty="0">
                <a:ea typeface="ＭＳ Ｐゴシック" charset="0"/>
                <a:cs typeface="ＭＳ Ｐゴシック" charset="0"/>
              </a:rPr>
              <a:t>changes its classification</a:t>
            </a:r>
            <a:r>
              <a:rPr lang="en-US" dirty="0">
                <a:ea typeface="ＭＳ Ｐゴシック" charset="0"/>
                <a:cs typeface="ＭＳ Ｐゴシック" charset="0"/>
              </a:rPr>
              <a:t> cannot change its classification again during the next 60 months, except if there is a &gt;50% change in ownership and CIR consents.</a:t>
            </a:r>
          </a:p>
          <a:p>
            <a:pPr marL="627063" lvl="1" indent="-223838" eaLnBrk="1" hangingPunct="1">
              <a:lnSpc>
                <a:spcPct val="90000"/>
              </a:lnSpc>
              <a:tabLst>
                <a:tab pos="914400" algn="l"/>
              </a:tabLst>
            </a:pPr>
            <a:r>
              <a:rPr lang="en-US" dirty="0">
                <a:ea typeface="ＭＳ Ｐゴシック" charset="0"/>
              </a:rPr>
              <a:t>An initial election is not considered a change. (-3(c)(1)(iv))</a:t>
            </a:r>
            <a:endParaRPr lang="en-US" sz="1600" dirty="0">
              <a:ea typeface="ＭＳ Ｐゴシック" charset="0"/>
            </a:endParaRP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CTB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Regs</a:t>
            </a:r>
            <a:r>
              <a:rPr lang="en-US" dirty="0">
                <a:ea typeface="ＭＳ Ｐゴシック" charset="0"/>
                <a:cs typeface="ＭＳ Ｐゴシック" charset="0"/>
              </a:rPr>
              <a:t>: Election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20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3560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b="1" dirty="0" err="1">
                <a:ea typeface="ＭＳ Ｐゴシック" charset="0"/>
                <a:cs typeface="ＭＳ Ｐゴシック" charset="0"/>
              </a:rPr>
              <a:t>PHS</a:t>
            </a:r>
            <a:r>
              <a:rPr lang="en-US" b="1" dirty="0">
                <a:ea typeface="ＭＳ Ｐゴシック" charset="0"/>
                <a:cs typeface="ＭＳ Ｐゴシック" charset="0"/>
              </a:rPr>
              <a:t>-&gt;Association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contributes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Assoc. in exchange for stock and the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liquidates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Association-&gt;</a:t>
            </a:r>
            <a:r>
              <a:rPr lang="en-US" b="1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:  Association distributes assets to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dirty="0">
                <a:ea typeface="ＭＳ Ｐゴシック" charset="0"/>
                <a:cs typeface="ＭＳ Ｐゴシック" charset="0"/>
              </a:rPr>
              <a:t>, and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SHs</a:t>
            </a:r>
            <a:r>
              <a:rPr lang="en-US" dirty="0">
                <a:ea typeface="ＭＳ Ｐゴシック" charset="0"/>
                <a:cs typeface="ＭＳ Ｐゴシック" charset="0"/>
              </a:rPr>
              <a:t> contribute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new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Association-&gt;DRE</a:t>
            </a:r>
            <a:r>
              <a:rPr lang="en-US" dirty="0">
                <a:ea typeface="ＭＳ Ｐゴシック" charset="0"/>
                <a:cs typeface="ＭＳ Ｐゴシック" charset="0"/>
              </a:rPr>
              <a:t>:  </a:t>
            </a:r>
            <a:r>
              <a:rPr lang="en-US" b="1" i="1" dirty="0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Association liquidates and distributes </a:t>
            </a:r>
            <a:r>
              <a:rPr lang="en-US" b="1" i="1" dirty="0" err="1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A&amp;L</a:t>
            </a:r>
            <a:r>
              <a:rPr lang="en-US" b="1" i="1" dirty="0">
                <a:solidFill>
                  <a:srgbClr val="C00000"/>
                </a:solidFill>
                <a:ea typeface="ＭＳ Ｐゴシック" charset="0"/>
                <a:cs typeface="ＭＳ Ｐゴシック" charset="0"/>
              </a:rPr>
              <a:t> to single owner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DRE-&gt;Association:  </a:t>
            </a:r>
            <a:r>
              <a:rPr lang="en-US" dirty="0">
                <a:ea typeface="ＭＳ Ｐゴシック" charset="0"/>
                <a:cs typeface="ＭＳ Ｐゴシック" charset="0"/>
              </a:rPr>
              <a:t>Owner of DRE contributes all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 to the Assoc. in exchange for stock (-3(g)) 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Rev. Rul. 2004-59</a:t>
            </a:r>
            <a:r>
              <a:rPr lang="en-US" dirty="0">
                <a:ea typeface="ＭＳ Ｐゴシック" charset="0"/>
                <a:cs typeface="ＭＳ Ｐゴシック" charset="0"/>
              </a:rPr>
              <a:t>:  Conversion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into Corp pursuant to state law not requiring transfer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A&amp;L</a:t>
            </a:r>
            <a:r>
              <a:rPr lang="en-US" dirty="0">
                <a:ea typeface="ＭＳ Ｐゴシック" charset="0"/>
                <a:cs typeface="ＭＳ Ｐゴシック" charset="0"/>
              </a:rPr>
              <a:t>—</a:t>
            </a:r>
            <a:r>
              <a:rPr lang="en-US" i="1" dirty="0">
                <a:ea typeface="ＭＳ Ｐゴシック" charset="0"/>
                <a:cs typeface="ＭＳ Ｐゴシック" charset="0"/>
              </a:rPr>
              <a:t>formless conversion</a:t>
            </a:r>
            <a:r>
              <a:rPr lang="en-US" dirty="0">
                <a:ea typeface="ＭＳ Ｐゴシック" charset="0"/>
                <a:cs typeface="ＭＳ Ｐゴシック" charset="0"/>
              </a:rPr>
              <a:t>—treated as contribution of assets to new Corp, liquidation of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, and distribution of stock by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PSH</a:t>
            </a:r>
            <a:r>
              <a:rPr lang="en-US" dirty="0">
                <a:ea typeface="ＭＳ Ｐゴシック" charset="0"/>
                <a:cs typeface="ＭＳ Ｐゴシック" charset="0"/>
              </a:rPr>
              <a:t> to Ps.</a:t>
            </a:r>
            <a:r>
              <a:rPr lang="en-US" b="1" dirty="0">
                <a:ea typeface="ＭＳ Ｐゴシック" charset="0"/>
                <a:cs typeface="ＭＳ Ｐゴシック" charset="0"/>
              </a:rPr>
              <a:t> </a:t>
            </a:r>
          </a:p>
          <a:p>
            <a:pPr>
              <a:lnSpc>
                <a:spcPct val="80000"/>
              </a:lnSpc>
            </a:pPr>
            <a:r>
              <a:rPr lang="en-US" b="1" dirty="0">
                <a:ea typeface="ＭＳ Ｐゴシック" charset="0"/>
                <a:cs typeface="ＭＳ Ｐゴシック" charset="0"/>
              </a:rPr>
              <a:t>Change in Number of Members </a:t>
            </a:r>
            <a:r>
              <a:rPr lang="en-US" dirty="0">
                <a:ea typeface="ＭＳ Ｐゴシック" charset="0"/>
                <a:cs typeface="ＭＳ Ｐゴシック" charset="0"/>
              </a:rPr>
              <a:t>(-3(f))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-&gt;DRE:  Rev. Rul. 99-6</a:t>
            </a:r>
          </a:p>
          <a:p>
            <a:pPr lvl="1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DRE-&gt;</a:t>
            </a:r>
            <a:r>
              <a:rPr lang="en-US" dirty="0" err="1">
                <a:ea typeface="ＭＳ Ｐゴシック" charset="0"/>
              </a:rPr>
              <a:t>PSH</a:t>
            </a:r>
            <a:r>
              <a:rPr lang="en-US" dirty="0">
                <a:ea typeface="ＭＳ Ｐゴシック" charset="0"/>
              </a:rPr>
              <a:t>:  Rev. Rul. 99-5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ea typeface="ＭＳ Ｐゴシック" charset="0"/>
                <a:cs typeface="ＭＳ Ｐゴシック" charset="0"/>
              </a:rPr>
              <a:t>CTB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 err="1">
                <a:ea typeface="ＭＳ Ｐゴシック" charset="0"/>
                <a:cs typeface="ＭＳ Ｐゴシック" charset="0"/>
              </a:rPr>
              <a:t>Regs</a:t>
            </a:r>
            <a:r>
              <a:rPr lang="en-US" dirty="0">
                <a:ea typeface="ＭＳ Ｐゴシック" charset="0"/>
                <a:cs typeface="ＭＳ Ｐゴシック" charset="0"/>
              </a:rPr>
              <a:t>:  Classification Changes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21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46060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Graphical Representations of Entities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22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1524000" y="1371600"/>
            <a:ext cx="1371600" cy="6096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Corp</a:t>
            </a:r>
          </a:p>
        </p:txBody>
      </p:sp>
      <p:sp>
        <p:nvSpPr>
          <p:cNvPr id="7" name="Rectangle 5"/>
          <p:cNvSpPr>
            <a:spLocks noChangeArrowheads="1"/>
          </p:cNvSpPr>
          <p:nvPr/>
        </p:nvSpPr>
        <p:spPr bwMode="auto">
          <a:xfrm>
            <a:off x="1568346" y="2618907"/>
            <a:ext cx="12954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LLC</a:t>
            </a:r>
          </a:p>
        </p:txBody>
      </p:sp>
      <p:sp>
        <p:nvSpPr>
          <p:cNvPr id="8" name="AutoShape 6"/>
          <p:cNvSpPr>
            <a:spLocks noChangeArrowheads="1"/>
          </p:cNvSpPr>
          <p:nvPr/>
        </p:nvSpPr>
        <p:spPr bwMode="auto">
          <a:xfrm>
            <a:off x="1676400" y="3810000"/>
            <a:ext cx="1219200" cy="914400"/>
          </a:xfrm>
          <a:prstGeom prst="triangle">
            <a:avLst>
              <a:gd name="adj" fmla="val 50000"/>
            </a:avLst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eaLnBrk="1" hangingPunct="1"/>
            <a:r>
              <a:rPr lang="en-US" sz="2000" b="1" dirty="0" err="1">
                <a:latin typeface="Calibri" charset="0"/>
              </a:rPr>
              <a:t>PSH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9" name="Line 7"/>
          <p:cNvSpPr>
            <a:spLocks noChangeShapeType="1"/>
          </p:cNvSpPr>
          <p:nvPr/>
        </p:nvSpPr>
        <p:spPr bwMode="auto">
          <a:xfrm flipH="1">
            <a:off x="1600200" y="2590800"/>
            <a:ext cx="6858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0" name="Line 8"/>
          <p:cNvSpPr>
            <a:spLocks noChangeShapeType="1"/>
          </p:cNvSpPr>
          <p:nvPr/>
        </p:nvSpPr>
        <p:spPr bwMode="auto">
          <a:xfrm>
            <a:off x="2286000" y="2618907"/>
            <a:ext cx="609600" cy="58149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1" name="Rectangle 9"/>
          <p:cNvSpPr>
            <a:spLocks noChangeArrowheads="1"/>
          </p:cNvSpPr>
          <p:nvPr/>
        </p:nvSpPr>
        <p:spPr bwMode="auto">
          <a:xfrm>
            <a:off x="4038600" y="1447800"/>
            <a:ext cx="14478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endParaRPr lang="en-US" dirty="0">
              <a:latin typeface="Calibri"/>
            </a:endParaRPr>
          </a:p>
        </p:txBody>
      </p:sp>
      <p:sp>
        <p:nvSpPr>
          <p:cNvPr id="12" name="Oval 10"/>
          <p:cNvSpPr>
            <a:spLocks noChangeArrowheads="1"/>
          </p:cNvSpPr>
          <p:nvPr/>
        </p:nvSpPr>
        <p:spPr bwMode="auto">
          <a:xfrm>
            <a:off x="4038600" y="1447800"/>
            <a:ext cx="1447800" cy="609600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 err="1">
                <a:latin typeface="Calibri" charset="0"/>
              </a:rPr>
              <a:t>DRE</a:t>
            </a:r>
            <a:endParaRPr lang="en-US" sz="2400" b="1" dirty="0">
              <a:latin typeface="Calibri" charset="0"/>
            </a:endParaRPr>
          </a:p>
        </p:txBody>
      </p:sp>
      <p:sp>
        <p:nvSpPr>
          <p:cNvPr id="13" name="Rectangle 11"/>
          <p:cNvSpPr>
            <a:spLocks noChangeArrowheads="1"/>
          </p:cNvSpPr>
          <p:nvPr/>
        </p:nvSpPr>
        <p:spPr bwMode="auto">
          <a:xfrm>
            <a:off x="3962400" y="2590800"/>
            <a:ext cx="1600200" cy="6096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b"/>
          <a:lstStyle/>
          <a:p>
            <a:pPr algn="ctr" eaLnBrk="1" hangingPunct="1"/>
            <a:r>
              <a:rPr lang="en-US" sz="1600" b="1" dirty="0">
                <a:latin typeface="Calibri" charset="0"/>
              </a:rPr>
              <a:t>Hybrid</a:t>
            </a:r>
            <a:endParaRPr lang="en-US" sz="1800" b="1" dirty="0">
              <a:latin typeface="Calibri" charset="0"/>
            </a:endParaRPr>
          </a:p>
        </p:txBody>
      </p:sp>
      <p:sp>
        <p:nvSpPr>
          <p:cNvPr id="14" name="Line 12"/>
          <p:cNvSpPr>
            <a:spLocks noChangeShapeType="1"/>
          </p:cNvSpPr>
          <p:nvPr/>
        </p:nvSpPr>
        <p:spPr bwMode="auto">
          <a:xfrm flipH="1">
            <a:off x="3962400" y="2590800"/>
            <a:ext cx="8382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5" name="Line 13"/>
          <p:cNvSpPr>
            <a:spLocks noChangeShapeType="1"/>
          </p:cNvSpPr>
          <p:nvPr/>
        </p:nvSpPr>
        <p:spPr bwMode="auto">
          <a:xfrm>
            <a:off x="4800600" y="2590800"/>
            <a:ext cx="7620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6" name="Rectangle 14"/>
          <p:cNvSpPr>
            <a:spLocks noChangeArrowheads="1"/>
          </p:cNvSpPr>
          <p:nvPr/>
        </p:nvSpPr>
        <p:spPr bwMode="auto">
          <a:xfrm>
            <a:off x="3962400" y="3886200"/>
            <a:ext cx="1600200" cy="612912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1200" b="1" dirty="0">
                <a:latin typeface="Calibri" charset="0"/>
              </a:rPr>
              <a:t>Reverse</a:t>
            </a:r>
          </a:p>
          <a:p>
            <a:pPr algn="ctr" eaLnBrk="1" hangingPunct="1"/>
            <a:r>
              <a:rPr lang="en-US" sz="1200" b="1" dirty="0">
                <a:latin typeface="Calibri" charset="0"/>
              </a:rPr>
              <a:t>Hybrid</a:t>
            </a:r>
          </a:p>
        </p:txBody>
      </p:sp>
      <p:sp>
        <p:nvSpPr>
          <p:cNvPr id="17" name="Line 15"/>
          <p:cNvSpPr>
            <a:spLocks noChangeShapeType="1"/>
          </p:cNvSpPr>
          <p:nvPr/>
        </p:nvSpPr>
        <p:spPr bwMode="auto">
          <a:xfrm>
            <a:off x="3962400" y="3886200"/>
            <a:ext cx="838200" cy="60960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pPr algn="ctr"/>
            <a:endParaRPr lang="en-US" dirty="0">
              <a:latin typeface="Calibri"/>
            </a:endParaRPr>
          </a:p>
        </p:txBody>
      </p:sp>
      <p:sp>
        <p:nvSpPr>
          <p:cNvPr id="18" name="Line 16"/>
          <p:cNvSpPr>
            <a:spLocks noChangeShapeType="1"/>
          </p:cNvSpPr>
          <p:nvPr/>
        </p:nvSpPr>
        <p:spPr bwMode="auto">
          <a:xfrm flipH="1">
            <a:off x="4800600" y="3886199"/>
            <a:ext cx="762000" cy="609601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  <p:txBody>
          <a:bodyPr/>
          <a:lstStyle/>
          <a:p>
            <a:endParaRPr lang="en-US" dirty="0">
              <a:latin typeface="Calibri"/>
            </a:endParaRPr>
          </a:p>
        </p:txBody>
      </p:sp>
      <p:sp>
        <p:nvSpPr>
          <p:cNvPr id="19" name="Rectangle 17"/>
          <p:cNvSpPr>
            <a:spLocks noChangeArrowheads="1"/>
          </p:cNvSpPr>
          <p:nvPr/>
        </p:nvSpPr>
        <p:spPr bwMode="auto">
          <a:xfrm>
            <a:off x="6364224" y="1447800"/>
            <a:ext cx="1600200" cy="6096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2400" b="1" dirty="0">
                <a:latin typeface="Calibri" charset="0"/>
              </a:rPr>
              <a:t>Corp</a:t>
            </a:r>
          </a:p>
        </p:txBody>
      </p:sp>
      <p:sp>
        <p:nvSpPr>
          <p:cNvPr id="20" name="Oval 19"/>
          <p:cNvSpPr>
            <a:spLocks noChangeArrowheads="1"/>
          </p:cNvSpPr>
          <p:nvPr/>
        </p:nvSpPr>
        <p:spPr bwMode="auto">
          <a:xfrm>
            <a:off x="6745224" y="2237907"/>
            <a:ext cx="950976" cy="76200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/>
          <a:p>
            <a:pPr algn="ctr" eaLnBrk="1" hangingPunct="1"/>
            <a:r>
              <a:rPr lang="en-US" sz="1800" b="1" dirty="0">
                <a:latin typeface="Calibri" charset="0"/>
              </a:rPr>
              <a:t>Branch</a:t>
            </a:r>
            <a:endParaRPr lang="en-US" sz="2000" b="1" dirty="0">
              <a:latin typeface="Calibri" charset="0"/>
            </a:endParaRPr>
          </a:p>
        </p:txBody>
      </p:sp>
      <p:cxnSp>
        <p:nvCxnSpPr>
          <p:cNvPr id="21" name="Straight Connector 23"/>
          <p:cNvCxnSpPr>
            <a:cxnSpLocks noChangeShapeType="1"/>
          </p:cNvCxnSpPr>
          <p:nvPr/>
        </p:nvCxnSpPr>
        <p:spPr bwMode="auto">
          <a:xfrm flipV="1">
            <a:off x="7164324" y="2057400"/>
            <a:ext cx="0" cy="180507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noFill/>
              </a14:hiddenFill>
            </a:ext>
          </a:extLst>
        </p:spPr>
      </p:cxnSp>
      <p:sp>
        <p:nvSpPr>
          <p:cNvPr id="22" name="Text Box 20">
            <a:extLst>
              <a:ext uri="{FF2B5EF4-FFF2-40B4-BE49-F238E27FC236}">
                <a16:creationId xmlns:a16="http://schemas.microsoft.com/office/drawing/2014/main" id="{FA843D08-8D64-7E4B-BDEC-1668C7B117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048" y="5181600"/>
            <a:ext cx="8534400" cy="6771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marL="457200" indent="-4572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Verdana" charset="0"/>
                <a:ea typeface="ＭＳ Ｐゴシック" charset="0"/>
              </a:defRPr>
            </a:lvl9pPr>
          </a:lstStyle>
          <a:p>
            <a:pPr algn="l">
              <a:buFontTx/>
              <a:buChar char="•"/>
            </a:pPr>
            <a:r>
              <a:rPr lang="en-US" sz="1900" b="1" dirty="0">
                <a:latin typeface="Calibri"/>
              </a:rPr>
              <a:t>Hybrid</a:t>
            </a:r>
            <a:r>
              <a:rPr lang="en-US" sz="1900" dirty="0">
                <a:latin typeface="Calibri"/>
              </a:rPr>
              <a:t>:  </a:t>
            </a:r>
            <a:r>
              <a:rPr lang="en-US" sz="1900" dirty="0" err="1">
                <a:latin typeface="Calibri"/>
              </a:rPr>
              <a:t>Passthrough</a:t>
            </a:r>
            <a:r>
              <a:rPr lang="en-US" sz="1900" dirty="0">
                <a:latin typeface="Calibri"/>
              </a:rPr>
              <a:t> under US law; </a:t>
            </a:r>
            <a:r>
              <a:rPr lang="en-US" sz="1900" dirty="0" err="1">
                <a:latin typeface="Calibri"/>
              </a:rPr>
              <a:t>corp</a:t>
            </a:r>
            <a:r>
              <a:rPr lang="en-US" sz="1900" dirty="0">
                <a:latin typeface="Calibri"/>
              </a:rPr>
              <a:t> under foreign law</a:t>
            </a:r>
          </a:p>
          <a:p>
            <a:pPr algn="l">
              <a:buFontTx/>
              <a:buChar char="•"/>
            </a:pPr>
            <a:r>
              <a:rPr lang="en-US" sz="1900" b="1" dirty="0">
                <a:latin typeface="Calibri"/>
              </a:rPr>
              <a:t>Reverse Hybrid</a:t>
            </a:r>
            <a:r>
              <a:rPr lang="en-US" sz="1900" dirty="0">
                <a:latin typeface="Calibri"/>
              </a:rPr>
              <a:t>:  Corp under US law; </a:t>
            </a:r>
            <a:r>
              <a:rPr lang="en-US" sz="1900" dirty="0" err="1">
                <a:latin typeface="Calibri"/>
              </a:rPr>
              <a:t>passthrough</a:t>
            </a:r>
            <a:r>
              <a:rPr lang="en-US" sz="1900" dirty="0">
                <a:latin typeface="Calibri"/>
              </a:rPr>
              <a:t> under foreign law</a:t>
            </a:r>
          </a:p>
        </p:txBody>
      </p:sp>
    </p:spTree>
    <p:extLst>
      <p:ext uri="{BB962C8B-B14F-4D97-AF65-F5344CB8AC3E}">
        <p14:creationId xmlns:p14="http://schemas.microsoft.com/office/powerpoint/2010/main" val="817591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Some publicly traded Corporations switched to PSH status in the early ‘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80s.  </a:t>
            </a:r>
          </a:p>
          <a:p>
            <a:pPr lvl="1"/>
            <a:r>
              <a:rPr lang="en-US" altLang="ja-JP" dirty="0">
                <a:ea typeface="ＭＳ Ｐゴシック" charset="0"/>
                <a:cs typeface="ＭＳ Ｐゴシック" charset="0"/>
              </a:rPr>
              <a:t>Why?  </a:t>
            </a:r>
            <a:r>
              <a:rPr lang="en-US" altLang="ja-JP" i="1" dirty="0">
                <a:ea typeface="ＭＳ Ｐゴシック" charset="0"/>
                <a:cs typeface="ＭＳ Ｐゴシック" charset="0"/>
              </a:rPr>
              <a:t>See Historical marginal tax rate </a:t>
            </a:r>
            <a:r>
              <a:rPr lang="en-US" altLang="ja-JP" dirty="0">
                <a:ea typeface="ＭＳ Ｐゴシック" charset="0"/>
                <a:cs typeface="ＭＳ Ｐゴシック" charset="0"/>
              </a:rPr>
              <a:t>chart.</a:t>
            </a:r>
          </a:p>
          <a:p>
            <a:pPr lvl="1"/>
            <a:r>
              <a:rPr lang="en-US" dirty="0">
                <a:ea typeface="ＭＳ Ｐゴシック" charset="0"/>
                <a:cs typeface="ＭＳ Ｐゴシック" charset="0"/>
              </a:rPr>
              <a:t>After 2017, how does the analysis change?</a:t>
            </a:r>
          </a:p>
          <a:p>
            <a:r>
              <a:rPr lang="en-US" dirty="0">
                <a:ea typeface="ＭＳ Ｐゴシック" charset="0"/>
                <a:cs typeface="ＭＳ Ｐゴシック" charset="0"/>
              </a:rPr>
              <a:t>What was the concern of Congress?</a:t>
            </a:r>
          </a:p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Under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  <a:cs typeface="ＭＳ Ｐゴシック" charset="0"/>
              </a:rPr>
              <a:t>7704, PTPs generally taxed as corporations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  <a:cs typeface="ＭＳ Ｐゴシック" charset="0"/>
              </a:rPr>
              <a:t>7704(a))</a:t>
            </a:r>
            <a:r>
              <a:rPr lang="en-US" b="1" dirty="0">
                <a:ea typeface="ＭＳ Ｐゴシック" charset="0"/>
                <a:cs typeface="ＭＳ Ｐゴシック" charset="0"/>
              </a:rPr>
              <a:t> </a:t>
            </a:r>
          </a:p>
          <a:p>
            <a:pPr>
              <a:lnSpc>
                <a:spcPct val="90000"/>
              </a:lnSpc>
            </a:pPr>
            <a:r>
              <a:rPr lang="en-US" dirty="0">
                <a:ea typeface="ＭＳ Ｐゴシック" charset="0"/>
                <a:cs typeface="ＭＳ Ｐゴシック" charset="0"/>
              </a:rPr>
              <a:t>Publicly Traded Partnership: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Traded on established securities market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Readily tradable on a secondary market (or substantial equivalent) </a:t>
            </a:r>
          </a:p>
          <a:p>
            <a:pPr lvl="1" eaLnBrk="1" hangingPunct="1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Various Exceptions (Safe harbors) 	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Private transfers (family transfers, death)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Certain redemptions/repurchases</a:t>
            </a:r>
          </a:p>
          <a:p>
            <a:pPr lvl="2">
              <a:lnSpc>
                <a:spcPct val="90000"/>
              </a:lnSpc>
            </a:pPr>
            <a:r>
              <a:rPr lang="en-US" dirty="0">
                <a:ea typeface="ＭＳ Ｐゴシック" charset="0"/>
              </a:rPr>
              <a:t>Private placements. </a:t>
            </a:r>
            <a:r>
              <a:rPr lang="en-US" altLang="en-US" dirty="0">
                <a:ea typeface="ＭＳ Ｐゴシック" charset="-128"/>
              </a:rPr>
              <a:t>Reg. 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1.7704-1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Publicly Traded Partnerships (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PTPs</a:t>
            </a:r>
            <a:r>
              <a:rPr lang="en-US" dirty="0">
                <a:ea typeface="ＭＳ Ｐゴシック" charset="0"/>
                <a:cs typeface="ＭＳ Ｐゴシック" charset="0"/>
              </a:rPr>
              <a:t>/</a:t>
            </a:r>
            <a:r>
              <a:rPr lang="en-US" dirty="0" err="1">
                <a:ea typeface="ＭＳ Ｐゴシック" charset="0"/>
                <a:cs typeface="ＭＳ Ｐゴシック" charset="0"/>
              </a:rPr>
              <a:t>MLPs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23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261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sz="2800" b="1" dirty="0">
                <a:ea typeface="ＭＳ Ｐゴシック" charset="0"/>
                <a:cs typeface="ＭＳ Ｐゴシック" charset="0"/>
              </a:rPr>
              <a:t>Passive Income Exception</a:t>
            </a:r>
            <a:endParaRPr lang="en-US" sz="2800" dirty="0">
              <a:ea typeface="ＭＳ Ｐゴシック" charset="0"/>
              <a:cs typeface="ＭＳ Ｐゴシック" charset="0"/>
            </a:endParaRPr>
          </a:p>
          <a:p>
            <a:pPr lvl="1" eaLnBrk="1" hangingPunct="1">
              <a:lnSpc>
                <a:spcPct val="80000"/>
              </a:lnSpc>
            </a:pPr>
            <a:r>
              <a:rPr lang="en-US" sz="2400" dirty="0">
                <a:ea typeface="ＭＳ Ｐゴシック" charset="0"/>
              </a:rPr>
              <a:t>PTP not taxed as Corp if ≥ 90% of its gross income is </a:t>
            </a:r>
            <a:r>
              <a:rPr lang="ja-JP" altLang="en-US" sz="2400" dirty="0">
                <a:ea typeface="ＭＳ Ｐゴシック" charset="0"/>
              </a:rPr>
              <a:t>“</a:t>
            </a:r>
            <a:r>
              <a:rPr lang="en-US" altLang="ja-JP" sz="2400" dirty="0">
                <a:ea typeface="ＭＳ Ｐゴシック" charset="0"/>
              </a:rPr>
              <a:t>qualifying income</a:t>
            </a:r>
            <a:r>
              <a:rPr lang="ja-JP" altLang="en-US" sz="2400" dirty="0">
                <a:ea typeface="ＭＳ Ｐゴシック" charset="0"/>
              </a:rPr>
              <a:t>”</a:t>
            </a:r>
            <a:r>
              <a:rPr lang="en-US" altLang="ja-JP" sz="2400" dirty="0">
                <a:ea typeface="ＭＳ Ｐゴシック" charset="0"/>
              </a:rPr>
              <a:t>, such as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Dividends, Interest, Gains from Stock and Bond Sales, Swap Income (NPC) 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Real Property Rents and Gains</a:t>
            </a:r>
          </a:p>
          <a:p>
            <a:pPr marL="977900" lvl="2" indent="-177800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Income from the production of natural resources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7704(c))</a:t>
            </a:r>
          </a:p>
          <a:p>
            <a:pPr marL="977900" lvl="2" indent="-177800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Interest derived from conduct of financial or insurance business excluded (</a:t>
            </a:r>
            <a:r>
              <a:rPr lang="en-US" altLang="en-US" dirty="0"/>
              <a:t>§</a:t>
            </a:r>
            <a:r>
              <a:rPr lang="en-US" dirty="0">
                <a:ea typeface="ＭＳ Ｐゴシック" charset="0"/>
              </a:rPr>
              <a:t>7704(c)(2))</a:t>
            </a:r>
          </a:p>
          <a:p>
            <a:pPr marL="977900" lvl="2" indent="-177800" eaLnBrk="1" hangingPunct="1">
              <a:lnSpc>
                <a:spcPct val="80000"/>
              </a:lnSpc>
            </a:pPr>
            <a:r>
              <a:rPr lang="en-US" dirty="0">
                <a:ea typeface="ＭＳ Ｐゴシック" charset="0"/>
              </a:rPr>
              <a:t>QI does </a:t>
            </a:r>
            <a:r>
              <a:rPr lang="en-US" u="sng" dirty="0">
                <a:ea typeface="ＭＳ Ｐゴシック" charset="0"/>
              </a:rPr>
              <a:t>NOT</a:t>
            </a:r>
            <a:r>
              <a:rPr lang="en-US" dirty="0">
                <a:ea typeface="ＭＳ Ｐゴシック" charset="0"/>
              </a:rPr>
              <a:t> include income from services</a:t>
            </a:r>
          </a:p>
          <a:p>
            <a:pPr lvl="1">
              <a:lnSpc>
                <a:spcPct val="80000"/>
              </a:lnSpc>
            </a:pPr>
            <a:r>
              <a:rPr lang="en-US" sz="2400" dirty="0">
                <a:ea typeface="ＭＳ Ｐゴシック" charset="0"/>
              </a:rPr>
              <a:t>QI exception does not apply to any PSH that would be subject to the ‘40 Act if it were a corporation (</a:t>
            </a:r>
            <a:r>
              <a:rPr lang="en-US" altLang="en-US" sz="2400" dirty="0"/>
              <a:t>§</a:t>
            </a:r>
            <a:r>
              <a:rPr lang="en-US" sz="2400" dirty="0">
                <a:ea typeface="ＭＳ Ｐゴシック" charset="0"/>
              </a:rPr>
              <a:t>7704(c)(3))</a:t>
            </a:r>
          </a:p>
          <a:p>
            <a:pPr lvl="1" eaLnBrk="1" hangingPunct="1">
              <a:lnSpc>
                <a:spcPct val="80000"/>
              </a:lnSpc>
            </a:pPr>
            <a:endParaRPr lang="en-US" sz="2400" dirty="0">
              <a:ea typeface="ＭＳ Ｐゴシック" charset="0"/>
              <a:hlinkClick r:id="rId2"/>
            </a:endParaRPr>
          </a:p>
          <a:p>
            <a:pPr>
              <a:lnSpc>
                <a:spcPct val="80000"/>
              </a:lnSpc>
            </a:pPr>
            <a:r>
              <a:rPr lang="en-US" sz="2800" dirty="0">
                <a:ea typeface="ＭＳ Ｐゴシック" charset="0"/>
                <a:hlinkClick r:id="rId2"/>
              </a:rPr>
              <a:t>A list of current MLPs</a:t>
            </a:r>
            <a:endParaRPr lang="en-US" sz="2800" dirty="0">
              <a:ea typeface="ＭＳ Ｐゴシック" charset="0"/>
            </a:endParaRPr>
          </a:p>
          <a:p>
            <a:pPr>
              <a:lnSpc>
                <a:spcPct val="80000"/>
              </a:lnSpc>
            </a:pPr>
            <a:endParaRPr lang="en-US" sz="2800" dirty="0">
              <a:ea typeface="ＭＳ Ｐゴシック" charset="0"/>
            </a:endParaRPr>
          </a:p>
          <a:p>
            <a:pPr>
              <a:lnSpc>
                <a:spcPct val="80000"/>
              </a:lnSpc>
            </a:pPr>
            <a:r>
              <a:rPr lang="en-US" sz="2800" dirty="0">
                <a:ea typeface="ＭＳ Ｐゴシック" charset="0"/>
              </a:rPr>
              <a:t>Why are some MLPs converting to C Corps after the TCJA?  </a:t>
            </a:r>
            <a:r>
              <a:rPr lang="en-US" sz="2800" i="1" dirty="0">
                <a:ea typeface="ＭＳ Ｐゴシック" charset="0"/>
              </a:rPr>
              <a:t>See </a:t>
            </a:r>
            <a:r>
              <a:rPr lang="en-US" sz="2800" dirty="0">
                <a:ea typeface="ＭＳ Ｐゴシック" charset="0"/>
              </a:rPr>
              <a:t>article on class web site.</a:t>
            </a:r>
            <a:endParaRPr lang="en-US" sz="2800" dirty="0"/>
          </a:p>
          <a:p>
            <a:pPr>
              <a:lnSpc>
                <a:spcPct val="80000"/>
              </a:lnSpc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a typeface="ＭＳ Ｐゴシック" charset="0"/>
                <a:cs typeface="ＭＳ Ｐゴシック" charset="0"/>
              </a:rPr>
              <a:t>Publicly Traded Partnerships (</a:t>
            </a:r>
            <a:r>
              <a:rPr lang="en-US" dirty="0" err="1">
                <a:ea typeface="ＭＳ Ｐゴシック" charset="0"/>
                <a:cs typeface="ＭＳ Ｐゴシック" charset="0"/>
              </a:rPr>
              <a:t>PTPs</a:t>
            </a:r>
            <a:r>
              <a:rPr lang="en-US" dirty="0">
                <a:ea typeface="ＭＳ Ｐゴシック" charset="0"/>
                <a:cs typeface="ＭＳ Ｐゴシック" charset="0"/>
              </a:rPr>
              <a:t>/</a:t>
            </a:r>
            <a:r>
              <a:rPr lang="en-US" dirty="0" err="1">
                <a:ea typeface="ＭＳ Ｐゴシック" charset="0"/>
                <a:cs typeface="ＭＳ Ｐゴシック" charset="0"/>
              </a:rPr>
              <a:t>MLPs</a:t>
            </a:r>
            <a:r>
              <a:rPr lang="en-US" dirty="0">
                <a:ea typeface="ＭＳ Ｐゴシック" charset="0"/>
                <a:cs typeface="ＭＳ Ｐゴシック" charset="0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24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Choice of Entity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97042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1_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A41C218D-EB0F-0640-8FD3-104D758806C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CT_COE_16</Template>
  <TotalTime>10499</TotalTime>
  <Words>2199</Words>
  <Application>Microsoft Macintosh PowerPoint</Application>
  <PresentationFormat>On-screen Show (4:3)</PresentationFormat>
  <Paragraphs>365</Paragraphs>
  <Slides>24</Slides>
  <Notes>9</Notes>
  <HiddenSlides>0</HiddenSlides>
  <MMClips>0</MMClips>
  <ScaleCrop>false</ScaleCrop>
  <HeadingPairs>
    <vt:vector size="8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6" baseType="lpstr">
      <vt:lpstr>ＭＳ Ｐゴシック</vt:lpstr>
      <vt:lpstr>NSimSun</vt:lpstr>
      <vt:lpstr>Arial</vt:lpstr>
      <vt:lpstr>Calibri</vt:lpstr>
      <vt:lpstr>Courier New</vt:lpstr>
      <vt:lpstr>Times New Roman</vt:lpstr>
      <vt:lpstr>Verdana</vt:lpstr>
      <vt:lpstr>Wingdings</vt:lpstr>
      <vt:lpstr>Wingdings 2</vt:lpstr>
      <vt:lpstr>CG Body - Standard</vt:lpstr>
      <vt:lpstr>1_CG Body - Standard</vt:lpstr>
      <vt:lpstr>Equation</vt:lpstr>
      <vt:lpstr>Corporate Taxation Choice of Entity</vt:lpstr>
      <vt:lpstr>PowerPoint Presentation</vt:lpstr>
      <vt:lpstr>Choice of Business Entity</vt:lpstr>
      <vt:lpstr>C Corp vs. Pass-through</vt:lpstr>
      <vt:lpstr>Rates for 2026</vt:lpstr>
      <vt:lpstr>Marginal vs. Effective (Average) Tax Rates</vt:lpstr>
      <vt:lpstr>Tax Differences: C, S, and K</vt:lpstr>
      <vt:lpstr>Tax Differences: C, S, and K</vt:lpstr>
      <vt:lpstr>Comparison of AT-Returns for C Corporation and S Corp/PSH</vt:lpstr>
      <vt:lpstr>Partnership vs. Corporation</vt:lpstr>
      <vt:lpstr>Comparison of AT-Returns for C Corp and S Corp/PSH: The Benefits of Deferral</vt:lpstr>
      <vt:lpstr>Marginal Tax Rates</vt:lpstr>
      <vt:lpstr>Section 199A:  Ugh</vt:lpstr>
      <vt:lpstr>Choice of Business Entity</vt:lpstr>
      <vt:lpstr>CTB Regs: Business Entity</vt:lpstr>
      <vt:lpstr>CTB Regs: Eligible Entity</vt:lpstr>
      <vt:lpstr>CTB Regs: Corporation Defined</vt:lpstr>
      <vt:lpstr>CTB Regs: Election</vt:lpstr>
      <vt:lpstr>CTB Regs: Default Classification of Foreign Eligible Entities</vt:lpstr>
      <vt:lpstr>CTB Regs: Election</vt:lpstr>
      <vt:lpstr>CTB Regs:  Classification Changes</vt:lpstr>
      <vt:lpstr>Graphical Representations of Entities</vt:lpstr>
      <vt:lpstr>Publicly Traded Partnerships (PTPs/MLPs)</vt:lpstr>
      <vt:lpstr>Publicly Traded Partnerships (PTPs/MLPs)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J.M. Colon</dc:creator>
  <cp:keywords/>
  <dc:description/>
  <cp:lastModifiedBy>Colon, Jeffrey M.</cp:lastModifiedBy>
  <cp:revision>58</cp:revision>
  <cp:lastPrinted>2013-07-03T14:40:00Z</cp:lastPrinted>
  <dcterms:created xsi:type="dcterms:W3CDTF">2016-08-02T01:01:38Z</dcterms:created>
  <dcterms:modified xsi:type="dcterms:W3CDTF">2025-12-28T22:45:47Z</dcterms:modified>
  <cp:category/>
</cp:coreProperties>
</file>