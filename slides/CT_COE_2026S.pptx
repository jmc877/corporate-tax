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4158" r:id="rId2"/>
  </p:sldMasterIdLst>
  <p:notesMasterIdLst>
    <p:notesMasterId r:id="rId27"/>
  </p:notesMasterIdLst>
  <p:handoutMasterIdLst>
    <p:handoutMasterId r:id="rId28"/>
  </p:handoutMasterIdLst>
  <p:sldIdLst>
    <p:sldId id="298" r:id="rId3"/>
    <p:sldId id="256" r:id="rId4"/>
    <p:sldId id="261" r:id="rId5"/>
    <p:sldId id="288" r:id="rId6"/>
    <p:sldId id="293" r:id="rId7"/>
    <p:sldId id="299" r:id="rId8"/>
    <p:sldId id="280" r:id="rId9"/>
    <p:sldId id="281" r:id="rId10"/>
    <p:sldId id="294" r:id="rId11"/>
    <p:sldId id="295" r:id="rId12"/>
    <p:sldId id="296" r:id="rId13"/>
    <p:sldId id="290" r:id="rId14"/>
    <p:sldId id="297" r:id="rId15"/>
    <p:sldId id="268" r:id="rId16"/>
    <p:sldId id="269" r:id="rId17"/>
    <p:sldId id="271" r:id="rId18"/>
    <p:sldId id="270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6858000" type="screen4x3"/>
  <p:notesSz cx="69850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FEECC2"/>
    <a:srgbClr val="FFF6E8"/>
    <a:srgbClr val="FF9933"/>
    <a:srgbClr val="000000"/>
    <a:srgbClr val="FFFFFF"/>
    <a:srgbClr val="666666"/>
    <a:srgbClr val="B01C2E"/>
    <a:srgbClr val="B01C1A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3DA3B1-76E5-F441-9E6C-D66C39F39389}" v="83" dt="2025-12-23T14:19:43.0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88" autoAdjust="0"/>
    <p:restoredTop sz="97056" autoAdjust="0"/>
  </p:normalViewPr>
  <p:slideViewPr>
    <p:cSldViewPr>
      <p:cViewPr varScale="1">
        <p:scale>
          <a:sx n="124" d="100"/>
          <a:sy n="124" d="100"/>
        </p:scale>
        <p:origin x="184" y="896"/>
      </p:cViewPr>
      <p:guideLst>
        <p:guide orient="horz" pos="38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7" d="100"/>
          <a:sy n="47" d="100"/>
        </p:scale>
        <p:origin x="-2196" y="-108"/>
      </p:cViewPr>
      <p:guideLst>
        <p:guide orient="horz" pos="2924"/>
        <p:guide pos="22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custSel addSld modSld modMainMaster">
      <pc:chgData name="Colon, Jeffrey M." userId="615143b1-cdee-493d-9a9d-1565ce8666d9" providerId="ADAL" clId="{DC1DB158-BAB1-5930-B714-AEF472873853}" dt="2025-12-23T14:19:43.074" v="214" actId="20577"/>
      <pc:docMkLst>
        <pc:docMk/>
      </pc:docMkLst>
      <pc:sldChg chg="addSp delSp modSp mod">
        <pc:chgData name="Colon, Jeffrey M." userId="615143b1-cdee-493d-9a9d-1565ce8666d9" providerId="ADAL" clId="{DC1DB158-BAB1-5930-B714-AEF472873853}" dt="2025-12-23T14:05:51.943" v="139" actId="20577"/>
        <pc:sldMkLst>
          <pc:docMk/>
          <pc:sldMk cId="2189102931" sldId="293"/>
        </pc:sldMkLst>
        <pc:spChg chg="mod">
          <ac:chgData name="Colon, Jeffrey M." userId="615143b1-cdee-493d-9a9d-1565ce8666d9" providerId="ADAL" clId="{DC1DB158-BAB1-5930-B714-AEF472873853}" dt="2025-12-23T13:55:07.348" v="34" actId="20577"/>
          <ac:spMkLst>
            <pc:docMk/>
            <pc:sldMk cId="2189102931" sldId="293"/>
            <ac:spMk id="3" creationId="{C790169F-6D46-3244-BA47-17047563E5F7}"/>
          </ac:spMkLst>
        </pc:spChg>
        <pc:spChg chg="add mod">
          <ac:chgData name="Colon, Jeffrey M." userId="615143b1-cdee-493d-9a9d-1565ce8666d9" providerId="ADAL" clId="{DC1DB158-BAB1-5930-B714-AEF472873853}" dt="2025-12-23T14:05:04.094" v="133" actId="1076"/>
          <ac:spMkLst>
            <pc:docMk/>
            <pc:sldMk cId="2189102931" sldId="293"/>
            <ac:spMk id="16" creationId="{DB43F11B-3CC2-EA08-DD20-4D244E6F5920}"/>
          </ac:spMkLst>
        </pc:spChg>
        <pc:spChg chg="add mod">
          <ac:chgData name="Colon, Jeffrey M." userId="615143b1-cdee-493d-9a9d-1565ce8666d9" providerId="ADAL" clId="{DC1DB158-BAB1-5930-B714-AEF472873853}" dt="2025-12-23T14:05:51.943" v="139" actId="20577"/>
          <ac:spMkLst>
            <pc:docMk/>
            <pc:sldMk cId="2189102931" sldId="293"/>
            <ac:spMk id="17" creationId="{46FD6387-A7F8-A63E-DBA3-0BC874D260E7}"/>
          </ac:spMkLst>
        </pc:spChg>
        <pc:picChg chg="add del mod">
          <ac:chgData name="Colon, Jeffrey M." userId="615143b1-cdee-493d-9a9d-1565ce8666d9" providerId="ADAL" clId="{DC1DB158-BAB1-5930-B714-AEF472873853}" dt="2025-12-23T13:59:26.064" v="88" actId="478"/>
          <ac:picMkLst>
            <pc:docMk/>
            <pc:sldMk cId="2189102931" sldId="293"/>
            <ac:picMk id="6" creationId="{F433D85B-F624-7DE2-3D6D-FD5AFDA96E9B}"/>
          </ac:picMkLst>
        </pc:picChg>
        <pc:picChg chg="del">
          <ac:chgData name="Colon, Jeffrey M." userId="615143b1-cdee-493d-9a9d-1565ce8666d9" providerId="ADAL" clId="{DC1DB158-BAB1-5930-B714-AEF472873853}" dt="2025-12-23T13:54:13.024" v="29" actId="478"/>
          <ac:picMkLst>
            <pc:docMk/>
            <pc:sldMk cId="2189102931" sldId="293"/>
            <ac:picMk id="8" creationId="{1106A71C-AF81-39D8-482E-7107AEA91D0D}"/>
          </ac:picMkLst>
        </pc:picChg>
        <pc:picChg chg="add mod">
          <ac:chgData name="Colon, Jeffrey M." userId="615143b1-cdee-493d-9a9d-1565ce8666d9" providerId="ADAL" clId="{DC1DB158-BAB1-5930-B714-AEF472873853}" dt="2025-12-23T14:00:09.106" v="94" actId="14100"/>
          <ac:picMkLst>
            <pc:docMk/>
            <pc:sldMk cId="2189102931" sldId="293"/>
            <ac:picMk id="9" creationId="{0C83359E-ADAD-FDE5-5F17-93605CBF134B}"/>
          </ac:picMkLst>
        </pc:picChg>
        <pc:picChg chg="del">
          <ac:chgData name="Colon, Jeffrey M." userId="615143b1-cdee-493d-9a9d-1565ce8666d9" providerId="ADAL" clId="{DC1DB158-BAB1-5930-B714-AEF472873853}" dt="2025-12-23T13:54:09.798" v="28" actId="478"/>
          <ac:picMkLst>
            <pc:docMk/>
            <pc:sldMk cId="2189102931" sldId="293"/>
            <ac:picMk id="10" creationId="{06B37451-E24B-B0F0-964C-215BB587F7AC}"/>
          </ac:picMkLst>
        </pc:picChg>
        <pc:picChg chg="del">
          <ac:chgData name="Colon, Jeffrey M." userId="615143b1-cdee-493d-9a9d-1565ce8666d9" providerId="ADAL" clId="{DC1DB158-BAB1-5930-B714-AEF472873853}" dt="2025-12-23T13:54:04.687" v="27" actId="478"/>
          <ac:picMkLst>
            <pc:docMk/>
            <pc:sldMk cId="2189102931" sldId="293"/>
            <ac:picMk id="12" creationId="{EE455D62-738F-8ED7-189B-436C33B1613E}"/>
          </ac:picMkLst>
        </pc:picChg>
        <pc:picChg chg="add mod">
          <ac:chgData name="Colon, Jeffrey M." userId="615143b1-cdee-493d-9a9d-1565ce8666d9" providerId="ADAL" clId="{DC1DB158-BAB1-5930-B714-AEF472873853}" dt="2025-12-23T14:05:08.587" v="134" actId="1076"/>
          <ac:picMkLst>
            <pc:docMk/>
            <pc:sldMk cId="2189102931" sldId="293"/>
            <ac:picMk id="13" creationId="{75996FC0-A2E7-8A23-352B-1F0D7331242C}"/>
          </ac:picMkLst>
        </pc:picChg>
        <pc:picChg chg="add mod">
          <ac:chgData name="Colon, Jeffrey M." userId="615143b1-cdee-493d-9a9d-1565ce8666d9" providerId="ADAL" clId="{DC1DB158-BAB1-5930-B714-AEF472873853}" dt="2025-12-23T14:04:39.831" v="115" actId="14100"/>
          <ac:picMkLst>
            <pc:docMk/>
            <pc:sldMk cId="2189102931" sldId="293"/>
            <ac:picMk id="15" creationId="{48AFB231-6448-DDA3-A7D6-0CB2B15CBE49}"/>
          </ac:picMkLst>
        </pc:picChg>
      </pc:sldChg>
      <pc:sldChg chg="modSp mod">
        <pc:chgData name="Colon, Jeffrey M." userId="615143b1-cdee-493d-9a9d-1565ce8666d9" providerId="ADAL" clId="{DC1DB158-BAB1-5930-B714-AEF472873853}" dt="2025-12-23T13:24:14.160" v="26" actId="1076"/>
        <pc:sldMkLst>
          <pc:docMk/>
          <pc:sldMk cId="748285888" sldId="296"/>
        </pc:sldMkLst>
        <pc:spChg chg="mod">
          <ac:chgData name="Colon, Jeffrey M." userId="615143b1-cdee-493d-9a9d-1565ce8666d9" providerId="ADAL" clId="{DC1DB158-BAB1-5930-B714-AEF472873853}" dt="2025-12-23T13:24:14.160" v="26" actId="1076"/>
          <ac:spMkLst>
            <pc:docMk/>
            <pc:sldMk cId="748285888" sldId="296"/>
            <ac:spMk id="2" creationId="{A4F6E15B-D1F8-EA35-AE2C-9D84F832FD3E}"/>
          </ac:spMkLst>
        </pc:spChg>
      </pc:sldChg>
      <pc:sldChg chg="modSp">
        <pc:chgData name="Colon, Jeffrey M." userId="615143b1-cdee-493d-9a9d-1565ce8666d9" providerId="ADAL" clId="{DC1DB158-BAB1-5930-B714-AEF472873853}" dt="2025-12-23T14:19:43.074" v="214" actId="20577"/>
        <pc:sldMkLst>
          <pc:docMk/>
          <pc:sldMk cId="2215171304" sldId="297"/>
        </pc:sldMkLst>
        <pc:spChg chg="mod">
          <ac:chgData name="Colon, Jeffrey M." userId="615143b1-cdee-493d-9a9d-1565ce8666d9" providerId="ADAL" clId="{DC1DB158-BAB1-5930-B714-AEF472873853}" dt="2025-12-23T14:19:43.074" v="214" actId="20577"/>
          <ac:spMkLst>
            <pc:docMk/>
            <pc:sldMk cId="2215171304" sldId="297"/>
            <ac:spMk id="2" creationId="{DC8C4A35-B168-9B44-BF49-F4AB6A777DD4}"/>
          </ac:spMkLst>
        </pc:spChg>
      </pc:sldChg>
      <pc:sldChg chg="addSp delSp modSp new mod">
        <pc:chgData name="Colon, Jeffrey M." userId="615143b1-cdee-493d-9a9d-1565ce8666d9" providerId="ADAL" clId="{DC1DB158-BAB1-5930-B714-AEF472873853}" dt="2025-12-23T13:58:36.134" v="86" actId="14100"/>
        <pc:sldMkLst>
          <pc:docMk/>
          <pc:sldMk cId="2421660017" sldId="299"/>
        </pc:sldMkLst>
        <pc:spChg chg="del">
          <ac:chgData name="Colon, Jeffrey M." userId="615143b1-cdee-493d-9a9d-1565ce8666d9" providerId="ADAL" clId="{DC1DB158-BAB1-5930-B714-AEF472873853}" dt="2025-12-23T13:57:57.492" v="80"/>
          <ac:spMkLst>
            <pc:docMk/>
            <pc:sldMk cId="2421660017" sldId="299"/>
            <ac:spMk id="2" creationId="{60F1F636-538D-AF2D-BD02-B264BDE254D3}"/>
          </ac:spMkLst>
        </pc:spChg>
        <pc:spChg chg="mod">
          <ac:chgData name="Colon, Jeffrey M." userId="615143b1-cdee-493d-9a9d-1565ce8666d9" providerId="ADAL" clId="{DC1DB158-BAB1-5930-B714-AEF472873853}" dt="2025-12-23T13:57:44.194" v="79" actId="20577"/>
          <ac:spMkLst>
            <pc:docMk/>
            <pc:sldMk cId="2421660017" sldId="299"/>
            <ac:spMk id="3" creationId="{CEB53ED5-8D9A-D970-6888-9EE0C9B6A97C}"/>
          </ac:spMkLst>
        </pc:spChg>
        <pc:spChg chg="add del mod">
          <ac:chgData name="Colon, Jeffrey M." userId="615143b1-cdee-493d-9a9d-1565ce8666d9" providerId="ADAL" clId="{DC1DB158-BAB1-5930-B714-AEF472873853}" dt="2025-12-23T13:58:29.713" v="82"/>
          <ac:spMkLst>
            <pc:docMk/>
            <pc:sldMk cId="2421660017" sldId="299"/>
            <ac:spMk id="9" creationId="{503995AE-7D03-528F-1847-3F6AD4C33262}"/>
          </ac:spMkLst>
        </pc:spChg>
        <pc:picChg chg="add del mod">
          <ac:chgData name="Colon, Jeffrey M." userId="615143b1-cdee-493d-9a9d-1565ce8666d9" providerId="ADAL" clId="{DC1DB158-BAB1-5930-B714-AEF472873853}" dt="2025-12-23T13:58:15.897" v="81" actId="478"/>
          <ac:picMkLst>
            <pc:docMk/>
            <pc:sldMk cId="2421660017" sldId="299"/>
            <ac:picMk id="7" creationId="{ED1C2CBF-88AC-182B-1735-AB0AEA623B97}"/>
          </ac:picMkLst>
        </pc:picChg>
        <pc:picChg chg="add mod">
          <ac:chgData name="Colon, Jeffrey M." userId="615143b1-cdee-493d-9a9d-1565ce8666d9" providerId="ADAL" clId="{DC1DB158-BAB1-5930-B714-AEF472873853}" dt="2025-12-23T13:58:36.134" v="86" actId="14100"/>
          <ac:picMkLst>
            <pc:docMk/>
            <pc:sldMk cId="2421660017" sldId="299"/>
            <ac:picMk id="11" creationId="{720CF8D9-4E7A-9777-7B0B-43A774D8D4D6}"/>
          </ac:picMkLst>
        </pc:picChg>
      </pc:sldChg>
      <pc:sldMasterChg chg="modSp mod">
        <pc:chgData name="Colon, Jeffrey M." userId="615143b1-cdee-493d-9a9d-1565ce8666d9" providerId="ADAL" clId="{DC1DB158-BAB1-5930-B714-AEF472873853}" dt="2025-12-23T13:23:08.168" v="2" actId="20577"/>
        <pc:sldMasterMkLst>
          <pc:docMk/>
          <pc:sldMasterMk cId="0" sldId="2147483709"/>
        </pc:sldMasterMkLst>
        <pc:spChg chg="mod">
          <ac:chgData name="Colon, Jeffrey M." userId="615143b1-cdee-493d-9a9d-1565ce8666d9" providerId="ADAL" clId="{DC1DB158-BAB1-5930-B714-AEF472873853}" dt="2025-12-23T13:23:08.168" v="2" actId="20577"/>
          <ac:spMkLst>
            <pc:docMk/>
            <pc:sldMasterMk cId="0" sldId="2147483709"/>
            <ac:spMk id="9" creationId="{00000000-0000-0000-0000-000000000000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7363" cy="463550"/>
          </a:xfrm>
          <a:prstGeom prst="rect">
            <a:avLst/>
          </a:prstGeom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Calibri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56050" y="0"/>
            <a:ext cx="3027363" cy="463550"/>
          </a:xfrm>
          <a:prstGeom prst="rect">
            <a:avLst/>
          </a:prstGeom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pitchFamily="34" charset="0"/>
                <a:ea typeface="+mn-ea"/>
              </a:defRPr>
            </a:lvl1pPr>
          </a:lstStyle>
          <a:p>
            <a:pPr>
              <a:defRPr/>
            </a:pPr>
            <a:fld id="{3ACC1E0E-E391-524E-9F30-C67969167413}" type="datetimeFigureOut">
              <a:rPr lang="en-US"/>
              <a:pPr>
                <a:defRPr/>
              </a:pPr>
              <a:t>12/23/25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18563"/>
            <a:ext cx="3027363" cy="463550"/>
          </a:xfrm>
          <a:prstGeom prst="rect">
            <a:avLst/>
          </a:prstGeom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Calibri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56050" y="8818563"/>
            <a:ext cx="3027363" cy="463550"/>
          </a:xfrm>
          <a:prstGeom prst="rect">
            <a:avLst/>
          </a:prstGeom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3BC3918-49F7-364E-8F10-2D6CA2B6B0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9457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7363" cy="463550"/>
          </a:xfrm>
          <a:prstGeom prst="rect">
            <a:avLst/>
          </a:prstGeom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Calibri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050" y="0"/>
            <a:ext cx="3027363" cy="463550"/>
          </a:xfrm>
          <a:prstGeom prst="rect">
            <a:avLst/>
          </a:prstGeom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pitchFamily="34" charset="0"/>
                <a:ea typeface="+mn-ea"/>
              </a:defRPr>
            </a:lvl1pPr>
          </a:lstStyle>
          <a:p>
            <a:pPr>
              <a:defRPr/>
            </a:pPr>
            <a:fld id="{2482BA89-AA63-5848-ACDE-E131169857D8}" type="datetimeFigureOut">
              <a:rPr lang="en-US"/>
              <a:pPr>
                <a:defRPr/>
              </a:pPr>
              <a:t>12/23/25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6913"/>
            <a:ext cx="4641850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10075"/>
            <a:ext cx="5588000" cy="4176713"/>
          </a:xfrm>
          <a:prstGeom prst="rect">
            <a:avLst/>
          </a:prstGeom>
        </p:spPr>
        <p:txBody>
          <a:bodyPr vert="horz" lIns="92958" tIns="46479" rIns="92958" bIns="4647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8563"/>
            <a:ext cx="3027363" cy="463550"/>
          </a:xfrm>
          <a:prstGeom prst="rect">
            <a:avLst/>
          </a:prstGeom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Calibri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050" y="8818563"/>
            <a:ext cx="3027363" cy="463550"/>
          </a:xfrm>
          <a:prstGeom prst="rect">
            <a:avLst/>
          </a:prstGeom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7D129C8-AF54-954B-A96E-7B14F2126C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0425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73258D-F88C-F440-AD20-53E2DCDDB8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37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defTabSz="931863"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defTabSz="931863"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defTabSz="931863"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defTabSz="931863"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43CF19C2-34E8-4346-AB67-9984E6DD6A78}" type="slidenum">
              <a:rPr lang="en-US" sz="1200">
                <a:latin typeface="Calibri" charset="0"/>
              </a:rPr>
              <a:pPr/>
              <a:t>3</a:t>
            </a:fld>
            <a:endParaRPr lang="en-US" sz="1200" dirty="0">
              <a:latin typeface="Calibri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442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129C8-AF54-954B-A96E-7B14F2126CB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6163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129C8-AF54-954B-A96E-7B14F2126CB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5147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129C8-AF54-954B-A96E-7B14F2126CB7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7279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AF7CB-E8F0-0C43-959B-A53601DDBE1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663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5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5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25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25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25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0B45BF9D-5587-2C45-9E0D-C63FC847C0BF}" type="slidenum">
              <a:rPr lang="en-US" sz="1200">
                <a:latin typeface="Calibri" charset="0"/>
              </a:rPr>
              <a:pPr/>
              <a:t>10</a:t>
            </a:fld>
            <a:endParaRPr lang="en-US" sz="1200" dirty="0">
              <a:latin typeface="Calibri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490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129C8-AF54-954B-A96E-7B14F2126CB7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6387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D129C8-AF54-954B-A96E-7B14F2126CB7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420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9144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74732"/>
            <a:ext cx="28956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321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4048" y="533400"/>
            <a:ext cx="84582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18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41932"/>
            <a:ext cx="84582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000" b="1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8385048" y="6471104"/>
            <a:ext cx="4572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Choice of Entity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384048" y="407059"/>
            <a:ext cx="84582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07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06102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88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381000" y="3886200"/>
            <a:ext cx="8382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2720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381000" y="3931920"/>
            <a:ext cx="41148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066887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835932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476705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4038600" y="3046413"/>
            <a:ext cx="9906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28800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704509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4019343" y="2692959"/>
            <a:ext cx="994787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4070502" y="3778175"/>
            <a:ext cx="1014887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613434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8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180753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141732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70969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8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50501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411480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768883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46434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762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762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46434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46434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3762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62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6238" y="3302419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62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46434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4643438" y="3302418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46434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578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51174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384777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5556729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7310438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451174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13360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384777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5556729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7310438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820569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457200" y="1417320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457200" y="3065544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57200" y="4713767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417320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3065543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4713767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963642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22275" y="1397000"/>
            <a:ext cx="1738313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060575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335590" y="1397000"/>
            <a:ext cx="1738312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3698875" y="1397000"/>
            <a:ext cx="1736725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973890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422275" y="2954338"/>
            <a:ext cx="2147888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468563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6561139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4514851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431800" y="4497388"/>
            <a:ext cx="2816225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3170238" y="4497388"/>
            <a:ext cx="2816225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5908675" y="4497388"/>
            <a:ext cx="2816225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771231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344304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2360778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3377252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133600" y="4393726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5410200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457200" y="1344304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57200" y="2357366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457200" y="3370428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457200" y="4383490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457200" y="5396552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6701276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4419600" y="3632200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2286000" y="3632200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6753225" y="3632200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458788" y="3478213"/>
            <a:ext cx="7769225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3429000" y="3651250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16764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5562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7696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3281363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452438" y="3413125"/>
            <a:ext cx="8239125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611188" y="3460750"/>
            <a:ext cx="7769225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2535866" y="12954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0668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35814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530352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722376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9144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69342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15240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48006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2667000" y="5181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5991225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36576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2184183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914400" y="129540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914400" y="1800013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914400" y="2304626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914400" y="2809239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914400" y="3313852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914400" y="3818465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914400" y="4323078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914400" y="4827691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457200" y="129540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457200" y="1800013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457200" y="2304626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457200" y="2809239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457200" y="3313852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457200" y="3818465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457200" y="4323078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457200" y="4827691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8229600" y="129540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8229600" y="1800013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8229600" y="2304626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8229600" y="2809239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8229600" y="3313852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8229600" y="3818465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8229600" y="4323078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8229600" y="4827691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911776" y="5332304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454575" y="5332304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8226975" y="5332304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911776" y="583692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454575" y="583692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8226975" y="583692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4310846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1335024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457200" y="3744363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1905000" y="1348565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1905000" y="3763963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1905000" y="2199167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1905000" y="4619625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19400" y="1348565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19400" y="3763963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19400" y="2199167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19400" y="4619625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4228157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4646613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752475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2262459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6157271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752108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4646920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7007687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441325" y="1911350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2552700" y="1911350"/>
            <a:ext cx="1919288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4648200" y="1911350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6770688" y="1911350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095755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320617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5301996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742511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41959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55238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648200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77132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8132245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338328" y="1450181"/>
            <a:ext cx="259689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3273554" y="1447804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6208778" y="1447804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273552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208776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38328" y="2057401"/>
            <a:ext cx="2523744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2405693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7129272" y="1493520"/>
            <a:ext cx="1481328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57200" y="16002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457200" y="48768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457200" y="32385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191512" y="16002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91512" y="32385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91512" y="48768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6853460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684213" y="2635250"/>
            <a:ext cx="7777162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05156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457200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05156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457200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20721785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4384675" y="3341688"/>
            <a:ext cx="376238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835152" y="1417320"/>
            <a:ext cx="303580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266627" y="1417320"/>
            <a:ext cx="3054096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835152" y="1874520"/>
            <a:ext cx="329184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5028883" y="1874520"/>
            <a:ext cx="329184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3629057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6181725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484632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2667000" y="18288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2667000" y="242316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2667000" y="301752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2667000" y="361188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2667000" y="420624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2667000" y="48006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2514600" y="1981200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2514600" y="2570074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2514600" y="315894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2514600" y="3747822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2514600" y="4336696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2514600" y="492556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3010189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396240" y="160020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621280" y="160020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96240" y="274828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621280" y="274828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96240" y="389636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2621280" y="389636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2266" y="504444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2627306" y="504444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9008652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731520" y="1097281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362200" y="1371600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2362200" y="2474977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362200" y="3578353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2362200" y="4681728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731520" y="2200657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731520" y="3304033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731520" y="4407408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8763475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5297488" y="3346450"/>
            <a:ext cx="4406900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76041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754062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2266950" y="3351213"/>
            <a:ext cx="4416425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3781425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762000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2276475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3789363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53038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68151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09600" y="21336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09600" y="33909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4648200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2969327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3273552" y="1444752"/>
            <a:ext cx="2596896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370576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609600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370576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609600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70576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609600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5370576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609600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21229128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248400" y="1420504"/>
            <a:ext cx="2587752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02920" y="15544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502920" y="27482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502920" y="39420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502920" y="51358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5037822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304800" y="2362200"/>
            <a:ext cx="6117336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04800" y="3491484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304800" y="4620768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6411433" y="1417320"/>
            <a:ext cx="210312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4391025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774061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157097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157097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2774061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4391025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6411433" y="1861185"/>
            <a:ext cx="2103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3329821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3068638" y="1981200"/>
            <a:ext cx="2536825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457200" y="1982788"/>
            <a:ext cx="2530475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5684838" y="1981200"/>
            <a:ext cx="2871787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5680885" y="1983087"/>
            <a:ext cx="287574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3068559" y="1983087"/>
            <a:ext cx="2674468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4038600"/>
            <a:ext cx="80772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457200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4585778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200" y="1417320"/>
            <a:ext cx="5193792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5656263" y="1417324"/>
            <a:ext cx="3035808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1983087"/>
            <a:ext cx="2674468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457200" y="1981200"/>
            <a:ext cx="2473180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3144322" y="1988239"/>
            <a:ext cx="238753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343400"/>
            <a:ext cx="80772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5762430" y="1987175"/>
            <a:ext cx="2794197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5903172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5507038" y="1755775"/>
            <a:ext cx="679450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2993735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477838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2993735" y="1290638"/>
            <a:ext cx="237744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6300383" y="1290638"/>
            <a:ext cx="237744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477838" y="1290638"/>
            <a:ext cx="237744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569278" y="173126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569278" y="235712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569278" y="2982976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69278" y="3608832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569278" y="4234688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569278" y="548640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569278" y="486054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3085175" y="174345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3085175" y="236931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3085175" y="2995168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3085175" y="3621024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3085175" y="4246880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3085175" y="549859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3085175" y="487273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6300383" y="174345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6300383" y="236931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6300383" y="2995168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6300383" y="3621024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6300383" y="4246880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6300383" y="549859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6300383" y="487273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876052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5349875" y="1497013"/>
            <a:ext cx="679450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7082028" y="330708"/>
            <a:ext cx="640080" cy="2569464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117336" y="1981200"/>
            <a:ext cx="2569464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381002" y="1497015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381002" y="298543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381002" y="447385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057402" y="1497015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057402" y="298543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057402" y="447385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3733802" y="1497015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3733802" y="298543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3733802" y="447385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3547015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909638" y="2395537"/>
            <a:ext cx="768350" cy="6381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066925" y="3590925"/>
            <a:ext cx="752475" cy="6254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3234532" y="4814093"/>
            <a:ext cx="698500" cy="595313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3881705" y="4986243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479116" y="1441358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1612732" y="2622986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2755735" y="3804614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8477119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712788" y="1782763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712788" y="5300663"/>
            <a:ext cx="7969250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712788" y="4129088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712788" y="2955925"/>
            <a:ext cx="7969250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708691" y="1501649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708691" y="5019702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708691" y="3847015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708691" y="2674334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0876748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477838" y="3294063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477838" y="4670425"/>
            <a:ext cx="7988300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477838" y="6046788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582996" y="1290642"/>
            <a:ext cx="1870718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896505" y="1290642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5114284" y="1290642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332064" y="1290642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2068960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7200" y="343666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57200" y="480248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1582996" y="2068960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1582996" y="344150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1582996" y="480732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33206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333206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333206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511428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11428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11428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6896505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6896505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896505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1699132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151063" y="1277938"/>
            <a:ext cx="6618287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160588" y="1568450"/>
            <a:ext cx="6608762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-167481" y="3604419"/>
            <a:ext cx="4665662" cy="1270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2584450" y="1576388"/>
            <a:ext cx="5530850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468313" y="1860550"/>
            <a:ext cx="8069262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468313" y="1277938"/>
            <a:ext cx="1692275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473075" y="1277938"/>
            <a:ext cx="16764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159964" y="1282929"/>
            <a:ext cx="6372290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016121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3441597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165169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590645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4718025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5143501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867073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292549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6419929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45405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568977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994453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7270881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7696357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8121833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548056" y="1548247"/>
            <a:ext cx="645582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401427" y="1278087"/>
            <a:ext cx="645582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533400" y="1905000"/>
            <a:ext cx="155448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3722754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1555750" y="1828800"/>
            <a:ext cx="7131050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447675" y="2189163"/>
            <a:ext cx="1098550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442913" y="1819275"/>
            <a:ext cx="8234362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512763" y="1566863"/>
            <a:ext cx="884237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512763" y="1939925"/>
            <a:ext cx="884237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442913" y="2200275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442913" y="5486400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1555750" y="1468438"/>
            <a:ext cx="7102475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1546225" y="1828800"/>
            <a:ext cx="649288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1546225" y="1835813"/>
            <a:ext cx="64591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203313" y="1835813"/>
            <a:ext cx="64688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850205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3497093" y="1835813"/>
            <a:ext cx="64202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139118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795736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5437760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084650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731540" y="1835813"/>
            <a:ext cx="64689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383292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8025320" y="1835813"/>
            <a:ext cx="65316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469239" y="223026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469239" y="259557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469239" y="296088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469239" y="332619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469239" y="369150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469239" y="405681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469239" y="5152742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469239" y="442212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469239" y="478743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1562267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20331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285020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349709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41391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4795736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543776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608465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673154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7383292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80253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1546225" y="232170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1546225" y="268701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1546225" y="305232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1546225" y="341763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1546225" y="3782940"/>
            <a:ext cx="4572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1546225" y="414825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1546225" y="451356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1546225" y="487887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1546225" y="5244182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3436620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3048000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5355067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4966447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2136076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1779588" y="5981700"/>
            <a:ext cx="5495925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92288" y="5453935"/>
            <a:ext cx="54864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66754"/>
            <a:ext cx="54864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6042020"/>
            <a:ext cx="54864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769503" y="0"/>
            <a:ext cx="7604994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30379181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52440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52440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52440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003442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7003442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7003442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7003442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452440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8780423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159379" y="1419225"/>
            <a:ext cx="2532185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4044617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75051" y="1419225"/>
            <a:ext cx="5111750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0026373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1" y="1419225"/>
            <a:ext cx="5111750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773265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224357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076450" y="2667000"/>
            <a:ext cx="6629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066925" y="1108075"/>
            <a:ext cx="32004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5505450" y="1108075"/>
            <a:ext cx="32004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067306" y="2743200"/>
            <a:ext cx="6638544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55612" y="1108074"/>
            <a:ext cx="1170432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55615" y="2722996"/>
            <a:ext cx="1525587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05450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067306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067306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5505450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067306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505450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2604562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76986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76984" y="1589233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67881" y="1246188"/>
            <a:ext cx="8188325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197968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197966" y="1589233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3850123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3850123" y="1589233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5491887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5491885" y="1589233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144041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7144041" y="1589233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576986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576984" y="3927186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197968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197966" y="3927186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3850123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3850123" y="3927186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5491887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5491885" y="3927186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7144041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7144041" y="3962400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2675246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441325" y="14398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438150" y="18970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441325" y="32686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438150" y="37258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260858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477901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6949440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481328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4724400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481328" y="4800600"/>
            <a:ext cx="621792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43815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7087770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5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2485437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5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41850778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450850" y="6020181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45085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113838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3776826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5439814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710280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113838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11383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3776826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377682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5439814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439814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10280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5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8513649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5123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5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2072755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5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4613740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77724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Choice of Entity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7519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90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9144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0400" y="6474732"/>
            <a:ext cx="28956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971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4048" y="762000"/>
            <a:ext cx="8458200" cy="545782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18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152400"/>
            <a:ext cx="84582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4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8385048" y="6471104"/>
            <a:ext cx="4572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746380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06102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05269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381000" y="3886200"/>
            <a:ext cx="8382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96586564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381000" y="3931920"/>
            <a:ext cx="41148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210751034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88018170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8339403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4038600" y="3046413"/>
            <a:ext cx="9906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28800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42239742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4019343" y="2692959"/>
            <a:ext cx="994787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4070502" y="3778175"/>
            <a:ext cx="1014887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32904335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8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180753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141732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69484571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8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50501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411480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201290980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46434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762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762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46434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46434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3762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62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6238" y="3302419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62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46434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4643438" y="3302418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46434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78160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51174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384777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5556729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7310438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451174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13360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384777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5556729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7310438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31695418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457200" y="1417320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457200" y="3065544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57200" y="4713767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417320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3065543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4713767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1732778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22275" y="1397000"/>
            <a:ext cx="1738313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060575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335590" y="1397000"/>
            <a:ext cx="1738312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3698875" y="1397000"/>
            <a:ext cx="1736725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973890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422275" y="2954338"/>
            <a:ext cx="2147888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468563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6561139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4514851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431800" y="4497388"/>
            <a:ext cx="2816225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3170238" y="4497388"/>
            <a:ext cx="2816225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5908675" y="4497388"/>
            <a:ext cx="2816225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83134852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344304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2360778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3377252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133600" y="4393726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5410200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457200" y="1344304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57200" y="2357366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457200" y="3370428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457200" y="4383490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457200" y="5396552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9394711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4419600" y="3632200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2286000" y="3632200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6753225" y="3632200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458788" y="3478213"/>
            <a:ext cx="7769225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3429000" y="3651250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16764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5562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7696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3281363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452438" y="3413125"/>
            <a:ext cx="8239125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611188" y="3460750"/>
            <a:ext cx="7769225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2535866" y="12954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0668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35814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530352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722376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9144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69342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15240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48006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2667000" y="5181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5991225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36576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45765854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914400" y="129540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914400" y="1800013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914400" y="2304626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914400" y="2809239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914400" y="3313852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914400" y="3818465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914400" y="4323078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914400" y="4827691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457200" y="129540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457200" y="1800013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457200" y="2304626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457200" y="2809239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457200" y="3313852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457200" y="3818465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457200" y="4323078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457200" y="4827691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8229600" y="129540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8229600" y="1800013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8229600" y="2304626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8229600" y="2809239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8229600" y="3313852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8229600" y="3818465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8229600" y="4323078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8229600" y="4827691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911776" y="5332304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454575" y="5332304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8226975" y="5332304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911776" y="583692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454575" y="583692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8226975" y="583692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55892743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1335024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457200" y="3744363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1905000" y="1348565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1905000" y="3763963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1905000" y="2199167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1905000" y="4619625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19400" y="1348565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19400" y="3763963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19400" y="2199167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19400" y="4619625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8784992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4646613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752475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2262459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endParaRPr lang="en-US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6157271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752108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4646920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08476800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441325" y="1911350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2552700" y="1911350"/>
            <a:ext cx="1919288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4648200" y="1911350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6770688" y="1911350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095755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320617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endParaRPr lang="en-US" dirty="0"/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5301996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742511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endParaRPr lang="en-US" dirty="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41959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55238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648200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77132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62116109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338328" y="1450181"/>
            <a:ext cx="259689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3273554" y="1447804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6208778" y="1447804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273552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208776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38328" y="2057401"/>
            <a:ext cx="2523744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11000672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7129272" y="1493520"/>
            <a:ext cx="1481328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57200" y="16002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457200" y="48768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457200" y="32385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191512" y="16002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91512" y="32385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91512" y="48768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35962666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684213" y="2635250"/>
            <a:ext cx="7777162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05156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457200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05156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457200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201834607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4384675" y="3341688"/>
            <a:ext cx="376238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835152" y="1417320"/>
            <a:ext cx="303580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266627" y="1417320"/>
            <a:ext cx="3054096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835152" y="1874520"/>
            <a:ext cx="329184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5028883" y="1874520"/>
            <a:ext cx="329184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90436696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6181725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484632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2667000" y="18288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2667000" y="242316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2667000" y="301752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2667000" y="361188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2667000" y="420624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2667000" y="48006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2514600" y="1981200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2514600" y="2570074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2514600" y="315894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2514600" y="3747822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2514600" y="4336696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2514600" y="492556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57050964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396240" y="160020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621280" y="160020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96240" y="274828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621280" y="274828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96240" y="389636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2621280" y="389636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2266" y="504444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2627306" y="504444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93342110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731520" y="1097281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362200" y="1371600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2362200" y="2474977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362200" y="3578353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2362200" y="4681728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731520" y="2200657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731520" y="3304033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731520" y="4407408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6807304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5297488" y="3346450"/>
            <a:ext cx="4406900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76041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754062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2266950" y="3351213"/>
            <a:ext cx="4416425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3781425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762000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2276475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3789363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53038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68151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09600" y="21336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09600" y="33909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4648200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24434344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3273552" y="1444752"/>
            <a:ext cx="2596896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endParaRPr lang="en-US" dirty="0"/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370576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609600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370576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609600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70576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609600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5370576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609600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66737124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248400" y="1420504"/>
            <a:ext cx="2587752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02920" y="15544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502920" y="27482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502920" y="39420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502920" y="51358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96482048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304800" y="2362200"/>
            <a:ext cx="6117336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04800" y="3491484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304800" y="4620768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6411433" y="1417320"/>
            <a:ext cx="210312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4391025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774061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157097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157097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2774061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4391025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6411433" y="1861185"/>
            <a:ext cx="2103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5576102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3068638" y="1981200"/>
            <a:ext cx="2536825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457200" y="1982788"/>
            <a:ext cx="2530475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5684838" y="1981200"/>
            <a:ext cx="2871787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5680885" y="1983087"/>
            <a:ext cx="287574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3068559" y="1983087"/>
            <a:ext cx="2674468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4038600"/>
            <a:ext cx="80772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457200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4585778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200" y="1417320"/>
            <a:ext cx="5193792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5656263" y="1417324"/>
            <a:ext cx="3035808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1983087"/>
            <a:ext cx="2674468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457200" y="1981200"/>
            <a:ext cx="2473180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3144322" y="1988239"/>
            <a:ext cx="238753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343400"/>
            <a:ext cx="80772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5762430" y="1987175"/>
            <a:ext cx="2794197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91790861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5507038" y="1755775"/>
            <a:ext cx="679450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2993735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477838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2993735" y="1290638"/>
            <a:ext cx="237744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6300383" y="1290638"/>
            <a:ext cx="237744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477838" y="1290638"/>
            <a:ext cx="237744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569278" y="173126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569278" y="235712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569278" y="2982976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69278" y="3608832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569278" y="4234688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569278" y="548640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569278" y="486054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3085175" y="174345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3085175" y="236931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3085175" y="2995168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3085175" y="3621024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3085175" y="4246880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3085175" y="549859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3085175" y="487273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6300383" y="174345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6300383" y="236931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6300383" y="2995168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6300383" y="3621024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6300383" y="4246880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6300383" y="549859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6300383" y="487273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01455020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5349875" y="1497013"/>
            <a:ext cx="679450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7082028" y="330708"/>
            <a:ext cx="640080" cy="2569464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117336" y="1981200"/>
            <a:ext cx="2569464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381002" y="1497015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381002" y="298543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381002" y="447385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057402" y="1497015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057402" y="298543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057402" y="447385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3733802" y="1497015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3733802" y="298543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3733802" y="447385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42339576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909638" y="2395537"/>
            <a:ext cx="768350" cy="6381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066925" y="3590925"/>
            <a:ext cx="752475" cy="6254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3234532" y="4814093"/>
            <a:ext cx="698500" cy="595313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3881705" y="4986243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479116" y="1441358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1612732" y="2622986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2755735" y="3804614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96403172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712788" y="1782763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712788" y="5300663"/>
            <a:ext cx="7969250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712788" y="4129088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712788" y="2955925"/>
            <a:ext cx="7969250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708691" y="1501649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708691" y="5019702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708691" y="3847015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708691" y="2674334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201407957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477838" y="3294063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477838" y="4670425"/>
            <a:ext cx="7988300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477838" y="6046788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582996" y="1290642"/>
            <a:ext cx="1870718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896505" y="1290642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5114284" y="1290642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332064" y="1290642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2068960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7200" y="343666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57200" y="480248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1582996" y="2068960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1582996" y="344150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1582996" y="480732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33206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333206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333206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511428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11428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11428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6896505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6896505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896505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66204884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151063" y="1277938"/>
            <a:ext cx="6618287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160588" y="1568450"/>
            <a:ext cx="6608762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-167481" y="3604419"/>
            <a:ext cx="4665662" cy="1270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2584450" y="1576388"/>
            <a:ext cx="5530850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468313" y="1860550"/>
            <a:ext cx="8069262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468313" y="1277938"/>
            <a:ext cx="1692275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473075" y="1277938"/>
            <a:ext cx="16764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159964" y="1282929"/>
            <a:ext cx="6372290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016121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3441597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165169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590645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4718025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5143501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867073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292549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6419929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45405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568977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994453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7270881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7696357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8121833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548056" y="1548247"/>
            <a:ext cx="645582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401427" y="1278087"/>
            <a:ext cx="645582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533400" y="1905000"/>
            <a:ext cx="155448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68595897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1555750" y="1828800"/>
            <a:ext cx="7131050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447675" y="2189163"/>
            <a:ext cx="1098550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442913" y="1819275"/>
            <a:ext cx="8234362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512763" y="1566863"/>
            <a:ext cx="884237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512763" y="1939925"/>
            <a:ext cx="884237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442913" y="2200275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442913" y="5486400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1555750" y="1468438"/>
            <a:ext cx="7102475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1546225" y="1828800"/>
            <a:ext cx="649288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1546225" y="1835813"/>
            <a:ext cx="64591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203313" y="1835813"/>
            <a:ext cx="64688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850205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3497093" y="1835813"/>
            <a:ext cx="64202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139118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795736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5437760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084650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731540" y="1835813"/>
            <a:ext cx="64689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383292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8025320" y="1835813"/>
            <a:ext cx="65316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469239" y="223026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469239" y="259557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469239" y="296088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469239" y="332619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469239" y="369150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469239" y="405681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469239" y="5152742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469239" y="442212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469239" y="478743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1562267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20331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285020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349709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41391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4795736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543776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608465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673154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7383292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80253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1546225" y="232170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1546225" y="268701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1546225" y="305232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1546225" y="341763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1546225" y="3782940"/>
            <a:ext cx="4572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1546225" y="414825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1546225" y="451356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1546225" y="487887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1546225" y="5244182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3436620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3048000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5355067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4966447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55277420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1779588" y="5981700"/>
            <a:ext cx="5495925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92288" y="5453935"/>
            <a:ext cx="54864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66754"/>
            <a:ext cx="54864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6042020"/>
            <a:ext cx="54864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769503" y="0"/>
            <a:ext cx="7604994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61871829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52440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endParaRPr lang="en-US" dirty="0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52440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52440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003442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7003442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7003442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endParaRPr lang="en-US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7003442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endParaRPr lang="en-US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452440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45455172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159379" y="1419225"/>
            <a:ext cx="2532185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82302617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75051" y="1419225"/>
            <a:ext cx="5111750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38175640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1" y="1419225"/>
            <a:ext cx="5111750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773265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58957138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076450" y="2667000"/>
            <a:ext cx="6629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066925" y="1108075"/>
            <a:ext cx="32004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5505450" y="1108075"/>
            <a:ext cx="32004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067306" y="2743200"/>
            <a:ext cx="6638544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55612" y="1108074"/>
            <a:ext cx="1170432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55615" y="2722996"/>
            <a:ext cx="1525587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endParaRPr lang="en-US" dirty="0"/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05450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067306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067306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5505450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067306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505450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29862737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76986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76984" y="1589233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67881" y="1246188"/>
            <a:ext cx="8188325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197968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197966" y="1589233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3850123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3850123" y="1589233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5491887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5491885" y="1589233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144041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7144041" y="1589233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576986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576984" y="3927186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197968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197966" y="3927186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3850123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3850123" y="3927186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5491887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5491885" y="3927186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7144041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7144041" y="3962400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57249879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441325" y="14398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438150" y="18970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441325" y="32686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438150" y="37258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260858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477901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6949440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481328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4724400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0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481328" y="4800600"/>
            <a:ext cx="621792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43815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203120252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5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200889683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5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90931445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450850" y="6020181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45085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113838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3776826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5439814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710280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113838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11383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3776826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377682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5439814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439814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10280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5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373647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5123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5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61447479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5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Choice of Entity</a:t>
            </a:r>
          </a:p>
        </p:txBody>
      </p:sp>
    </p:spTree>
    <p:extLst>
      <p:ext uri="{BB962C8B-B14F-4D97-AF65-F5344CB8AC3E}">
        <p14:creationId xmlns:p14="http://schemas.microsoft.com/office/powerpoint/2010/main" val="15750268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77724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Choice of Entity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775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81.xml"/><Relationship Id="rId39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7.xml"/><Relationship Id="rId47" Type="http://schemas.openxmlformats.org/officeDocument/2006/relationships/slideLayout" Target="../slideLayouts/slideLayout102.xml"/><Relationship Id="rId50" Type="http://schemas.openxmlformats.org/officeDocument/2006/relationships/slideLayout" Target="../slideLayouts/slideLayout105.xml"/><Relationship Id="rId55" Type="http://schemas.openxmlformats.org/officeDocument/2006/relationships/theme" Target="../theme/theme2.xml"/><Relationship Id="rId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9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2.xml"/><Relationship Id="rId40" Type="http://schemas.openxmlformats.org/officeDocument/2006/relationships/slideLayout" Target="../slideLayouts/slideLayout95.xml"/><Relationship Id="rId45" Type="http://schemas.openxmlformats.org/officeDocument/2006/relationships/slideLayout" Target="../slideLayouts/slideLayout100.xml"/><Relationship Id="rId53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86.xml"/><Relationship Id="rId44" Type="http://schemas.openxmlformats.org/officeDocument/2006/relationships/slideLayout" Target="../slideLayouts/slideLayout99.xml"/><Relationship Id="rId52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90.xml"/><Relationship Id="rId43" Type="http://schemas.openxmlformats.org/officeDocument/2006/relationships/slideLayout" Target="../slideLayouts/slideLayout98.xml"/><Relationship Id="rId48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63.xml"/><Relationship Id="rId51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93.xml"/><Relationship Id="rId46" Type="http://schemas.openxmlformats.org/officeDocument/2006/relationships/slideLayout" Target="../slideLayouts/slideLayout101.xml"/><Relationship Id="rId20" Type="http://schemas.openxmlformats.org/officeDocument/2006/relationships/slideLayout" Target="../slideLayouts/slideLayout75.xml"/><Relationship Id="rId41" Type="http://schemas.openxmlformats.org/officeDocument/2006/relationships/slideLayout" Target="../slideLayouts/slideLayout96.xml"/><Relationship Id="rId54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91.xml"/><Relationship Id="rId49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9144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610600" y="6436633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3124200" y="6442486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b="1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Choice of Entity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72409" y="6423027"/>
            <a:ext cx="2362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dirty="0">
                <a:latin typeface="+mn-lt"/>
              </a:rPr>
              <a:t>CT</a:t>
            </a:r>
            <a:r>
              <a:rPr lang="en-US" sz="800" baseline="0" dirty="0">
                <a:latin typeface="+mn-lt"/>
              </a:rPr>
              <a:t>_COE_2026S</a:t>
            </a:r>
            <a:endParaRPr lang="en-US" sz="800" dirty="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23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124" r:id="rId8"/>
    <p:sldLayoutId id="2147484125" r:id="rId9"/>
    <p:sldLayoutId id="2147484126" r:id="rId10"/>
    <p:sldLayoutId id="2147484127" r:id="rId11"/>
    <p:sldLayoutId id="2147484091" r:id="rId12"/>
    <p:sldLayoutId id="2147484092" r:id="rId13"/>
    <p:sldLayoutId id="2147484093" r:id="rId14"/>
    <p:sldLayoutId id="2147484094" r:id="rId15"/>
    <p:sldLayoutId id="2147484095" r:id="rId16"/>
    <p:sldLayoutId id="2147484128" r:id="rId17"/>
    <p:sldLayoutId id="2147484096" r:id="rId18"/>
    <p:sldLayoutId id="2147484097" r:id="rId19"/>
    <p:sldLayoutId id="2147484129" r:id="rId20"/>
    <p:sldLayoutId id="2147484130" r:id="rId21"/>
    <p:sldLayoutId id="2147484098" r:id="rId22"/>
    <p:sldLayoutId id="2147484099" r:id="rId23"/>
    <p:sldLayoutId id="2147484131" r:id="rId24"/>
    <p:sldLayoutId id="2147484132" r:id="rId25"/>
    <p:sldLayoutId id="2147484100" r:id="rId26"/>
    <p:sldLayoutId id="2147484101" r:id="rId27"/>
    <p:sldLayoutId id="2147484102" r:id="rId28"/>
    <p:sldLayoutId id="2147484133" r:id="rId29"/>
    <p:sldLayoutId id="2147484103" r:id="rId30"/>
    <p:sldLayoutId id="2147484104" r:id="rId31"/>
    <p:sldLayoutId id="2147484105" r:id="rId32"/>
    <p:sldLayoutId id="2147484134" r:id="rId33"/>
    <p:sldLayoutId id="2147484135" r:id="rId34"/>
    <p:sldLayoutId id="2147484136" r:id="rId35"/>
    <p:sldLayoutId id="2147484137" r:id="rId36"/>
    <p:sldLayoutId id="2147484138" r:id="rId37"/>
    <p:sldLayoutId id="2147484139" r:id="rId38"/>
    <p:sldLayoutId id="2147484140" r:id="rId39"/>
    <p:sldLayoutId id="2147484141" r:id="rId40"/>
    <p:sldLayoutId id="2147484142" r:id="rId41"/>
    <p:sldLayoutId id="2147484106" r:id="rId42"/>
    <p:sldLayoutId id="2147484107" r:id="rId43"/>
    <p:sldLayoutId id="2147484108" r:id="rId44"/>
    <p:sldLayoutId id="2147484109" r:id="rId45"/>
    <p:sldLayoutId id="2147484143" r:id="rId46"/>
    <p:sldLayoutId id="2147484110" r:id="rId47"/>
    <p:sldLayoutId id="2147484144" r:id="rId48"/>
    <p:sldLayoutId id="2147484111" r:id="rId49"/>
    <p:sldLayoutId id="2147484112" r:id="rId50"/>
    <p:sldLayoutId id="2147484113" r:id="rId51"/>
    <p:sldLayoutId id="2147484114" r:id="rId52"/>
    <p:sldLayoutId id="2147484115" r:id="rId53"/>
    <p:sldLayoutId id="2147484157" r:id="rId54"/>
    <p:sldLayoutId id="2147484213" r:id="rId55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9144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610600" y="6436633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3200400" y="6436633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72409" y="6423027"/>
            <a:ext cx="2362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dirty="0">
                <a:latin typeface="+mn-lt"/>
              </a:rPr>
              <a:t>Goodbye</a:t>
            </a:r>
          </a:p>
        </p:txBody>
      </p:sp>
    </p:spTree>
    <p:extLst>
      <p:ext uri="{BB962C8B-B14F-4D97-AF65-F5344CB8AC3E}">
        <p14:creationId xmlns:p14="http://schemas.microsoft.com/office/powerpoint/2010/main" val="535361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9" r:id="rId1"/>
    <p:sldLayoutId id="2147484160" r:id="rId2"/>
    <p:sldLayoutId id="2147484161" r:id="rId3"/>
    <p:sldLayoutId id="2147484162" r:id="rId4"/>
    <p:sldLayoutId id="2147484163" r:id="rId5"/>
    <p:sldLayoutId id="2147484164" r:id="rId6"/>
    <p:sldLayoutId id="2147484165" r:id="rId7"/>
    <p:sldLayoutId id="2147484166" r:id="rId8"/>
    <p:sldLayoutId id="2147484167" r:id="rId9"/>
    <p:sldLayoutId id="2147484168" r:id="rId10"/>
    <p:sldLayoutId id="2147484169" r:id="rId11"/>
    <p:sldLayoutId id="2147484170" r:id="rId12"/>
    <p:sldLayoutId id="2147484171" r:id="rId13"/>
    <p:sldLayoutId id="2147484172" r:id="rId14"/>
    <p:sldLayoutId id="2147484173" r:id="rId15"/>
    <p:sldLayoutId id="2147484174" r:id="rId16"/>
    <p:sldLayoutId id="2147484175" r:id="rId17"/>
    <p:sldLayoutId id="2147484176" r:id="rId18"/>
    <p:sldLayoutId id="2147484177" r:id="rId19"/>
    <p:sldLayoutId id="2147484178" r:id="rId20"/>
    <p:sldLayoutId id="2147484179" r:id="rId21"/>
    <p:sldLayoutId id="2147484180" r:id="rId22"/>
    <p:sldLayoutId id="2147484181" r:id="rId23"/>
    <p:sldLayoutId id="2147484182" r:id="rId24"/>
    <p:sldLayoutId id="2147484183" r:id="rId25"/>
    <p:sldLayoutId id="2147484184" r:id="rId26"/>
    <p:sldLayoutId id="2147484185" r:id="rId27"/>
    <p:sldLayoutId id="2147484186" r:id="rId28"/>
    <p:sldLayoutId id="2147484187" r:id="rId29"/>
    <p:sldLayoutId id="2147484188" r:id="rId30"/>
    <p:sldLayoutId id="2147484189" r:id="rId31"/>
    <p:sldLayoutId id="2147484190" r:id="rId32"/>
    <p:sldLayoutId id="2147484191" r:id="rId33"/>
    <p:sldLayoutId id="2147484192" r:id="rId34"/>
    <p:sldLayoutId id="2147484193" r:id="rId35"/>
    <p:sldLayoutId id="2147484194" r:id="rId36"/>
    <p:sldLayoutId id="2147484195" r:id="rId37"/>
    <p:sldLayoutId id="2147484196" r:id="rId38"/>
    <p:sldLayoutId id="2147484197" r:id="rId39"/>
    <p:sldLayoutId id="2147484198" r:id="rId40"/>
    <p:sldLayoutId id="2147484199" r:id="rId41"/>
    <p:sldLayoutId id="2147484200" r:id="rId42"/>
    <p:sldLayoutId id="2147484201" r:id="rId43"/>
    <p:sldLayoutId id="2147484202" r:id="rId44"/>
    <p:sldLayoutId id="2147484203" r:id="rId45"/>
    <p:sldLayoutId id="2147484204" r:id="rId46"/>
    <p:sldLayoutId id="2147484205" r:id="rId47"/>
    <p:sldLayoutId id="2147484206" r:id="rId48"/>
    <p:sldLayoutId id="2147484207" r:id="rId49"/>
    <p:sldLayoutId id="2147484208" r:id="rId50"/>
    <p:sldLayoutId id="2147484209" r:id="rId51"/>
    <p:sldLayoutId id="2147484210" r:id="rId52"/>
    <p:sldLayoutId id="2147484211" r:id="rId53"/>
    <p:sldLayoutId id="2147484212" r:id="rId54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F2KsbX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bit.ly/2F2KsbX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eic.energy/current-mlps-and-mlp-fund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122363"/>
            <a:ext cx="8915400" cy="1496385"/>
          </a:xfrm>
        </p:spPr>
        <p:txBody>
          <a:bodyPr/>
          <a:lstStyle/>
          <a:p>
            <a:r>
              <a:rPr lang="en-US" b="1" dirty="0"/>
              <a:t>Corporate Taxation</a:t>
            </a:r>
            <a:br>
              <a:rPr lang="en-US" b="1" dirty="0"/>
            </a:br>
            <a:r>
              <a:rPr lang="en-US" b="1" dirty="0"/>
              <a:t>Choice of Entity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1</a:t>
            </a:fld>
            <a:endParaRPr lang="en-US"/>
          </a:p>
        </p:txBody>
      </p:sp>
      <p:pic>
        <p:nvPicPr>
          <p:cNvPr id="8" name="Picture 7" descr="pic1.tiff">
            <a:extLst>
              <a:ext uri="{FF2B5EF4-FFF2-40B4-BE49-F238E27FC236}">
                <a16:creationId xmlns:a16="http://schemas.microsoft.com/office/drawing/2014/main" id="{875BC4D3-57EF-9946-909E-614DC0E96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1" y="4972051"/>
            <a:ext cx="2155246" cy="48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059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D706CB-156B-8643-9A07-D8448DABBCBD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029200" y="1600200"/>
            <a:ext cx="1371600" cy="60960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2400" b="1" dirty="0">
                <a:latin typeface="Calibri" charset="0"/>
              </a:rPr>
              <a:t>C Corp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600200" y="1593925"/>
            <a:ext cx="1295400" cy="60960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 eaLnBrk="1" hangingPunct="1"/>
            <a:r>
              <a:rPr lang="en-US" sz="1800" b="1" dirty="0">
                <a:latin typeface="Calibri" charset="0"/>
              </a:rPr>
              <a:t>LLC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1799178" y="3798884"/>
            <a:ext cx="1219200" cy="914400"/>
          </a:xfrm>
          <a:prstGeom prst="triangle">
            <a:avLst>
              <a:gd name="adj" fmla="val 50000"/>
            </a:avLst>
          </a:prstGeom>
          <a:solidFill>
            <a:schemeClr val="accent3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en-US" sz="2000" b="1" dirty="0" err="1">
                <a:latin typeface="Calibri" charset="0"/>
              </a:rPr>
              <a:t>PSH</a:t>
            </a:r>
            <a:endParaRPr lang="en-US" sz="2400" b="1" dirty="0">
              <a:latin typeface="Calibri" charset="0"/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H="1">
            <a:off x="1638300" y="1579872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libri"/>
            </a:endParaRP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2247900" y="1593925"/>
            <a:ext cx="609600" cy="5955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libri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5028304" y="4103078"/>
            <a:ext cx="1371600" cy="60960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2400" b="1" dirty="0">
                <a:latin typeface="Calibri" charset="0"/>
              </a:rPr>
              <a:t>S Corp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8100" y="2998033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?</a:t>
            </a:r>
            <a:endParaRPr lang="en-US" b="1" dirty="0"/>
          </a:p>
        </p:txBody>
      </p:sp>
      <p:cxnSp>
        <p:nvCxnSpPr>
          <p:cNvPr id="12" name="Straight Connector 11"/>
          <p:cNvCxnSpPr>
            <a:endCxn id="10" idx="3"/>
          </p:cNvCxnSpPr>
          <p:nvPr/>
        </p:nvCxnSpPr>
        <p:spPr>
          <a:xfrm flipH="1">
            <a:off x="4199478" y="2300053"/>
            <a:ext cx="1439322" cy="9595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10" idx="1"/>
          </p:cNvCxnSpPr>
          <p:nvPr/>
        </p:nvCxnSpPr>
        <p:spPr>
          <a:xfrm>
            <a:off x="2286000" y="2405382"/>
            <a:ext cx="1562100" cy="854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781300" y="3431436"/>
            <a:ext cx="1104900" cy="709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4199478" y="3362966"/>
            <a:ext cx="1439322" cy="675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548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tabLst>
                <a:tab pos="914400" algn="l"/>
              </a:tabLst>
            </a:pPr>
            <a:r>
              <a:rPr lang="en-US" sz="2400" dirty="0">
                <a:ea typeface="ＭＳ Ｐゴシック" charset="0"/>
                <a:cs typeface="ＭＳ Ｐゴシック" charset="0"/>
              </a:rPr>
              <a:t>Sole Proprietorship/Branch/Division</a:t>
            </a:r>
          </a:p>
          <a:p>
            <a:pPr marL="457200" indent="-457200" eaLnBrk="1" hangingPunct="1">
              <a:tabLst>
                <a:tab pos="914400" algn="l"/>
              </a:tabLst>
            </a:pPr>
            <a:r>
              <a:rPr lang="en-US" sz="2400" dirty="0">
                <a:ea typeface="ＭＳ Ｐゴシック" charset="0"/>
                <a:cs typeface="ＭＳ Ｐゴシック" charset="0"/>
              </a:rPr>
              <a:t>Partnership</a:t>
            </a:r>
          </a:p>
          <a:p>
            <a:pPr marL="965200" lvl="1" indent="-279400" eaLnBrk="1" hangingPunct="1">
              <a:tabLst>
                <a:tab pos="914400" algn="l"/>
              </a:tabLst>
            </a:pPr>
            <a:r>
              <a:rPr lang="en-US" sz="2000" dirty="0">
                <a:ea typeface="ＭＳ Ｐゴシック" charset="0"/>
              </a:rPr>
              <a:t>GP, LP, LLP, and LLLP</a:t>
            </a:r>
          </a:p>
          <a:p>
            <a:pPr marL="965200" lvl="1" indent="-279400" eaLnBrk="1" hangingPunct="1">
              <a:tabLst>
                <a:tab pos="914400" algn="l"/>
              </a:tabLst>
            </a:pPr>
            <a:r>
              <a:rPr lang="en-US" sz="2000" dirty="0">
                <a:ea typeface="ＭＳ Ｐゴシック" charset="0"/>
              </a:rPr>
              <a:t>LLC</a:t>
            </a:r>
          </a:p>
          <a:p>
            <a:pPr marL="457200" indent="-457200" eaLnBrk="1" hangingPunct="1">
              <a:tabLst>
                <a:tab pos="914400" algn="l"/>
              </a:tabLst>
            </a:pPr>
            <a:r>
              <a:rPr lang="en-US" sz="2400" dirty="0">
                <a:ea typeface="ＭＳ Ｐゴシック" charset="0"/>
                <a:cs typeface="ＭＳ Ｐゴシック" charset="0"/>
              </a:rPr>
              <a:t>Corporation</a:t>
            </a:r>
          </a:p>
          <a:p>
            <a:pPr marL="965200" lvl="1" indent="-279400" eaLnBrk="1" hangingPunct="1">
              <a:tabLst>
                <a:tab pos="914400" algn="l"/>
              </a:tabLst>
            </a:pPr>
            <a:r>
              <a:rPr lang="en-US" sz="2000" dirty="0">
                <a:ea typeface="ＭＳ Ｐゴシック" charset="0"/>
              </a:rPr>
              <a:t>Association</a:t>
            </a:r>
          </a:p>
          <a:p>
            <a:pPr marL="965200" lvl="1" indent="-279400" eaLnBrk="1" hangingPunct="1">
              <a:tabLst>
                <a:tab pos="914400" algn="l"/>
              </a:tabLst>
            </a:pPr>
            <a:r>
              <a:rPr lang="en-US" sz="2000" dirty="0">
                <a:ea typeface="ＭＳ Ｐゴシック" charset="0"/>
              </a:rPr>
              <a:t>Business Trust</a:t>
            </a:r>
          </a:p>
          <a:p>
            <a:pPr marL="457200" indent="-457200" eaLnBrk="1" hangingPunct="1">
              <a:tabLst>
                <a:tab pos="914400" algn="l"/>
              </a:tabLst>
            </a:pPr>
            <a:r>
              <a:rPr lang="en-US" sz="2400" dirty="0">
                <a:ea typeface="ＭＳ Ｐゴシック" charset="0"/>
                <a:cs typeface="ＭＳ Ｐゴシック" charset="0"/>
              </a:rPr>
              <a:t>Analysis:</a:t>
            </a:r>
          </a:p>
          <a:p>
            <a:pPr marL="965200" lvl="1" indent="-279400" eaLnBrk="1" hangingPunct="1">
              <a:tabLst>
                <a:tab pos="914400" algn="l"/>
              </a:tabLst>
            </a:pPr>
            <a:r>
              <a:rPr lang="en-US" sz="2000" dirty="0">
                <a:ea typeface="ＭＳ Ｐゴシック" charset="0"/>
              </a:rPr>
              <a:t>Is there a separate entity for </a:t>
            </a:r>
            <a:r>
              <a:rPr lang="en-US" sz="2000" b="1" i="1" dirty="0">
                <a:ea typeface="ＭＳ Ｐゴシック" charset="0"/>
              </a:rPr>
              <a:t>federal </a:t>
            </a:r>
            <a:r>
              <a:rPr lang="en-US" sz="2000" dirty="0">
                <a:ea typeface="ＭＳ Ｐゴシック" charset="0"/>
              </a:rPr>
              <a:t>tax purposes?</a:t>
            </a:r>
          </a:p>
          <a:p>
            <a:pPr marL="965200" lvl="1" indent="-279400" eaLnBrk="1" hangingPunct="1">
              <a:tabLst>
                <a:tab pos="914400" algn="l"/>
              </a:tabLst>
            </a:pPr>
            <a:r>
              <a:rPr lang="en-US" sz="2000" dirty="0">
                <a:ea typeface="ＭＳ Ｐゴシック" charset="0"/>
              </a:rPr>
              <a:t>Is the entity a SP/B/D, PSH, or Corp?</a:t>
            </a: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b="1" dirty="0">
                <a:ea typeface="ＭＳ Ｐゴシック" charset="0"/>
                <a:cs typeface="ＭＳ Ｐゴシック" charset="0"/>
              </a:rPr>
              <a:t>Choice of Business Entity</a:t>
            </a:r>
          </a:p>
        </p:txBody>
      </p:sp>
      <p:sp>
        <p:nvSpPr>
          <p:cNvPr id="2" name="Oval 1"/>
          <p:cNvSpPr/>
          <p:nvPr/>
        </p:nvSpPr>
        <p:spPr bwMode="auto">
          <a:xfrm>
            <a:off x="152400" y="914400"/>
            <a:ext cx="3733800" cy="121920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913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Rate Comparison</a:t>
            </a:r>
          </a:p>
          <a:p>
            <a:pPr lvl="1"/>
            <a:r>
              <a:rPr lang="en-US" b="1" dirty="0"/>
              <a:t>C Corp</a:t>
            </a:r>
          </a:p>
          <a:p>
            <a:pPr lvl="2"/>
            <a:r>
              <a:rPr lang="en-US" dirty="0"/>
              <a:t>C Corp: 21% Corporate rate + 23.8% (CGs or dividends + 3.8% NII)</a:t>
            </a:r>
          </a:p>
          <a:p>
            <a:pPr lvl="2"/>
            <a:r>
              <a:rPr lang="en-US" b="1" i="1" dirty="0"/>
              <a:t>New </a:t>
            </a:r>
            <a:r>
              <a:rPr lang="en-US" i="1" dirty="0"/>
              <a:t>(post-2022 tax years)</a:t>
            </a:r>
            <a:r>
              <a:rPr lang="en-US" dirty="0"/>
              <a:t>: </a:t>
            </a:r>
            <a:r>
              <a:rPr lang="en-US" i="1" dirty="0"/>
              <a:t> 15% Corporate Minimum Alternative Tax </a:t>
            </a:r>
            <a:r>
              <a:rPr lang="en-US" dirty="0"/>
              <a:t>(CMAT)</a:t>
            </a:r>
            <a:r>
              <a:rPr lang="en-US" i="1" dirty="0"/>
              <a:t> on large corporations based on financial statement income (book)</a:t>
            </a:r>
            <a:endParaRPr lang="en-US" dirty="0"/>
          </a:p>
          <a:p>
            <a:pPr lvl="1"/>
            <a:r>
              <a:rPr lang="en-US" b="1" dirty="0"/>
              <a:t>Pass-through</a:t>
            </a:r>
            <a:endParaRPr lang="en-US" dirty="0"/>
          </a:p>
          <a:p>
            <a:pPr lvl="2"/>
            <a:r>
              <a:rPr lang="en-US" dirty="0"/>
              <a:t>37% for operating income (individuals), but 29.6% for QBI (note, this rate doesn’t apply to CGs)</a:t>
            </a:r>
          </a:p>
          <a:p>
            <a:pPr lvl="2"/>
            <a:r>
              <a:rPr lang="en-US" dirty="0"/>
              <a:t>3.8% for NII</a:t>
            </a:r>
          </a:p>
          <a:p>
            <a:pPr lvl="2"/>
            <a:r>
              <a:rPr lang="en-US" dirty="0"/>
              <a:t>20% for qualified dividends and NCGs</a:t>
            </a:r>
          </a:p>
          <a:p>
            <a:r>
              <a:rPr lang="en-US" dirty="0"/>
              <a:t>Other considerations</a:t>
            </a:r>
          </a:p>
          <a:p>
            <a:pPr lvl="1"/>
            <a:r>
              <a:rPr lang="en-US" dirty="0"/>
              <a:t>Deferral of SH-level tax </a:t>
            </a:r>
          </a:p>
          <a:p>
            <a:pPr lvl="1"/>
            <a:r>
              <a:rPr lang="en-US" dirty="0"/>
              <a:t>Step-up basis at death of shares</a:t>
            </a:r>
          </a:p>
          <a:p>
            <a:pPr lvl="1"/>
            <a:r>
              <a:rPr lang="en-US" dirty="0"/>
              <a:t>Investment of passive earnings by C Corp or SH</a:t>
            </a:r>
          </a:p>
          <a:p>
            <a:pPr lvl="1"/>
            <a:r>
              <a:rPr lang="en-US" dirty="0"/>
              <a:t>Use of losses</a:t>
            </a:r>
          </a:p>
          <a:p>
            <a:pPr lvl="1"/>
            <a:r>
              <a:rPr lang="en-US" dirty="0"/>
              <a:t>Qualified Small Business Stock exclusion (</a:t>
            </a:r>
            <a:r>
              <a:rPr lang="en-US" altLang="en-US" dirty="0"/>
              <a:t>§</a:t>
            </a:r>
            <a:r>
              <a:rPr lang="en-US" dirty="0"/>
              <a:t>1202)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Corp vs. Pass-through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74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90169F-6D46-3244-BA47-17047563E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Rates for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EDD64-64F8-AE48-BE18-9E27FDF880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724E7-882D-184B-85F1-FC21C71B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  <p:pic>
        <p:nvPicPr>
          <p:cNvPr id="9" name="Picture 8" descr="A table with numbers and a few words&#10;&#10;AI-generated content may be incorrect.">
            <a:extLst>
              <a:ext uri="{FF2B5EF4-FFF2-40B4-BE49-F238E27FC236}">
                <a16:creationId xmlns:a16="http://schemas.microsoft.com/office/drawing/2014/main" id="{0C83359E-ADAD-FDE5-5F17-93605CBF1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533400"/>
            <a:ext cx="8458200" cy="4054734"/>
          </a:xfrm>
          <a:prstGeom prst="rect">
            <a:avLst/>
          </a:prstGeo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75996FC0-A2E7-8A23-352B-1F0D73312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371" y="4796558"/>
            <a:ext cx="3075877" cy="1508125"/>
          </a:xfrm>
          <a:prstGeom prst="rect">
            <a:avLst/>
          </a:prstGeom>
        </p:spPr>
      </p:pic>
      <p:pic>
        <p:nvPicPr>
          <p:cNvPr id="15" name="Picture 14" descr="A screenshot of a phone&#10;&#10;AI-generated content may be incorrect.">
            <a:extLst>
              <a:ext uri="{FF2B5EF4-FFF2-40B4-BE49-F238E27FC236}">
                <a16:creationId xmlns:a16="http://schemas.microsoft.com/office/drawing/2014/main" id="{48AFB231-6448-DDA3-A7D6-0CB2B15CBE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4816475"/>
            <a:ext cx="5178552" cy="15081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B43F11B-3CC2-EA08-DD20-4D244E6F5920}"/>
              </a:ext>
            </a:extLst>
          </p:cNvPr>
          <p:cNvSpPr txBox="1"/>
          <p:nvPr/>
        </p:nvSpPr>
        <p:spPr>
          <a:xfrm>
            <a:off x="2220069" y="4552130"/>
            <a:ext cx="11575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Capital Gains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FD6387-A7F8-A63E-DBA3-0BC874D260E7}"/>
              </a:ext>
            </a:extLst>
          </p:cNvPr>
          <p:cNvSpPr txBox="1"/>
          <p:nvPr/>
        </p:nvSpPr>
        <p:spPr>
          <a:xfrm>
            <a:off x="6345150" y="4539974"/>
            <a:ext cx="4571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QBI</a:t>
            </a:r>
          </a:p>
        </p:txBody>
      </p:sp>
    </p:spTree>
    <p:extLst>
      <p:ext uri="{BB962C8B-B14F-4D97-AF65-F5344CB8AC3E}">
        <p14:creationId xmlns:p14="http://schemas.microsoft.com/office/powerpoint/2010/main" val="2189102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B53ED5-8D9A-D970-6888-9EE0C9B6A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vs. Effective (Average) Tax Rates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F0F7C-ADF0-06C3-9570-62F640654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CBABA-67B7-8027-8768-3B570037A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  <p:pic>
        <p:nvPicPr>
          <p:cNvPr id="11" name="Content Placeholder 10" descr="A screenshot of a graph&#10;&#10;AI-generated content may be incorrect.">
            <a:extLst>
              <a:ext uri="{FF2B5EF4-FFF2-40B4-BE49-F238E27FC236}">
                <a16:creationId xmlns:a16="http://schemas.microsoft.com/office/drawing/2014/main" id="{720CF8D9-4E7A-9777-7B0B-43A774D8D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533400"/>
            <a:ext cx="8458200" cy="5811838"/>
          </a:xfrm>
        </p:spPr>
      </p:pic>
    </p:spTree>
    <p:extLst>
      <p:ext uri="{BB962C8B-B14F-4D97-AF65-F5344CB8AC3E}">
        <p14:creationId xmlns:p14="http://schemas.microsoft.com/office/powerpoint/2010/main" val="2421660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5171276"/>
              </p:ext>
            </p:extLst>
          </p:nvPr>
        </p:nvGraphicFramePr>
        <p:xfrm>
          <a:off x="343055" y="1422627"/>
          <a:ext cx="8572348" cy="389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3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0040" marR="70040" marT="34290" marB="3429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 Corporations</a:t>
                      </a:r>
                    </a:p>
                  </a:txBody>
                  <a:tcPr marL="70040" marR="70040" marT="34290" marB="3429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 Corporations</a:t>
                      </a:r>
                    </a:p>
                  </a:txBody>
                  <a:tcPr marL="70040" marR="70040" marT="34290" marB="3429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Partnerships (GPs, LPs, LLCs)</a:t>
                      </a:r>
                    </a:p>
                  </a:txBody>
                  <a:tcPr marL="70040" marR="70040" marT="34290" marB="3429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Entity’s</a:t>
                      </a:r>
                      <a:r>
                        <a:rPr lang="en-US" sz="1100" b="1" baseline="0" dirty="0">
                          <a:solidFill>
                            <a:schemeClr val="tx1"/>
                          </a:solidFill>
                        </a:rPr>
                        <a:t> Income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70040" marR="7004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Taxed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</a:rPr>
                        <a:t> to entity </a:t>
                      </a:r>
                    </a:p>
                    <a:p>
                      <a:pPr algn="ctr"/>
                      <a:r>
                        <a:rPr lang="en-US" sz="1100" baseline="0" dirty="0">
                          <a:solidFill>
                            <a:schemeClr val="tx1"/>
                          </a:solidFill>
                        </a:rPr>
                        <a:t>(21% max. rate)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0040" marR="7004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Taxed to  owners with basis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</a:rPr>
                        <a:t> adjustment (37% max rate; 29.6% if QBI)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0040" marR="70040" marT="34290" marB="3429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Taxed to owners with basis adjustment 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</a:rPr>
                        <a:t>(37% max rate; 29.6% if QBI)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0040" marR="7004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085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Entity’s Losses</a:t>
                      </a:r>
                    </a:p>
                  </a:txBody>
                  <a:tcPr marL="70040" marR="7004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Deductible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</a:rPr>
                        <a:t> against corporate income; NOLs can offset 80% of TI and be carried forward indefinitely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0040" marR="7004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Deductible by owners, limited by basis in stock; individual excess business loss subject to 250k/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yr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limitation </a:t>
                      </a:r>
                    </a:p>
                  </a:txBody>
                  <a:tcPr marL="70040" marR="7004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Deductible by owners; limited by basis in PSH; excess business loss subject to 250k/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yr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limitation </a:t>
                      </a:r>
                    </a:p>
                  </a:txBody>
                  <a:tcPr marL="70040" marR="7004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66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Distributions of $</a:t>
                      </a:r>
                    </a:p>
                  </a:txBody>
                  <a:tcPr marL="70040" marR="7004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Taxed to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</a:rPr>
                        <a:t> SHs to extent of E&amp;Ps, return of basis, and then gain; Qualified dividends taxed at 20% max + 3.8% NII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0040" marR="7004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 taxation;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</a:rPr>
                        <a:t> reduction of basis and then gain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0040" marR="7004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 taxation; reduction of basis and then gain</a:t>
                      </a:r>
                    </a:p>
                  </a:txBody>
                  <a:tcPr marL="70040" marR="7004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5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Distributions of Property</a:t>
                      </a:r>
                    </a:p>
                  </a:txBody>
                  <a:tcPr marL="70040" marR="7004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Gain but not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</a:rPr>
                        <a:t> loss recognized; taxed to SHs as dividend to extent of FMV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0040" marR="70040" marT="34290" marB="3429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Gain but not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</a:rPr>
                        <a:t> loss recognized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0040" marR="7004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 G/L to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baseline="0" dirty="0" err="1">
                          <a:solidFill>
                            <a:schemeClr val="tx1"/>
                          </a:solidFill>
                        </a:rPr>
                        <a:t>PSH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</a:rPr>
                        <a:t>; CO basis to Ps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0040" marR="7004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3085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Transfer of Equity Interests</a:t>
                      </a:r>
                    </a:p>
                  </a:txBody>
                  <a:tcPr marL="70040" marR="7004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Capital G/L</a:t>
                      </a:r>
                    </a:p>
                  </a:txBody>
                  <a:tcPr marL="70040" marR="7004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Capital G/L</a:t>
                      </a:r>
                    </a:p>
                  </a:txBody>
                  <a:tcPr marL="70040" marR="7004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Capital G/L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</a:rPr>
                        <a:t> with look-through to extent of OI assets; can elect to adjust basis of </a:t>
                      </a:r>
                      <a:r>
                        <a:rPr lang="en-US" sz="1100" baseline="0" dirty="0" err="1">
                          <a:solidFill>
                            <a:schemeClr val="tx1"/>
                          </a:solidFill>
                        </a:rPr>
                        <a:t>PSH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</a:rPr>
                        <a:t> property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70040" marR="7004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Differences: C, S, and K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371888-22CA-6E45-85ED-F5822DF01BA5}"/>
              </a:ext>
            </a:extLst>
          </p:cNvPr>
          <p:cNvSpPr/>
          <p:nvPr/>
        </p:nvSpPr>
        <p:spPr>
          <a:xfrm>
            <a:off x="2133600" y="2362200"/>
            <a:ext cx="7010400" cy="1066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4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51748" y="1503811"/>
          <a:ext cx="8681012" cy="3499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0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0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0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3550" marR="73550" marT="34290" marB="3429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 Corporations</a:t>
                      </a:r>
                    </a:p>
                  </a:txBody>
                  <a:tcPr marL="73550" marR="73550" marT="34290" marB="3429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 Corporations</a:t>
                      </a:r>
                    </a:p>
                  </a:txBody>
                  <a:tcPr marL="73550" marR="73550" marT="34290" marB="3429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Partnerships (GPs, LPs, LLCs)</a:t>
                      </a:r>
                    </a:p>
                  </a:txBody>
                  <a:tcPr marL="73550" marR="73550" marT="34290" marB="3429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Mergers with Corporations</a:t>
                      </a:r>
                    </a:p>
                  </a:txBody>
                  <a:tcPr marL="73550" marR="7355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Tax-free</a:t>
                      </a:r>
                    </a:p>
                  </a:txBody>
                  <a:tcPr marL="73550" marR="7355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Tax-free</a:t>
                      </a:r>
                    </a:p>
                  </a:txBody>
                  <a:tcPr marL="73550" marR="7355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Can’t undertake tax-free reorg with corporation</a:t>
                      </a:r>
                    </a:p>
                  </a:txBody>
                  <a:tcPr marL="73550" marR="7355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221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Classes of Equity Interests and Maximum # of Owners</a:t>
                      </a:r>
                    </a:p>
                  </a:txBody>
                  <a:tcPr marL="73550" marR="7355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limitation; no maximum</a:t>
                      </a:r>
                    </a:p>
                  </a:txBody>
                  <a:tcPr marL="73550" marR="7355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One class of stock; 100 maximum</a:t>
                      </a:r>
                    </a:p>
                  </a:txBody>
                  <a:tcPr marL="73550" marR="7355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limitation; no max, but minimum of 2</a:t>
                      </a:r>
                    </a:p>
                  </a:txBody>
                  <a:tcPr marL="73550" marR="7355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32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Foreign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</a:rPr>
                        <a:t> Owners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73550" marR="7355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Eligible</a:t>
                      </a:r>
                    </a:p>
                  </a:txBody>
                  <a:tcPr marL="73550" marR="7355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Eligible</a:t>
                      </a:r>
                    </a:p>
                  </a:txBody>
                  <a:tcPr marL="73550" marR="7355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Eligible</a:t>
                      </a:r>
                    </a:p>
                  </a:txBody>
                  <a:tcPr marL="73550" marR="7355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4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Tax-exempt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</a:rPr>
                        <a:t> Owners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73550" marR="7355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Eligible;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 dividends not subject to </a:t>
                      </a:r>
                      <a:r>
                        <a:rPr lang="en-US" sz="1200" baseline="0" dirty="0" err="1">
                          <a:solidFill>
                            <a:schemeClr val="tx1"/>
                          </a:solidFill>
                        </a:rPr>
                        <a:t>UBIT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73550" marR="73550" marT="34290" marB="3429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Generally not eligible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 except charitable organizations and retirement plans; income is </a:t>
                      </a:r>
                      <a:r>
                        <a:rPr lang="en-US" sz="1200" baseline="0" dirty="0" err="1">
                          <a:solidFill>
                            <a:schemeClr val="tx1"/>
                          </a:solidFill>
                        </a:rPr>
                        <a:t>UBIT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73550" marR="7355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Eligible,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</a:rPr>
                        <a:t> but subject to </a:t>
                      </a:r>
                      <a:r>
                        <a:rPr lang="en-US" sz="1200" baseline="0" dirty="0" err="1">
                          <a:solidFill>
                            <a:schemeClr val="tx1"/>
                          </a:solidFill>
                        </a:rPr>
                        <a:t>UBIT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73550" marR="7355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916"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73550" marR="7355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73550" marR="7355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73550" marR="7355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73550" marR="7355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Differences: C, S, and K</a:t>
            </a:r>
          </a:p>
        </p:txBody>
      </p:sp>
      <p:sp>
        <p:nvSpPr>
          <p:cNvPr id="3" name="TextBox 2"/>
          <p:cNvSpPr txBox="1"/>
          <p:nvPr/>
        </p:nvSpPr>
        <p:spPr>
          <a:xfrm flipH="1">
            <a:off x="3808639" y="5174726"/>
            <a:ext cx="1263831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Source: JCT-71-15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411C8C7-1590-E05D-7FE7-1A509D13BF76}"/>
              </a:ext>
            </a:extLst>
          </p:cNvPr>
          <p:cNvSpPr/>
          <p:nvPr/>
        </p:nvSpPr>
        <p:spPr>
          <a:xfrm>
            <a:off x="76200" y="1312744"/>
            <a:ext cx="9067800" cy="13542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79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4C9BE5-70DF-DB43-8209-BFE034059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AT-Returns for C Corporation and S Corp/PSH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E243B-5412-594B-A0FB-89763F15E0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D6109-8DD4-024B-94FD-20BFD2530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Choice of Entity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7B538379-6EA7-D447-A7BD-E45778053F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9557558"/>
              </p:ext>
            </p:extLst>
          </p:nvPr>
        </p:nvGraphicFramePr>
        <p:xfrm>
          <a:off x="461771" y="812182"/>
          <a:ext cx="8302753" cy="1973580"/>
        </p:xfrm>
        <a:graphic>
          <a:graphicData uri="http://schemas.openxmlformats.org/drawingml/2006/table">
            <a:tbl>
              <a:tblPr/>
              <a:tblGrid>
                <a:gridCol w="1906079">
                  <a:extLst>
                    <a:ext uri="{9D8B030D-6E8A-4147-A177-3AD203B41FA5}">
                      <a16:colId xmlns:a16="http://schemas.microsoft.com/office/drawing/2014/main" val="1724527342"/>
                    </a:ext>
                  </a:extLst>
                </a:gridCol>
                <a:gridCol w="1615322">
                  <a:extLst>
                    <a:ext uri="{9D8B030D-6E8A-4147-A177-3AD203B41FA5}">
                      <a16:colId xmlns:a16="http://schemas.microsoft.com/office/drawing/2014/main" val="3936268055"/>
                    </a:ext>
                  </a:extLst>
                </a:gridCol>
                <a:gridCol w="1066113">
                  <a:extLst>
                    <a:ext uri="{9D8B030D-6E8A-4147-A177-3AD203B41FA5}">
                      <a16:colId xmlns:a16="http://schemas.microsoft.com/office/drawing/2014/main" val="853687093"/>
                    </a:ext>
                  </a:extLst>
                </a:gridCol>
                <a:gridCol w="1841466">
                  <a:extLst>
                    <a:ext uri="{9D8B030D-6E8A-4147-A177-3AD203B41FA5}">
                      <a16:colId xmlns:a16="http://schemas.microsoft.com/office/drawing/2014/main" val="2842639015"/>
                    </a:ext>
                  </a:extLst>
                </a:gridCol>
                <a:gridCol w="1873773">
                  <a:extLst>
                    <a:ext uri="{9D8B030D-6E8A-4147-A177-3AD203B41FA5}">
                      <a16:colId xmlns:a16="http://schemas.microsoft.com/office/drawing/2014/main" val="367111384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/>
                      <a:endParaRPr lang="en-US" sz="1600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6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b"/>
                      <a:r>
                        <a:rPr lang="en-US" sz="1600" b="1">
                          <a:effectLst/>
                        </a:rPr>
                        <a:t>Choice of Entity Examples Assumptions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0E3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endParaRPr lang="en-US" sz="16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10613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endParaRPr lang="en-US" sz="1600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6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endParaRPr lang="en-US" sz="16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0769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endParaRPr lang="en-US" sz="160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600" dirty="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6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6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6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829044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dirty="0">
                          <a:effectLst/>
                        </a:rPr>
                        <a:t>Ret PSH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dirty="0">
                          <a:effectLst/>
                        </a:rPr>
                        <a:t>10%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600" dirty="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dirty="0">
                          <a:effectLst/>
                        </a:rPr>
                        <a:t>Tax SH/P OI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>
                          <a:effectLst/>
                        </a:rPr>
                        <a:t>37.0%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6295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dirty="0">
                          <a:effectLst/>
                        </a:rPr>
                        <a:t>Ret Corp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>
                          <a:effectLst/>
                        </a:rPr>
                        <a:t>10%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600" dirty="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dirty="0">
                          <a:effectLst/>
                        </a:rPr>
                        <a:t>Tax SH/P </a:t>
                      </a:r>
                      <a:r>
                        <a:rPr lang="en-US" sz="1600" b="1" dirty="0" err="1">
                          <a:effectLst/>
                        </a:rPr>
                        <a:t>Div</a:t>
                      </a:r>
                      <a:endParaRPr lang="en-US" sz="1600" b="1" dirty="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>
                          <a:effectLst/>
                        </a:rPr>
                        <a:t>23.8%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03427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>
                          <a:effectLst/>
                        </a:rPr>
                        <a:t>Tax Corp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>
                          <a:effectLst/>
                        </a:rPr>
                        <a:t>21%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600" dirty="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dirty="0">
                          <a:effectLst/>
                        </a:rPr>
                        <a:t>Tax SH/P CG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>
                          <a:effectLst/>
                        </a:rPr>
                        <a:t>23.8%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741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dirty="0">
                          <a:effectLst/>
                        </a:rPr>
                        <a:t>Amount Invested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>
                          <a:effectLst/>
                        </a:rPr>
                        <a:t>10,000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600" dirty="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dirty="0">
                          <a:effectLst/>
                        </a:rPr>
                        <a:t>Tax SH/P 199A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dirty="0">
                          <a:effectLst/>
                        </a:rPr>
                        <a:t>29.6%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0808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061BA13-D68D-224F-9E4F-4EE34349E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016834"/>
              </p:ext>
            </p:extLst>
          </p:nvPr>
        </p:nvGraphicFramePr>
        <p:xfrm>
          <a:off x="152400" y="3129539"/>
          <a:ext cx="8378952" cy="2388703"/>
        </p:xfrm>
        <a:graphic>
          <a:graphicData uri="http://schemas.openxmlformats.org/drawingml/2006/table">
            <a:tbl>
              <a:tblPr/>
              <a:tblGrid>
                <a:gridCol w="316905">
                  <a:extLst>
                    <a:ext uri="{9D8B030D-6E8A-4147-A177-3AD203B41FA5}">
                      <a16:colId xmlns:a16="http://schemas.microsoft.com/office/drawing/2014/main" val="2809396512"/>
                    </a:ext>
                  </a:extLst>
                </a:gridCol>
                <a:gridCol w="3308836">
                  <a:extLst>
                    <a:ext uri="{9D8B030D-6E8A-4147-A177-3AD203B41FA5}">
                      <a16:colId xmlns:a16="http://schemas.microsoft.com/office/drawing/2014/main" val="1908009635"/>
                    </a:ext>
                  </a:extLst>
                </a:gridCol>
                <a:gridCol w="87108">
                  <a:extLst>
                    <a:ext uri="{9D8B030D-6E8A-4147-A177-3AD203B41FA5}">
                      <a16:colId xmlns:a16="http://schemas.microsoft.com/office/drawing/2014/main" val="3603751275"/>
                    </a:ext>
                  </a:extLst>
                </a:gridCol>
                <a:gridCol w="204089">
                  <a:extLst>
                    <a:ext uri="{9D8B030D-6E8A-4147-A177-3AD203B41FA5}">
                      <a16:colId xmlns:a16="http://schemas.microsoft.com/office/drawing/2014/main" val="2587573051"/>
                    </a:ext>
                  </a:extLst>
                </a:gridCol>
                <a:gridCol w="1445085">
                  <a:extLst>
                    <a:ext uri="{9D8B030D-6E8A-4147-A177-3AD203B41FA5}">
                      <a16:colId xmlns:a16="http://schemas.microsoft.com/office/drawing/2014/main" val="1543531253"/>
                    </a:ext>
                  </a:extLst>
                </a:gridCol>
                <a:gridCol w="1470436">
                  <a:extLst>
                    <a:ext uri="{9D8B030D-6E8A-4147-A177-3AD203B41FA5}">
                      <a16:colId xmlns:a16="http://schemas.microsoft.com/office/drawing/2014/main" val="3689813582"/>
                    </a:ext>
                  </a:extLst>
                </a:gridCol>
                <a:gridCol w="1546493">
                  <a:extLst>
                    <a:ext uri="{9D8B030D-6E8A-4147-A177-3AD203B41FA5}">
                      <a16:colId xmlns:a16="http://schemas.microsoft.com/office/drawing/2014/main" val="3199487435"/>
                    </a:ext>
                  </a:extLst>
                </a:gridCol>
              </a:tblGrid>
              <a:tr h="275381"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b="1">
                          <a:effectLst/>
                        </a:rPr>
                        <a:t>Pass-through vs. C Corporation: One Period</a:t>
                      </a:r>
                    </a:p>
                  </a:txBody>
                  <a:tcPr marL="0" marR="0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 dirty="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647183"/>
                  </a:ext>
                </a:extLst>
              </a:tr>
              <a:tr h="275381">
                <a:tc>
                  <a:txBody>
                    <a:bodyPr/>
                    <a:lstStyle/>
                    <a:p>
                      <a:pPr rtl="0" fontAlgn="b"/>
                      <a:endParaRPr lang="en-US" sz="1400" dirty="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 dirty="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400" b="1" dirty="0">
                          <a:effectLst/>
                        </a:rPr>
                        <a:t>C Corporation</a:t>
                      </a:r>
                    </a:p>
                  </a:txBody>
                  <a:tcPr marL="25737" marR="25737" marT="17158" marB="171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dirty="0">
                          <a:effectLst/>
                        </a:rPr>
                        <a:t>S</a:t>
                      </a:r>
                      <a:r>
                        <a:rPr lang="en-US" sz="1400" b="1" baseline="0" dirty="0">
                          <a:effectLst/>
                        </a:rPr>
                        <a:t> Corp/ PSH</a:t>
                      </a:r>
                      <a:r>
                        <a:rPr lang="en-US" sz="1400" b="1" dirty="0">
                          <a:effectLst/>
                        </a:rPr>
                        <a:t> </a:t>
                      </a:r>
                      <a:br>
                        <a:rPr lang="en-US" sz="1400" b="1" dirty="0">
                          <a:effectLst/>
                        </a:rPr>
                      </a:br>
                      <a:r>
                        <a:rPr lang="en-US" sz="1400" b="1" dirty="0">
                          <a:effectLst/>
                        </a:rPr>
                        <a:t>w/ </a:t>
                      </a:r>
                      <a:r>
                        <a:rPr lang="en-US" sz="1400" b="1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199A</a:t>
                      </a:r>
                    </a:p>
                  </a:txBody>
                  <a:tcPr marL="25737" marR="25737" marT="17158" marB="171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effectLst/>
                        </a:rPr>
                        <a:t>  S Corp/ PSH </a:t>
                      </a:r>
                      <a:br>
                        <a:rPr lang="en-US" sz="1400" b="1" dirty="0">
                          <a:effectLst/>
                        </a:rPr>
                      </a:br>
                      <a:r>
                        <a:rPr lang="en-US" sz="1400" b="1" dirty="0">
                          <a:effectLst/>
                        </a:rPr>
                        <a:t>w/out 199A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1401957"/>
                  </a:ext>
                </a:extLst>
              </a:tr>
              <a:tr h="27538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Pre-Tax Income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dirty="0">
                          <a:effectLst/>
                        </a:rPr>
                        <a:t>1,000.00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1,000.00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1,000.00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990540"/>
                  </a:ext>
                </a:extLst>
              </a:tr>
              <a:tr h="27538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Corp / (SH or P) Tax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 dirty="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(210.00)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(296.00)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(370.00)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535684"/>
                  </a:ext>
                </a:extLst>
              </a:tr>
              <a:tr h="27538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After-Tax Income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790.00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704.00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630.00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757854"/>
                  </a:ext>
                </a:extLst>
              </a:tr>
              <a:tr h="27538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Tax on Distribution of AT Earnings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(188.02)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0.00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dirty="0">
                          <a:effectLst/>
                        </a:rPr>
                        <a:t>0.00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387909"/>
                  </a:ext>
                </a:extLst>
              </a:tr>
              <a:tr h="27538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Net Amount to C or P: [1+2+4]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601.98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704.00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dirty="0">
                          <a:effectLst/>
                        </a:rPr>
                        <a:t>630.00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939436"/>
                  </a:ext>
                </a:extLst>
              </a:tr>
              <a:tr h="275381"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Effective Tax Rate [(PT Inc - AT Inc) / PT Inc]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400">
                        <a:effectLst/>
                      </a:endParaRP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39.80%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29.60%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dirty="0">
                          <a:effectLst/>
                        </a:rPr>
                        <a:t>37.00%</a:t>
                      </a:r>
                    </a:p>
                  </a:txBody>
                  <a:tcPr marL="25737" marR="25737" marT="17158" marB="1715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066117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F660363-D4F0-BD47-B57C-512152718991}"/>
              </a:ext>
            </a:extLst>
          </p:cNvPr>
          <p:cNvSpPr/>
          <p:nvPr/>
        </p:nvSpPr>
        <p:spPr>
          <a:xfrm>
            <a:off x="4222484" y="5764427"/>
            <a:ext cx="16321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hlinkClick r:id="rId3"/>
              </a:rPr>
              <a:t>https://</a:t>
            </a:r>
            <a:r>
              <a:rPr lang="en-US" sz="1000" dirty="0" err="1">
                <a:hlinkClick r:id="rId3"/>
              </a:rPr>
              <a:t>bit.ly</a:t>
            </a:r>
            <a:r>
              <a:rPr lang="en-US" sz="1000" dirty="0">
                <a:hlinkClick r:id="rId3"/>
              </a:rPr>
              <a:t>/2F2KsbX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1280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7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457200" y="609600"/>
          <a:ext cx="8077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55200" imgH="191880" progId="Equation.3">
                  <p:embed/>
                </p:oleObj>
              </mc:Choice>
              <mc:Fallback>
                <p:oleObj name="Equation" r:id="rId3" imgW="3355200" imgH="191880" progId="Equation.3">
                  <p:embed/>
                  <p:pic>
                    <p:nvPicPr>
                      <p:cNvPr id="409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609600"/>
                        <a:ext cx="8077200" cy="609600"/>
                      </a:xfrm>
                      <a:prstGeom prst="rect">
                        <a:avLst/>
                      </a:prstGeom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b="1" dirty="0">
                <a:ea typeface="ＭＳ Ｐゴシック" charset="0"/>
                <a:cs typeface="ＭＳ Ｐゴシック" charset="0"/>
              </a:rPr>
              <a:t>Partnership vs. Corporation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4048" y="762000"/>
            <a:ext cx="8378952" cy="5715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endParaRPr lang="en-US" sz="1600" b="1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SzTx/>
            </a:pPr>
            <a:endParaRPr lang="en-US" sz="2400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SzTx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SzTx/>
            </a:pPr>
            <a:r>
              <a:rPr lang="en-US" sz="2800" dirty="0">
                <a:ea typeface="ＭＳ Ｐゴシック" charset="0"/>
                <a:cs typeface="ＭＳ Ｐゴシック" charset="0"/>
              </a:rPr>
              <a:t>If T</a:t>
            </a:r>
            <a:r>
              <a:rPr lang="en-US" sz="2800" baseline="-25000" dirty="0">
                <a:ea typeface="ＭＳ Ｐゴシック" charset="0"/>
                <a:cs typeface="ＭＳ Ｐゴシック" charset="0"/>
              </a:rPr>
              <a:t>C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=T</a:t>
            </a:r>
            <a:r>
              <a:rPr lang="en-US" sz="2800" baseline="-25000" dirty="0">
                <a:ea typeface="ＭＳ Ｐゴシック" charset="0"/>
                <a:cs typeface="ＭＳ Ｐゴシック" charset="0"/>
              </a:rPr>
              <a:t>P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 and T</a:t>
            </a:r>
            <a:r>
              <a:rPr lang="en-US" sz="2800" baseline="-25000" dirty="0">
                <a:ea typeface="ＭＳ Ｐゴシック" charset="0"/>
                <a:cs typeface="ＭＳ Ｐゴシック" charset="0"/>
              </a:rPr>
              <a:t>CG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=0, neither dominates</a:t>
            </a:r>
          </a:p>
          <a:p>
            <a:pPr>
              <a:lnSpc>
                <a:spcPct val="90000"/>
              </a:lnSpc>
              <a:spcBef>
                <a:spcPct val="0"/>
              </a:spcBef>
              <a:buSzTx/>
            </a:pPr>
            <a:endParaRPr lang="en-US" sz="2800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SzTx/>
            </a:pPr>
            <a:endParaRPr lang="en-US" sz="2800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SzTx/>
            </a:pPr>
            <a:r>
              <a:rPr lang="en-US" sz="2800" dirty="0">
                <a:ea typeface="ＭＳ Ｐゴシック" charset="0"/>
                <a:cs typeface="ＭＳ Ｐゴシック" charset="0"/>
              </a:rPr>
              <a:t>If T</a:t>
            </a:r>
            <a:r>
              <a:rPr lang="en-US" sz="2800" baseline="-25000" dirty="0">
                <a:ea typeface="ＭＳ Ｐゴシック" charset="0"/>
                <a:cs typeface="ＭＳ Ｐゴシック" charset="0"/>
              </a:rPr>
              <a:t>C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=</a:t>
            </a:r>
            <a:r>
              <a:rPr lang="en-US" sz="2800" dirty="0" err="1">
                <a:ea typeface="ＭＳ Ｐゴシック" charset="0"/>
                <a:cs typeface="ＭＳ Ｐゴシック" charset="0"/>
              </a:rPr>
              <a:t>T</a:t>
            </a:r>
            <a:r>
              <a:rPr lang="en-US" sz="2800" baseline="-25000" dirty="0" err="1">
                <a:ea typeface="ＭＳ Ｐゴシック" charset="0"/>
                <a:cs typeface="ＭＳ Ｐゴシック" charset="0"/>
              </a:rPr>
              <a:t>P</a:t>
            </a:r>
            <a:r>
              <a:rPr lang="en-US" sz="2800" baseline="-25000" dirty="0">
                <a:ea typeface="ＭＳ Ｐゴシック" charset="0"/>
                <a:cs typeface="ＭＳ Ｐゴシック" charset="0"/>
              </a:rPr>
              <a:t> 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and </a:t>
            </a:r>
            <a:r>
              <a:rPr lang="en-US" sz="2800" dirty="0" err="1">
                <a:ea typeface="ＭＳ Ｐゴシック" charset="0"/>
                <a:cs typeface="ＭＳ Ｐゴシック" charset="0"/>
              </a:rPr>
              <a:t>T</a:t>
            </a:r>
            <a:r>
              <a:rPr lang="en-US" sz="2800" baseline="-25000" dirty="0" err="1">
                <a:ea typeface="ＭＳ Ｐゴシック" charset="0"/>
                <a:cs typeface="ＭＳ Ｐゴシック" charset="0"/>
              </a:rPr>
              <a:t>CG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&gt;0, </a:t>
            </a:r>
            <a:r>
              <a:rPr lang="en-US" sz="2800" dirty="0" err="1">
                <a:ea typeface="ＭＳ Ｐゴシック" charset="0"/>
                <a:cs typeface="ＭＳ Ｐゴシック" charset="0"/>
              </a:rPr>
              <a:t>PSH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 dominates</a:t>
            </a:r>
          </a:p>
          <a:p>
            <a:pPr>
              <a:lnSpc>
                <a:spcPct val="90000"/>
              </a:lnSpc>
              <a:spcBef>
                <a:spcPct val="0"/>
              </a:spcBef>
              <a:buSzTx/>
            </a:pPr>
            <a:endParaRPr lang="en-US" sz="2800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SzTx/>
            </a:pPr>
            <a:endParaRPr lang="en-US" sz="2800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SzTx/>
            </a:pPr>
            <a:r>
              <a:rPr lang="en-US" sz="2800" dirty="0">
                <a:ea typeface="ＭＳ Ｐゴシック" charset="0"/>
                <a:cs typeface="ＭＳ Ｐゴシック" charset="0"/>
              </a:rPr>
              <a:t>If T</a:t>
            </a:r>
            <a:r>
              <a:rPr lang="en-US" sz="2800" baseline="-25000" dirty="0">
                <a:ea typeface="ＭＳ Ｐゴシック" charset="0"/>
                <a:cs typeface="ＭＳ Ｐゴシック" charset="0"/>
              </a:rPr>
              <a:t>C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&lt;</a:t>
            </a:r>
            <a:r>
              <a:rPr lang="en-US" sz="2800" dirty="0" err="1">
                <a:ea typeface="ＭＳ Ｐゴシック" charset="0"/>
                <a:cs typeface="ＭＳ Ｐゴシック" charset="0"/>
              </a:rPr>
              <a:t>T</a:t>
            </a:r>
            <a:r>
              <a:rPr lang="en-US" sz="2800" baseline="-25000" dirty="0" err="1">
                <a:ea typeface="ＭＳ Ｐゴシック" charset="0"/>
                <a:cs typeface="ＭＳ Ｐゴシック" charset="0"/>
              </a:rPr>
              <a:t>P</a:t>
            </a:r>
            <a:r>
              <a:rPr lang="en-US" sz="2800" baseline="-25000" dirty="0">
                <a:ea typeface="ＭＳ Ｐゴシック" charset="0"/>
                <a:cs typeface="ＭＳ Ｐゴシック" charset="0"/>
              </a:rPr>
              <a:t> 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and </a:t>
            </a:r>
            <a:r>
              <a:rPr lang="en-US" sz="2800" dirty="0" err="1">
                <a:ea typeface="ＭＳ Ｐゴシック" charset="0"/>
                <a:cs typeface="ＭＳ Ｐゴシック" charset="0"/>
              </a:rPr>
              <a:t>T</a:t>
            </a:r>
            <a:r>
              <a:rPr lang="en-US" sz="2800" baseline="-25000" dirty="0" err="1">
                <a:ea typeface="ＭＳ Ｐゴシック" charset="0"/>
                <a:cs typeface="ＭＳ Ｐゴシック" charset="0"/>
              </a:rPr>
              <a:t>CG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=0, Corporation dominates</a:t>
            </a:r>
          </a:p>
          <a:p>
            <a:pPr>
              <a:lnSpc>
                <a:spcPct val="90000"/>
              </a:lnSpc>
              <a:spcBef>
                <a:spcPct val="0"/>
              </a:spcBef>
              <a:buSzTx/>
            </a:pPr>
            <a:endParaRPr lang="en-US" sz="2800" dirty="0">
              <a:solidFill>
                <a:schemeClr val="hlink"/>
              </a:solidFill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SzTx/>
            </a:pPr>
            <a:endParaRPr lang="en-US" sz="2800" dirty="0">
              <a:solidFill>
                <a:srgbClr val="F31B4E"/>
              </a:solidFill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SzTx/>
            </a:pPr>
            <a:r>
              <a:rPr lang="en-US" sz="2800" b="1" dirty="0">
                <a:solidFill>
                  <a:srgbClr val="F31B4E"/>
                </a:solidFill>
                <a:ea typeface="ＭＳ Ｐゴシック" charset="0"/>
                <a:cs typeface="ＭＳ Ｐゴシック" charset="0"/>
              </a:rPr>
              <a:t>If T</a:t>
            </a:r>
            <a:r>
              <a:rPr lang="en-US" sz="2800" b="1" baseline="-25000" dirty="0">
                <a:solidFill>
                  <a:srgbClr val="F31B4E"/>
                </a:solidFill>
                <a:ea typeface="ＭＳ Ｐゴシック" charset="0"/>
                <a:cs typeface="ＭＳ Ｐゴシック" charset="0"/>
              </a:rPr>
              <a:t>C</a:t>
            </a:r>
            <a:r>
              <a:rPr lang="en-US" sz="2800" b="1" dirty="0">
                <a:solidFill>
                  <a:srgbClr val="F31B4E"/>
                </a:solidFill>
                <a:ea typeface="ＭＳ Ｐゴシック" charset="0"/>
                <a:cs typeface="ＭＳ Ｐゴシック" charset="0"/>
              </a:rPr>
              <a:t>&lt;</a:t>
            </a:r>
            <a:r>
              <a:rPr lang="en-US" sz="2800" b="1" dirty="0" err="1">
                <a:solidFill>
                  <a:srgbClr val="F31B4E"/>
                </a:solidFill>
                <a:ea typeface="ＭＳ Ｐゴシック" charset="0"/>
                <a:cs typeface="ＭＳ Ｐゴシック" charset="0"/>
              </a:rPr>
              <a:t>T</a:t>
            </a:r>
            <a:r>
              <a:rPr lang="en-US" sz="2800" b="1" baseline="-25000" dirty="0" err="1">
                <a:solidFill>
                  <a:srgbClr val="F31B4E"/>
                </a:solidFill>
                <a:ea typeface="ＭＳ Ｐゴシック" charset="0"/>
                <a:cs typeface="ＭＳ Ｐゴシック" charset="0"/>
              </a:rPr>
              <a:t>P</a:t>
            </a:r>
            <a:r>
              <a:rPr lang="en-US" sz="2800" b="1" dirty="0">
                <a:solidFill>
                  <a:srgbClr val="F31B4E"/>
                </a:solidFill>
                <a:ea typeface="ＭＳ Ｐゴシック" charset="0"/>
                <a:cs typeface="ＭＳ Ｐゴシック" charset="0"/>
              </a:rPr>
              <a:t> and </a:t>
            </a:r>
            <a:r>
              <a:rPr lang="en-US" sz="2800" b="1" dirty="0" err="1">
                <a:solidFill>
                  <a:srgbClr val="F31B4E"/>
                </a:solidFill>
                <a:ea typeface="ＭＳ Ｐゴシック" charset="0"/>
                <a:cs typeface="ＭＳ Ｐゴシック" charset="0"/>
              </a:rPr>
              <a:t>T</a:t>
            </a:r>
            <a:r>
              <a:rPr lang="en-US" sz="2800" b="1" baseline="-25000" dirty="0" err="1">
                <a:solidFill>
                  <a:srgbClr val="F31B4E"/>
                </a:solidFill>
                <a:ea typeface="ＭＳ Ｐゴシック" charset="0"/>
                <a:cs typeface="ＭＳ Ｐゴシック" charset="0"/>
              </a:rPr>
              <a:t>CG</a:t>
            </a:r>
            <a:r>
              <a:rPr lang="en-US" sz="2800" b="1" dirty="0">
                <a:solidFill>
                  <a:srgbClr val="F31B4E"/>
                </a:solidFill>
                <a:ea typeface="ＭＳ Ｐゴシック" charset="0"/>
                <a:cs typeface="ＭＳ Ｐゴシック" charset="0"/>
              </a:rPr>
              <a:t>&gt;0, no clear preference</a:t>
            </a:r>
            <a:endParaRPr lang="en-US" sz="2800" baseline="-25000" dirty="0">
              <a:solidFill>
                <a:srgbClr val="F31B4E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2DB9B7-AA3D-1046-9756-127E134FE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136158-C497-1349-A42F-22A338D637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4158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63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BA65625-54D9-C94E-B91C-BE050270C9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9270621"/>
              </p:ext>
            </p:extLst>
          </p:nvPr>
        </p:nvGraphicFramePr>
        <p:xfrm>
          <a:off x="342900" y="1549704"/>
          <a:ext cx="8458200" cy="3998804"/>
        </p:xfrm>
        <a:graphic>
          <a:graphicData uri="http://schemas.openxmlformats.org/drawingml/2006/table">
            <a:tbl>
              <a:tblPr/>
              <a:tblGrid>
                <a:gridCol w="1569288">
                  <a:extLst>
                    <a:ext uri="{9D8B030D-6E8A-4147-A177-3AD203B41FA5}">
                      <a16:colId xmlns:a16="http://schemas.microsoft.com/office/drawing/2014/main" val="1655091437"/>
                    </a:ext>
                  </a:extLst>
                </a:gridCol>
                <a:gridCol w="1329906">
                  <a:extLst>
                    <a:ext uri="{9D8B030D-6E8A-4147-A177-3AD203B41FA5}">
                      <a16:colId xmlns:a16="http://schemas.microsoft.com/office/drawing/2014/main" val="1712569693"/>
                    </a:ext>
                  </a:extLst>
                </a:gridCol>
                <a:gridCol w="877739">
                  <a:extLst>
                    <a:ext uri="{9D8B030D-6E8A-4147-A177-3AD203B41FA5}">
                      <a16:colId xmlns:a16="http://schemas.microsoft.com/office/drawing/2014/main" val="2911941277"/>
                    </a:ext>
                  </a:extLst>
                </a:gridCol>
                <a:gridCol w="1516092">
                  <a:extLst>
                    <a:ext uri="{9D8B030D-6E8A-4147-A177-3AD203B41FA5}">
                      <a16:colId xmlns:a16="http://schemas.microsoft.com/office/drawing/2014/main" val="2947680126"/>
                    </a:ext>
                  </a:extLst>
                </a:gridCol>
                <a:gridCol w="1542690">
                  <a:extLst>
                    <a:ext uri="{9D8B030D-6E8A-4147-A177-3AD203B41FA5}">
                      <a16:colId xmlns:a16="http://schemas.microsoft.com/office/drawing/2014/main" val="2365344557"/>
                    </a:ext>
                  </a:extLst>
                </a:gridCol>
                <a:gridCol w="1622485">
                  <a:extLst>
                    <a:ext uri="{9D8B030D-6E8A-4147-A177-3AD203B41FA5}">
                      <a16:colId xmlns:a16="http://schemas.microsoft.com/office/drawing/2014/main" val="3720315787"/>
                    </a:ext>
                  </a:extLst>
                </a:gridCol>
              </a:tblGrid>
              <a:tr h="426508">
                <a:tc gridSpan="6">
                  <a:txBody>
                    <a:bodyPr/>
                    <a:lstStyle/>
                    <a:p>
                      <a:pPr rtl="0" fontAlgn="b"/>
                      <a:r>
                        <a:rPr lang="en-US" sz="1600" b="1" dirty="0">
                          <a:effectLst/>
                        </a:rPr>
                        <a:t>Pass-through vs. C Corporation: Benefits of Deferral (AT Returns are Reinvested and then Liquidated)</a:t>
                      </a:r>
                    </a:p>
                  </a:txBody>
                  <a:tcPr marL="0" marR="0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0E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0E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0E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0E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0E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b"/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932158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rtl="0" fontAlgn="b"/>
                      <a:endParaRPr lang="en-US" sz="1800" dirty="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800" dirty="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8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dirty="0">
                          <a:effectLst/>
                        </a:rPr>
                        <a:t>C Corporation</a:t>
                      </a:r>
                    </a:p>
                  </a:txBody>
                  <a:tcPr marL="28575" marR="2857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dirty="0">
                          <a:effectLst/>
                        </a:rPr>
                        <a:t>S Corp/PSH </a:t>
                      </a:r>
                      <a:br>
                        <a:rPr lang="en-US" sz="1800" b="1" dirty="0">
                          <a:effectLst/>
                        </a:rPr>
                      </a:br>
                      <a:r>
                        <a:rPr lang="en-US" sz="1800" b="1" dirty="0">
                          <a:effectLst/>
                        </a:rPr>
                        <a:t>w/ 199A</a:t>
                      </a:r>
                    </a:p>
                  </a:txBody>
                  <a:tcPr marL="28575" marR="2857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</a:rPr>
                        <a:t>S Corp/PSH </a:t>
                      </a:r>
                      <a:br>
                        <a:rPr lang="en-US" sz="1800" b="1" dirty="0">
                          <a:effectLst/>
                        </a:rPr>
                      </a:br>
                      <a:r>
                        <a:rPr lang="en-US" sz="1800" b="1" dirty="0">
                          <a:effectLst/>
                        </a:rPr>
                        <a:t>w/out 199A</a:t>
                      </a:r>
                    </a:p>
                  </a:txBody>
                  <a:tcPr marL="28575" marR="2857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523395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rtl="0" fontAlgn="b"/>
                      <a:endParaRPr lang="en-US" sz="18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800" dirty="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</a:rPr>
                        <a:t>5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800" dirty="0">
                          <a:effectLst/>
                        </a:rPr>
                        <a:t>13,525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14,052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13,573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471118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rtl="0" fontAlgn="b"/>
                      <a:endParaRPr lang="en-US" sz="18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800" dirty="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</a:rPr>
                        <a:t>10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800" dirty="0">
                          <a:effectLst/>
                        </a:rPr>
                        <a:t>18,679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</a:rPr>
                        <a:t>19,745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</a:rPr>
                        <a:t>18,422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205012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rtl="0" fontAlgn="b"/>
                      <a:endParaRPr lang="en-US" sz="18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</a:rPr>
                        <a:t>Year of 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</a:rPr>
                        <a:t>15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800" dirty="0">
                          <a:effectLst/>
                        </a:rPr>
                        <a:t>26,218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27,745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25,003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3677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rtl="0" fontAlgn="b"/>
                      <a:endParaRPr lang="en-US" sz="18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</a:rPr>
                        <a:t>Liquidation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</a:rPr>
                        <a:t>25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800" dirty="0">
                          <a:effectLst/>
                        </a:rPr>
                        <a:t>53,371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</a:rPr>
                        <a:t>54,784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</a:rPr>
                        <a:t>46,061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592974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rtl="0" fontAlgn="b"/>
                      <a:endParaRPr lang="en-US" sz="18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8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</a:rPr>
                        <a:t>35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800">
                          <a:effectLst/>
                        </a:rPr>
                        <a:t>111,450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108,172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</a:rPr>
                        <a:t>84,852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041258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rtl="0" fontAlgn="b"/>
                      <a:endParaRPr lang="en-US" sz="18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8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</a:rPr>
                        <a:t>45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800">
                          <a:effectLst/>
                        </a:rPr>
                        <a:t>235,683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213,587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156,314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966880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rtl="0" fontAlgn="b"/>
                      <a:endParaRPr lang="en-US" sz="18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800">
                        <a:effectLst/>
                      </a:endParaRP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</a:rPr>
                        <a:t>50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800" dirty="0">
                          <a:effectLst/>
                        </a:rPr>
                        <a:t>343,594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</a:rPr>
                        <a:t>300,127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212,160</a:t>
                      </a:r>
                    </a:p>
                  </a:txBody>
                  <a:tcPr marL="28575" marR="28575" marT="19050" marB="1905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68840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1611819-C6DA-8541-984A-300562961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50387"/>
            <a:ext cx="8458200" cy="365127"/>
          </a:xfrm>
        </p:spPr>
        <p:txBody>
          <a:bodyPr/>
          <a:lstStyle/>
          <a:p>
            <a:r>
              <a:rPr lang="en-US" sz="1800" dirty="0"/>
              <a:t>Comparison of AT-Returns for C Corp and S Corp/PSH: The Benefits of Deferral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83475-C6B3-664B-842E-82E3481086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408BE-A077-104D-8852-65986DC6C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B6114D-11FE-A54C-9528-A12DA539F17B}"/>
              </a:ext>
            </a:extLst>
          </p:cNvPr>
          <p:cNvSpPr/>
          <p:nvPr/>
        </p:nvSpPr>
        <p:spPr>
          <a:xfrm>
            <a:off x="4222484" y="5764427"/>
            <a:ext cx="16321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hlinkClick r:id="rId2"/>
              </a:rPr>
              <a:t>https://</a:t>
            </a:r>
            <a:r>
              <a:rPr lang="en-US" sz="1000" dirty="0" err="1">
                <a:hlinkClick r:id="rId2"/>
              </a:rPr>
              <a:t>bit.ly</a:t>
            </a:r>
            <a:r>
              <a:rPr lang="en-US" sz="1000" dirty="0">
                <a:hlinkClick r:id="rId2"/>
              </a:rPr>
              <a:t>/2F2KsbX</a:t>
            </a:r>
            <a:endParaRPr 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F6E15B-D1F8-EA35-AE2C-9D84F832FD3E}"/>
              </a:ext>
            </a:extLst>
          </p:cNvPr>
          <p:cNvSpPr txBox="1"/>
          <p:nvPr/>
        </p:nvSpPr>
        <p:spPr>
          <a:xfrm>
            <a:off x="685800" y="827796"/>
            <a:ext cx="7536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Investment at T</a:t>
            </a:r>
            <a:r>
              <a:rPr lang="en-US" baseline="-25000" dirty="0"/>
              <a:t>0 </a:t>
            </a:r>
            <a:r>
              <a:rPr lang="en-US" dirty="0"/>
              <a:t>of 10K generating a pre-tax return of 10%, which is reinvested</a:t>
            </a:r>
          </a:p>
        </p:txBody>
      </p:sp>
    </p:spTree>
    <p:extLst>
      <p:ext uri="{BB962C8B-B14F-4D97-AF65-F5344CB8AC3E}">
        <p14:creationId xmlns:p14="http://schemas.microsoft.com/office/powerpoint/2010/main" val="748285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Espaço Reservado para Tex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pt-BR" dirty="0">
                <a:ea typeface="ＭＳ Ｐゴシック" charset="0"/>
                <a:cs typeface="ＭＳ Ｐゴシック" charset="0"/>
              </a:rPr>
              <a:t> </a:t>
            </a:r>
          </a:p>
        </p:txBody>
      </p:sp>
      <p:sp>
        <p:nvSpPr>
          <p:cNvPr id="2048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a typeface="ＭＳ Ｐゴシック" charset="0"/>
                <a:cs typeface="ＭＳ Ｐゴシック" charset="0"/>
              </a:rPr>
              <a:t>Marginal </a:t>
            </a:r>
            <a:r>
              <a:rPr lang="pt-BR" b="1" dirty="0" err="1">
                <a:ea typeface="ＭＳ Ｐゴシック" charset="0"/>
                <a:cs typeface="ＭＳ Ｐゴシック" charset="0"/>
              </a:rPr>
              <a:t>Tax</a:t>
            </a:r>
            <a:r>
              <a:rPr lang="pt-BR" b="1" dirty="0">
                <a:ea typeface="ＭＳ Ｐゴシック" charset="0"/>
                <a:cs typeface="ＭＳ Ｐゴシック" charset="0"/>
              </a:rPr>
              <a:t> Rates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205404-6526-2542-8250-EBBAED52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4B7D9-0DF2-EC49-80C5-FE56BE21B7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91CCC8A9-FF4D-7848-B981-C4EFED825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685800"/>
            <a:ext cx="8226552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314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8C4A35-B168-9B44-BF49-F4AB6A777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20% </a:t>
            </a:r>
            <a:r>
              <a:rPr lang="en-US" u="sng" dirty="0"/>
              <a:t>deduction</a:t>
            </a:r>
            <a:r>
              <a:rPr lang="en-US" dirty="0"/>
              <a:t> of a </a:t>
            </a:r>
            <a:r>
              <a:rPr lang="en-US" i="1" dirty="0"/>
              <a:t>non-corporate</a:t>
            </a:r>
            <a:r>
              <a:rPr lang="en-US" dirty="0"/>
              <a:t> taxpayer’s </a:t>
            </a:r>
            <a:r>
              <a:rPr lang="en-US" i="1" dirty="0"/>
              <a:t>Qualified Business Income Amount (QBIA)</a:t>
            </a:r>
          </a:p>
          <a:p>
            <a:r>
              <a:rPr lang="en-US" dirty="0"/>
              <a:t>QBIA: the </a:t>
            </a:r>
            <a:r>
              <a:rPr lang="en-US" b="1" i="1" dirty="0"/>
              <a:t>lesser of:</a:t>
            </a:r>
          </a:p>
          <a:p>
            <a:pPr lvl="1"/>
            <a:r>
              <a:rPr lang="en-US" sz="2200" dirty="0"/>
              <a:t>(A) 20% of QBI with respect to the </a:t>
            </a:r>
            <a:r>
              <a:rPr lang="en-US" sz="2200" i="1" dirty="0"/>
              <a:t>QT/B, or</a:t>
            </a:r>
          </a:p>
          <a:p>
            <a:pPr marL="171450" lvl="1" indent="0">
              <a:buNone/>
            </a:pPr>
            <a:r>
              <a:rPr lang="en-US" sz="2200" dirty="0"/>
              <a:t>		</a:t>
            </a:r>
            <a:r>
              <a:rPr lang="en-US" sz="2200" b="1" dirty="0"/>
              <a:t>the greater of </a:t>
            </a:r>
          </a:p>
          <a:p>
            <a:pPr lvl="1"/>
            <a:r>
              <a:rPr lang="en-US" sz="2200" dirty="0"/>
              <a:t>(B)(</a:t>
            </a:r>
            <a:r>
              <a:rPr lang="en-US" sz="2200" dirty="0" err="1"/>
              <a:t>i</a:t>
            </a:r>
            <a:r>
              <a:rPr lang="en-US" sz="2200" dirty="0"/>
              <a:t>) 50% of the W-2 wages of the QT/B, or</a:t>
            </a:r>
          </a:p>
          <a:p>
            <a:pPr lvl="1"/>
            <a:r>
              <a:rPr lang="en-US" sz="2200" dirty="0"/>
              <a:t>(B)(ii) Sum of 25% W-2 wages PLUS 2.5% of the unadjusted basis immediately after acquisition of all </a:t>
            </a:r>
            <a:r>
              <a:rPr lang="en-US" sz="2200" i="1" dirty="0"/>
              <a:t>qualified property. </a:t>
            </a:r>
            <a:r>
              <a:rPr lang="en-US" sz="2200" dirty="0"/>
              <a:t>§199A(b)(2).</a:t>
            </a:r>
            <a:endParaRPr lang="en-US" sz="2200" i="1" dirty="0"/>
          </a:p>
          <a:p>
            <a:pPr lvl="1"/>
            <a:r>
              <a:rPr lang="en-US" sz="2200" dirty="0"/>
              <a:t>The (B) limit doesn’t apply if the taxpayer’s income is less than $201,775 ($403,500) (inflation adjusted for 2026 </a:t>
            </a:r>
            <a:r>
              <a:rPr lang="en-US" sz="2200"/>
              <a:t>with phaseouts of 75K and 150K)</a:t>
            </a:r>
            <a:endParaRPr lang="en-US" sz="2200" dirty="0"/>
          </a:p>
          <a:p>
            <a:r>
              <a:rPr lang="en-US" i="1" dirty="0"/>
              <a:t>QT/B: </a:t>
            </a:r>
            <a:r>
              <a:rPr lang="en-US" dirty="0"/>
              <a:t>Any business </a:t>
            </a:r>
            <a:r>
              <a:rPr lang="en-US" b="1" dirty="0"/>
              <a:t>except the T/B of being an employee, and</a:t>
            </a:r>
            <a:r>
              <a:rPr lang="en-US" dirty="0"/>
              <a:t>: health, law, accounting, actuarial science, performing arts, consulting, athletics, financial service, brokerage services, </a:t>
            </a:r>
            <a:r>
              <a:rPr lang="en-US" b="1" dirty="0"/>
              <a:t>or any T/b where the principal assets of the T/B is the reputation or skill of 1 or more of its employees</a:t>
            </a:r>
            <a:r>
              <a:rPr lang="en-US" dirty="0"/>
              <a:t>;</a:t>
            </a:r>
          </a:p>
          <a:p>
            <a:pPr lvl="1"/>
            <a:r>
              <a:rPr lang="en-US" sz="2200" dirty="0"/>
              <a:t>Scope of “principal assets of the T/B is the reputation or skill…”? </a:t>
            </a:r>
            <a:r>
              <a:rPr lang="en-US" sz="2200" i="1" dirty="0"/>
              <a:t>See</a:t>
            </a:r>
            <a:r>
              <a:rPr lang="en-US" sz="2200" dirty="0"/>
              <a:t> Reg. §1.199A-5(b)(2)(xiv)</a:t>
            </a:r>
          </a:p>
          <a:p>
            <a:pPr lvl="1"/>
            <a:r>
              <a:rPr lang="en-US" sz="2200" dirty="0"/>
              <a:t>Exception for </a:t>
            </a:r>
            <a:r>
              <a:rPr lang="en-US" sz="2200" i="1" dirty="0"/>
              <a:t>specified service business</a:t>
            </a:r>
            <a:r>
              <a:rPr lang="en-US" sz="2200" dirty="0"/>
              <a:t>: If the taxpayer’s income is less than $182,100 ($364,200) (2026), a specified service, </a:t>
            </a:r>
            <a:r>
              <a:rPr lang="en-US" sz="2200" b="1" dirty="0"/>
              <a:t>e.g., law</a:t>
            </a:r>
            <a:r>
              <a:rPr lang="en-US" sz="2200" dirty="0"/>
              <a:t>, will be treated as a QT/B. §199A(d)(3)(A).</a:t>
            </a:r>
          </a:p>
          <a:p>
            <a:pPr lvl="2"/>
            <a:endParaRPr lang="en-US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0FCEDB-B3AA-B544-98D3-81D3BAF58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199A:  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C8C64-92AD-0E4C-BE5C-1F3404C1C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4CDEF-D1AA-EC4A-9E09-518B7825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17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tabLst>
                <a:tab pos="914400" algn="l"/>
              </a:tabLst>
            </a:pPr>
            <a:r>
              <a:rPr lang="en-US" dirty="0">
                <a:ea typeface="ＭＳ Ｐゴシック" charset="0"/>
                <a:cs typeface="ＭＳ Ｐゴシック" charset="0"/>
              </a:rPr>
              <a:t>Sole Proprietorship/Branch/Division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dirty="0">
                <a:ea typeface="ＭＳ Ｐゴシック" charset="0"/>
                <a:cs typeface="ＭＳ Ｐゴシック" charset="0"/>
              </a:rPr>
              <a:t>Partnership</a:t>
            </a:r>
          </a:p>
          <a:p>
            <a:pPr marL="965200" lvl="1" indent="-279400" eaLnBrk="1" hangingPunct="1">
              <a:tabLst>
                <a:tab pos="914400" algn="l"/>
              </a:tabLst>
            </a:pPr>
            <a:r>
              <a:rPr lang="en-US" dirty="0">
                <a:ea typeface="ＭＳ Ｐゴシック" charset="0"/>
              </a:rPr>
              <a:t>GP, LP, LLP, and </a:t>
            </a:r>
            <a:r>
              <a:rPr lang="en-US" dirty="0" err="1">
                <a:ea typeface="ＭＳ Ｐゴシック" charset="0"/>
              </a:rPr>
              <a:t>LLLP</a:t>
            </a:r>
            <a:endParaRPr lang="en-US" dirty="0">
              <a:ea typeface="ＭＳ Ｐゴシック" charset="0"/>
            </a:endParaRPr>
          </a:p>
          <a:p>
            <a:pPr marL="965200" lvl="1" indent="-279400" eaLnBrk="1" hangingPunct="1">
              <a:tabLst>
                <a:tab pos="914400" algn="l"/>
              </a:tabLst>
            </a:pPr>
            <a:r>
              <a:rPr lang="en-US" dirty="0">
                <a:ea typeface="ＭＳ Ｐゴシック" charset="0"/>
              </a:rPr>
              <a:t>LLC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dirty="0">
                <a:ea typeface="ＭＳ Ｐゴシック" charset="0"/>
                <a:cs typeface="ＭＳ Ｐゴシック" charset="0"/>
              </a:rPr>
              <a:t>Corporation</a:t>
            </a:r>
          </a:p>
          <a:p>
            <a:pPr marL="965200" lvl="1" indent="-279400" eaLnBrk="1" hangingPunct="1">
              <a:tabLst>
                <a:tab pos="914400" algn="l"/>
              </a:tabLst>
            </a:pPr>
            <a:r>
              <a:rPr lang="en-US" dirty="0">
                <a:ea typeface="ＭＳ Ｐゴシック" charset="0"/>
              </a:rPr>
              <a:t>Association</a:t>
            </a:r>
          </a:p>
          <a:p>
            <a:pPr marL="965200" lvl="1" indent="-279400" eaLnBrk="1" hangingPunct="1">
              <a:tabLst>
                <a:tab pos="914400" algn="l"/>
              </a:tabLst>
            </a:pPr>
            <a:r>
              <a:rPr lang="en-US" dirty="0">
                <a:ea typeface="ＭＳ Ｐゴシック" charset="0"/>
              </a:rPr>
              <a:t>Business Trust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dirty="0">
                <a:ea typeface="ＭＳ Ｐゴシック" charset="0"/>
                <a:cs typeface="ＭＳ Ｐゴシック" charset="0"/>
              </a:rPr>
              <a:t>Analysis:</a:t>
            </a:r>
          </a:p>
          <a:p>
            <a:pPr marL="965200" lvl="1" indent="-279400" eaLnBrk="1" hangingPunct="1">
              <a:tabLst>
                <a:tab pos="914400" algn="l"/>
              </a:tabLst>
            </a:pPr>
            <a:r>
              <a:rPr lang="en-US" dirty="0">
                <a:ea typeface="ＭＳ Ｐゴシック" charset="0"/>
              </a:rPr>
              <a:t>Is there a separate entity for </a:t>
            </a:r>
            <a:r>
              <a:rPr lang="en-US" b="1" i="1" dirty="0">
                <a:ea typeface="ＭＳ Ｐゴシック" charset="0"/>
              </a:rPr>
              <a:t>federal </a:t>
            </a:r>
            <a:r>
              <a:rPr lang="en-US" dirty="0">
                <a:ea typeface="ＭＳ Ｐゴシック" charset="0"/>
              </a:rPr>
              <a:t>tax purposes?</a:t>
            </a:r>
          </a:p>
          <a:p>
            <a:pPr marL="965200" lvl="1" indent="-279400" eaLnBrk="1" hangingPunct="1">
              <a:tabLst>
                <a:tab pos="914400" algn="l"/>
              </a:tabLst>
            </a:pPr>
            <a:r>
              <a:rPr lang="en-US" dirty="0">
                <a:ea typeface="ＭＳ Ｐゴシック" charset="0"/>
              </a:rPr>
              <a:t>Is the entity a SP/B/D, </a:t>
            </a:r>
            <a:r>
              <a:rPr lang="en-US" dirty="0" err="1">
                <a:ea typeface="ＭＳ Ｐゴシック" charset="0"/>
              </a:rPr>
              <a:t>PSH</a:t>
            </a:r>
            <a:r>
              <a:rPr lang="en-US" dirty="0">
                <a:ea typeface="ＭＳ Ｐゴシック" charset="0"/>
              </a:rPr>
              <a:t>, or Corp?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Choice of Business Entity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 bwMode="auto">
          <a:xfrm>
            <a:off x="228600" y="2133600"/>
            <a:ext cx="3429000" cy="1143000"/>
          </a:xfrm>
          <a:prstGeom prst="ellipse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70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Any entity recognized for federal tax purposes (including a single member entity (“SME”)) that is not a trust or subject to special treatment under the IRC</a:t>
            </a:r>
          </a:p>
          <a:p>
            <a:pPr>
              <a:lnSpc>
                <a:spcPct val="90000"/>
              </a:lnSpc>
            </a:pPr>
            <a:endParaRPr lang="en-US" u="sng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u="sng" dirty="0">
                <a:ea typeface="ＭＳ Ｐゴシック" charset="0"/>
                <a:cs typeface="ＭＳ Ｐゴシック" charset="0"/>
              </a:rPr>
              <a:t>Business Entity with 2 or more members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</a:rPr>
              <a:t>Corporation, or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</a:rPr>
              <a:t>Partnership</a:t>
            </a:r>
          </a:p>
          <a:p>
            <a:pPr>
              <a:lnSpc>
                <a:spcPct val="90000"/>
              </a:lnSpc>
            </a:pPr>
            <a:endParaRPr lang="en-US" u="sng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u="sng" dirty="0">
                <a:ea typeface="ＭＳ Ｐゴシック" charset="0"/>
                <a:cs typeface="ＭＳ Ｐゴシック" charset="0"/>
              </a:rPr>
              <a:t>Business Entity with 1 member (SME)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</a:rPr>
              <a:t>Disregarded Entity (</a:t>
            </a:r>
            <a:r>
              <a:rPr lang="ja-JP" altLang="en-US" dirty="0">
                <a:ea typeface="ＭＳ Ｐゴシック" charset="0"/>
              </a:rPr>
              <a:t>“</a:t>
            </a:r>
            <a:r>
              <a:rPr lang="en-US" altLang="ja-JP" dirty="0">
                <a:ea typeface="ＭＳ Ｐゴシック" charset="0"/>
              </a:rPr>
              <a:t>tax nothing</a:t>
            </a:r>
            <a:r>
              <a:rPr lang="ja-JP" altLang="en-US" dirty="0">
                <a:ea typeface="ＭＳ Ｐゴシック" charset="0"/>
              </a:rPr>
              <a:t>”</a:t>
            </a:r>
            <a:r>
              <a:rPr lang="en-US" altLang="ja-JP" dirty="0">
                <a:ea typeface="ＭＳ Ｐゴシック" charset="0"/>
              </a:rPr>
              <a:t>), or </a:t>
            </a:r>
          </a:p>
          <a:p>
            <a:pPr lvl="1">
              <a:lnSpc>
                <a:spcPct val="90000"/>
              </a:lnSpc>
            </a:pPr>
            <a:r>
              <a:rPr lang="en-US" dirty="0">
                <a:ea typeface="ＭＳ Ｐゴシック" charset="0"/>
              </a:rPr>
              <a:t>Corporation. </a:t>
            </a:r>
            <a:r>
              <a:rPr lang="en-US" altLang="en-US" dirty="0">
                <a:ea typeface="ＭＳ Ｐゴシック" charset="-128"/>
              </a:rPr>
              <a:t>Reg. </a:t>
            </a:r>
            <a:r>
              <a:rPr lang="en-US" altLang="en-US" dirty="0"/>
              <a:t>§</a:t>
            </a:r>
            <a:r>
              <a:rPr lang="en-US" dirty="0">
                <a:ea typeface="ＭＳ Ｐゴシック" charset="0"/>
              </a:rPr>
              <a:t>301.7701-2(a).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CTB</a:t>
            </a:r>
            <a:r>
              <a:rPr lang="en-US" dirty="0"/>
              <a:t> </a:t>
            </a:r>
            <a:r>
              <a:rPr lang="en-US" dirty="0" err="1"/>
              <a:t>Regs</a:t>
            </a:r>
            <a:r>
              <a:rPr lang="en-US" dirty="0"/>
              <a:t>: Business Entity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04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Business entity not classified as a corporation—an Eligible Entity (</a:t>
            </a:r>
            <a:r>
              <a:rPr lang="ja-JP" altLang="en-US" dirty="0">
                <a:ea typeface="ＭＳ Ｐゴシック" charset="0"/>
                <a:cs typeface="ＭＳ Ｐゴシック" charset="0"/>
              </a:rPr>
              <a:t>“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EE</a:t>
            </a:r>
            <a:r>
              <a:rPr lang="ja-JP" altLang="en-US" dirty="0">
                <a:ea typeface="ＭＳ Ｐゴシック" charset="0"/>
                <a:cs typeface="ＭＳ Ｐゴシック" charset="0"/>
              </a:rPr>
              <a:t>”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)—can choose its tax status   √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EE with two or more members is either an  association or a </a:t>
            </a:r>
            <a:r>
              <a:rPr lang="en-US" dirty="0" err="1">
                <a:ea typeface="ＭＳ Ｐゴシック" charset="0"/>
              </a:rPr>
              <a:t>PSH</a:t>
            </a:r>
            <a:endParaRPr lang="en-US" dirty="0">
              <a:ea typeface="ＭＳ Ｐゴシック" charset="0"/>
            </a:endParaRPr>
          </a:p>
          <a:p>
            <a:pPr lvl="1" eaLnBrk="1" hangingPunct="1"/>
            <a:r>
              <a:rPr lang="en-US" dirty="0">
                <a:ea typeface="ＭＳ Ｐゴシック" charset="0"/>
              </a:rPr>
              <a:t>EE with one member (</a:t>
            </a:r>
            <a:r>
              <a:rPr lang="ja-JP" altLang="en-US" dirty="0">
                <a:ea typeface="ＭＳ Ｐゴシック" charset="0"/>
              </a:rPr>
              <a:t>“</a:t>
            </a:r>
            <a:r>
              <a:rPr lang="en-US" altLang="ja-JP" dirty="0">
                <a:ea typeface="ＭＳ Ｐゴシック" charset="0"/>
              </a:rPr>
              <a:t>SME</a:t>
            </a:r>
            <a:r>
              <a:rPr lang="ja-JP" altLang="en-US" dirty="0">
                <a:ea typeface="ＭＳ Ｐゴシック" charset="0"/>
              </a:rPr>
              <a:t>”</a:t>
            </a:r>
            <a:r>
              <a:rPr lang="en-US" altLang="ja-JP" dirty="0">
                <a:ea typeface="ＭＳ Ｐゴシック" charset="0"/>
              </a:rPr>
              <a:t>) is either:</a:t>
            </a:r>
          </a:p>
          <a:p>
            <a:pPr lvl="2" eaLnBrk="1" hangingPunct="1"/>
            <a:r>
              <a:rPr lang="en-US" altLang="ja-JP" dirty="0">
                <a:ea typeface="ＭＳ Ｐゴシック" charset="0"/>
              </a:rPr>
              <a:t>Association, or </a:t>
            </a:r>
          </a:p>
          <a:p>
            <a:pPr lvl="2" eaLnBrk="1" hangingPunct="1"/>
            <a:r>
              <a:rPr lang="en-US" altLang="ja-JP" dirty="0">
                <a:ea typeface="ＭＳ Ｐゴシック" charset="0"/>
              </a:rPr>
              <a:t>disregarded entity (sole proprietorship, branch, division) (-2(a))</a:t>
            </a:r>
          </a:p>
          <a:p>
            <a:r>
              <a:rPr lang="en-US" dirty="0">
                <a:solidFill>
                  <a:srgbClr val="E9171F"/>
                </a:solidFill>
                <a:ea typeface="ＭＳ Ｐゴシック" charset="0"/>
                <a:cs typeface="ＭＳ Ｐゴシック" charset="0"/>
              </a:rPr>
              <a:t>Default</a:t>
            </a:r>
            <a:r>
              <a:rPr lang="en-US" dirty="0">
                <a:solidFill>
                  <a:srgbClr val="FF1029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classification for </a:t>
            </a:r>
            <a:r>
              <a:rPr lang="en-US" u="sng" dirty="0">
                <a:ea typeface="ＭＳ Ｐゴシック" charset="0"/>
                <a:cs typeface="ＭＳ Ｐゴシック" charset="0"/>
              </a:rPr>
              <a:t>domestic</a:t>
            </a:r>
            <a:r>
              <a:rPr lang="en-US" dirty="0">
                <a:ea typeface="ＭＳ Ｐゴシック" charset="0"/>
                <a:cs typeface="ＭＳ Ｐゴシック" charset="0"/>
              </a:rPr>
              <a:t> EE:</a:t>
            </a:r>
          </a:p>
          <a:p>
            <a:pPr lvl="1" eaLnBrk="1" hangingPunct="1"/>
            <a:r>
              <a:rPr lang="en-US" dirty="0" err="1">
                <a:ea typeface="ＭＳ Ｐゴシック" charset="0"/>
              </a:rPr>
              <a:t>PSH</a:t>
            </a:r>
            <a:r>
              <a:rPr lang="en-US" dirty="0">
                <a:ea typeface="ＭＳ Ｐゴシック" charset="0"/>
              </a:rPr>
              <a:t> if 2 or more members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Disregarded entity if single owner (-3(b))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CTB</a:t>
            </a:r>
            <a:r>
              <a:rPr lang="en-US" dirty="0"/>
              <a:t> </a:t>
            </a:r>
            <a:r>
              <a:rPr lang="en-US" dirty="0" err="1"/>
              <a:t>Regs</a:t>
            </a:r>
            <a:r>
              <a:rPr lang="en-US" dirty="0"/>
              <a:t>: Eligible Entity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800600" y="990600"/>
            <a:ext cx="457200" cy="381000"/>
          </a:xfrm>
          <a:prstGeom prst="rect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470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Federal law controls, but legal relations governed by state law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Entity organized pursuant to state corporate statutes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Certain foreign entities are </a:t>
            </a:r>
            <a:r>
              <a:rPr lang="en-US" i="1" dirty="0">
                <a:ea typeface="ＭＳ Ｐゴシック" charset="0"/>
              </a:rPr>
              <a:t>per se</a:t>
            </a:r>
            <a:r>
              <a:rPr lang="en-US" dirty="0">
                <a:ea typeface="ＭＳ Ｐゴシック" charset="0"/>
              </a:rPr>
              <a:t> corporations:</a:t>
            </a:r>
          </a:p>
          <a:p>
            <a:pPr lvl="2" eaLnBrk="1" hangingPunct="1"/>
            <a:r>
              <a:rPr lang="en-US" dirty="0">
                <a:ea typeface="ＭＳ Ｐゴシック" charset="0"/>
              </a:rPr>
              <a:t>Sociedad </a:t>
            </a:r>
            <a:r>
              <a:rPr lang="en-US" dirty="0" err="1">
                <a:ea typeface="ＭＳ Ｐゴシック" charset="0"/>
              </a:rPr>
              <a:t>Anónima</a:t>
            </a:r>
            <a:r>
              <a:rPr lang="en-US" dirty="0">
                <a:ea typeface="ＭＳ Ｐゴシック" charset="0"/>
              </a:rPr>
              <a:t> (SA)</a:t>
            </a:r>
          </a:p>
          <a:p>
            <a:pPr lvl="2" eaLnBrk="1" hangingPunct="1"/>
            <a:r>
              <a:rPr lang="en-US" dirty="0" err="1">
                <a:ea typeface="ＭＳ Ｐゴシック" charset="0"/>
              </a:rPr>
              <a:t>Societe</a:t>
            </a:r>
            <a:r>
              <a:rPr lang="en-US" dirty="0">
                <a:ea typeface="ＭＳ Ｐゴシック" charset="0"/>
              </a:rPr>
              <a:t> Anonyme (SA)</a:t>
            </a:r>
          </a:p>
          <a:p>
            <a:pPr lvl="2" eaLnBrk="1" hangingPunct="1"/>
            <a:r>
              <a:rPr lang="en-US" dirty="0">
                <a:ea typeface="ＭＳ Ｐゴシック" charset="0"/>
              </a:rPr>
              <a:t>Public Limited Company</a:t>
            </a:r>
          </a:p>
          <a:p>
            <a:pPr lvl="2" eaLnBrk="1" hangingPunct="1"/>
            <a:r>
              <a:rPr lang="en-US" dirty="0" err="1">
                <a:ea typeface="ＭＳ Ｐゴシック" charset="0"/>
              </a:rPr>
              <a:t>Aktiengesellschaft</a:t>
            </a:r>
            <a:r>
              <a:rPr lang="en-US" dirty="0">
                <a:ea typeface="ＭＳ Ｐゴシック" charset="0"/>
              </a:rPr>
              <a:t> (AG)</a:t>
            </a:r>
          </a:p>
          <a:p>
            <a:pPr lvl="2" eaLnBrk="1" hangingPunct="1"/>
            <a:r>
              <a:rPr lang="en-US" dirty="0" err="1">
                <a:ea typeface="ＭＳ Ｐゴシック" charset="0"/>
              </a:rPr>
              <a:t>Gufen</a:t>
            </a:r>
            <a:r>
              <a:rPr lang="en-US" dirty="0">
                <a:ea typeface="ＭＳ Ｐゴシック" charset="0"/>
              </a:rPr>
              <a:t> </a:t>
            </a:r>
            <a:r>
              <a:rPr lang="en-US" dirty="0" err="1">
                <a:ea typeface="ＭＳ Ｐゴシック" charset="0"/>
              </a:rPr>
              <a:t>Youxian</a:t>
            </a:r>
            <a:r>
              <a:rPr lang="en-US" dirty="0">
                <a:ea typeface="ＭＳ Ｐゴシック" charset="0"/>
              </a:rPr>
              <a:t> </a:t>
            </a:r>
            <a:r>
              <a:rPr lang="en-US" dirty="0" err="1">
                <a:ea typeface="ＭＳ Ｐゴシック" charset="0"/>
              </a:rPr>
              <a:t>Gongsi</a:t>
            </a:r>
            <a:endParaRPr lang="en-US" dirty="0">
              <a:ea typeface="ＭＳ Ｐゴシック" charset="0"/>
            </a:endParaRPr>
          </a:p>
          <a:p>
            <a:pPr lvl="2" eaLnBrk="1" hangingPunct="1"/>
            <a:r>
              <a:rPr lang="en-US" dirty="0" err="1">
                <a:ea typeface="ＭＳ Ｐゴシック" charset="0"/>
              </a:rPr>
              <a:t>Societas</a:t>
            </a:r>
            <a:r>
              <a:rPr lang="en-US" dirty="0">
                <a:ea typeface="ＭＳ Ｐゴシック" charset="0"/>
              </a:rPr>
              <a:t> </a:t>
            </a:r>
            <a:r>
              <a:rPr lang="en-US" dirty="0" err="1">
                <a:ea typeface="ＭＳ Ｐゴシック" charset="0"/>
              </a:rPr>
              <a:t>Europaea</a:t>
            </a:r>
            <a:r>
              <a:rPr lang="en-US" dirty="0">
                <a:ea typeface="ＭＳ Ｐゴシック" charset="0"/>
              </a:rPr>
              <a:t> (-2(b)(8))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Insurance companies</a:t>
            </a:r>
          </a:p>
          <a:p>
            <a:pPr lvl="1"/>
            <a:r>
              <a:rPr lang="en-US" dirty="0">
                <a:ea typeface="ＭＳ Ｐゴシック" charset="0"/>
              </a:rPr>
              <a:t>Associations. </a:t>
            </a:r>
            <a:r>
              <a:rPr lang="en-US" altLang="en-US" dirty="0"/>
              <a:t>§</a:t>
            </a:r>
            <a:r>
              <a:rPr lang="en-US" dirty="0">
                <a:ea typeface="ＭＳ Ｐゴシック" charset="0"/>
              </a:rPr>
              <a:t>7701(a)(3); </a:t>
            </a:r>
            <a:r>
              <a:rPr lang="en-US" altLang="en-US" dirty="0">
                <a:ea typeface="ＭＳ Ｐゴシック" charset="-128"/>
              </a:rPr>
              <a:t>Reg. </a:t>
            </a:r>
            <a:r>
              <a:rPr lang="en-US" altLang="en-US" dirty="0"/>
              <a:t>§</a:t>
            </a:r>
            <a:r>
              <a:rPr lang="en-US" dirty="0">
                <a:ea typeface="ＭＳ Ｐゴシック" charset="0"/>
              </a:rPr>
              <a:t>301.7701-2(b)</a:t>
            </a:r>
          </a:p>
          <a:p>
            <a:pPr lvl="1" eaLnBrk="1" hangingPunct="1">
              <a:buFont typeface="Wingdings" charset="0"/>
              <a:buNone/>
            </a:pPr>
            <a:endParaRPr lang="en-US" dirty="0">
              <a:ea typeface="ＭＳ Ｐゴシック" charset="0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CTB</a:t>
            </a:r>
            <a:r>
              <a:rPr lang="en-US" dirty="0"/>
              <a:t> </a:t>
            </a:r>
            <a:r>
              <a:rPr lang="en-US" dirty="0" err="1"/>
              <a:t>Regs</a:t>
            </a:r>
            <a:r>
              <a:rPr lang="en-US" dirty="0"/>
              <a:t>: Corporation Defined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95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tabLst>
                <a:tab pos="914400" algn="l"/>
              </a:tabLst>
            </a:pPr>
            <a:r>
              <a:rPr lang="en-US" dirty="0">
                <a:ea typeface="ＭＳ Ｐゴシック" charset="0"/>
                <a:cs typeface="ＭＳ Ｐゴシック" charset="0"/>
              </a:rPr>
              <a:t>EE can </a:t>
            </a:r>
            <a:r>
              <a:rPr lang="en-US" dirty="0">
                <a:solidFill>
                  <a:srgbClr val="FF1029"/>
                </a:solidFill>
                <a:ea typeface="ＭＳ Ｐゴシック" charset="0"/>
                <a:cs typeface="ＭＳ Ｐゴシック" charset="0"/>
              </a:rPr>
              <a:t>elect</a:t>
            </a:r>
            <a:r>
              <a:rPr lang="en-US" dirty="0">
                <a:ea typeface="ＭＳ Ｐゴシック" charset="0"/>
                <a:cs typeface="ＭＳ Ｐゴシック" charset="0"/>
              </a:rPr>
              <a:t>  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√</a:t>
            </a:r>
            <a:r>
              <a:rPr lang="en-US" dirty="0">
                <a:ea typeface="ＭＳ Ｐゴシック" charset="0"/>
                <a:cs typeface="ＭＳ Ｐゴシック" charset="0"/>
              </a:rPr>
              <a:t>    alternate tax status:</a:t>
            </a:r>
          </a:p>
          <a:p>
            <a:pPr marL="965200" lvl="1" indent="-279400" eaLnBrk="1" hangingPunct="1">
              <a:tabLst>
                <a:tab pos="914400" algn="l"/>
              </a:tabLst>
            </a:pPr>
            <a:r>
              <a:rPr lang="en-US" dirty="0">
                <a:ea typeface="ＭＳ Ｐゴシック" charset="0"/>
              </a:rPr>
              <a:t>EE with 2 or more members can elect to be taxed as an association (corporation)</a:t>
            </a:r>
          </a:p>
          <a:p>
            <a:pPr marL="965200" lvl="1" indent="-279400" eaLnBrk="1" hangingPunct="1">
              <a:tabLst>
                <a:tab pos="914400" algn="l"/>
              </a:tabLst>
            </a:pPr>
            <a:r>
              <a:rPr lang="en-US" dirty="0">
                <a:ea typeface="ＭＳ Ｐゴシック" charset="0"/>
              </a:rPr>
              <a:t>SME can elect to be taxed as an association</a:t>
            </a:r>
          </a:p>
          <a:p>
            <a:pPr marL="965200" lvl="1" indent="-279400" eaLnBrk="1" hangingPunct="1">
              <a:tabLst>
                <a:tab pos="914400" algn="l"/>
              </a:tabLst>
            </a:pPr>
            <a:r>
              <a:rPr lang="en-US" dirty="0">
                <a:ea typeface="ＭＳ Ｐゴシック" charset="0"/>
              </a:rPr>
              <a:t>Form 8832 (-3(c))</a:t>
            </a:r>
          </a:p>
          <a:p>
            <a:pPr marL="965200" lvl="1" indent="-279400" eaLnBrk="1" hangingPunct="1">
              <a:tabLst>
                <a:tab pos="914400" algn="l"/>
              </a:tabLst>
            </a:pPr>
            <a:endParaRPr lang="en-US" sz="2800" dirty="0">
              <a:ea typeface="ＭＳ Ｐゴシック" charset="0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CTB</a:t>
            </a:r>
            <a:r>
              <a:rPr lang="en-US" dirty="0"/>
              <a:t> </a:t>
            </a:r>
            <a:r>
              <a:rPr lang="en-US" dirty="0" err="1"/>
              <a:t>Regs</a:t>
            </a:r>
            <a:r>
              <a:rPr lang="en-US" dirty="0"/>
              <a:t>: Election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438400" y="568377"/>
            <a:ext cx="457200" cy="457200"/>
          </a:xfrm>
          <a:prstGeom prst="rect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041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tabLst>
                <a:tab pos="914400" algn="l"/>
              </a:tabLst>
            </a:pPr>
            <a:r>
              <a:rPr lang="en-US" dirty="0" err="1">
                <a:ea typeface="ＭＳ Ｐゴシック" charset="0"/>
                <a:cs typeface="ＭＳ Ｐゴシック" charset="0"/>
              </a:rPr>
              <a:t>PSH</a:t>
            </a:r>
            <a:r>
              <a:rPr lang="en-US" dirty="0">
                <a:ea typeface="ＭＳ Ｐゴシック" charset="0"/>
                <a:cs typeface="ＭＳ Ｐゴシック" charset="0"/>
              </a:rPr>
              <a:t> if two or more members </a:t>
            </a:r>
            <a:r>
              <a:rPr lang="en-US" u="sng" dirty="0">
                <a:ea typeface="ＭＳ Ｐゴシック" charset="0"/>
                <a:cs typeface="ＭＳ Ｐゴシック" charset="0"/>
              </a:rPr>
              <a:t>and</a:t>
            </a:r>
            <a:r>
              <a:rPr lang="en-US" dirty="0">
                <a:ea typeface="ＭＳ Ｐゴシック" charset="0"/>
                <a:cs typeface="ＭＳ Ｐゴシック" charset="0"/>
              </a:rPr>
              <a:t> at least one member </a:t>
            </a:r>
            <a:r>
              <a:rPr lang="en-US" u="sng" dirty="0">
                <a:ea typeface="ＭＳ Ｐゴシック" charset="0"/>
                <a:cs typeface="ＭＳ Ｐゴシック" charset="0"/>
              </a:rPr>
              <a:t>doesn’</a:t>
            </a:r>
            <a:r>
              <a:rPr lang="en-US" altLang="ja-JP" u="sng" dirty="0">
                <a:ea typeface="ＭＳ Ｐゴシック" charset="0"/>
                <a:cs typeface="ＭＳ Ｐゴシック" charset="0"/>
              </a:rPr>
              <a:t>t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 have limited liability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dirty="0">
                <a:ea typeface="ＭＳ Ｐゴシック" charset="0"/>
                <a:cs typeface="ＭＳ Ｐゴシック" charset="0"/>
              </a:rPr>
              <a:t>Association if </a:t>
            </a:r>
            <a:r>
              <a:rPr lang="en-US" u="sng" dirty="0">
                <a:ea typeface="ＭＳ Ｐゴシック" charset="0"/>
                <a:cs typeface="ＭＳ Ｐゴシック" charset="0"/>
              </a:rPr>
              <a:t>all</a:t>
            </a:r>
            <a:r>
              <a:rPr lang="en-US" dirty="0">
                <a:ea typeface="ＭＳ Ｐゴシック" charset="0"/>
                <a:cs typeface="ＭＳ Ｐゴシック" charset="0"/>
              </a:rPr>
              <a:t> members have limited liability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dirty="0">
                <a:ea typeface="ＭＳ Ｐゴシック" charset="0"/>
                <a:cs typeface="ＭＳ Ｐゴシック" charset="0"/>
              </a:rPr>
              <a:t>DRE if single owner who does not have limited liability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dirty="0">
                <a:ea typeface="ＭＳ Ｐゴシック" charset="0"/>
                <a:cs typeface="ＭＳ Ｐゴシック" charset="0"/>
              </a:rPr>
              <a:t>Liability determined under foreign law or organizational documents (-3(b)(2))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CTB</a:t>
            </a:r>
            <a:r>
              <a:rPr lang="en-US" dirty="0"/>
              <a:t> </a:t>
            </a:r>
            <a:r>
              <a:rPr lang="en-US" dirty="0" err="1"/>
              <a:t>Regs</a:t>
            </a:r>
            <a:r>
              <a:rPr lang="en-US" dirty="0"/>
              <a:t>: Default Classification of </a:t>
            </a:r>
            <a:r>
              <a:rPr lang="en-US" i="1" dirty="0"/>
              <a:t>Foreign</a:t>
            </a:r>
            <a:r>
              <a:rPr lang="en-US" dirty="0"/>
              <a:t> Eligible Entities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96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3838" indent="-223838">
              <a:lnSpc>
                <a:spcPct val="90000"/>
              </a:lnSpc>
              <a:tabLst>
                <a:tab pos="914400" algn="l"/>
              </a:tabLst>
            </a:pPr>
            <a:r>
              <a:rPr lang="en-US" u="sng" dirty="0">
                <a:ea typeface="ＭＳ Ｐゴシック" charset="0"/>
                <a:cs typeface="ＭＳ Ｐゴシック" charset="0"/>
              </a:rPr>
              <a:t>Effective date</a:t>
            </a:r>
            <a:r>
              <a:rPr lang="en-US" dirty="0">
                <a:ea typeface="ＭＳ Ｐゴシック" charset="0"/>
                <a:cs typeface="ＭＳ Ｐゴシック" charset="0"/>
              </a:rPr>
              <a:t>:  dated listed on Form 8832 or filing date, but</a:t>
            </a:r>
          </a:p>
          <a:p>
            <a:pPr marL="627063" lvl="1" indent="-223838" eaLnBrk="1" hangingPunct="1">
              <a:lnSpc>
                <a:spcPct val="90000"/>
              </a:lnSpc>
              <a:tabLst>
                <a:tab pos="914400" algn="l"/>
              </a:tabLst>
            </a:pPr>
            <a:r>
              <a:rPr lang="en-US" dirty="0">
                <a:ea typeface="ＭＳ Ｐゴシック" charset="0"/>
              </a:rPr>
              <a:t>Not more than 75 days prior to filing date, or</a:t>
            </a:r>
          </a:p>
          <a:p>
            <a:pPr marL="627063" lvl="1" indent="-223838" eaLnBrk="1" hangingPunct="1">
              <a:lnSpc>
                <a:spcPct val="90000"/>
              </a:lnSpc>
              <a:tabLst>
                <a:tab pos="914400" algn="l"/>
              </a:tabLst>
            </a:pPr>
            <a:r>
              <a:rPr lang="en-US" dirty="0">
                <a:ea typeface="ＭＳ Ｐゴシック" charset="0"/>
              </a:rPr>
              <a:t>Not more than 12 months after filing date. (-3(c)(1)(iii))</a:t>
            </a:r>
          </a:p>
          <a:p>
            <a:pPr marL="223838" indent="-223838">
              <a:lnSpc>
                <a:spcPct val="90000"/>
              </a:lnSpc>
              <a:tabLst>
                <a:tab pos="914400" algn="l"/>
              </a:tabLst>
            </a:pPr>
            <a:endParaRPr lang="en-US" u="sng" dirty="0">
              <a:ea typeface="ＭＳ Ｐゴシック" charset="0"/>
              <a:cs typeface="ＭＳ Ｐゴシック" charset="0"/>
            </a:endParaRPr>
          </a:p>
          <a:p>
            <a:pPr marL="223838" indent="-223838">
              <a:lnSpc>
                <a:spcPct val="90000"/>
              </a:lnSpc>
              <a:tabLst>
                <a:tab pos="914400" algn="l"/>
              </a:tabLst>
            </a:pPr>
            <a:r>
              <a:rPr lang="en-US" u="sng" dirty="0">
                <a:ea typeface="ＭＳ Ｐゴシック" charset="0"/>
                <a:cs typeface="ＭＳ Ｐゴシック" charset="0"/>
              </a:rPr>
              <a:t>Relief for Late Filing</a:t>
            </a:r>
            <a:r>
              <a:rPr lang="en-US" dirty="0">
                <a:ea typeface="ＭＳ Ｐゴシック" charset="0"/>
                <a:cs typeface="ＭＳ Ｐゴシック" charset="0"/>
              </a:rPr>
              <a:t>:  Rev. Proc. 2013-30</a:t>
            </a:r>
          </a:p>
          <a:p>
            <a:pPr marL="627063" lvl="1" indent="-223838" eaLnBrk="1" hangingPunct="1">
              <a:lnSpc>
                <a:spcPct val="90000"/>
              </a:lnSpc>
              <a:tabLst>
                <a:tab pos="914400" algn="l"/>
              </a:tabLst>
            </a:pPr>
            <a:r>
              <a:rPr lang="en-US" dirty="0">
                <a:ea typeface="ＭＳ Ｐゴシック" charset="0"/>
              </a:rPr>
              <a:t>New entity can request relief for late filing if election filed by return due date</a:t>
            </a:r>
          </a:p>
          <a:p>
            <a:pPr marL="223838" indent="-223838">
              <a:lnSpc>
                <a:spcPct val="90000"/>
              </a:lnSpc>
              <a:tabLst>
                <a:tab pos="914400" algn="l"/>
              </a:tabLst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223838" indent="-223838">
              <a:lnSpc>
                <a:spcPct val="90000"/>
              </a:lnSpc>
              <a:tabLst>
                <a:tab pos="914400" algn="l"/>
              </a:tabLst>
            </a:pPr>
            <a:r>
              <a:rPr lang="en-US" dirty="0">
                <a:ea typeface="ＭＳ Ｐゴシック" charset="0"/>
                <a:cs typeface="ＭＳ Ｐゴシック" charset="0"/>
              </a:rPr>
              <a:t>An EE that </a:t>
            </a:r>
            <a:r>
              <a:rPr lang="en-US" u="sng" dirty="0">
                <a:ea typeface="ＭＳ Ｐゴシック" charset="0"/>
                <a:cs typeface="ＭＳ Ｐゴシック" charset="0"/>
              </a:rPr>
              <a:t>changes its classification</a:t>
            </a:r>
            <a:r>
              <a:rPr lang="en-US" dirty="0">
                <a:ea typeface="ＭＳ Ｐゴシック" charset="0"/>
                <a:cs typeface="ＭＳ Ｐゴシック" charset="0"/>
              </a:rPr>
              <a:t> cannot change its classification again during the next 60 months, except if there is a &gt;50% change in ownership and CIR consents.</a:t>
            </a:r>
          </a:p>
          <a:p>
            <a:pPr marL="627063" lvl="1" indent="-223838" eaLnBrk="1" hangingPunct="1">
              <a:lnSpc>
                <a:spcPct val="90000"/>
              </a:lnSpc>
              <a:tabLst>
                <a:tab pos="914400" algn="l"/>
              </a:tabLst>
            </a:pPr>
            <a:r>
              <a:rPr lang="en-US" dirty="0">
                <a:ea typeface="ＭＳ Ｐゴシック" charset="0"/>
              </a:rPr>
              <a:t>An initial election is not considered a change. (-3(c)(1)(iv))</a:t>
            </a:r>
            <a:endParaRPr lang="en-US" sz="1600" dirty="0">
              <a:ea typeface="ＭＳ Ｐゴシック" charset="0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ＭＳ Ｐゴシック" charset="0"/>
                <a:cs typeface="ＭＳ Ｐゴシック" charset="0"/>
              </a:rPr>
              <a:t>CTB</a:t>
            </a:r>
            <a:r>
              <a:rPr 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Regs</a:t>
            </a:r>
            <a:r>
              <a:rPr lang="en-US" dirty="0">
                <a:ea typeface="ＭＳ Ｐゴシック" charset="0"/>
                <a:cs typeface="ＭＳ Ｐゴシック" charset="0"/>
              </a:rPr>
              <a:t>: Election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56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b="1" dirty="0" err="1">
                <a:ea typeface="ＭＳ Ｐゴシック" charset="0"/>
                <a:cs typeface="ＭＳ Ｐゴシック" charset="0"/>
              </a:rPr>
              <a:t>PHS</a:t>
            </a:r>
            <a:r>
              <a:rPr lang="en-US" b="1" dirty="0">
                <a:ea typeface="ＭＳ Ｐゴシック" charset="0"/>
                <a:cs typeface="ＭＳ Ｐゴシック" charset="0"/>
              </a:rPr>
              <a:t>-&gt;Association</a:t>
            </a:r>
            <a:r>
              <a:rPr lang="en-US" dirty="0">
                <a:ea typeface="ＭＳ Ｐゴシック" charset="0"/>
                <a:cs typeface="ＭＳ Ｐゴシック" charset="0"/>
              </a:rPr>
              <a:t>: 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PSH</a:t>
            </a:r>
            <a:r>
              <a:rPr lang="en-US" dirty="0">
                <a:ea typeface="ＭＳ Ｐゴシック" charset="0"/>
                <a:cs typeface="ＭＳ Ｐゴシック" charset="0"/>
              </a:rPr>
              <a:t> contributes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A&amp;L</a:t>
            </a:r>
            <a:r>
              <a:rPr lang="en-US" dirty="0">
                <a:ea typeface="ＭＳ Ｐゴシック" charset="0"/>
                <a:cs typeface="ＭＳ Ｐゴシック" charset="0"/>
              </a:rPr>
              <a:t> to Assoc. in exchange for stock and the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PSH</a:t>
            </a:r>
            <a:r>
              <a:rPr lang="en-US" dirty="0">
                <a:ea typeface="ＭＳ Ｐゴシック" charset="0"/>
                <a:cs typeface="ＭＳ Ｐゴシック" charset="0"/>
              </a:rPr>
              <a:t> liquidates</a:t>
            </a:r>
          </a:p>
          <a:p>
            <a:pPr>
              <a:lnSpc>
                <a:spcPct val="80000"/>
              </a:lnSpc>
            </a:pPr>
            <a:r>
              <a:rPr lang="en-US" b="1" dirty="0">
                <a:ea typeface="ＭＳ Ｐゴシック" charset="0"/>
                <a:cs typeface="ＭＳ Ｐゴシック" charset="0"/>
              </a:rPr>
              <a:t>Association-&gt;</a:t>
            </a:r>
            <a:r>
              <a:rPr lang="en-US" b="1" dirty="0" err="1">
                <a:ea typeface="ＭＳ Ｐゴシック" charset="0"/>
                <a:cs typeface="ＭＳ Ｐゴシック" charset="0"/>
              </a:rPr>
              <a:t>PSH</a:t>
            </a:r>
            <a:r>
              <a:rPr lang="en-US" dirty="0">
                <a:ea typeface="ＭＳ Ｐゴシック" charset="0"/>
                <a:cs typeface="ＭＳ Ｐゴシック" charset="0"/>
              </a:rPr>
              <a:t>:  Association distributes assets to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SHs</a:t>
            </a:r>
            <a:r>
              <a:rPr lang="en-US" dirty="0">
                <a:ea typeface="ＭＳ Ｐゴシック" charset="0"/>
                <a:cs typeface="ＭＳ Ｐゴシック" charset="0"/>
              </a:rPr>
              <a:t>, and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SHs</a:t>
            </a:r>
            <a:r>
              <a:rPr lang="en-US" dirty="0">
                <a:ea typeface="ＭＳ Ｐゴシック" charset="0"/>
                <a:cs typeface="ＭＳ Ｐゴシック" charset="0"/>
              </a:rPr>
              <a:t> contribute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A&amp;L</a:t>
            </a:r>
            <a:r>
              <a:rPr lang="en-US" dirty="0">
                <a:ea typeface="ＭＳ Ｐゴシック" charset="0"/>
                <a:cs typeface="ＭＳ Ｐゴシック" charset="0"/>
              </a:rPr>
              <a:t> to new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PSH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b="1" dirty="0">
                <a:ea typeface="ＭＳ Ｐゴシック" charset="0"/>
                <a:cs typeface="ＭＳ Ｐゴシック" charset="0"/>
              </a:rPr>
              <a:t>Association-&gt;DRE</a:t>
            </a:r>
            <a:r>
              <a:rPr lang="en-US" dirty="0">
                <a:ea typeface="ＭＳ Ｐゴシック" charset="0"/>
                <a:cs typeface="ＭＳ Ｐゴシック" charset="0"/>
              </a:rPr>
              <a:t>:  </a:t>
            </a:r>
            <a:r>
              <a:rPr lang="en-US" b="1" i="1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Association liquidates and distributes </a:t>
            </a:r>
            <a:r>
              <a:rPr lang="en-US" b="1" i="1" dirty="0" err="1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A&amp;L</a:t>
            </a:r>
            <a:r>
              <a:rPr lang="en-US" b="1" i="1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 to single owner</a:t>
            </a:r>
          </a:p>
          <a:p>
            <a:pPr>
              <a:lnSpc>
                <a:spcPct val="80000"/>
              </a:lnSpc>
            </a:pPr>
            <a:r>
              <a:rPr lang="en-US" b="1" dirty="0">
                <a:ea typeface="ＭＳ Ｐゴシック" charset="0"/>
                <a:cs typeface="ＭＳ Ｐゴシック" charset="0"/>
              </a:rPr>
              <a:t>DRE-&gt;Association:  </a:t>
            </a:r>
            <a:r>
              <a:rPr lang="en-US" dirty="0">
                <a:ea typeface="ＭＳ Ｐゴシック" charset="0"/>
                <a:cs typeface="ＭＳ Ｐゴシック" charset="0"/>
              </a:rPr>
              <a:t>Owner of DRE contributes all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A&amp;L</a:t>
            </a:r>
            <a:r>
              <a:rPr lang="en-US" dirty="0">
                <a:ea typeface="ＭＳ Ｐゴシック" charset="0"/>
                <a:cs typeface="ＭＳ Ｐゴシック" charset="0"/>
              </a:rPr>
              <a:t> to the Assoc. in exchange for stock (-3(g)) </a:t>
            </a:r>
          </a:p>
          <a:p>
            <a:pPr>
              <a:lnSpc>
                <a:spcPct val="80000"/>
              </a:lnSpc>
            </a:pPr>
            <a:r>
              <a:rPr lang="en-US" b="1" dirty="0">
                <a:ea typeface="ＭＳ Ｐゴシック" charset="0"/>
                <a:cs typeface="ＭＳ Ｐゴシック" charset="0"/>
              </a:rPr>
              <a:t>Rev. Rul. 2004-59</a:t>
            </a:r>
            <a:r>
              <a:rPr lang="en-US" dirty="0">
                <a:ea typeface="ＭＳ Ｐゴシック" charset="0"/>
                <a:cs typeface="ＭＳ Ｐゴシック" charset="0"/>
              </a:rPr>
              <a:t>:  Conversion of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PSH</a:t>
            </a:r>
            <a:r>
              <a:rPr lang="en-US" dirty="0">
                <a:ea typeface="ＭＳ Ｐゴシック" charset="0"/>
                <a:cs typeface="ＭＳ Ｐゴシック" charset="0"/>
              </a:rPr>
              <a:t> into Corp pursuant to state law not requiring transfer of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A&amp;L</a:t>
            </a:r>
            <a:r>
              <a:rPr lang="en-US" dirty="0">
                <a:ea typeface="ＭＳ Ｐゴシック" charset="0"/>
                <a:cs typeface="ＭＳ Ｐゴシック" charset="0"/>
              </a:rPr>
              <a:t>—</a:t>
            </a:r>
            <a:r>
              <a:rPr lang="en-US" i="1" dirty="0">
                <a:ea typeface="ＭＳ Ｐゴシック" charset="0"/>
                <a:cs typeface="ＭＳ Ｐゴシック" charset="0"/>
              </a:rPr>
              <a:t>formless conversion</a:t>
            </a:r>
            <a:r>
              <a:rPr lang="en-US" dirty="0">
                <a:ea typeface="ＭＳ Ｐゴシック" charset="0"/>
                <a:cs typeface="ＭＳ Ｐゴシック" charset="0"/>
              </a:rPr>
              <a:t>—treated as contribution of assets to new Corp, liquidation of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PSH</a:t>
            </a:r>
            <a:r>
              <a:rPr lang="en-US" dirty="0">
                <a:ea typeface="ＭＳ Ｐゴシック" charset="0"/>
                <a:cs typeface="ＭＳ Ｐゴシック" charset="0"/>
              </a:rPr>
              <a:t>, and distribution of stock by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PSH</a:t>
            </a:r>
            <a:r>
              <a:rPr lang="en-US" dirty="0">
                <a:ea typeface="ＭＳ Ｐゴシック" charset="0"/>
                <a:cs typeface="ＭＳ Ｐゴシック" charset="0"/>
              </a:rPr>
              <a:t> to Ps.</a:t>
            </a:r>
            <a:r>
              <a:rPr lang="en-US" b="1" dirty="0">
                <a:ea typeface="ＭＳ Ｐゴシック" charset="0"/>
                <a:cs typeface="ＭＳ Ｐゴシック" charset="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b="1" dirty="0">
                <a:ea typeface="ＭＳ Ｐゴシック" charset="0"/>
                <a:cs typeface="ＭＳ Ｐゴシック" charset="0"/>
              </a:rPr>
              <a:t>Change in Number of Members </a:t>
            </a:r>
            <a:r>
              <a:rPr lang="en-US" dirty="0">
                <a:ea typeface="ＭＳ Ｐゴシック" charset="0"/>
                <a:cs typeface="ＭＳ Ｐゴシック" charset="0"/>
              </a:rPr>
              <a:t>(-3(f))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err="1">
                <a:ea typeface="ＭＳ Ｐゴシック" charset="0"/>
              </a:rPr>
              <a:t>PSH</a:t>
            </a:r>
            <a:r>
              <a:rPr lang="en-US" dirty="0">
                <a:ea typeface="ＭＳ Ｐゴシック" charset="0"/>
              </a:rPr>
              <a:t>-&gt;DRE:  Rev. Rul. 99-6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>
                <a:ea typeface="ＭＳ Ｐゴシック" charset="0"/>
              </a:rPr>
              <a:t>DRE-&gt;</a:t>
            </a:r>
            <a:r>
              <a:rPr lang="en-US" dirty="0" err="1">
                <a:ea typeface="ＭＳ Ｐゴシック" charset="0"/>
              </a:rPr>
              <a:t>PSH</a:t>
            </a:r>
            <a:r>
              <a:rPr lang="en-US" dirty="0">
                <a:ea typeface="ＭＳ Ｐゴシック" charset="0"/>
              </a:rPr>
              <a:t>:  Rev. Rul. 99-5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ＭＳ Ｐゴシック" charset="0"/>
                <a:cs typeface="ＭＳ Ｐゴシック" charset="0"/>
              </a:rPr>
              <a:t>CTB</a:t>
            </a:r>
            <a:r>
              <a:rPr 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Regs</a:t>
            </a:r>
            <a:r>
              <a:rPr lang="en-US" dirty="0">
                <a:ea typeface="ＭＳ Ｐゴシック" charset="0"/>
                <a:cs typeface="ＭＳ Ｐゴシック" charset="0"/>
              </a:rPr>
              <a:t>:  Classification Changes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21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60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Graphical Representations of Entities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1371600"/>
            <a:ext cx="1371600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2400" b="1" dirty="0">
                <a:latin typeface="Calibri" charset="0"/>
              </a:rPr>
              <a:t>Corp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68346" y="2618907"/>
            <a:ext cx="1295400" cy="609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 eaLnBrk="1" hangingPunct="1"/>
            <a:r>
              <a:rPr lang="en-US" sz="1800" b="1" dirty="0">
                <a:latin typeface="Calibri" charset="0"/>
              </a:rPr>
              <a:t>LLC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676400" y="3810000"/>
            <a:ext cx="1219200" cy="914400"/>
          </a:xfrm>
          <a:prstGeom prst="triangle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en-US" sz="2000" b="1" dirty="0" err="1">
                <a:latin typeface="Calibri" charset="0"/>
              </a:rPr>
              <a:t>PSH</a:t>
            </a:r>
            <a:endParaRPr lang="en-US" sz="2400" b="1" dirty="0">
              <a:latin typeface="Calibri" charset="0"/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H="1">
            <a:off x="1600200" y="2590800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libri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286000" y="2618907"/>
            <a:ext cx="609600" cy="58149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libri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4038600" y="1447800"/>
            <a:ext cx="1447800" cy="609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/>
            </a:endParaRPr>
          </a:p>
        </p:txBody>
      </p:sp>
      <p:sp>
        <p:nvSpPr>
          <p:cNvPr id="12" name="Oval 10"/>
          <p:cNvSpPr>
            <a:spLocks noChangeArrowheads="1"/>
          </p:cNvSpPr>
          <p:nvPr/>
        </p:nvSpPr>
        <p:spPr bwMode="auto">
          <a:xfrm>
            <a:off x="4038600" y="1447800"/>
            <a:ext cx="1447800" cy="6096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2400" b="1" dirty="0" err="1">
                <a:latin typeface="Calibri" charset="0"/>
              </a:rPr>
              <a:t>DRE</a:t>
            </a:r>
            <a:endParaRPr lang="en-US" sz="2400" b="1" dirty="0">
              <a:latin typeface="Calibri" charset="0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3962400" y="2590800"/>
            <a:ext cx="1600200" cy="609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 eaLnBrk="1" hangingPunct="1"/>
            <a:r>
              <a:rPr lang="en-US" sz="1600" b="1" dirty="0">
                <a:latin typeface="Calibri" charset="0"/>
              </a:rPr>
              <a:t>Hybrid</a:t>
            </a:r>
            <a:endParaRPr lang="en-US" sz="1800" b="1" dirty="0">
              <a:latin typeface="Calibri" charset="0"/>
            </a:endParaRPr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 flipH="1">
            <a:off x="3962400" y="25908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libri"/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4800600" y="25908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libri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3962400" y="3886200"/>
            <a:ext cx="1600200" cy="61291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200" b="1" dirty="0">
                <a:latin typeface="Calibri" charset="0"/>
              </a:rPr>
              <a:t>Reverse</a:t>
            </a:r>
          </a:p>
          <a:p>
            <a:pPr algn="ctr" eaLnBrk="1" hangingPunct="1"/>
            <a:r>
              <a:rPr lang="en-US" sz="1200" b="1" dirty="0">
                <a:latin typeface="Calibri" charset="0"/>
              </a:rPr>
              <a:t>Hybrid</a:t>
            </a: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3962400" y="38862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en-US" dirty="0">
              <a:latin typeface="Calibri"/>
            </a:endParaRP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 flipH="1">
            <a:off x="4800600" y="3886199"/>
            <a:ext cx="762000" cy="6096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libri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6364224" y="1447800"/>
            <a:ext cx="1600200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2400" b="1" dirty="0">
                <a:latin typeface="Calibri" charset="0"/>
              </a:rPr>
              <a:t>Corp</a:t>
            </a: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6745224" y="2237907"/>
            <a:ext cx="950976" cy="76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800" b="1" dirty="0">
                <a:latin typeface="Calibri" charset="0"/>
              </a:rPr>
              <a:t>Branch</a:t>
            </a:r>
            <a:endParaRPr lang="en-US" sz="2000" b="1" dirty="0">
              <a:latin typeface="Calibri" charset="0"/>
            </a:endParaRPr>
          </a:p>
        </p:txBody>
      </p:sp>
      <p:cxnSp>
        <p:nvCxnSpPr>
          <p:cNvPr id="21" name="Straight Connector 23"/>
          <p:cNvCxnSpPr>
            <a:cxnSpLocks noChangeShapeType="1"/>
          </p:cNvCxnSpPr>
          <p:nvPr/>
        </p:nvCxnSpPr>
        <p:spPr bwMode="auto">
          <a:xfrm flipV="1">
            <a:off x="7164324" y="2057400"/>
            <a:ext cx="0" cy="18050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2" name="Text Box 20">
            <a:extLst>
              <a:ext uri="{FF2B5EF4-FFF2-40B4-BE49-F238E27FC236}">
                <a16:creationId xmlns:a16="http://schemas.microsoft.com/office/drawing/2014/main" id="{FA843D08-8D64-7E4B-BDEC-1668C7B11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048" y="5181600"/>
            <a:ext cx="8534400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l">
              <a:buFontTx/>
              <a:buChar char="•"/>
            </a:pPr>
            <a:r>
              <a:rPr lang="en-US" sz="1900" b="1" dirty="0">
                <a:latin typeface="Calibri"/>
              </a:rPr>
              <a:t>Hybrid</a:t>
            </a:r>
            <a:r>
              <a:rPr lang="en-US" sz="1900" dirty="0">
                <a:latin typeface="Calibri"/>
              </a:rPr>
              <a:t>:  </a:t>
            </a:r>
            <a:r>
              <a:rPr lang="en-US" sz="1900" dirty="0" err="1">
                <a:latin typeface="Calibri"/>
              </a:rPr>
              <a:t>Passthrough</a:t>
            </a:r>
            <a:r>
              <a:rPr lang="en-US" sz="1900" dirty="0">
                <a:latin typeface="Calibri"/>
              </a:rPr>
              <a:t> under US law; </a:t>
            </a:r>
            <a:r>
              <a:rPr lang="en-US" sz="1900" dirty="0" err="1">
                <a:latin typeface="Calibri"/>
              </a:rPr>
              <a:t>corp</a:t>
            </a:r>
            <a:r>
              <a:rPr lang="en-US" sz="1900" dirty="0">
                <a:latin typeface="Calibri"/>
              </a:rPr>
              <a:t> under foreign law</a:t>
            </a:r>
          </a:p>
          <a:p>
            <a:pPr algn="l">
              <a:buFontTx/>
              <a:buChar char="•"/>
            </a:pPr>
            <a:r>
              <a:rPr lang="en-US" sz="1900" b="1" dirty="0">
                <a:latin typeface="Calibri"/>
              </a:rPr>
              <a:t>Reverse Hybrid</a:t>
            </a:r>
            <a:r>
              <a:rPr lang="en-US" sz="1900" dirty="0">
                <a:latin typeface="Calibri"/>
              </a:rPr>
              <a:t>:  Corp under US law; </a:t>
            </a:r>
            <a:r>
              <a:rPr lang="en-US" sz="1900" dirty="0" err="1">
                <a:latin typeface="Calibri"/>
              </a:rPr>
              <a:t>passthrough</a:t>
            </a:r>
            <a:r>
              <a:rPr lang="en-US" sz="1900" dirty="0">
                <a:latin typeface="Calibri"/>
              </a:rPr>
              <a:t> under foreign law</a:t>
            </a:r>
          </a:p>
        </p:txBody>
      </p:sp>
    </p:spTree>
    <p:extLst>
      <p:ext uri="{BB962C8B-B14F-4D97-AF65-F5344CB8AC3E}">
        <p14:creationId xmlns:p14="http://schemas.microsoft.com/office/powerpoint/2010/main" val="81759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Some publicly traded Corporations switched to PSH status in the early ‘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80s.  </a:t>
            </a:r>
          </a:p>
          <a:p>
            <a:pPr lvl="1"/>
            <a:r>
              <a:rPr lang="en-US" altLang="ja-JP" dirty="0">
                <a:ea typeface="ＭＳ Ｐゴシック" charset="0"/>
                <a:cs typeface="ＭＳ Ｐゴシック" charset="0"/>
              </a:rPr>
              <a:t>Why?  </a:t>
            </a:r>
            <a:r>
              <a:rPr lang="en-US" altLang="ja-JP" i="1" dirty="0">
                <a:ea typeface="ＭＳ Ｐゴシック" charset="0"/>
                <a:cs typeface="ＭＳ Ｐゴシック" charset="0"/>
              </a:rPr>
              <a:t>See Historical marginal tax rate </a:t>
            </a:r>
            <a:r>
              <a:rPr lang="en-US" altLang="ja-JP" dirty="0">
                <a:ea typeface="ＭＳ Ｐゴシック" charset="0"/>
                <a:cs typeface="ＭＳ Ｐゴシック" charset="0"/>
              </a:rPr>
              <a:t>chart.</a:t>
            </a:r>
          </a:p>
          <a:p>
            <a:pPr lvl="1"/>
            <a:r>
              <a:rPr lang="en-US" dirty="0">
                <a:ea typeface="ＭＳ Ｐゴシック" charset="0"/>
                <a:cs typeface="ＭＳ Ｐゴシック" charset="0"/>
              </a:rPr>
              <a:t>After 2017, how does the analysis change?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What was the concern of Congress?</a:t>
            </a:r>
          </a:p>
          <a:p>
            <a:pPr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Under </a:t>
            </a:r>
            <a:r>
              <a:rPr lang="en-US" altLang="en-US" dirty="0"/>
              <a:t>§</a:t>
            </a:r>
            <a:r>
              <a:rPr lang="en-US" dirty="0">
                <a:ea typeface="ＭＳ Ｐゴシック" charset="0"/>
                <a:cs typeface="ＭＳ Ｐゴシック" charset="0"/>
              </a:rPr>
              <a:t>7704, PTPs generally taxed as corporations (</a:t>
            </a:r>
            <a:r>
              <a:rPr lang="en-US" altLang="en-US" dirty="0"/>
              <a:t>§</a:t>
            </a:r>
            <a:r>
              <a:rPr lang="en-US" dirty="0">
                <a:ea typeface="ＭＳ Ｐゴシック" charset="0"/>
                <a:cs typeface="ＭＳ Ｐゴシック" charset="0"/>
              </a:rPr>
              <a:t>7704(a))</a:t>
            </a:r>
            <a:r>
              <a:rPr lang="en-US" b="1" dirty="0">
                <a:ea typeface="ＭＳ Ｐゴシック" charset="0"/>
                <a:cs typeface="ＭＳ Ｐゴシック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Publicly Traded Partnership: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</a:rPr>
              <a:t>Traded on established securities market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</a:rPr>
              <a:t>Readily tradable on a secondary market (or substantial equivalent)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</a:rPr>
              <a:t>Various Exceptions (Safe harbors) 	</a:t>
            </a:r>
          </a:p>
          <a:p>
            <a:pPr lvl="2">
              <a:lnSpc>
                <a:spcPct val="90000"/>
              </a:lnSpc>
            </a:pPr>
            <a:r>
              <a:rPr lang="en-US" dirty="0">
                <a:ea typeface="ＭＳ Ｐゴシック" charset="0"/>
              </a:rPr>
              <a:t>Private transfers (family transfers, death)</a:t>
            </a:r>
          </a:p>
          <a:p>
            <a:pPr lvl="2">
              <a:lnSpc>
                <a:spcPct val="90000"/>
              </a:lnSpc>
            </a:pPr>
            <a:r>
              <a:rPr lang="en-US" dirty="0">
                <a:ea typeface="ＭＳ Ｐゴシック" charset="0"/>
              </a:rPr>
              <a:t>Certain redemptions/repurchases</a:t>
            </a:r>
          </a:p>
          <a:p>
            <a:pPr lvl="2">
              <a:lnSpc>
                <a:spcPct val="90000"/>
              </a:lnSpc>
            </a:pPr>
            <a:r>
              <a:rPr lang="en-US" dirty="0">
                <a:ea typeface="ＭＳ Ｐゴシック" charset="0"/>
              </a:rPr>
              <a:t>Private placements. </a:t>
            </a:r>
            <a:r>
              <a:rPr lang="en-US" altLang="en-US" dirty="0">
                <a:ea typeface="ＭＳ Ｐゴシック" charset="-128"/>
              </a:rPr>
              <a:t>Reg. </a:t>
            </a:r>
            <a:r>
              <a:rPr lang="en-US" altLang="en-US" dirty="0"/>
              <a:t>§</a:t>
            </a:r>
            <a:r>
              <a:rPr lang="en-US" dirty="0">
                <a:ea typeface="ＭＳ Ｐゴシック" charset="0"/>
              </a:rPr>
              <a:t>1.7704-1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Publicly Traded Partnerships (</a:t>
            </a:r>
            <a:r>
              <a:rPr lang="en-US" dirty="0" err="1">
                <a:ea typeface="ＭＳ Ｐゴシック" charset="0"/>
                <a:cs typeface="ＭＳ Ｐゴシック" charset="0"/>
              </a:rPr>
              <a:t>PTPs</a:t>
            </a:r>
            <a:r>
              <a:rPr lang="en-US" dirty="0">
                <a:ea typeface="ＭＳ Ｐゴシック" charset="0"/>
                <a:cs typeface="ＭＳ Ｐゴシック" charset="0"/>
              </a:rPr>
              <a:t>/</a:t>
            </a:r>
            <a:r>
              <a:rPr lang="en-US" dirty="0" err="1">
                <a:ea typeface="ＭＳ Ｐゴシック" charset="0"/>
                <a:cs typeface="ＭＳ Ｐゴシック" charset="0"/>
              </a:rPr>
              <a:t>MLPs</a:t>
            </a:r>
            <a:r>
              <a:rPr lang="en-US" dirty="0">
                <a:ea typeface="ＭＳ Ｐゴシック" charset="0"/>
                <a:cs typeface="ＭＳ Ｐゴシック" charset="0"/>
              </a:rPr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26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 b="1" dirty="0">
                <a:ea typeface="ＭＳ Ｐゴシック" charset="0"/>
                <a:cs typeface="ＭＳ Ｐゴシック" charset="0"/>
              </a:rPr>
              <a:t>Passive Income Exception</a:t>
            </a:r>
            <a:endParaRPr lang="en-US" sz="2800" dirty="0">
              <a:ea typeface="ＭＳ Ｐゴシック" charset="0"/>
              <a:cs typeface="ＭＳ Ｐゴシック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400" dirty="0">
                <a:ea typeface="ＭＳ Ｐゴシック" charset="0"/>
              </a:rPr>
              <a:t>PTP not taxed as Corp if ≥ 90% of its gross income is </a:t>
            </a:r>
            <a:r>
              <a:rPr lang="ja-JP" altLang="en-US" sz="2400" dirty="0">
                <a:ea typeface="ＭＳ Ｐゴシック" charset="0"/>
              </a:rPr>
              <a:t>“</a:t>
            </a:r>
            <a:r>
              <a:rPr lang="en-US" altLang="ja-JP" sz="2400" dirty="0">
                <a:ea typeface="ＭＳ Ｐゴシック" charset="0"/>
              </a:rPr>
              <a:t>qualifying income</a:t>
            </a:r>
            <a:r>
              <a:rPr lang="ja-JP" altLang="en-US" sz="2400" dirty="0">
                <a:ea typeface="ＭＳ Ｐゴシック" charset="0"/>
              </a:rPr>
              <a:t>”</a:t>
            </a:r>
            <a:r>
              <a:rPr lang="en-US" altLang="ja-JP" sz="2400" dirty="0">
                <a:ea typeface="ＭＳ Ｐゴシック" charset="0"/>
              </a:rPr>
              <a:t>, such as</a:t>
            </a:r>
          </a:p>
          <a:p>
            <a:pPr marL="977900" lvl="2" indent="-177800" eaLnBrk="1" hangingPunct="1">
              <a:lnSpc>
                <a:spcPct val="80000"/>
              </a:lnSpc>
            </a:pPr>
            <a:r>
              <a:rPr lang="en-US" dirty="0">
                <a:ea typeface="ＭＳ Ｐゴシック" charset="0"/>
              </a:rPr>
              <a:t>Dividends, Interest, Gains from Stock and Bond Sales, Swap Income (NPC) </a:t>
            </a:r>
          </a:p>
          <a:p>
            <a:pPr marL="977900" lvl="2" indent="-177800" eaLnBrk="1" hangingPunct="1">
              <a:lnSpc>
                <a:spcPct val="80000"/>
              </a:lnSpc>
            </a:pPr>
            <a:r>
              <a:rPr lang="en-US" dirty="0">
                <a:ea typeface="ＭＳ Ｐゴシック" charset="0"/>
              </a:rPr>
              <a:t>Real Property Rents and Gains</a:t>
            </a:r>
          </a:p>
          <a:p>
            <a:pPr marL="977900" lvl="2" indent="-177800">
              <a:lnSpc>
                <a:spcPct val="80000"/>
              </a:lnSpc>
            </a:pPr>
            <a:r>
              <a:rPr lang="en-US" dirty="0">
                <a:ea typeface="ＭＳ Ｐゴシック" charset="0"/>
              </a:rPr>
              <a:t>Income from the production of natural resources (</a:t>
            </a:r>
            <a:r>
              <a:rPr lang="en-US" altLang="en-US" dirty="0"/>
              <a:t>§</a:t>
            </a:r>
            <a:r>
              <a:rPr lang="en-US" dirty="0">
                <a:ea typeface="ＭＳ Ｐゴシック" charset="0"/>
              </a:rPr>
              <a:t>7704(c))</a:t>
            </a:r>
          </a:p>
          <a:p>
            <a:pPr marL="977900" lvl="2" indent="-177800">
              <a:lnSpc>
                <a:spcPct val="80000"/>
              </a:lnSpc>
            </a:pPr>
            <a:r>
              <a:rPr lang="en-US" dirty="0">
                <a:ea typeface="ＭＳ Ｐゴシック" charset="0"/>
              </a:rPr>
              <a:t>Interest derived from conduct of financial or insurance business excluded (</a:t>
            </a:r>
            <a:r>
              <a:rPr lang="en-US" altLang="en-US" dirty="0"/>
              <a:t>§</a:t>
            </a:r>
            <a:r>
              <a:rPr lang="en-US" dirty="0">
                <a:ea typeface="ＭＳ Ｐゴシック" charset="0"/>
              </a:rPr>
              <a:t>7704(c)(2))</a:t>
            </a:r>
          </a:p>
          <a:p>
            <a:pPr marL="977900" lvl="2" indent="-177800" eaLnBrk="1" hangingPunct="1">
              <a:lnSpc>
                <a:spcPct val="80000"/>
              </a:lnSpc>
            </a:pPr>
            <a:r>
              <a:rPr lang="en-US" dirty="0">
                <a:ea typeface="ＭＳ Ｐゴシック" charset="0"/>
              </a:rPr>
              <a:t>QI does </a:t>
            </a:r>
            <a:r>
              <a:rPr lang="en-US" u="sng" dirty="0">
                <a:ea typeface="ＭＳ Ｐゴシック" charset="0"/>
              </a:rPr>
              <a:t>NOT</a:t>
            </a:r>
            <a:r>
              <a:rPr lang="en-US" dirty="0">
                <a:ea typeface="ＭＳ Ｐゴシック" charset="0"/>
              </a:rPr>
              <a:t> include income from services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ea typeface="ＭＳ Ｐゴシック" charset="0"/>
              </a:rPr>
              <a:t>QI exception does not apply to any PSH that would be subject to the ‘40 Act if it were a corporation (</a:t>
            </a:r>
            <a:r>
              <a:rPr lang="en-US" altLang="en-US" sz="2400" dirty="0"/>
              <a:t>§</a:t>
            </a:r>
            <a:r>
              <a:rPr lang="en-US" sz="2400" dirty="0">
                <a:ea typeface="ＭＳ Ｐゴシック" charset="0"/>
              </a:rPr>
              <a:t>7704(c)(3))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ea typeface="ＭＳ Ｐゴシック" charset="0"/>
              <a:hlinkClick r:id="rId2"/>
            </a:endParaRPr>
          </a:p>
          <a:p>
            <a:pPr>
              <a:lnSpc>
                <a:spcPct val="80000"/>
              </a:lnSpc>
            </a:pPr>
            <a:r>
              <a:rPr lang="en-US" sz="2800" dirty="0">
                <a:ea typeface="ＭＳ Ｐゴシック" charset="0"/>
                <a:hlinkClick r:id="rId2"/>
              </a:rPr>
              <a:t>A list of current MLPs</a:t>
            </a:r>
            <a:endParaRPr lang="en-US" sz="2800" dirty="0">
              <a:ea typeface="ＭＳ Ｐゴシック" charset="0"/>
            </a:endParaRPr>
          </a:p>
          <a:p>
            <a:pPr>
              <a:lnSpc>
                <a:spcPct val="80000"/>
              </a:lnSpc>
            </a:pPr>
            <a:endParaRPr lang="en-US" sz="2800" dirty="0">
              <a:ea typeface="ＭＳ Ｐゴシック" charset="0"/>
            </a:endParaRPr>
          </a:p>
          <a:p>
            <a:pPr>
              <a:lnSpc>
                <a:spcPct val="80000"/>
              </a:lnSpc>
            </a:pPr>
            <a:r>
              <a:rPr lang="en-US" sz="2800" dirty="0">
                <a:ea typeface="ＭＳ Ｐゴシック" charset="0"/>
              </a:rPr>
              <a:t>Why are some MLPs converting to C Corps after the TCJA?  </a:t>
            </a:r>
            <a:r>
              <a:rPr lang="en-US" sz="2800" i="1" dirty="0">
                <a:ea typeface="ＭＳ Ｐゴシック" charset="0"/>
              </a:rPr>
              <a:t>See </a:t>
            </a:r>
            <a:r>
              <a:rPr lang="en-US" sz="2800" dirty="0">
                <a:ea typeface="ＭＳ Ｐゴシック" charset="0"/>
              </a:rPr>
              <a:t>article on class web site.</a:t>
            </a:r>
            <a:endParaRPr lang="en-US" sz="2800" dirty="0"/>
          </a:p>
          <a:p>
            <a:pPr>
              <a:lnSpc>
                <a:spcPct val="80000"/>
              </a:lnSpc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Publicly Traded Partnerships (</a:t>
            </a:r>
            <a:r>
              <a:rPr lang="en-US" dirty="0" err="1">
                <a:ea typeface="ＭＳ Ｐゴシック" charset="0"/>
                <a:cs typeface="ＭＳ Ｐゴシック" charset="0"/>
              </a:rPr>
              <a:t>PTPs</a:t>
            </a:r>
            <a:r>
              <a:rPr lang="en-US" dirty="0">
                <a:ea typeface="ＭＳ Ｐゴシック" charset="0"/>
                <a:cs typeface="ＭＳ Ｐゴシック" charset="0"/>
              </a:rPr>
              <a:t>/</a:t>
            </a:r>
            <a:r>
              <a:rPr lang="en-US" dirty="0" err="1">
                <a:ea typeface="ＭＳ Ｐゴシック" charset="0"/>
                <a:cs typeface="ＭＳ Ｐゴシック" charset="0"/>
              </a:rPr>
              <a:t>MLPs</a:t>
            </a:r>
            <a:r>
              <a:rPr lang="en-US" dirty="0">
                <a:ea typeface="ＭＳ Ｐゴシック" charset="0"/>
                <a:cs typeface="ＭＳ Ｐゴシック" charset="0"/>
              </a:rPr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Choice of 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70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1_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A41C218D-EB0F-0640-8FD3-104D758806C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CT_COE_16</Template>
  <TotalTime>10488</TotalTime>
  <Words>2195</Words>
  <Application>Microsoft Macintosh PowerPoint</Application>
  <PresentationFormat>On-screen Show (4:3)</PresentationFormat>
  <Paragraphs>365</Paragraphs>
  <Slides>24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ＭＳ Ｐゴシック</vt:lpstr>
      <vt:lpstr>NSimSun</vt:lpstr>
      <vt:lpstr>Arial</vt:lpstr>
      <vt:lpstr>Calibri</vt:lpstr>
      <vt:lpstr>Courier New</vt:lpstr>
      <vt:lpstr>Times New Roman</vt:lpstr>
      <vt:lpstr>Verdana</vt:lpstr>
      <vt:lpstr>Wingdings</vt:lpstr>
      <vt:lpstr>Wingdings 2</vt:lpstr>
      <vt:lpstr>CG Body - Standard</vt:lpstr>
      <vt:lpstr>1_CG Body - Standard</vt:lpstr>
      <vt:lpstr>Equation</vt:lpstr>
      <vt:lpstr>Corporate Taxation Choice of Entity</vt:lpstr>
      <vt:lpstr>PowerPoint Presentation</vt:lpstr>
      <vt:lpstr>Choice of Business Entity</vt:lpstr>
      <vt:lpstr>C Corp vs. Pass-through</vt:lpstr>
      <vt:lpstr>Rates for 2026</vt:lpstr>
      <vt:lpstr>Marginal vs. Effective (Average) Tax Rates</vt:lpstr>
      <vt:lpstr>Tax Differences: C, S, and K</vt:lpstr>
      <vt:lpstr>Tax Differences: C, S, and K</vt:lpstr>
      <vt:lpstr>Comparison of AT-Returns for C Corporation and S Corp/PSH</vt:lpstr>
      <vt:lpstr>Partnership vs. Corporation</vt:lpstr>
      <vt:lpstr>Comparison of AT-Returns for C Corp and S Corp/PSH: The Benefits of Deferral</vt:lpstr>
      <vt:lpstr>Marginal Tax Rates</vt:lpstr>
      <vt:lpstr>Section 199A:  Ugh</vt:lpstr>
      <vt:lpstr>Choice of Business Entity</vt:lpstr>
      <vt:lpstr>CTB Regs: Business Entity</vt:lpstr>
      <vt:lpstr>CTB Regs: Eligible Entity</vt:lpstr>
      <vt:lpstr>CTB Regs: Corporation Defined</vt:lpstr>
      <vt:lpstr>CTB Regs: Election</vt:lpstr>
      <vt:lpstr>CTB Regs: Default Classification of Foreign Eligible Entities</vt:lpstr>
      <vt:lpstr>CTB Regs: Election</vt:lpstr>
      <vt:lpstr>CTB Regs:  Classification Changes</vt:lpstr>
      <vt:lpstr>Graphical Representations of Entities</vt:lpstr>
      <vt:lpstr>Publicly Traded Partnerships (PTPs/MLPs)</vt:lpstr>
      <vt:lpstr>Publicly Traded Partnerships (PTPs/MLPs)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J.M. Colon</dc:creator>
  <cp:keywords/>
  <dc:description/>
  <cp:lastModifiedBy>Colon, Jeffrey M.</cp:lastModifiedBy>
  <cp:revision>58</cp:revision>
  <cp:lastPrinted>2013-07-03T14:40:00Z</cp:lastPrinted>
  <dcterms:created xsi:type="dcterms:W3CDTF">2016-08-02T01:01:38Z</dcterms:created>
  <dcterms:modified xsi:type="dcterms:W3CDTF">2025-12-23T14:19:44Z</dcterms:modified>
  <cp:category/>
</cp:coreProperties>
</file>