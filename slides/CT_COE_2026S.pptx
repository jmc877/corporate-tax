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  <p:sldMasterId id="2147484158" r:id="rId2"/>
  </p:sldMasterIdLst>
  <p:notesMasterIdLst>
    <p:notesMasterId r:id="rId27"/>
  </p:notesMasterIdLst>
  <p:handoutMasterIdLst>
    <p:handoutMasterId r:id="rId28"/>
  </p:handoutMasterIdLst>
  <p:sldIdLst>
    <p:sldId id="298" r:id="rId3"/>
    <p:sldId id="256" r:id="rId4"/>
    <p:sldId id="261" r:id="rId5"/>
    <p:sldId id="288" r:id="rId6"/>
    <p:sldId id="293" r:id="rId7"/>
    <p:sldId id="299" r:id="rId8"/>
    <p:sldId id="280" r:id="rId9"/>
    <p:sldId id="281" r:id="rId10"/>
    <p:sldId id="294" r:id="rId11"/>
    <p:sldId id="295" r:id="rId12"/>
    <p:sldId id="296" r:id="rId13"/>
    <p:sldId id="290" r:id="rId14"/>
    <p:sldId id="297" r:id="rId15"/>
    <p:sldId id="268" r:id="rId16"/>
    <p:sldId id="269" r:id="rId17"/>
    <p:sldId id="271" r:id="rId18"/>
    <p:sldId id="270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6858000" type="screen4x3"/>
  <p:notesSz cx="69850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888">
          <p15:clr>
            <a:srgbClr val="A4A3A4"/>
          </p15:clr>
        </p15:guide>
        <p15:guide id="2" pos="54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4">
          <p15:clr>
            <a:srgbClr val="A4A3A4"/>
          </p15:clr>
        </p15:guide>
        <p15:guide id="2" pos="22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C0C0"/>
    <a:srgbClr val="FEECC2"/>
    <a:srgbClr val="FFF6E8"/>
    <a:srgbClr val="FF9933"/>
    <a:srgbClr val="000000"/>
    <a:srgbClr val="FFFFFF"/>
    <a:srgbClr val="666666"/>
    <a:srgbClr val="B01C2E"/>
    <a:srgbClr val="B01C1A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2F8625-0A48-A743-B5D0-1FC2FA991857}" v="34" dt="2026-01-01T20:15:27.0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50" autoAdjust="0"/>
    <p:restoredTop sz="97056" autoAdjust="0"/>
  </p:normalViewPr>
  <p:slideViewPr>
    <p:cSldViewPr>
      <p:cViewPr varScale="1">
        <p:scale>
          <a:sx n="128" d="100"/>
          <a:sy n="128" d="100"/>
        </p:scale>
        <p:origin x="1304" y="184"/>
      </p:cViewPr>
      <p:guideLst>
        <p:guide orient="horz" pos="3888"/>
        <p:guide pos="54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47" d="100"/>
          <a:sy n="47" d="100"/>
        </p:scale>
        <p:origin x="-2196" y="-108"/>
      </p:cViewPr>
      <p:guideLst>
        <p:guide orient="horz" pos="2924"/>
        <p:guide pos="22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">
      <pc:chgData name="Colon, Jeffrey M." userId="615143b1-cdee-493d-9a9d-1565ce8666d9" providerId="ADAL" clId="{458F5B4D-4674-51EB-AE0A-4CE030354E61}" dt="2026-01-01T20:15:27.067" v="66" actId="20577"/>
      <pc:docMkLst>
        <pc:docMk/>
      </pc:docMkLst>
      <pc:sldChg chg="modSp">
        <pc:chgData name="Colon, Jeffrey M." userId="615143b1-cdee-493d-9a9d-1565ce8666d9" providerId="ADAL" clId="{458F5B4D-4674-51EB-AE0A-4CE030354E61}" dt="2025-12-28T22:45:42.198" v="26" actId="20577"/>
        <pc:sldMkLst>
          <pc:docMk/>
          <pc:sldMk cId="1862958348" sldId="270"/>
        </pc:sldMkLst>
        <pc:spChg chg="mod">
          <ac:chgData name="Colon, Jeffrey M." userId="615143b1-cdee-493d-9a9d-1565ce8666d9" providerId="ADAL" clId="{458F5B4D-4674-51EB-AE0A-4CE030354E61}" dt="2025-12-28T22:45:42.198" v="26" actId="20577"/>
          <ac:spMkLst>
            <pc:docMk/>
            <pc:sldMk cId="1862958348" sldId="270"/>
            <ac:spMk id="2" creationId="{00000000-0000-0000-0000-000000000000}"/>
          </ac:spMkLst>
        </pc:spChg>
      </pc:sldChg>
      <pc:sldChg chg="modSp mod">
        <pc:chgData name="Colon, Jeffrey M." userId="615143b1-cdee-493d-9a9d-1565ce8666d9" providerId="ADAL" clId="{458F5B4D-4674-51EB-AE0A-4CE030354E61}" dt="2025-12-28T22:41:45.193" v="22" actId="20577"/>
        <pc:sldMkLst>
          <pc:docMk/>
          <pc:sldMk cId="3511947658" sldId="280"/>
        </pc:sldMkLst>
        <pc:graphicFrameChg chg="modGraphic">
          <ac:chgData name="Colon, Jeffrey M." userId="615143b1-cdee-493d-9a9d-1565ce8666d9" providerId="ADAL" clId="{458F5B4D-4674-51EB-AE0A-4CE030354E61}" dt="2025-12-28T22:41:45.193" v="22" actId="20577"/>
          <ac:graphicFrameMkLst>
            <pc:docMk/>
            <pc:sldMk cId="3511947658" sldId="280"/>
            <ac:graphicFrameMk id="4" creationId="{00000000-0000-0000-0000-000000000000}"/>
          </ac:graphicFrameMkLst>
        </pc:graphicFrameChg>
      </pc:sldChg>
      <pc:sldChg chg="modSp mod modAnim">
        <pc:chgData name="Colon, Jeffrey M." userId="615143b1-cdee-493d-9a9d-1565ce8666d9" providerId="ADAL" clId="{458F5B4D-4674-51EB-AE0A-4CE030354E61}" dt="2025-12-28T22:35:30.805" v="4"/>
        <pc:sldMkLst>
          <pc:docMk/>
          <pc:sldMk cId="2189102931" sldId="293"/>
        </pc:sldMkLst>
        <pc:picChg chg="mod">
          <ac:chgData name="Colon, Jeffrey M." userId="615143b1-cdee-493d-9a9d-1565ce8666d9" providerId="ADAL" clId="{458F5B4D-4674-51EB-AE0A-4CE030354E61}" dt="2025-12-28T22:34:47.576" v="2" actId="14100"/>
          <ac:picMkLst>
            <pc:docMk/>
            <pc:sldMk cId="2189102931" sldId="293"/>
            <ac:picMk id="13" creationId="{75996FC0-A2E7-8A23-352B-1F0D7331242C}"/>
          </ac:picMkLst>
        </pc:picChg>
      </pc:sldChg>
      <pc:sldChg chg="modSp mod">
        <pc:chgData name="Colon, Jeffrey M." userId="615143b1-cdee-493d-9a9d-1565ce8666d9" providerId="ADAL" clId="{458F5B4D-4674-51EB-AE0A-4CE030354E61}" dt="2026-01-01T20:15:27.067" v="66" actId="20577"/>
        <pc:sldMkLst>
          <pc:docMk/>
          <pc:sldMk cId="2215171304" sldId="297"/>
        </pc:sldMkLst>
        <pc:spChg chg="mod">
          <ac:chgData name="Colon, Jeffrey M." userId="615143b1-cdee-493d-9a9d-1565ce8666d9" providerId="ADAL" clId="{458F5B4D-4674-51EB-AE0A-4CE030354E61}" dt="2026-01-01T20:15:27.067" v="66" actId="20577"/>
          <ac:spMkLst>
            <pc:docMk/>
            <pc:sldMk cId="2215171304" sldId="297"/>
            <ac:spMk id="2" creationId="{DC8C4A35-B168-9B44-BF49-F4AB6A777DD4}"/>
          </ac:spMkLst>
        </pc:spChg>
        <pc:spChg chg="mod">
          <ac:chgData name="Colon, Jeffrey M." userId="615143b1-cdee-493d-9a9d-1565ce8666d9" providerId="ADAL" clId="{458F5B4D-4674-51EB-AE0A-4CE030354E61}" dt="2026-01-01T19:50:25.835" v="45" actId="20577"/>
          <ac:spMkLst>
            <pc:docMk/>
            <pc:sldMk cId="2215171304" sldId="297"/>
            <ac:spMk id="3" creationId="{600FCEDB-B3AA-B544-98D3-81D3BAF5876B}"/>
          </ac:spMkLst>
        </pc:spChg>
      </pc:sldChg>
    </pc:docChg>
  </pc:docChgLst>
  <pc:docChgLst>
    <pc:chgData name="Colon, Jeffrey M." userId="615143b1-cdee-493d-9a9d-1565ce8666d9" providerId="ADAL" clId="{DC1DB158-BAB1-5930-B714-AEF472873853}"/>
    <pc:docChg chg="custSel addSld modSld modMainMaster">
      <pc:chgData name="Colon, Jeffrey M." userId="615143b1-cdee-493d-9a9d-1565ce8666d9" providerId="ADAL" clId="{DC1DB158-BAB1-5930-B714-AEF472873853}" dt="2025-12-23T14:19:43.074" v="214" actId="20577"/>
      <pc:docMkLst>
        <pc:docMk/>
      </pc:docMkLst>
      <pc:sldChg chg="addSp delSp modSp mod">
        <pc:chgData name="Colon, Jeffrey M." userId="615143b1-cdee-493d-9a9d-1565ce8666d9" providerId="ADAL" clId="{DC1DB158-BAB1-5930-B714-AEF472873853}" dt="2025-12-23T14:05:51.943" v="139" actId="20577"/>
        <pc:sldMkLst>
          <pc:docMk/>
          <pc:sldMk cId="2189102931" sldId="293"/>
        </pc:sldMkLst>
        <pc:spChg chg="mod">
          <ac:chgData name="Colon, Jeffrey M." userId="615143b1-cdee-493d-9a9d-1565ce8666d9" providerId="ADAL" clId="{DC1DB158-BAB1-5930-B714-AEF472873853}" dt="2025-12-23T13:55:07.348" v="34" actId="20577"/>
          <ac:spMkLst>
            <pc:docMk/>
            <pc:sldMk cId="2189102931" sldId="293"/>
            <ac:spMk id="3" creationId="{C790169F-6D46-3244-BA47-17047563E5F7}"/>
          </ac:spMkLst>
        </pc:spChg>
        <pc:spChg chg="add mod">
          <ac:chgData name="Colon, Jeffrey M." userId="615143b1-cdee-493d-9a9d-1565ce8666d9" providerId="ADAL" clId="{DC1DB158-BAB1-5930-B714-AEF472873853}" dt="2025-12-23T14:05:04.094" v="133" actId="1076"/>
          <ac:spMkLst>
            <pc:docMk/>
            <pc:sldMk cId="2189102931" sldId="293"/>
            <ac:spMk id="16" creationId="{DB43F11B-3CC2-EA08-DD20-4D244E6F5920}"/>
          </ac:spMkLst>
        </pc:spChg>
        <pc:spChg chg="add mod">
          <ac:chgData name="Colon, Jeffrey M." userId="615143b1-cdee-493d-9a9d-1565ce8666d9" providerId="ADAL" clId="{DC1DB158-BAB1-5930-B714-AEF472873853}" dt="2025-12-23T14:05:51.943" v="139" actId="20577"/>
          <ac:spMkLst>
            <pc:docMk/>
            <pc:sldMk cId="2189102931" sldId="293"/>
            <ac:spMk id="17" creationId="{46FD6387-A7F8-A63E-DBA3-0BC874D260E7}"/>
          </ac:spMkLst>
        </pc:spChg>
        <pc:picChg chg="add mod">
          <ac:chgData name="Colon, Jeffrey M." userId="615143b1-cdee-493d-9a9d-1565ce8666d9" providerId="ADAL" clId="{DC1DB158-BAB1-5930-B714-AEF472873853}" dt="2025-12-23T14:00:09.106" v="94" actId="14100"/>
          <ac:picMkLst>
            <pc:docMk/>
            <pc:sldMk cId="2189102931" sldId="293"/>
            <ac:picMk id="9" creationId="{0C83359E-ADAD-FDE5-5F17-93605CBF134B}"/>
          </ac:picMkLst>
        </pc:picChg>
        <pc:picChg chg="add mod">
          <ac:chgData name="Colon, Jeffrey M." userId="615143b1-cdee-493d-9a9d-1565ce8666d9" providerId="ADAL" clId="{DC1DB158-BAB1-5930-B714-AEF472873853}" dt="2025-12-23T14:05:08.587" v="134" actId="1076"/>
          <ac:picMkLst>
            <pc:docMk/>
            <pc:sldMk cId="2189102931" sldId="293"/>
            <ac:picMk id="13" creationId="{75996FC0-A2E7-8A23-352B-1F0D7331242C}"/>
          </ac:picMkLst>
        </pc:picChg>
        <pc:picChg chg="add mod">
          <ac:chgData name="Colon, Jeffrey M." userId="615143b1-cdee-493d-9a9d-1565ce8666d9" providerId="ADAL" clId="{DC1DB158-BAB1-5930-B714-AEF472873853}" dt="2025-12-23T14:04:39.831" v="115" actId="14100"/>
          <ac:picMkLst>
            <pc:docMk/>
            <pc:sldMk cId="2189102931" sldId="293"/>
            <ac:picMk id="15" creationId="{48AFB231-6448-DDA3-A7D6-0CB2B15CBE49}"/>
          </ac:picMkLst>
        </pc:picChg>
      </pc:sldChg>
      <pc:sldChg chg="modSp mod">
        <pc:chgData name="Colon, Jeffrey M." userId="615143b1-cdee-493d-9a9d-1565ce8666d9" providerId="ADAL" clId="{DC1DB158-BAB1-5930-B714-AEF472873853}" dt="2025-12-23T13:24:14.160" v="26" actId="1076"/>
        <pc:sldMkLst>
          <pc:docMk/>
          <pc:sldMk cId="748285888" sldId="296"/>
        </pc:sldMkLst>
        <pc:spChg chg="mod">
          <ac:chgData name="Colon, Jeffrey M." userId="615143b1-cdee-493d-9a9d-1565ce8666d9" providerId="ADAL" clId="{DC1DB158-BAB1-5930-B714-AEF472873853}" dt="2025-12-23T13:24:14.160" v="26" actId="1076"/>
          <ac:spMkLst>
            <pc:docMk/>
            <pc:sldMk cId="748285888" sldId="296"/>
            <ac:spMk id="2" creationId="{A4F6E15B-D1F8-EA35-AE2C-9D84F832FD3E}"/>
          </ac:spMkLst>
        </pc:spChg>
      </pc:sldChg>
      <pc:sldChg chg="modSp">
        <pc:chgData name="Colon, Jeffrey M." userId="615143b1-cdee-493d-9a9d-1565ce8666d9" providerId="ADAL" clId="{DC1DB158-BAB1-5930-B714-AEF472873853}" dt="2025-12-23T14:19:43.074" v="214" actId="20577"/>
        <pc:sldMkLst>
          <pc:docMk/>
          <pc:sldMk cId="2215171304" sldId="297"/>
        </pc:sldMkLst>
        <pc:spChg chg="mod">
          <ac:chgData name="Colon, Jeffrey M." userId="615143b1-cdee-493d-9a9d-1565ce8666d9" providerId="ADAL" clId="{DC1DB158-BAB1-5930-B714-AEF472873853}" dt="2025-12-23T14:19:43.074" v="214" actId="20577"/>
          <ac:spMkLst>
            <pc:docMk/>
            <pc:sldMk cId="2215171304" sldId="297"/>
            <ac:spMk id="2" creationId="{DC8C4A35-B168-9B44-BF49-F4AB6A777DD4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5-12-23T13:58:36.134" v="86" actId="14100"/>
        <pc:sldMkLst>
          <pc:docMk/>
          <pc:sldMk cId="2421660017" sldId="299"/>
        </pc:sldMkLst>
        <pc:spChg chg="mod">
          <ac:chgData name="Colon, Jeffrey M." userId="615143b1-cdee-493d-9a9d-1565ce8666d9" providerId="ADAL" clId="{DC1DB158-BAB1-5930-B714-AEF472873853}" dt="2025-12-23T13:57:44.194" v="79" actId="20577"/>
          <ac:spMkLst>
            <pc:docMk/>
            <pc:sldMk cId="2421660017" sldId="299"/>
            <ac:spMk id="3" creationId="{CEB53ED5-8D9A-D970-6888-9EE0C9B6A97C}"/>
          </ac:spMkLst>
        </pc:spChg>
        <pc:picChg chg="add mod">
          <ac:chgData name="Colon, Jeffrey M." userId="615143b1-cdee-493d-9a9d-1565ce8666d9" providerId="ADAL" clId="{DC1DB158-BAB1-5930-B714-AEF472873853}" dt="2025-12-23T13:58:36.134" v="86" actId="14100"/>
          <ac:picMkLst>
            <pc:docMk/>
            <pc:sldMk cId="2421660017" sldId="299"/>
            <ac:picMk id="11" creationId="{720CF8D9-4E7A-9777-7B0B-43A774D8D4D6}"/>
          </ac:picMkLst>
        </pc:picChg>
      </pc:sldChg>
      <pc:sldMasterChg chg="modSp mod">
        <pc:chgData name="Colon, Jeffrey M." userId="615143b1-cdee-493d-9a9d-1565ce8666d9" providerId="ADAL" clId="{DC1DB158-BAB1-5930-B714-AEF472873853}" dt="2025-12-23T13:23:08.168" v="2" actId="20577"/>
        <pc:sldMasterMkLst>
          <pc:docMk/>
          <pc:sldMasterMk cId="0" sldId="2147483709"/>
        </pc:sldMasterMkLst>
        <pc:spChg chg="mod">
          <ac:chgData name="Colon, Jeffrey M." userId="615143b1-cdee-493d-9a9d-1565ce8666d9" providerId="ADAL" clId="{DC1DB158-BAB1-5930-B714-AEF472873853}" dt="2025-12-23T13:23:08.168" v="2" actId="20577"/>
          <ac:spMkLst>
            <pc:docMk/>
            <pc:sldMasterMk cId="0" sldId="2147483709"/>
            <ac:spMk id="9" creationId="{00000000-0000-0000-0000-00000000000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5605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fld id="{3ACC1E0E-E391-524E-9F30-C67969167413}" type="datetimeFigureOut">
              <a:rPr lang="en-US"/>
              <a:pPr>
                <a:defRPr/>
              </a:pPr>
              <a:t>1/1/26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5605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3BC3918-49F7-364E-8F10-2D6CA2B6B0B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294571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5605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fld id="{2482BA89-AA63-5848-ACDE-E131169857D8}" type="datetimeFigureOut">
              <a:rPr lang="en-US"/>
              <a:pPr>
                <a:defRPr/>
              </a:pPr>
              <a:t>1/1/26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1575" y="696913"/>
            <a:ext cx="4641850" cy="3481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58" tIns="46479" rIns="92958" bIns="4647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8500" y="4410075"/>
            <a:ext cx="5588000" cy="4176713"/>
          </a:xfrm>
          <a:prstGeom prst="rect">
            <a:avLst/>
          </a:prstGeom>
        </p:spPr>
        <p:txBody>
          <a:bodyPr vert="horz" lIns="92958" tIns="46479" rIns="92958" bIns="46479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5605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7D129C8-AF54-954B-A96E-7B14F2126CB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380425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37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fld id="{43CF19C2-34E8-4346-AB67-9984E6DD6A78}" type="slidenum">
              <a:rPr lang="en-US" sz="1200">
                <a:latin typeface="Calibri" charset="0"/>
              </a:rPr>
              <a:pPr/>
              <a:t>3</a:t>
            </a:fld>
            <a:endParaRPr lang="en-US" sz="1200" dirty="0">
              <a:latin typeface="Calibri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6442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6163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5147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72797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AF7CB-E8F0-0C43-959B-A53601DDBE1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4663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fld id="{0B45BF9D-5587-2C45-9E0D-C63FC847C0BF}" type="slidenum">
              <a:rPr lang="en-US" sz="1200">
                <a:latin typeface="Calibri" charset="0"/>
              </a:rPr>
              <a:pPr/>
              <a:t>10</a:t>
            </a:fld>
            <a:endParaRPr lang="en-US" sz="1200" dirty="0">
              <a:latin typeface="Calibri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490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96387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4420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2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03217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2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000" b="1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4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Choice of Entity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59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07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2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884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72092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66887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3593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76705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04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3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2" y="3778175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3434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09697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68883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578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205694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36428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5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5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5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0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3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39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1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0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8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5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712315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701276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8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0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8" y="3460750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184183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0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0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0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0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0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0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0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0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6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6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310846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228157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007687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5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0" y="1911350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0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8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132245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8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1"/>
            <a:ext cx="2523744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05693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853460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7217856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62905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010189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08652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76347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2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0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5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969327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12291289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037822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329821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8" y="1981200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0" y="1982788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8" y="1981200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5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4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2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0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903172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8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760522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5" y="1497013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547015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7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5" y="3590925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3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5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6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2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5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477119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8" y="1782763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8" y="5300663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8" y="4129088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8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2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5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876748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3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88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2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699132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3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8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19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3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4" y="1282929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6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4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7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722754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0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3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3" y="1566863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3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0" y="1468438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5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3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5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3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0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39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39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39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39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39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39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39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39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39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136076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8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5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4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0379181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0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0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0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2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2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2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2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0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78042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79" y="1419225"/>
            <a:ext cx="2532185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04461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02637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243572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6045620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6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4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1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6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3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3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5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1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1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6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4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6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3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3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5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1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1" y="3962400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675246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0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0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0877704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854371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1850778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513649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727553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613740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Choice of Entity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97519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790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200400" y="6474732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9714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762000"/>
            <a:ext cx="8458200" cy="5457825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152400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4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46380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2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05269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58656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10751034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8018170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339403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2239742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3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2" y="3778175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2904335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9484571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290980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78160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1695418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732778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5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5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5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0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3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39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1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0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8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5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313485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3947112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8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0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8" y="3460750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5765854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0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0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0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0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0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0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0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0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6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6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5892743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78499251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8476800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5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0" y="1911350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0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8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2116109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8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1"/>
            <a:ext cx="2523744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1000672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5962666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834607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436696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705096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3342110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807304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2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0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5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434344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endParaRPr lang="en-US" dirty="0"/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6737124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482048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576102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8" y="1981200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0" y="1982788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8" y="1981200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5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4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2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0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1790861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8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1455020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5" y="1497013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2339576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7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5" y="3590925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3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5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6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2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5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4031726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8" y="1782763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8" y="5300663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8" y="4129088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8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2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5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407957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3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88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2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6204884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3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8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19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3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4" y="1282929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6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4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7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8595897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0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3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3" y="1566863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3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0" y="1468438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5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3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5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3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0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39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39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39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39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39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39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39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39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39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52774200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8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5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4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87182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0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0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0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2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2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2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2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0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5455172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79" y="1419225"/>
            <a:ext cx="2532185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230261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8175640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8957138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endParaRPr lang="en-US" dirty="0"/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9862737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6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4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1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6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3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3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5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1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1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6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4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6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3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3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5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1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1" y="3962400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7249879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0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0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312025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0889683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931445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73647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44747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750268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Choice of Entity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7753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81.xml"/><Relationship Id="rId39" Type="http://schemas.openxmlformats.org/officeDocument/2006/relationships/slideLayout" Target="../slideLayouts/slideLayout94.xml"/><Relationship Id="rId21" Type="http://schemas.openxmlformats.org/officeDocument/2006/relationships/slideLayout" Target="../slideLayouts/slideLayout76.xml"/><Relationship Id="rId34" Type="http://schemas.openxmlformats.org/officeDocument/2006/relationships/slideLayout" Target="../slideLayouts/slideLayout89.xml"/><Relationship Id="rId42" Type="http://schemas.openxmlformats.org/officeDocument/2006/relationships/slideLayout" Target="../slideLayouts/slideLayout97.xml"/><Relationship Id="rId47" Type="http://schemas.openxmlformats.org/officeDocument/2006/relationships/slideLayout" Target="../slideLayouts/slideLayout102.xml"/><Relationship Id="rId50" Type="http://schemas.openxmlformats.org/officeDocument/2006/relationships/slideLayout" Target="../slideLayouts/slideLayout105.xml"/><Relationship Id="rId55" Type="http://schemas.openxmlformats.org/officeDocument/2006/relationships/theme" Target="../theme/theme2.xml"/><Relationship Id="rId7" Type="http://schemas.openxmlformats.org/officeDocument/2006/relationships/slideLayout" Target="../slideLayouts/slideLayout62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9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66.xml"/><Relationship Id="rId24" Type="http://schemas.openxmlformats.org/officeDocument/2006/relationships/slideLayout" Target="../slideLayouts/slideLayout79.xml"/><Relationship Id="rId32" Type="http://schemas.openxmlformats.org/officeDocument/2006/relationships/slideLayout" Target="../slideLayouts/slideLayout87.xml"/><Relationship Id="rId37" Type="http://schemas.openxmlformats.org/officeDocument/2006/relationships/slideLayout" Target="../slideLayouts/slideLayout92.xml"/><Relationship Id="rId40" Type="http://schemas.openxmlformats.org/officeDocument/2006/relationships/slideLayout" Target="../slideLayouts/slideLayout95.xml"/><Relationship Id="rId45" Type="http://schemas.openxmlformats.org/officeDocument/2006/relationships/slideLayout" Target="../slideLayouts/slideLayout100.xml"/><Relationship Id="rId53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31" Type="http://schemas.openxmlformats.org/officeDocument/2006/relationships/slideLayout" Target="../slideLayouts/slideLayout86.xml"/><Relationship Id="rId44" Type="http://schemas.openxmlformats.org/officeDocument/2006/relationships/slideLayout" Target="../slideLayouts/slideLayout99.xml"/><Relationship Id="rId52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82.xml"/><Relationship Id="rId30" Type="http://schemas.openxmlformats.org/officeDocument/2006/relationships/slideLayout" Target="../slideLayouts/slideLayout85.xml"/><Relationship Id="rId35" Type="http://schemas.openxmlformats.org/officeDocument/2006/relationships/slideLayout" Target="../slideLayouts/slideLayout90.xml"/><Relationship Id="rId43" Type="http://schemas.openxmlformats.org/officeDocument/2006/relationships/slideLayout" Target="../slideLayouts/slideLayout98.xml"/><Relationship Id="rId48" Type="http://schemas.openxmlformats.org/officeDocument/2006/relationships/slideLayout" Target="../slideLayouts/slideLayout103.xml"/><Relationship Id="rId8" Type="http://schemas.openxmlformats.org/officeDocument/2006/relationships/slideLayout" Target="../slideLayouts/slideLayout63.xml"/><Relationship Id="rId51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80.xml"/><Relationship Id="rId33" Type="http://schemas.openxmlformats.org/officeDocument/2006/relationships/slideLayout" Target="../slideLayouts/slideLayout88.xml"/><Relationship Id="rId38" Type="http://schemas.openxmlformats.org/officeDocument/2006/relationships/slideLayout" Target="../slideLayouts/slideLayout93.xml"/><Relationship Id="rId46" Type="http://schemas.openxmlformats.org/officeDocument/2006/relationships/slideLayout" Target="../slideLayouts/slideLayout101.xml"/><Relationship Id="rId20" Type="http://schemas.openxmlformats.org/officeDocument/2006/relationships/slideLayout" Target="../slideLayouts/slideLayout75.xml"/><Relationship Id="rId41" Type="http://schemas.openxmlformats.org/officeDocument/2006/relationships/slideLayout" Target="../slideLayouts/slideLayout96.xml"/><Relationship Id="rId54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8.xml"/><Relationship Id="rId28" Type="http://schemas.openxmlformats.org/officeDocument/2006/relationships/slideLayout" Target="../slideLayouts/slideLayout83.xml"/><Relationship Id="rId36" Type="http://schemas.openxmlformats.org/officeDocument/2006/relationships/slideLayout" Target="../slideLayouts/slideLayout91.xml"/><Relationship Id="rId49" Type="http://schemas.openxmlformats.org/officeDocument/2006/relationships/slideLayout" Target="../slideLayouts/slideLayout10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3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6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Choice of Entity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7"/>
            <a:ext cx="2362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_COE_2026S</a:t>
            </a:r>
            <a:endParaRPr lang="en-US" sz="800" dirty="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22" r:id="rId1"/>
    <p:sldLayoutId id="2147484123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124" r:id="rId8"/>
    <p:sldLayoutId id="2147484125" r:id="rId9"/>
    <p:sldLayoutId id="2147484126" r:id="rId10"/>
    <p:sldLayoutId id="2147484127" r:id="rId11"/>
    <p:sldLayoutId id="2147484091" r:id="rId12"/>
    <p:sldLayoutId id="2147484092" r:id="rId13"/>
    <p:sldLayoutId id="2147484093" r:id="rId14"/>
    <p:sldLayoutId id="2147484094" r:id="rId15"/>
    <p:sldLayoutId id="2147484095" r:id="rId16"/>
    <p:sldLayoutId id="2147484128" r:id="rId17"/>
    <p:sldLayoutId id="2147484096" r:id="rId18"/>
    <p:sldLayoutId id="2147484097" r:id="rId19"/>
    <p:sldLayoutId id="2147484129" r:id="rId20"/>
    <p:sldLayoutId id="2147484130" r:id="rId21"/>
    <p:sldLayoutId id="2147484098" r:id="rId22"/>
    <p:sldLayoutId id="2147484099" r:id="rId23"/>
    <p:sldLayoutId id="2147484131" r:id="rId24"/>
    <p:sldLayoutId id="2147484132" r:id="rId25"/>
    <p:sldLayoutId id="2147484100" r:id="rId26"/>
    <p:sldLayoutId id="2147484101" r:id="rId27"/>
    <p:sldLayoutId id="2147484102" r:id="rId28"/>
    <p:sldLayoutId id="2147484133" r:id="rId29"/>
    <p:sldLayoutId id="2147484103" r:id="rId30"/>
    <p:sldLayoutId id="2147484104" r:id="rId31"/>
    <p:sldLayoutId id="2147484105" r:id="rId32"/>
    <p:sldLayoutId id="2147484134" r:id="rId33"/>
    <p:sldLayoutId id="2147484135" r:id="rId34"/>
    <p:sldLayoutId id="2147484136" r:id="rId35"/>
    <p:sldLayoutId id="2147484137" r:id="rId36"/>
    <p:sldLayoutId id="2147484138" r:id="rId37"/>
    <p:sldLayoutId id="2147484139" r:id="rId38"/>
    <p:sldLayoutId id="2147484140" r:id="rId39"/>
    <p:sldLayoutId id="2147484141" r:id="rId40"/>
    <p:sldLayoutId id="2147484142" r:id="rId41"/>
    <p:sldLayoutId id="2147484106" r:id="rId42"/>
    <p:sldLayoutId id="2147484107" r:id="rId43"/>
    <p:sldLayoutId id="2147484108" r:id="rId44"/>
    <p:sldLayoutId id="2147484109" r:id="rId45"/>
    <p:sldLayoutId id="2147484143" r:id="rId46"/>
    <p:sldLayoutId id="2147484110" r:id="rId47"/>
    <p:sldLayoutId id="2147484144" r:id="rId48"/>
    <p:sldLayoutId id="2147484111" r:id="rId49"/>
    <p:sldLayoutId id="2147484112" r:id="rId50"/>
    <p:sldLayoutId id="2147484113" r:id="rId51"/>
    <p:sldLayoutId id="2147484114" r:id="rId52"/>
    <p:sldLayoutId id="2147484115" r:id="rId53"/>
    <p:sldLayoutId id="2147484157" r:id="rId54"/>
    <p:sldLayoutId id="2147484213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3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200400" y="6436633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7"/>
            <a:ext cx="2362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Goodbye</a:t>
            </a:r>
          </a:p>
        </p:txBody>
      </p:sp>
    </p:spTree>
    <p:extLst>
      <p:ext uri="{BB962C8B-B14F-4D97-AF65-F5344CB8AC3E}">
        <p14:creationId xmlns:p14="http://schemas.microsoft.com/office/powerpoint/2010/main" val="535361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9" r:id="rId1"/>
    <p:sldLayoutId id="2147484160" r:id="rId2"/>
    <p:sldLayoutId id="2147484161" r:id="rId3"/>
    <p:sldLayoutId id="2147484162" r:id="rId4"/>
    <p:sldLayoutId id="2147484163" r:id="rId5"/>
    <p:sldLayoutId id="2147484164" r:id="rId6"/>
    <p:sldLayoutId id="2147484165" r:id="rId7"/>
    <p:sldLayoutId id="2147484166" r:id="rId8"/>
    <p:sldLayoutId id="2147484167" r:id="rId9"/>
    <p:sldLayoutId id="2147484168" r:id="rId10"/>
    <p:sldLayoutId id="2147484169" r:id="rId11"/>
    <p:sldLayoutId id="2147484170" r:id="rId12"/>
    <p:sldLayoutId id="2147484171" r:id="rId13"/>
    <p:sldLayoutId id="2147484172" r:id="rId14"/>
    <p:sldLayoutId id="2147484173" r:id="rId15"/>
    <p:sldLayoutId id="2147484174" r:id="rId16"/>
    <p:sldLayoutId id="2147484175" r:id="rId17"/>
    <p:sldLayoutId id="2147484176" r:id="rId18"/>
    <p:sldLayoutId id="2147484177" r:id="rId19"/>
    <p:sldLayoutId id="2147484178" r:id="rId20"/>
    <p:sldLayoutId id="2147484179" r:id="rId21"/>
    <p:sldLayoutId id="2147484180" r:id="rId22"/>
    <p:sldLayoutId id="2147484181" r:id="rId23"/>
    <p:sldLayoutId id="2147484182" r:id="rId24"/>
    <p:sldLayoutId id="2147484183" r:id="rId25"/>
    <p:sldLayoutId id="2147484184" r:id="rId26"/>
    <p:sldLayoutId id="2147484185" r:id="rId27"/>
    <p:sldLayoutId id="2147484186" r:id="rId28"/>
    <p:sldLayoutId id="2147484187" r:id="rId29"/>
    <p:sldLayoutId id="2147484188" r:id="rId30"/>
    <p:sldLayoutId id="2147484189" r:id="rId31"/>
    <p:sldLayoutId id="2147484190" r:id="rId32"/>
    <p:sldLayoutId id="2147484191" r:id="rId33"/>
    <p:sldLayoutId id="2147484192" r:id="rId34"/>
    <p:sldLayoutId id="2147484193" r:id="rId35"/>
    <p:sldLayoutId id="2147484194" r:id="rId36"/>
    <p:sldLayoutId id="2147484195" r:id="rId37"/>
    <p:sldLayoutId id="2147484196" r:id="rId38"/>
    <p:sldLayoutId id="2147484197" r:id="rId39"/>
    <p:sldLayoutId id="2147484198" r:id="rId40"/>
    <p:sldLayoutId id="2147484199" r:id="rId41"/>
    <p:sldLayoutId id="2147484200" r:id="rId42"/>
    <p:sldLayoutId id="2147484201" r:id="rId43"/>
    <p:sldLayoutId id="2147484202" r:id="rId44"/>
    <p:sldLayoutId id="2147484203" r:id="rId45"/>
    <p:sldLayoutId id="2147484204" r:id="rId46"/>
    <p:sldLayoutId id="2147484205" r:id="rId47"/>
    <p:sldLayoutId id="2147484206" r:id="rId48"/>
    <p:sldLayoutId id="2147484207" r:id="rId49"/>
    <p:sldLayoutId id="2147484208" r:id="rId50"/>
    <p:sldLayoutId id="2147484209" r:id="rId51"/>
    <p:sldLayoutId id="2147484210" r:id="rId52"/>
    <p:sldLayoutId id="2147484211" r:id="rId53"/>
    <p:sldLayoutId id="2147484212" r:id="rId54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F2KsbX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it.ly/2F2KsbX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ic.energy/current-mlps-and-mlp-fund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" y="1122363"/>
            <a:ext cx="8915400" cy="1496385"/>
          </a:xfrm>
        </p:spPr>
        <p:txBody>
          <a:bodyPr/>
          <a:lstStyle/>
          <a:p>
            <a:r>
              <a:rPr lang="en-US" b="1" dirty="0"/>
              <a:t>Corporate Taxation</a:t>
            </a:r>
            <a:br>
              <a:rPr lang="en-US" b="1" dirty="0"/>
            </a:br>
            <a:r>
              <a:rPr lang="en-US" b="1" dirty="0"/>
              <a:t>Choice of Entity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 descr="pic1.tiff">
            <a:extLst>
              <a:ext uri="{FF2B5EF4-FFF2-40B4-BE49-F238E27FC236}">
                <a16:creationId xmlns:a16="http://schemas.microsoft.com/office/drawing/2014/main" id="{875BC4D3-57EF-9946-909E-614DC0E96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1" y="4972051"/>
            <a:ext cx="2155246" cy="48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059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029200" y="1600200"/>
            <a:ext cx="13716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 Corp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600200" y="1593925"/>
            <a:ext cx="12954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LLC</a:t>
            </a:r>
          </a:p>
        </p:txBody>
      </p:sp>
      <p:sp>
        <p:nvSpPr>
          <p:cNvPr id="6" name="AutoShape 6"/>
          <p:cNvSpPr>
            <a:spLocks noChangeArrowheads="1"/>
          </p:cNvSpPr>
          <p:nvPr/>
        </p:nvSpPr>
        <p:spPr bwMode="auto">
          <a:xfrm>
            <a:off x="1799178" y="3798884"/>
            <a:ext cx="1219200" cy="914400"/>
          </a:xfrm>
          <a:prstGeom prst="triangle">
            <a:avLst>
              <a:gd name="adj" fmla="val 50000"/>
            </a:avLst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/>
            <a:r>
              <a:rPr lang="en-US" sz="2000" b="1" dirty="0" err="1">
                <a:latin typeface="Calibri" charset="0"/>
              </a:rPr>
              <a:t>PSH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H="1">
            <a:off x="1638300" y="1579872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2247900" y="1593925"/>
            <a:ext cx="609600" cy="59554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5028304" y="4103078"/>
            <a:ext cx="13716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S Corp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2998033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?</a:t>
            </a:r>
            <a:endParaRPr lang="en-US" b="1" dirty="0"/>
          </a:p>
        </p:txBody>
      </p:sp>
      <p:cxnSp>
        <p:nvCxnSpPr>
          <p:cNvPr id="12" name="Straight Connector 11"/>
          <p:cNvCxnSpPr>
            <a:endCxn id="10" idx="3"/>
          </p:cNvCxnSpPr>
          <p:nvPr/>
        </p:nvCxnSpPr>
        <p:spPr>
          <a:xfrm flipH="1">
            <a:off x="4199478" y="2300053"/>
            <a:ext cx="1439322" cy="959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>
            <a:endCxn id="10" idx="1"/>
          </p:cNvCxnSpPr>
          <p:nvPr/>
        </p:nvCxnSpPr>
        <p:spPr>
          <a:xfrm>
            <a:off x="2286000" y="2405382"/>
            <a:ext cx="1562100" cy="8542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2781300" y="3431436"/>
            <a:ext cx="1104900" cy="709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 flipV="1">
            <a:off x="4199478" y="3362966"/>
            <a:ext cx="1439322" cy="675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54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Sole Proprietorship/Branch/Division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Partnership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GP, LP, LLP, and LLLP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LLC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Corporation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Business Trust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Analysis: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Is there a separate entity for </a:t>
            </a:r>
            <a:r>
              <a:rPr lang="en-US" sz="2000" b="1" i="1" dirty="0">
                <a:ea typeface="ＭＳ Ｐゴシック" charset="0"/>
              </a:rPr>
              <a:t>federal </a:t>
            </a:r>
            <a:r>
              <a:rPr lang="en-US" sz="2000" dirty="0">
                <a:ea typeface="ＭＳ Ｐゴシック" charset="0"/>
              </a:rPr>
              <a:t>tax purposes?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Is the entity a SP/B/D, PSH, or Corp?</a:t>
            </a:r>
          </a:p>
        </p:txBody>
      </p:sp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Choice of Business Entity</a:t>
            </a:r>
          </a:p>
        </p:txBody>
      </p:sp>
      <p:sp>
        <p:nvSpPr>
          <p:cNvPr id="2" name="Oval 1"/>
          <p:cNvSpPr/>
          <p:nvPr/>
        </p:nvSpPr>
        <p:spPr bwMode="auto">
          <a:xfrm>
            <a:off x="152400" y="914400"/>
            <a:ext cx="3733800" cy="12192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913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uiExpand="1" build="p"/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Comparison</a:t>
            </a:r>
          </a:p>
          <a:p>
            <a:pPr lvl="1"/>
            <a:r>
              <a:rPr lang="en-US" b="1" dirty="0"/>
              <a:t>C Corp</a:t>
            </a:r>
          </a:p>
          <a:p>
            <a:pPr lvl="2"/>
            <a:r>
              <a:rPr lang="en-US" dirty="0"/>
              <a:t>C Corp: 21% Corporate rate + 23.8% (CGs or dividends + 3.8% NII)</a:t>
            </a:r>
          </a:p>
          <a:p>
            <a:pPr lvl="2"/>
            <a:r>
              <a:rPr lang="en-US" b="1" i="1" dirty="0"/>
              <a:t>New </a:t>
            </a:r>
            <a:r>
              <a:rPr lang="en-US" i="1" dirty="0"/>
              <a:t>(post-2022 tax years)</a:t>
            </a:r>
            <a:r>
              <a:rPr lang="en-US" dirty="0"/>
              <a:t>: </a:t>
            </a:r>
            <a:r>
              <a:rPr lang="en-US" i="1" dirty="0"/>
              <a:t> 15% Corporate Minimum Alternative Tax </a:t>
            </a:r>
            <a:r>
              <a:rPr lang="en-US" dirty="0"/>
              <a:t>(CMAT)</a:t>
            </a:r>
            <a:r>
              <a:rPr lang="en-US" i="1" dirty="0"/>
              <a:t> on large corporations based on financial statement income (book)</a:t>
            </a:r>
            <a:endParaRPr lang="en-US" dirty="0"/>
          </a:p>
          <a:p>
            <a:pPr lvl="1"/>
            <a:r>
              <a:rPr lang="en-US" b="1" dirty="0"/>
              <a:t>Pass-through</a:t>
            </a:r>
            <a:endParaRPr lang="en-US" dirty="0"/>
          </a:p>
          <a:p>
            <a:pPr lvl="2"/>
            <a:r>
              <a:rPr lang="en-US" dirty="0"/>
              <a:t>37% for operating income (individuals), but 29.6% for QBI (note, this rate doesn’t apply to CGs)</a:t>
            </a:r>
          </a:p>
          <a:p>
            <a:pPr lvl="2"/>
            <a:r>
              <a:rPr lang="en-US" dirty="0"/>
              <a:t>3.8% for NII</a:t>
            </a:r>
          </a:p>
          <a:p>
            <a:pPr lvl="2"/>
            <a:r>
              <a:rPr lang="en-US" dirty="0"/>
              <a:t>20% for qualified dividends and NCGs</a:t>
            </a:r>
          </a:p>
          <a:p>
            <a:r>
              <a:rPr lang="en-US" dirty="0"/>
              <a:t>Other considerations</a:t>
            </a:r>
          </a:p>
          <a:p>
            <a:pPr lvl="1"/>
            <a:r>
              <a:rPr lang="en-US" dirty="0"/>
              <a:t>Deferral of SH-level tax </a:t>
            </a:r>
          </a:p>
          <a:p>
            <a:pPr lvl="1"/>
            <a:r>
              <a:rPr lang="en-US" dirty="0"/>
              <a:t>Step-up basis at death of shares</a:t>
            </a:r>
          </a:p>
          <a:p>
            <a:pPr lvl="1"/>
            <a:r>
              <a:rPr lang="en-US" dirty="0"/>
              <a:t>Investment of passive earnings by C Corp or SH</a:t>
            </a:r>
          </a:p>
          <a:p>
            <a:pPr lvl="1"/>
            <a:r>
              <a:rPr lang="en-US" dirty="0"/>
              <a:t>Use of losses</a:t>
            </a:r>
          </a:p>
          <a:p>
            <a:pPr lvl="1"/>
            <a:r>
              <a:rPr lang="en-US" dirty="0"/>
              <a:t>Qualified Small Business Stock exclusion (</a:t>
            </a:r>
            <a:r>
              <a:rPr lang="en-US" altLang="en-US" dirty="0"/>
              <a:t>§</a:t>
            </a:r>
            <a:r>
              <a:rPr lang="en-US" dirty="0"/>
              <a:t>1202)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Corp vs. Pass-through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748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90169F-6D46-3244-BA47-17047563E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Rates for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EDD64-64F8-AE48-BE18-9E27FDF88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724E7-882D-184B-85F1-FC21C71B7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pic>
        <p:nvPicPr>
          <p:cNvPr id="9" name="Picture 8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0C83359E-ADAD-FDE5-5F17-93605CBF1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33400"/>
            <a:ext cx="8458200" cy="4054734"/>
          </a:xfrm>
          <a:prstGeom prst="rect">
            <a:avLst/>
          </a:prstGeom>
        </p:spPr>
      </p:pic>
      <p:pic>
        <p:nvPicPr>
          <p:cNvPr id="13" name="Picture 12" descr="A screenshot of a phone&#10;&#10;AI-generated content may be incorrect.">
            <a:extLst>
              <a:ext uri="{FF2B5EF4-FFF2-40B4-BE49-F238E27FC236}">
                <a16:creationId xmlns:a16="http://schemas.microsoft.com/office/drawing/2014/main" id="{75996FC0-A2E7-8A23-352B-1F0D73312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1" y="4796559"/>
            <a:ext cx="3276600" cy="1451842"/>
          </a:xfrm>
          <a:prstGeom prst="rect">
            <a:avLst/>
          </a:prstGeom>
        </p:spPr>
      </p:pic>
      <p:pic>
        <p:nvPicPr>
          <p:cNvPr id="15" name="Picture 14" descr="A screenshot of a phone&#10;&#10;AI-generated content may be incorrect.">
            <a:extLst>
              <a:ext uri="{FF2B5EF4-FFF2-40B4-BE49-F238E27FC236}">
                <a16:creationId xmlns:a16="http://schemas.microsoft.com/office/drawing/2014/main" id="{48AFB231-6448-DDA3-A7D6-0CB2B15CBE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4816475"/>
            <a:ext cx="5178552" cy="150812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B43F11B-3CC2-EA08-DD20-4D244E6F5920}"/>
              </a:ext>
            </a:extLst>
          </p:cNvPr>
          <p:cNvSpPr txBox="1"/>
          <p:nvPr/>
        </p:nvSpPr>
        <p:spPr>
          <a:xfrm>
            <a:off x="2220069" y="4552130"/>
            <a:ext cx="11575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Capital Gains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FD6387-A7F8-A63E-DBA3-0BC874D260E7}"/>
              </a:ext>
            </a:extLst>
          </p:cNvPr>
          <p:cNvSpPr txBox="1"/>
          <p:nvPr/>
        </p:nvSpPr>
        <p:spPr>
          <a:xfrm>
            <a:off x="6345150" y="4539974"/>
            <a:ext cx="457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QBI</a:t>
            </a:r>
          </a:p>
        </p:txBody>
      </p:sp>
    </p:spTree>
    <p:extLst>
      <p:ext uri="{BB962C8B-B14F-4D97-AF65-F5344CB8AC3E}">
        <p14:creationId xmlns:p14="http://schemas.microsoft.com/office/powerpoint/2010/main" val="2189102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B53ED5-8D9A-D970-6888-9EE0C9B6A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F0F7C-ADF0-06C3-9570-62F640654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CBABA-67B7-8027-8768-3B570037A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pic>
        <p:nvPicPr>
          <p:cNvPr id="11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720CF8D9-4E7A-9777-7B0B-43A774D8D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33400"/>
            <a:ext cx="8458200" cy="5811838"/>
          </a:xfrm>
        </p:spPr>
      </p:pic>
    </p:spTree>
    <p:extLst>
      <p:ext uri="{BB962C8B-B14F-4D97-AF65-F5344CB8AC3E}">
        <p14:creationId xmlns:p14="http://schemas.microsoft.com/office/powerpoint/2010/main" val="242166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2176324"/>
              </p:ext>
            </p:extLst>
          </p:nvPr>
        </p:nvGraphicFramePr>
        <p:xfrm>
          <a:off x="343055" y="1422627"/>
          <a:ext cx="8572348" cy="3899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 Corporations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 Corporations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Partnerships (GPs, LPs, LLCs)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Entity’s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</a:rPr>
                        <a:t> Income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to entity </a:t>
                      </a:r>
                    </a:p>
                    <a:p>
                      <a:pPr algn="ctr"/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(21% max. rate)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  owners with basis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adjustment (37% max rate; 29.6% if QBI)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 owners with basis adjustment 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(37% max rate; 29.6% if QBI)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3085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Entity’s Losses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against corporate income; NOLs can offset 80% of TI and be carried forward indefinitely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 by owners, limited by basis in stock; individual excess business loss subject to 256k (512k)/yr limitation 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 by owners; limited by basis in PSH; excess business loss subject to 256k (512k)/yr limitation </a:t>
                      </a: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8664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Distributions of $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SHs to extent of E&amp;Ps, return of basis, and then gain; Qualified dividends taxed at 20% max + 3.8% NII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taxation;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reduction of basis and then gain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taxation; reduction of basis and then gain</a:t>
                      </a: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54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Distributions of Property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Gain but not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loss recognized; taxed to SHs as dividend to extent of FMV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Gain but not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loss recognized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G/L to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100" baseline="0" dirty="0" err="1">
                          <a:solidFill>
                            <a:schemeClr val="tx1"/>
                          </a:solidFill>
                        </a:rPr>
                        <a:t>PSH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; CO basis to Ps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3085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Transfer of Equity Interests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with look-through to extent of OI assets; can elect to adjust basis of </a:t>
                      </a:r>
                      <a:r>
                        <a:rPr lang="en-US" sz="1100" baseline="0" dirty="0" err="1">
                          <a:solidFill>
                            <a:schemeClr val="tx1"/>
                          </a:solidFill>
                        </a:rPr>
                        <a:t>PSH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property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Differences: C, S, and K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F371888-22CA-6E45-85ED-F5822DF01BA5}"/>
              </a:ext>
            </a:extLst>
          </p:cNvPr>
          <p:cNvSpPr/>
          <p:nvPr/>
        </p:nvSpPr>
        <p:spPr>
          <a:xfrm>
            <a:off x="2133600" y="2362200"/>
            <a:ext cx="7010400" cy="1066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94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251748" y="1503811"/>
          <a:ext cx="8681012" cy="3499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02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 Corporations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 Corporations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Partnerships (GPs, LPs, LLCs)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Mergers with Corporations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Tax-free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Tax-free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Can’t undertake tax-free reorg with corporation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1221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Classes of Equity Interests and Maximum # of Owners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limitation; no maximum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class of stock; 100 maximum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limitation; no max, but minimum of 2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32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Foreign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</a:rPr>
                        <a:t> Owners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Eligible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849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Tax-exempt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</a:rPr>
                        <a:t> Owners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Eligible;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dividends not subject to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Generally not eligible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except charitable organizations and retirement plans; income is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Eligible,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but subject to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3916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Differences: C, S, and K</a:t>
            </a:r>
          </a:p>
        </p:txBody>
      </p:sp>
      <p:sp>
        <p:nvSpPr>
          <p:cNvPr id="3" name="TextBox 2"/>
          <p:cNvSpPr txBox="1"/>
          <p:nvPr/>
        </p:nvSpPr>
        <p:spPr>
          <a:xfrm flipH="1">
            <a:off x="3808639" y="5174726"/>
            <a:ext cx="1263831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75" dirty="0"/>
              <a:t>Source: JCT-71-15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411C8C7-1590-E05D-7FE7-1A509D13BF76}"/>
              </a:ext>
            </a:extLst>
          </p:cNvPr>
          <p:cNvSpPr/>
          <p:nvPr/>
        </p:nvSpPr>
        <p:spPr>
          <a:xfrm>
            <a:off x="76200" y="1312744"/>
            <a:ext cx="9067800" cy="13542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87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4C9BE5-70DF-DB43-8209-BFE03405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AT-Returns for C Corporation and S Corp/PSH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E243B-5412-594B-A0FB-89763F15E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D6109-8DD4-024B-94FD-20BFD2530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Choice of Entity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7B538379-6EA7-D447-A7BD-E45778053F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557558"/>
              </p:ext>
            </p:extLst>
          </p:nvPr>
        </p:nvGraphicFramePr>
        <p:xfrm>
          <a:off x="461771" y="812182"/>
          <a:ext cx="8302753" cy="1973580"/>
        </p:xfrm>
        <a:graphic>
          <a:graphicData uri="http://schemas.openxmlformats.org/drawingml/2006/table">
            <a:tbl>
              <a:tblPr/>
              <a:tblGrid>
                <a:gridCol w="1906079">
                  <a:extLst>
                    <a:ext uri="{9D8B030D-6E8A-4147-A177-3AD203B41FA5}">
                      <a16:colId xmlns:a16="http://schemas.microsoft.com/office/drawing/2014/main" val="1724527342"/>
                    </a:ext>
                  </a:extLst>
                </a:gridCol>
                <a:gridCol w="1615322">
                  <a:extLst>
                    <a:ext uri="{9D8B030D-6E8A-4147-A177-3AD203B41FA5}">
                      <a16:colId xmlns:a16="http://schemas.microsoft.com/office/drawing/2014/main" val="3936268055"/>
                    </a:ext>
                  </a:extLst>
                </a:gridCol>
                <a:gridCol w="1066113">
                  <a:extLst>
                    <a:ext uri="{9D8B030D-6E8A-4147-A177-3AD203B41FA5}">
                      <a16:colId xmlns:a16="http://schemas.microsoft.com/office/drawing/2014/main" val="853687093"/>
                    </a:ext>
                  </a:extLst>
                </a:gridCol>
                <a:gridCol w="1841466">
                  <a:extLst>
                    <a:ext uri="{9D8B030D-6E8A-4147-A177-3AD203B41FA5}">
                      <a16:colId xmlns:a16="http://schemas.microsoft.com/office/drawing/2014/main" val="2842639015"/>
                    </a:ext>
                  </a:extLst>
                </a:gridCol>
                <a:gridCol w="1873773">
                  <a:extLst>
                    <a:ext uri="{9D8B030D-6E8A-4147-A177-3AD203B41FA5}">
                      <a16:colId xmlns:a16="http://schemas.microsoft.com/office/drawing/2014/main" val="3671113844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Choice of Entity Examples Assumptions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0E3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10613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507693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2904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Ret PSH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10%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OI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37.0%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6295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Ret Corp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10%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</a:t>
                      </a:r>
                      <a:r>
                        <a:rPr lang="en-US" sz="1600" b="1" dirty="0" err="1">
                          <a:effectLst/>
                        </a:rPr>
                        <a:t>Div</a:t>
                      </a:r>
                      <a:endParaRPr lang="en-US" sz="1600" b="1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23.8%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03427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Tax Corp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21%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CG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23.8%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7410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Amount Invested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10,000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199A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29.6%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080806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061BA13-D68D-224F-9E4F-4EE34349E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016834"/>
              </p:ext>
            </p:extLst>
          </p:nvPr>
        </p:nvGraphicFramePr>
        <p:xfrm>
          <a:off x="152400" y="3129539"/>
          <a:ext cx="8378952" cy="2388703"/>
        </p:xfrm>
        <a:graphic>
          <a:graphicData uri="http://schemas.openxmlformats.org/drawingml/2006/table">
            <a:tbl>
              <a:tblPr/>
              <a:tblGrid>
                <a:gridCol w="316905">
                  <a:extLst>
                    <a:ext uri="{9D8B030D-6E8A-4147-A177-3AD203B41FA5}">
                      <a16:colId xmlns:a16="http://schemas.microsoft.com/office/drawing/2014/main" val="2809396512"/>
                    </a:ext>
                  </a:extLst>
                </a:gridCol>
                <a:gridCol w="3308836">
                  <a:extLst>
                    <a:ext uri="{9D8B030D-6E8A-4147-A177-3AD203B41FA5}">
                      <a16:colId xmlns:a16="http://schemas.microsoft.com/office/drawing/2014/main" val="1908009635"/>
                    </a:ext>
                  </a:extLst>
                </a:gridCol>
                <a:gridCol w="87108">
                  <a:extLst>
                    <a:ext uri="{9D8B030D-6E8A-4147-A177-3AD203B41FA5}">
                      <a16:colId xmlns:a16="http://schemas.microsoft.com/office/drawing/2014/main" val="3603751275"/>
                    </a:ext>
                  </a:extLst>
                </a:gridCol>
                <a:gridCol w="204089">
                  <a:extLst>
                    <a:ext uri="{9D8B030D-6E8A-4147-A177-3AD203B41FA5}">
                      <a16:colId xmlns:a16="http://schemas.microsoft.com/office/drawing/2014/main" val="2587573051"/>
                    </a:ext>
                  </a:extLst>
                </a:gridCol>
                <a:gridCol w="1445085">
                  <a:extLst>
                    <a:ext uri="{9D8B030D-6E8A-4147-A177-3AD203B41FA5}">
                      <a16:colId xmlns:a16="http://schemas.microsoft.com/office/drawing/2014/main" val="1543531253"/>
                    </a:ext>
                  </a:extLst>
                </a:gridCol>
                <a:gridCol w="1470436">
                  <a:extLst>
                    <a:ext uri="{9D8B030D-6E8A-4147-A177-3AD203B41FA5}">
                      <a16:colId xmlns:a16="http://schemas.microsoft.com/office/drawing/2014/main" val="3689813582"/>
                    </a:ext>
                  </a:extLst>
                </a:gridCol>
                <a:gridCol w="1546493">
                  <a:extLst>
                    <a:ext uri="{9D8B030D-6E8A-4147-A177-3AD203B41FA5}">
                      <a16:colId xmlns:a16="http://schemas.microsoft.com/office/drawing/2014/main" val="3199487435"/>
                    </a:ext>
                  </a:extLst>
                </a:gridCol>
              </a:tblGrid>
              <a:tr h="275381"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b="1">
                          <a:effectLst/>
                        </a:rPr>
                        <a:t>Pass-through vs. C Corporation: One Period</a:t>
                      </a:r>
                    </a:p>
                  </a:txBody>
                  <a:tcPr marL="0" marR="0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647183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1400" b="1" dirty="0">
                          <a:effectLst/>
                        </a:rPr>
                        <a:t>C Corporation</a:t>
                      </a:r>
                    </a:p>
                  </a:txBody>
                  <a:tcPr marL="25737" marR="25737" marT="17158" marB="17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dirty="0">
                          <a:effectLst/>
                        </a:rPr>
                        <a:t>S</a:t>
                      </a:r>
                      <a:r>
                        <a:rPr lang="en-US" sz="1400" b="1" baseline="0" dirty="0">
                          <a:effectLst/>
                        </a:rPr>
                        <a:t> Corp/ PSH</a:t>
                      </a:r>
                      <a:r>
                        <a:rPr lang="en-US" sz="1400" b="1" dirty="0">
                          <a:effectLst/>
                        </a:rPr>
                        <a:t> </a:t>
                      </a:r>
                      <a:br>
                        <a:rPr lang="en-US" sz="1400" b="1" dirty="0">
                          <a:effectLst/>
                        </a:rPr>
                      </a:br>
                      <a:r>
                        <a:rPr lang="en-US" sz="1400" b="1" dirty="0">
                          <a:effectLst/>
                        </a:rPr>
                        <a:t>w/ </a:t>
                      </a:r>
                      <a:r>
                        <a:rPr lang="en-US" sz="1400" b="1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199A</a:t>
                      </a:r>
                    </a:p>
                  </a:txBody>
                  <a:tcPr marL="25737" marR="25737" marT="17158" marB="17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  S Corp/ PSH </a:t>
                      </a:r>
                      <a:br>
                        <a:rPr lang="en-US" sz="1400" b="1" dirty="0">
                          <a:effectLst/>
                        </a:rPr>
                      </a:br>
                      <a:r>
                        <a:rPr lang="en-US" sz="1400" b="1" dirty="0">
                          <a:effectLst/>
                        </a:rPr>
                        <a:t>w/out 199A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401957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Pre-Tax Income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990540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2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Corp / (SH or P) Tax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(210.00)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(296.00)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(370.00)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5535684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3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After-Tax Income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790.00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704.00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630.00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757854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Tax on Distribution of AT Earnings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(188.02)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7387909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5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Net Amount to C or P: [1+2+4]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601.98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704.00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630.00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939436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6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Effective Tax Rate [(PT Inc - AT Inc) / PT Inc]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39.80%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29.60%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37.00%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61176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FF660363-D4F0-BD47-B57C-512152718991}"/>
              </a:ext>
            </a:extLst>
          </p:cNvPr>
          <p:cNvSpPr/>
          <p:nvPr/>
        </p:nvSpPr>
        <p:spPr>
          <a:xfrm>
            <a:off x="4222484" y="5764427"/>
            <a:ext cx="1632178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hlinkClick r:id="rId3"/>
              </a:rPr>
              <a:t>https://</a:t>
            </a:r>
            <a:r>
              <a:rPr lang="en-US" sz="1000" dirty="0" err="1">
                <a:hlinkClick r:id="rId3"/>
              </a:rPr>
              <a:t>bit.ly</a:t>
            </a:r>
            <a:r>
              <a:rPr lang="en-US" sz="1000" dirty="0">
                <a:hlinkClick r:id="rId3"/>
              </a:rPr>
              <a:t>/2F2KsbX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12800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67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457200" y="609600"/>
          <a:ext cx="80772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355200" imgH="191880" progId="Equation.3">
                  <p:embed/>
                </p:oleObj>
              </mc:Choice>
              <mc:Fallback>
                <p:oleObj name="Equation" r:id="rId3" imgW="3355200" imgH="191880" progId="Equation.3">
                  <p:embed/>
                  <p:pic>
                    <p:nvPicPr>
                      <p:cNvPr id="4096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609600"/>
                        <a:ext cx="8077200" cy="609600"/>
                      </a:xfrm>
                      <a:prstGeom prst="rect">
                        <a:avLst/>
                      </a:prstGeom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Partnership vs. Corporation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84048" y="762000"/>
            <a:ext cx="8378952" cy="571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SzTx/>
              <a:buFontTx/>
              <a:buNone/>
            </a:pPr>
            <a:endParaRPr lang="en-US" sz="1600" b="1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4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P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and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=0, neither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P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and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&gt;0,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&lt;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P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and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=0, Corporation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solidFill>
                <a:schemeClr val="hlink"/>
              </a:solidFill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solidFill>
                <a:srgbClr val="F31B4E"/>
              </a:solidFill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If T</a:t>
            </a:r>
            <a:r>
              <a:rPr lang="en-US" sz="2800" b="1" baseline="-25000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C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&lt;</a:t>
            </a:r>
            <a:r>
              <a:rPr lang="en-US" sz="2800" b="1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T</a:t>
            </a:r>
            <a:r>
              <a:rPr lang="en-US" sz="2800" b="1" baseline="-25000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P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 and </a:t>
            </a:r>
            <a:r>
              <a:rPr lang="en-US" sz="2800" b="1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T</a:t>
            </a:r>
            <a:r>
              <a:rPr lang="en-US" sz="2800" b="1" baseline="-25000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CG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&gt;0, no clear preference</a:t>
            </a:r>
            <a:endParaRPr lang="en-US" sz="2800" baseline="-25000" dirty="0">
              <a:solidFill>
                <a:srgbClr val="F31B4E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92DB9B7-AA3D-1046-9756-127E134F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136158-C497-1349-A42F-22A338D637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4158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2" grpId="0" autoUpdateAnimBg="0"/>
      <p:bldP spid="40963" grpId="0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BA65625-54D9-C94E-B91C-BE050270C9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9270621"/>
              </p:ext>
            </p:extLst>
          </p:nvPr>
        </p:nvGraphicFramePr>
        <p:xfrm>
          <a:off x="342900" y="1549704"/>
          <a:ext cx="8458200" cy="3998804"/>
        </p:xfrm>
        <a:graphic>
          <a:graphicData uri="http://schemas.openxmlformats.org/drawingml/2006/table">
            <a:tbl>
              <a:tblPr/>
              <a:tblGrid>
                <a:gridCol w="1569288">
                  <a:extLst>
                    <a:ext uri="{9D8B030D-6E8A-4147-A177-3AD203B41FA5}">
                      <a16:colId xmlns:a16="http://schemas.microsoft.com/office/drawing/2014/main" val="1655091437"/>
                    </a:ext>
                  </a:extLst>
                </a:gridCol>
                <a:gridCol w="1329906">
                  <a:extLst>
                    <a:ext uri="{9D8B030D-6E8A-4147-A177-3AD203B41FA5}">
                      <a16:colId xmlns:a16="http://schemas.microsoft.com/office/drawing/2014/main" val="1712569693"/>
                    </a:ext>
                  </a:extLst>
                </a:gridCol>
                <a:gridCol w="877739">
                  <a:extLst>
                    <a:ext uri="{9D8B030D-6E8A-4147-A177-3AD203B41FA5}">
                      <a16:colId xmlns:a16="http://schemas.microsoft.com/office/drawing/2014/main" val="2911941277"/>
                    </a:ext>
                  </a:extLst>
                </a:gridCol>
                <a:gridCol w="1516092">
                  <a:extLst>
                    <a:ext uri="{9D8B030D-6E8A-4147-A177-3AD203B41FA5}">
                      <a16:colId xmlns:a16="http://schemas.microsoft.com/office/drawing/2014/main" val="2947680126"/>
                    </a:ext>
                  </a:extLst>
                </a:gridCol>
                <a:gridCol w="1542690">
                  <a:extLst>
                    <a:ext uri="{9D8B030D-6E8A-4147-A177-3AD203B41FA5}">
                      <a16:colId xmlns:a16="http://schemas.microsoft.com/office/drawing/2014/main" val="2365344557"/>
                    </a:ext>
                  </a:extLst>
                </a:gridCol>
                <a:gridCol w="1622485">
                  <a:extLst>
                    <a:ext uri="{9D8B030D-6E8A-4147-A177-3AD203B41FA5}">
                      <a16:colId xmlns:a16="http://schemas.microsoft.com/office/drawing/2014/main" val="3720315787"/>
                    </a:ext>
                  </a:extLst>
                </a:gridCol>
              </a:tblGrid>
              <a:tr h="426508">
                <a:tc gridSpan="6">
                  <a:txBody>
                    <a:bodyPr/>
                    <a:lstStyle/>
                    <a:p>
                      <a:pPr rtl="0" fontAlgn="b"/>
                      <a:r>
                        <a:rPr lang="en-US" sz="1600" b="1" dirty="0">
                          <a:effectLst/>
                        </a:rPr>
                        <a:t>Pass-through vs. C Corporation: Benefits of Deferral (AT Returns are Reinvested and then Liquidated)</a:t>
                      </a:r>
                    </a:p>
                  </a:txBody>
                  <a:tcPr marL="0" marR="0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93215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1800" b="1" dirty="0">
                          <a:effectLst/>
                        </a:rPr>
                        <a:t>C Corporation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dirty="0">
                          <a:effectLst/>
                        </a:rPr>
                        <a:t>S Corp/PSH </a:t>
                      </a:r>
                      <a:br>
                        <a:rPr lang="en-US" sz="1800" b="1" dirty="0">
                          <a:effectLst/>
                        </a:rPr>
                      </a:br>
                      <a:r>
                        <a:rPr lang="en-US" sz="1800" b="1" dirty="0">
                          <a:effectLst/>
                        </a:rPr>
                        <a:t>w/ 199A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S Corp/PSH </a:t>
                      </a:r>
                      <a:br>
                        <a:rPr lang="en-US" sz="1800" b="1" dirty="0">
                          <a:effectLst/>
                        </a:rPr>
                      </a:br>
                      <a:r>
                        <a:rPr lang="en-US" sz="1800" b="1" dirty="0">
                          <a:effectLst/>
                        </a:rPr>
                        <a:t>w/out 199A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523395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13,525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14,052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13,573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7111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10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18,679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19,745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18,422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2205012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>
                          <a:effectLst/>
                        </a:rPr>
                        <a:t>Year of 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26,218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27,745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25,003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83677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>
                          <a:effectLst/>
                        </a:rPr>
                        <a:t>Liquidation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25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53,371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54,784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46,061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592974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35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>
                          <a:effectLst/>
                        </a:rPr>
                        <a:t>111,450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108,172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84,852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704125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>
                          <a:effectLst/>
                        </a:rPr>
                        <a:t>235,683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213,587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156,314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966880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50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343,594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300,127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212,160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8688401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A1611819-C6DA-8541-984A-300562961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50387"/>
            <a:ext cx="8458200" cy="365127"/>
          </a:xfrm>
        </p:spPr>
        <p:txBody>
          <a:bodyPr/>
          <a:lstStyle/>
          <a:p>
            <a:r>
              <a:rPr lang="en-US" sz="1800" dirty="0"/>
              <a:t>Comparison of AT-Returns for C Corp and S Corp/PSH: The Benefits of Deferral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83475-C6B3-664B-842E-82E3481086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408BE-A077-104D-8852-65986DC6C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B6114D-11FE-A54C-9528-A12DA539F17B}"/>
              </a:ext>
            </a:extLst>
          </p:cNvPr>
          <p:cNvSpPr/>
          <p:nvPr/>
        </p:nvSpPr>
        <p:spPr>
          <a:xfrm>
            <a:off x="4222484" y="5764427"/>
            <a:ext cx="1632178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bit.ly</a:t>
            </a:r>
            <a:r>
              <a:rPr lang="en-US" sz="1000" dirty="0">
                <a:hlinkClick r:id="rId2"/>
              </a:rPr>
              <a:t>/2F2KsbX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6E15B-D1F8-EA35-AE2C-9D84F832FD3E}"/>
              </a:ext>
            </a:extLst>
          </p:cNvPr>
          <p:cNvSpPr txBox="1"/>
          <p:nvPr/>
        </p:nvSpPr>
        <p:spPr>
          <a:xfrm>
            <a:off x="685800" y="827796"/>
            <a:ext cx="7536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Investment at T</a:t>
            </a:r>
            <a:r>
              <a:rPr lang="en-US" baseline="-25000" dirty="0"/>
              <a:t>0 </a:t>
            </a:r>
            <a:r>
              <a:rPr lang="en-US" dirty="0"/>
              <a:t>of 10K generating a pre-tax return of 10%, which is reinvested</a:t>
            </a:r>
          </a:p>
        </p:txBody>
      </p:sp>
    </p:spTree>
    <p:extLst>
      <p:ext uri="{BB962C8B-B14F-4D97-AF65-F5344CB8AC3E}">
        <p14:creationId xmlns:p14="http://schemas.microsoft.com/office/powerpoint/2010/main" val="748285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Espaço Reservado para Tex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pt-BR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2048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ea typeface="ＭＳ Ｐゴシック" charset="0"/>
                <a:cs typeface="ＭＳ Ｐゴシック" charset="0"/>
              </a:rPr>
              <a:t>Marginal </a:t>
            </a:r>
            <a:r>
              <a:rPr lang="pt-BR" b="1" dirty="0" err="1">
                <a:ea typeface="ＭＳ Ｐゴシック" charset="0"/>
                <a:cs typeface="ＭＳ Ｐゴシック" charset="0"/>
              </a:rPr>
              <a:t>Tax</a:t>
            </a:r>
            <a:r>
              <a:rPr lang="pt-BR" b="1" dirty="0">
                <a:ea typeface="ＭＳ Ｐゴシック" charset="0"/>
                <a:cs typeface="ＭＳ Ｐゴシック" charset="0"/>
              </a:rPr>
              <a:t> Rates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7205404-6526-2542-8250-EBBAED52E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4B7D9-0DF2-EC49-80C5-FE56BE21B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pic>
        <p:nvPicPr>
          <p:cNvPr id="6" name="Picture 5" descr="A close up of a map&#10;&#10;Description automatically generated">
            <a:extLst>
              <a:ext uri="{FF2B5EF4-FFF2-40B4-BE49-F238E27FC236}">
                <a16:creationId xmlns:a16="http://schemas.microsoft.com/office/drawing/2014/main" id="{91CCC8A9-FF4D-7848-B981-C4EFED825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85800"/>
            <a:ext cx="8226552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314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8C4A35-B168-9B44-BF49-F4AB6A77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20% </a:t>
            </a:r>
            <a:r>
              <a:rPr lang="en-US" u="sng" dirty="0"/>
              <a:t>deduction</a:t>
            </a:r>
            <a:r>
              <a:rPr lang="en-US" dirty="0"/>
              <a:t> of a </a:t>
            </a:r>
            <a:r>
              <a:rPr lang="en-US" i="1" dirty="0"/>
              <a:t>non-corporate</a:t>
            </a:r>
            <a:r>
              <a:rPr lang="en-US" dirty="0"/>
              <a:t> taxpayer’s </a:t>
            </a:r>
            <a:r>
              <a:rPr lang="en-US" i="1" dirty="0"/>
              <a:t>Qualified Business Income Amount (QBIA)</a:t>
            </a:r>
          </a:p>
          <a:p>
            <a:r>
              <a:rPr lang="en-US" dirty="0"/>
              <a:t>QBIA: the </a:t>
            </a:r>
            <a:r>
              <a:rPr lang="en-US" b="1" i="1" dirty="0"/>
              <a:t>lesser of:</a:t>
            </a:r>
          </a:p>
          <a:p>
            <a:pPr lvl="1"/>
            <a:r>
              <a:rPr lang="en-US" sz="2200" dirty="0"/>
              <a:t>(A) 20% of QBI with respect to the </a:t>
            </a:r>
            <a:r>
              <a:rPr lang="en-US" sz="2200" i="1" dirty="0"/>
              <a:t>QT/B, or</a:t>
            </a:r>
          </a:p>
          <a:p>
            <a:pPr marL="171450" lvl="1" indent="0">
              <a:buNone/>
            </a:pPr>
            <a:r>
              <a:rPr lang="en-US" sz="2200" dirty="0"/>
              <a:t>		</a:t>
            </a:r>
            <a:r>
              <a:rPr lang="en-US" sz="2200" b="1" dirty="0"/>
              <a:t>the greater of </a:t>
            </a:r>
          </a:p>
          <a:p>
            <a:pPr lvl="1"/>
            <a:r>
              <a:rPr lang="en-US" sz="2200" dirty="0"/>
              <a:t>(B)(</a:t>
            </a:r>
            <a:r>
              <a:rPr lang="en-US" sz="2200" dirty="0" err="1"/>
              <a:t>i</a:t>
            </a:r>
            <a:r>
              <a:rPr lang="en-US" sz="2200" dirty="0"/>
              <a:t>) 50% of the W-2 wages of the QT/B, or</a:t>
            </a:r>
          </a:p>
          <a:p>
            <a:pPr lvl="1"/>
            <a:r>
              <a:rPr lang="en-US" sz="2200" dirty="0"/>
              <a:t>(B)(ii) Sum of 25% W-2 wages PLUS 2.5% of the unadjusted basis immediately after acquisition of all </a:t>
            </a:r>
            <a:r>
              <a:rPr lang="en-US" sz="2200" i="1" dirty="0"/>
              <a:t>qualified property. </a:t>
            </a:r>
            <a:r>
              <a:rPr lang="en-US" sz="2200" dirty="0"/>
              <a:t>§199A(b)(2).</a:t>
            </a:r>
            <a:endParaRPr lang="en-US" sz="2200" i="1" dirty="0"/>
          </a:p>
          <a:p>
            <a:pPr lvl="1"/>
            <a:r>
              <a:rPr lang="en-US" sz="2200" dirty="0"/>
              <a:t>The (B) limit doesn’t apply if the taxpayer’s income is less than $201,775 ($403,500) (inflation adjusted for 2026 with phaseouts of 75K (150K))</a:t>
            </a:r>
          </a:p>
          <a:p>
            <a:r>
              <a:rPr lang="en-US" i="1" dirty="0"/>
              <a:t>QT/B: </a:t>
            </a:r>
            <a:r>
              <a:rPr lang="en-US" dirty="0"/>
              <a:t>Any business </a:t>
            </a:r>
            <a:r>
              <a:rPr lang="en-US" b="1" dirty="0"/>
              <a:t>except the T/B of being an employee, and</a:t>
            </a:r>
            <a:r>
              <a:rPr lang="en-US" dirty="0"/>
              <a:t>: health, law, accounting, actuarial science, performing arts, consulting, athletics, financial service, brokerage services, </a:t>
            </a:r>
            <a:r>
              <a:rPr lang="en-US" b="1" dirty="0"/>
              <a:t>or any T/b where the principal assets of the T/B is the reputation or skill of 1 or more of its employees</a:t>
            </a:r>
            <a:r>
              <a:rPr lang="en-US" dirty="0"/>
              <a:t>;</a:t>
            </a:r>
          </a:p>
          <a:p>
            <a:pPr lvl="1"/>
            <a:r>
              <a:rPr lang="en-US" sz="2200" dirty="0"/>
              <a:t>Scope of “principal assets of the T/B is the reputation or skill…”? </a:t>
            </a:r>
            <a:r>
              <a:rPr lang="en-US" sz="2200" i="1" dirty="0"/>
              <a:t>See</a:t>
            </a:r>
            <a:r>
              <a:rPr lang="en-US" sz="2200" dirty="0"/>
              <a:t> Reg. §1.199A-5(b)(2)(xiv)</a:t>
            </a:r>
          </a:p>
          <a:p>
            <a:pPr lvl="1"/>
            <a:r>
              <a:rPr lang="en-US" sz="2200" dirty="0"/>
              <a:t>Exception for </a:t>
            </a:r>
            <a:r>
              <a:rPr lang="en-US" sz="2200" i="1" dirty="0"/>
              <a:t>specified service business</a:t>
            </a:r>
            <a:r>
              <a:rPr lang="en-US" sz="2200" dirty="0"/>
              <a:t>: If the taxpayer’s income is less than $</a:t>
            </a:r>
            <a:r>
              <a:rPr lang="en-US" sz="2200"/>
              <a:t>201,775 ($403,500) </a:t>
            </a:r>
            <a:r>
              <a:rPr lang="en-US" sz="2200" dirty="0"/>
              <a:t>(2026), a specified service, </a:t>
            </a:r>
            <a:r>
              <a:rPr lang="en-US" sz="2200" b="1" dirty="0"/>
              <a:t>e.g., law</a:t>
            </a:r>
            <a:r>
              <a:rPr lang="en-US" sz="2200" dirty="0"/>
              <a:t>, will be treated as a QT/B. §199A(d)(3)(A).</a:t>
            </a:r>
          </a:p>
          <a:p>
            <a:pPr lvl="2"/>
            <a:endParaRPr lang="en-US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0FCEDB-B3AA-B544-98D3-81D3BAF5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dirty="0"/>
              <a:t>Section 199A: New in the TCJA of 2017 and Unfortunately Expanded in OBBBA of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C8C64-92AD-0E4C-BE5C-1F3404C1C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44CDEF-D1AA-EC4A-9E09-518B7825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17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Sole Proprietorship/Branch/Division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Partnership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GP, LP, LLP, and </a:t>
            </a:r>
            <a:r>
              <a:rPr lang="en-US" dirty="0" err="1">
                <a:ea typeface="ＭＳ Ｐゴシック" charset="0"/>
              </a:rPr>
              <a:t>LLLP</a:t>
            </a:r>
            <a:endParaRPr lang="en-US" dirty="0">
              <a:ea typeface="ＭＳ Ｐゴシック" charset="0"/>
            </a:endParaRP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LLC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Corporation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Business Trust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Analysis: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Is there a separate entity for </a:t>
            </a:r>
            <a:r>
              <a:rPr lang="en-US" b="1" i="1" dirty="0">
                <a:ea typeface="ＭＳ Ｐゴシック" charset="0"/>
              </a:rPr>
              <a:t>federal </a:t>
            </a:r>
            <a:r>
              <a:rPr lang="en-US" dirty="0">
                <a:ea typeface="ＭＳ Ｐゴシック" charset="0"/>
              </a:rPr>
              <a:t>tax purposes?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Is the entity a SP/B/D, </a:t>
            </a: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, or Corp?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of Business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Oval 6"/>
          <p:cNvSpPr/>
          <p:nvPr/>
        </p:nvSpPr>
        <p:spPr bwMode="auto">
          <a:xfrm>
            <a:off x="228600" y="2133600"/>
            <a:ext cx="3429000" cy="1143000"/>
          </a:xfrm>
          <a:prstGeom prst="ellipse">
            <a:avLst/>
          </a:prstGeom>
          <a:noFill/>
          <a:ln w="222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70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Any entity recognized for federal tax purposes (including a single member entity (“SME”)) that is not a trust or subject to special treatment under the IRC</a:t>
            </a:r>
          </a:p>
          <a:p>
            <a:pPr>
              <a:lnSpc>
                <a:spcPct val="90000"/>
              </a:lnSpc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u="sng" dirty="0">
                <a:ea typeface="ＭＳ Ｐゴシック" charset="0"/>
                <a:cs typeface="ＭＳ Ｐゴシック" charset="0"/>
              </a:rPr>
              <a:t>Business Entity with 2 or more members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Corporation, or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Partnership</a:t>
            </a:r>
          </a:p>
          <a:p>
            <a:pPr>
              <a:lnSpc>
                <a:spcPct val="90000"/>
              </a:lnSpc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u="sng" dirty="0">
                <a:ea typeface="ＭＳ Ｐゴシック" charset="0"/>
                <a:cs typeface="ＭＳ Ｐゴシック" charset="0"/>
              </a:rPr>
              <a:t>Business Entity with 1 member (SME)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Disregarded Entity (</a:t>
            </a:r>
            <a:r>
              <a:rPr lang="ja-JP" altLang="en-US" dirty="0">
                <a:ea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</a:rPr>
              <a:t>tax nothing</a:t>
            </a:r>
            <a:r>
              <a:rPr lang="ja-JP" altLang="en-US" dirty="0">
                <a:ea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</a:rPr>
              <a:t>), or </a:t>
            </a:r>
          </a:p>
          <a:p>
            <a:pPr lvl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Corporation.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301.7701-2(a).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Business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044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Business entity not classified as a corporation—an Eligible Entity (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EE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)—can choose its tax status   √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EE with two or more members is either an  association or a </a:t>
            </a:r>
            <a:r>
              <a:rPr lang="en-US" dirty="0" err="1">
                <a:ea typeface="ＭＳ Ｐゴシック" charset="0"/>
              </a:rPr>
              <a:t>PSH</a:t>
            </a:r>
            <a:endParaRPr lang="en-US" dirty="0">
              <a:ea typeface="ＭＳ Ｐゴシック" charset="0"/>
            </a:endParaRPr>
          </a:p>
          <a:p>
            <a:pPr lvl="1" eaLnBrk="1" hangingPunct="1"/>
            <a:r>
              <a:rPr lang="en-US" dirty="0">
                <a:ea typeface="ＭＳ Ｐゴシック" charset="0"/>
              </a:rPr>
              <a:t>EE with one member (</a:t>
            </a:r>
            <a:r>
              <a:rPr lang="ja-JP" altLang="en-US" dirty="0">
                <a:ea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</a:rPr>
              <a:t>SME</a:t>
            </a:r>
            <a:r>
              <a:rPr lang="ja-JP" altLang="en-US" dirty="0">
                <a:ea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</a:rPr>
              <a:t>) is either:</a:t>
            </a:r>
          </a:p>
          <a:p>
            <a:pPr lvl="2" eaLnBrk="1" hangingPunct="1"/>
            <a:r>
              <a:rPr lang="en-US" altLang="ja-JP" dirty="0">
                <a:ea typeface="ＭＳ Ｐゴシック" charset="0"/>
              </a:rPr>
              <a:t>Association, or </a:t>
            </a:r>
          </a:p>
          <a:p>
            <a:pPr lvl="2" eaLnBrk="1" hangingPunct="1"/>
            <a:r>
              <a:rPr lang="en-US" altLang="ja-JP" dirty="0">
                <a:ea typeface="ＭＳ Ｐゴシック" charset="0"/>
              </a:rPr>
              <a:t>disregarded entity (sole proprietorship, branch, division) (-2(a))</a:t>
            </a:r>
          </a:p>
          <a:p>
            <a:r>
              <a:rPr lang="en-US" dirty="0">
                <a:solidFill>
                  <a:srgbClr val="E9171F"/>
                </a:solidFill>
                <a:ea typeface="ＭＳ Ｐゴシック" charset="0"/>
                <a:cs typeface="ＭＳ Ｐゴシック" charset="0"/>
              </a:rPr>
              <a:t>Default</a:t>
            </a:r>
            <a:r>
              <a:rPr lang="en-US" dirty="0">
                <a:solidFill>
                  <a:srgbClr val="FF1029"/>
                </a:solidFill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ea typeface="ＭＳ Ｐゴシック" charset="0"/>
                <a:cs typeface="ＭＳ Ｐゴシック" charset="0"/>
              </a:rPr>
              <a:t>classification for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domestic</a:t>
            </a:r>
            <a:r>
              <a:rPr lang="en-US" dirty="0">
                <a:ea typeface="ＭＳ Ｐゴシック" charset="0"/>
                <a:cs typeface="ＭＳ Ｐゴシック" charset="0"/>
              </a:rPr>
              <a:t> EE:</a:t>
            </a:r>
          </a:p>
          <a:p>
            <a:pPr lvl="1" eaLnBrk="1" hangingPunct="1"/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 if 2 or more members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Disregarded entity if single owner (-3(b))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Eligible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4800600" y="990600"/>
            <a:ext cx="457200" cy="381000"/>
          </a:xfrm>
          <a:prstGeom prst="rect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470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Federal law controls, but legal relations governed by state law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Entity organized pursuant to state corporate statutes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Certain foreign entities are </a:t>
            </a:r>
            <a:r>
              <a:rPr lang="en-US" i="1" dirty="0">
                <a:ea typeface="ＭＳ Ｐゴシック" charset="0"/>
              </a:rPr>
              <a:t>per se</a:t>
            </a:r>
            <a:r>
              <a:rPr lang="en-US" dirty="0">
                <a:ea typeface="ＭＳ Ｐゴシック" charset="0"/>
              </a:rPr>
              <a:t> corporations:</a:t>
            </a:r>
          </a:p>
          <a:p>
            <a:pPr lvl="2" eaLnBrk="1" hangingPunct="1"/>
            <a:r>
              <a:rPr lang="en-US" dirty="0">
                <a:ea typeface="ＭＳ Ｐゴシック" charset="0"/>
              </a:rPr>
              <a:t>Sociedad </a:t>
            </a:r>
            <a:r>
              <a:rPr lang="en-US" dirty="0" err="1">
                <a:ea typeface="ＭＳ Ｐゴシック" charset="0"/>
              </a:rPr>
              <a:t>Anónima</a:t>
            </a:r>
            <a:r>
              <a:rPr lang="en-US" dirty="0">
                <a:ea typeface="ＭＳ Ｐゴシック" charset="0"/>
              </a:rPr>
              <a:t> (SA)</a:t>
            </a:r>
          </a:p>
          <a:p>
            <a:pPr lvl="2" eaLnBrk="1" hangingPunct="1"/>
            <a:r>
              <a:rPr lang="en-US">
                <a:ea typeface="ＭＳ Ｐゴシック" charset="0"/>
              </a:rPr>
              <a:t>Société </a:t>
            </a:r>
            <a:r>
              <a:rPr lang="en-US" dirty="0">
                <a:ea typeface="ＭＳ Ｐゴシック" charset="0"/>
              </a:rPr>
              <a:t>Anonyme (SA)</a:t>
            </a:r>
          </a:p>
          <a:p>
            <a:pPr lvl="2" eaLnBrk="1" hangingPunct="1"/>
            <a:r>
              <a:rPr lang="en-US" dirty="0">
                <a:ea typeface="ＭＳ Ｐゴシック" charset="0"/>
              </a:rPr>
              <a:t>Public Limited Company</a:t>
            </a:r>
          </a:p>
          <a:p>
            <a:pPr lvl="2" eaLnBrk="1" hangingPunct="1"/>
            <a:r>
              <a:rPr lang="en-US" dirty="0" err="1">
                <a:ea typeface="ＭＳ Ｐゴシック" charset="0"/>
              </a:rPr>
              <a:t>Aktiengesellschaft</a:t>
            </a:r>
            <a:r>
              <a:rPr lang="en-US" dirty="0">
                <a:ea typeface="ＭＳ Ｐゴシック" charset="0"/>
              </a:rPr>
              <a:t> (AG)</a:t>
            </a:r>
          </a:p>
          <a:p>
            <a:pPr lvl="2" eaLnBrk="1" hangingPunct="1"/>
            <a:r>
              <a:rPr lang="en-US" dirty="0" err="1">
                <a:ea typeface="ＭＳ Ｐゴシック" charset="0"/>
              </a:rPr>
              <a:t>Gufen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Youxian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Gongsi</a:t>
            </a:r>
            <a:endParaRPr lang="en-US" dirty="0">
              <a:ea typeface="ＭＳ Ｐゴシック" charset="0"/>
            </a:endParaRPr>
          </a:p>
          <a:p>
            <a:pPr lvl="2" eaLnBrk="1" hangingPunct="1"/>
            <a:r>
              <a:rPr lang="en-US" dirty="0" err="1">
                <a:ea typeface="ＭＳ Ｐゴシック" charset="0"/>
              </a:rPr>
              <a:t>Societas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Europaea</a:t>
            </a:r>
            <a:r>
              <a:rPr lang="en-US" dirty="0">
                <a:ea typeface="ＭＳ Ｐゴシック" charset="0"/>
              </a:rPr>
              <a:t> (-2(b)(8))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Insurance companies</a:t>
            </a:r>
          </a:p>
          <a:p>
            <a:pPr lvl="1"/>
            <a:r>
              <a:rPr lang="en-US" dirty="0">
                <a:ea typeface="ＭＳ Ｐゴシック" charset="0"/>
              </a:rPr>
              <a:t>Associations.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7701(a)(3);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301.7701-2(b)</a:t>
            </a:r>
          </a:p>
          <a:p>
            <a:pPr lvl="1" eaLnBrk="1" hangingPunct="1">
              <a:buFont typeface="Wingdings" charset="0"/>
              <a:buNone/>
            </a:pPr>
            <a:endParaRPr lang="en-US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Corporation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958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EE can </a:t>
            </a:r>
            <a:r>
              <a:rPr lang="en-US" dirty="0">
                <a:solidFill>
                  <a:srgbClr val="FF1029"/>
                </a:solidFill>
                <a:ea typeface="ＭＳ Ｐゴシック" charset="0"/>
                <a:cs typeface="ＭＳ Ｐゴシック" charset="0"/>
              </a:rPr>
              <a:t>elect</a:t>
            </a:r>
            <a:r>
              <a:rPr lang="en-US" dirty="0">
                <a:ea typeface="ＭＳ Ｐゴシック" charset="0"/>
                <a:cs typeface="ＭＳ Ｐゴシック" charset="0"/>
              </a:rPr>
              <a:t>  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√</a:t>
            </a:r>
            <a:r>
              <a:rPr lang="en-US" dirty="0">
                <a:ea typeface="ＭＳ Ｐゴシック" charset="0"/>
                <a:cs typeface="ＭＳ Ｐゴシック" charset="0"/>
              </a:rPr>
              <a:t>    alternate tax status: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EE with 2 or more members can elect to be taxed as an association (corporation)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SME can elect to be taxed as an 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Form 8832 (-3(c))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endParaRPr lang="en-US" sz="2800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438400" y="568377"/>
            <a:ext cx="457200" cy="457200"/>
          </a:xfrm>
          <a:prstGeom prst="rect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0041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if two or more members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and</a:t>
            </a:r>
            <a:r>
              <a:rPr lang="en-US" dirty="0">
                <a:ea typeface="ＭＳ Ｐゴシック" charset="0"/>
                <a:cs typeface="ＭＳ Ｐゴシック" charset="0"/>
              </a:rPr>
              <a:t> at least one member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doesn’</a:t>
            </a:r>
            <a:r>
              <a:rPr lang="en-US" altLang="ja-JP" u="sng" dirty="0">
                <a:ea typeface="ＭＳ Ｐゴシック" charset="0"/>
                <a:cs typeface="ＭＳ Ｐゴシック" charset="0"/>
              </a:rPr>
              <a:t>t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Association if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all</a:t>
            </a:r>
            <a:r>
              <a:rPr lang="en-US" dirty="0">
                <a:ea typeface="ＭＳ Ｐゴシック" charset="0"/>
                <a:cs typeface="ＭＳ Ｐゴシック" charset="0"/>
              </a:rPr>
              <a:t> members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DRE if single owner who does not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Liability determined under foreign law or organizational documents (-3(b)(2))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Default Classification of </a:t>
            </a:r>
            <a:r>
              <a:rPr lang="en-US" i="1" dirty="0"/>
              <a:t>Foreign</a:t>
            </a:r>
            <a:r>
              <a:rPr lang="en-US" dirty="0"/>
              <a:t> Eligible Entities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96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u="sng" dirty="0">
                <a:ea typeface="ＭＳ Ｐゴシック" charset="0"/>
                <a:cs typeface="ＭＳ Ｐゴシック" charset="0"/>
              </a:rPr>
              <a:t>Effective date</a:t>
            </a:r>
            <a:r>
              <a:rPr lang="en-US" dirty="0">
                <a:ea typeface="ＭＳ Ｐゴシック" charset="0"/>
                <a:cs typeface="ＭＳ Ｐゴシック" charset="0"/>
              </a:rPr>
              <a:t>:  dated listed on Form 8832 or filing date, but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Not more than 75 days prior to filing date, or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Not more than 12 months after filing date. (-3(c)(1)(iii))</a:t>
            </a: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u="sng" dirty="0">
                <a:ea typeface="ＭＳ Ｐゴシック" charset="0"/>
                <a:cs typeface="ＭＳ Ｐゴシック" charset="0"/>
              </a:rPr>
              <a:t>Relief for Late Filing</a:t>
            </a:r>
            <a:r>
              <a:rPr lang="en-US" dirty="0">
                <a:ea typeface="ＭＳ Ｐゴシック" charset="0"/>
                <a:cs typeface="ＭＳ Ｐゴシック" charset="0"/>
              </a:rPr>
              <a:t>:  Rev. Proc. 2013-30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New entity can request relief for late filing if election filed by return due date</a:t>
            </a: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An EE that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changes its classification</a:t>
            </a:r>
            <a:r>
              <a:rPr lang="en-US" dirty="0">
                <a:ea typeface="ＭＳ Ｐゴシック" charset="0"/>
                <a:cs typeface="ＭＳ Ｐゴシック" charset="0"/>
              </a:rPr>
              <a:t> cannot change its classification again during the next 60 months, except if there is a &gt;50% change in ownership and CIR consents.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An initial election is not considered a change. (-3(c)(1)(iv))</a:t>
            </a:r>
            <a:endParaRPr lang="en-US" sz="1600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CTB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Regs</a:t>
            </a:r>
            <a:r>
              <a:rPr lang="en-US" dirty="0">
                <a:ea typeface="ＭＳ Ｐゴシック" charset="0"/>
                <a:cs typeface="ＭＳ Ｐゴシック" charset="0"/>
              </a:rPr>
              <a:t>: Election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56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b="1" dirty="0" err="1">
                <a:ea typeface="ＭＳ Ｐゴシック" charset="0"/>
                <a:cs typeface="ＭＳ Ｐゴシック" charset="0"/>
              </a:rPr>
              <a:t>PHS</a:t>
            </a:r>
            <a:r>
              <a:rPr lang="en-US" b="1" dirty="0">
                <a:ea typeface="ＭＳ Ｐゴシック" charset="0"/>
                <a:cs typeface="ＭＳ Ｐゴシック" charset="0"/>
              </a:rPr>
              <a:t>-&gt;Association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contributes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Assoc. in exchange for stock and the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liquidates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Association-&gt;</a:t>
            </a:r>
            <a:r>
              <a:rPr lang="en-US" b="1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:  Association distributes assets to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dirty="0">
                <a:ea typeface="ＭＳ Ｐゴシック" charset="0"/>
                <a:cs typeface="ＭＳ Ｐゴシック" charset="0"/>
              </a:rPr>
              <a:t>, and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dirty="0">
                <a:ea typeface="ＭＳ Ｐゴシック" charset="0"/>
                <a:cs typeface="ＭＳ Ｐゴシック" charset="0"/>
              </a:rPr>
              <a:t> contribute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new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Association-&gt;DRE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  <a:r>
              <a:rPr lang="en-US" b="1" i="1" dirty="0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Association liquidates and distributes </a:t>
            </a:r>
            <a:r>
              <a:rPr lang="en-US" b="1" i="1" dirty="0" err="1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A&amp;L</a:t>
            </a:r>
            <a:r>
              <a:rPr lang="en-US" b="1" i="1" dirty="0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 to single owner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DRE-&gt;Association:  </a:t>
            </a:r>
            <a:r>
              <a:rPr lang="en-US" dirty="0">
                <a:ea typeface="ＭＳ Ｐゴシック" charset="0"/>
                <a:cs typeface="ＭＳ Ｐゴシック" charset="0"/>
              </a:rPr>
              <a:t>Owner of DRE contributes all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the Assoc. in exchange for stock (-3(g)) 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Rev. Rul. 2004-59</a:t>
            </a:r>
            <a:r>
              <a:rPr lang="en-US" dirty="0">
                <a:ea typeface="ＭＳ Ｐゴシック" charset="0"/>
                <a:cs typeface="ＭＳ Ｐゴシック" charset="0"/>
              </a:rPr>
              <a:t>:  Conversion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into Corp pursuant to state law not requiring transfer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—</a:t>
            </a:r>
            <a:r>
              <a:rPr lang="en-US" i="1" dirty="0">
                <a:ea typeface="ＭＳ Ｐゴシック" charset="0"/>
                <a:cs typeface="ＭＳ Ｐゴシック" charset="0"/>
              </a:rPr>
              <a:t>formless conversion</a:t>
            </a:r>
            <a:r>
              <a:rPr lang="en-US" dirty="0">
                <a:ea typeface="ＭＳ Ｐゴシック" charset="0"/>
                <a:cs typeface="ＭＳ Ｐゴシック" charset="0"/>
              </a:rPr>
              <a:t>—treated as contribution of assets to new Corp, liquidation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, and distribution of stock by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to Ps.</a:t>
            </a:r>
            <a:r>
              <a:rPr lang="en-US" b="1" dirty="0">
                <a:ea typeface="ＭＳ Ｐゴシック" charset="0"/>
                <a:cs typeface="ＭＳ Ｐゴシック" charset="0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Change in Number of Members </a:t>
            </a:r>
            <a:r>
              <a:rPr lang="en-US" dirty="0">
                <a:ea typeface="ＭＳ Ｐゴシック" charset="0"/>
                <a:cs typeface="ＭＳ Ｐゴシック" charset="0"/>
              </a:rPr>
              <a:t>(-3(f))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-&gt;DRE:  Rev. Rul. 99-6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DRE-&gt;</a:t>
            </a: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:  Rev. Rul. 99-5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CTB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Regs</a:t>
            </a:r>
            <a:r>
              <a:rPr lang="en-US" dirty="0">
                <a:ea typeface="ＭＳ Ｐゴシック" charset="0"/>
                <a:cs typeface="ＭＳ Ｐゴシック" charset="0"/>
              </a:rPr>
              <a:t>:  Classification Changes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60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Graphical Representations of Entities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524000" y="1371600"/>
            <a:ext cx="1371600" cy="6096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Corp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568346" y="2618907"/>
            <a:ext cx="12954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LLC</a:t>
            </a:r>
          </a:p>
        </p:txBody>
      </p:sp>
      <p:sp>
        <p:nvSpPr>
          <p:cNvPr id="8" name="AutoShape 6"/>
          <p:cNvSpPr>
            <a:spLocks noChangeArrowheads="1"/>
          </p:cNvSpPr>
          <p:nvPr/>
        </p:nvSpPr>
        <p:spPr bwMode="auto">
          <a:xfrm>
            <a:off x="1676400" y="3810000"/>
            <a:ext cx="1219200" cy="914400"/>
          </a:xfrm>
          <a:prstGeom prst="triangle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/>
            <a:r>
              <a:rPr lang="en-US" sz="2000" b="1" dirty="0" err="1">
                <a:latin typeface="Calibri" charset="0"/>
              </a:rPr>
              <a:t>PSH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1600200" y="2590800"/>
            <a:ext cx="685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286000" y="2618907"/>
            <a:ext cx="609600" cy="58149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4038600" y="1447800"/>
            <a:ext cx="14478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>
              <a:latin typeface="Calibri"/>
            </a:endParaRPr>
          </a:p>
        </p:txBody>
      </p:sp>
      <p:sp>
        <p:nvSpPr>
          <p:cNvPr id="12" name="Oval 10"/>
          <p:cNvSpPr>
            <a:spLocks noChangeArrowheads="1"/>
          </p:cNvSpPr>
          <p:nvPr/>
        </p:nvSpPr>
        <p:spPr bwMode="auto">
          <a:xfrm>
            <a:off x="4038600" y="1447800"/>
            <a:ext cx="1447800" cy="6096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 err="1">
                <a:latin typeface="Calibri" charset="0"/>
              </a:rPr>
              <a:t>DRE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3962400" y="2590800"/>
            <a:ext cx="16002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600" b="1" dirty="0">
                <a:latin typeface="Calibri" charset="0"/>
              </a:rPr>
              <a:t>Hybrid</a:t>
            </a:r>
            <a:endParaRPr lang="en-US" sz="1800" b="1" dirty="0">
              <a:latin typeface="Calibri" charset="0"/>
            </a:endParaRPr>
          </a:p>
        </p:txBody>
      </p:sp>
      <p:sp>
        <p:nvSpPr>
          <p:cNvPr id="14" name="Line 12"/>
          <p:cNvSpPr>
            <a:spLocks noChangeShapeType="1"/>
          </p:cNvSpPr>
          <p:nvPr/>
        </p:nvSpPr>
        <p:spPr bwMode="auto">
          <a:xfrm flipH="1">
            <a:off x="3962400" y="2590800"/>
            <a:ext cx="8382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5" name="Line 13"/>
          <p:cNvSpPr>
            <a:spLocks noChangeShapeType="1"/>
          </p:cNvSpPr>
          <p:nvPr/>
        </p:nvSpPr>
        <p:spPr bwMode="auto">
          <a:xfrm>
            <a:off x="4800600" y="2590800"/>
            <a:ext cx="7620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3962400" y="3886200"/>
            <a:ext cx="1600200" cy="6129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1200" b="1" dirty="0">
                <a:latin typeface="Calibri" charset="0"/>
              </a:rPr>
              <a:t>Reverse</a:t>
            </a:r>
          </a:p>
          <a:p>
            <a:pPr algn="ctr" eaLnBrk="1" hangingPunct="1"/>
            <a:r>
              <a:rPr lang="en-US" sz="1200" b="1" dirty="0">
                <a:latin typeface="Calibri" charset="0"/>
              </a:rPr>
              <a:t>Hybrid</a:t>
            </a:r>
          </a:p>
        </p:txBody>
      </p:sp>
      <p:sp>
        <p:nvSpPr>
          <p:cNvPr id="17" name="Line 15"/>
          <p:cNvSpPr>
            <a:spLocks noChangeShapeType="1"/>
          </p:cNvSpPr>
          <p:nvPr/>
        </p:nvSpPr>
        <p:spPr bwMode="auto">
          <a:xfrm>
            <a:off x="3962400" y="3886200"/>
            <a:ext cx="8382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algn="ctr"/>
            <a:endParaRPr lang="en-US" dirty="0">
              <a:latin typeface="Calibri"/>
            </a:endParaRP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 flipH="1">
            <a:off x="4800600" y="3886199"/>
            <a:ext cx="762000" cy="60960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9" name="Rectangle 17"/>
          <p:cNvSpPr>
            <a:spLocks noChangeArrowheads="1"/>
          </p:cNvSpPr>
          <p:nvPr/>
        </p:nvSpPr>
        <p:spPr bwMode="auto">
          <a:xfrm>
            <a:off x="6364224" y="1447800"/>
            <a:ext cx="1600200" cy="6096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Corp</a:t>
            </a:r>
          </a:p>
        </p:txBody>
      </p:sp>
      <p:sp>
        <p:nvSpPr>
          <p:cNvPr id="20" name="Oval 19"/>
          <p:cNvSpPr>
            <a:spLocks noChangeArrowheads="1"/>
          </p:cNvSpPr>
          <p:nvPr/>
        </p:nvSpPr>
        <p:spPr bwMode="auto">
          <a:xfrm>
            <a:off x="6745224" y="2237907"/>
            <a:ext cx="950976" cy="762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Branch</a:t>
            </a:r>
            <a:endParaRPr lang="en-US" sz="2000" b="1" dirty="0">
              <a:latin typeface="Calibri" charset="0"/>
            </a:endParaRPr>
          </a:p>
        </p:txBody>
      </p:sp>
      <p:cxnSp>
        <p:nvCxnSpPr>
          <p:cNvPr id="21" name="Straight Connector 23"/>
          <p:cNvCxnSpPr>
            <a:cxnSpLocks noChangeShapeType="1"/>
          </p:cNvCxnSpPr>
          <p:nvPr/>
        </p:nvCxnSpPr>
        <p:spPr bwMode="auto">
          <a:xfrm flipV="1">
            <a:off x="7164324" y="2057400"/>
            <a:ext cx="0" cy="18050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" name="Text Box 20">
            <a:extLst>
              <a:ext uri="{FF2B5EF4-FFF2-40B4-BE49-F238E27FC236}">
                <a16:creationId xmlns:a16="http://schemas.microsoft.com/office/drawing/2014/main" id="{FA843D08-8D64-7E4B-BDEC-1668C7B117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048" y="5181600"/>
            <a:ext cx="8534400" cy="677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algn="l">
              <a:buFontTx/>
              <a:buChar char="•"/>
            </a:pPr>
            <a:r>
              <a:rPr lang="en-US" sz="1900" b="1" dirty="0">
                <a:latin typeface="Calibri"/>
              </a:rPr>
              <a:t>Hybrid</a:t>
            </a:r>
            <a:r>
              <a:rPr lang="en-US" sz="1900" dirty="0">
                <a:latin typeface="Calibri"/>
              </a:rPr>
              <a:t>:  </a:t>
            </a:r>
            <a:r>
              <a:rPr lang="en-US" sz="1900" dirty="0" err="1">
                <a:latin typeface="Calibri"/>
              </a:rPr>
              <a:t>Passthrough</a:t>
            </a:r>
            <a:r>
              <a:rPr lang="en-US" sz="1900" dirty="0">
                <a:latin typeface="Calibri"/>
              </a:rPr>
              <a:t> under US law; </a:t>
            </a:r>
            <a:r>
              <a:rPr lang="en-US" sz="1900" dirty="0" err="1">
                <a:latin typeface="Calibri"/>
              </a:rPr>
              <a:t>corp</a:t>
            </a:r>
            <a:r>
              <a:rPr lang="en-US" sz="1900" dirty="0">
                <a:latin typeface="Calibri"/>
              </a:rPr>
              <a:t> under foreign law</a:t>
            </a:r>
          </a:p>
          <a:p>
            <a:pPr algn="l">
              <a:buFontTx/>
              <a:buChar char="•"/>
            </a:pPr>
            <a:r>
              <a:rPr lang="en-US" sz="1900" b="1" dirty="0">
                <a:latin typeface="Calibri"/>
              </a:rPr>
              <a:t>Reverse Hybrid</a:t>
            </a:r>
            <a:r>
              <a:rPr lang="en-US" sz="1900" dirty="0">
                <a:latin typeface="Calibri"/>
              </a:rPr>
              <a:t>:  Corp under US law; </a:t>
            </a:r>
            <a:r>
              <a:rPr lang="en-US" sz="1900" dirty="0" err="1">
                <a:latin typeface="Calibri"/>
              </a:rPr>
              <a:t>passthrough</a:t>
            </a:r>
            <a:r>
              <a:rPr lang="en-US" sz="1900" dirty="0">
                <a:latin typeface="Calibri"/>
              </a:rPr>
              <a:t> under foreign law</a:t>
            </a:r>
          </a:p>
        </p:txBody>
      </p:sp>
    </p:spTree>
    <p:extLst>
      <p:ext uri="{BB962C8B-B14F-4D97-AF65-F5344CB8AC3E}">
        <p14:creationId xmlns:p14="http://schemas.microsoft.com/office/powerpoint/2010/main" val="817591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Some publicly traded Corporations switched to PSH status in the early ‘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80s.  </a:t>
            </a:r>
          </a:p>
          <a:p>
            <a:pPr lvl="1"/>
            <a:r>
              <a:rPr lang="en-US" altLang="ja-JP" dirty="0">
                <a:ea typeface="ＭＳ Ｐゴシック" charset="0"/>
                <a:cs typeface="ＭＳ Ｐゴシック" charset="0"/>
              </a:rPr>
              <a:t>Why?  </a:t>
            </a:r>
            <a:r>
              <a:rPr lang="en-US" altLang="ja-JP" i="1" dirty="0">
                <a:ea typeface="ＭＳ Ｐゴシック" charset="0"/>
                <a:cs typeface="ＭＳ Ｐゴシック" charset="0"/>
              </a:rPr>
              <a:t>See Historical marginal tax rate 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chart.</a:t>
            </a:r>
          </a:p>
          <a:p>
            <a:pPr lvl="1"/>
            <a:r>
              <a:rPr lang="en-US" dirty="0">
                <a:ea typeface="ＭＳ Ｐゴシック" charset="0"/>
                <a:cs typeface="ＭＳ Ｐゴシック" charset="0"/>
              </a:rPr>
              <a:t>After 2017, how does the analysis change?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What was the concern of Congress?</a:t>
            </a:r>
          </a:p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Under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  <a:cs typeface="ＭＳ Ｐゴシック" charset="0"/>
              </a:rPr>
              <a:t>7704, PTPs generally taxed as corporations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  <a:cs typeface="ＭＳ Ｐゴシック" charset="0"/>
              </a:rPr>
              <a:t>7704(a))</a:t>
            </a:r>
            <a:r>
              <a:rPr lang="en-US" b="1" dirty="0">
                <a:ea typeface="ＭＳ Ｐゴシック" charset="0"/>
                <a:cs typeface="ＭＳ Ｐゴシック" charset="0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Publicly Traded Partnership: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Traded on established securities market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Readily tradable on a secondary market (or substantial equivalent)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Various Exceptions (Safe harbors) 	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Private transfers (family transfers, death)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Certain redemptions/repurchases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Private placements.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1.7704-1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Publicly Traded Partnerships (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PTPs</a:t>
            </a:r>
            <a:r>
              <a:rPr lang="en-US" dirty="0">
                <a:ea typeface="ＭＳ Ｐゴシック" charset="0"/>
                <a:cs typeface="ＭＳ Ｐゴシック" charset="0"/>
              </a:rPr>
              <a:t>/</a:t>
            </a:r>
            <a:r>
              <a:rPr lang="en-US" dirty="0" err="1">
                <a:ea typeface="ＭＳ Ｐゴシック" charset="0"/>
                <a:cs typeface="ＭＳ Ｐゴシック" charset="0"/>
              </a:rPr>
              <a:t>MLPs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6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sz="2800" b="1" dirty="0">
                <a:ea typeface="ＭＳ Ｐゴシック" charset="0"/>
                <a:cs typeface="ＭＳ Ｐゴシック" charset="0"/>
              </a:rPr>
              <a:t>Passive Income Exception</a:t>
            </a:r>
            <a:endParaRPr lang="en-US" sz="2800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sz="2400" dirty="0">
                <a:ea typeface="ＭＳ Ｐゴシック" charset="0"/>
              </a:rPr>
              <a:t>PTP not taxed as Corp if ≥ 90% of its gross income is </a:t>
            </a:r>
            <a:r>
              <a:rPr lang="ja-JP" altLang="en-US" sz="2400" dirty="0">
                <a:ea typeface="ＭＳ Ｐゴシック" charset="0"/>
              </a:rPr>
              <a:t>“</a:t>
            </a:r>
            <a:r>
              <a:rPr lang="en-US" altLang="ja-JP" sz="2400" dirty="0">
                <a:ea typeface="ＭＳ Ｐゴシック" charset="0"/>
              </a:rPr>
              <a:t>qualifying income</a:t>
            </a:r>
            <a:r>
              <a:rPr lang="ja-JP" altLang="en-US" sz="2400" dirty="0">
                <a:ea typeface="ＭＳ Ｐゴシック" charset="0"/>
              </a:rPr>
              <a:t>”</a:t>
            </a:r>
            <a:r>
              <a:rPr lang="en-US" altLang="ja-JP" sz="2400" dirty="0">
                <a:ea typeface="ＭＳ Ｐゴシック" charset="0"/>
              </a:rPr>
              <a:t>, such as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Dividends, Interest, Gains from Stock and Bond Sales, Swap Income (NPC) 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Real Property Rents and Gains</a:t>
            </a:r>
          </a:p>
          <a:p>
            <a:pPr marL="977900" lvl="2" indent="-177800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Income from the production of natural resources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7704(c))</a:t>
            </a:r>
          </a:p>
          <a:p>
            <a:pPr marL="977900" lvl="2" indent="-177800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Interest derived from conduct of financial or insurance business excluded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7704(c)(2))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QI does </a:t>
            </a:r>
            <a:r>
              <a:rPr lang="en-US" u="sng" dirty="0">
                <a:ea typeface="ＭＳ Ｐゴシック" charset="0"/>
              </a:rPr>
              <a:t>NOT</a:t>
            </a:r>
            <a:r>
              <a:rPr lang="en-US" dirty="0">
                <a:ea typeface="ＭＳ Ｐゴシック" charset="0"/>
              </a:rPr>
              <a:t> include income from services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charset="0"/>
              </a:rPr>
              <a:t>QI exception does not apply to any PSH that would be subject to the ‘40 Act if it were a corporation (</a:t>
            </a:r>
            <a:r>
              <a:rPr lang="en-US" altLang="en-US" sz="2400" dirty="0"/>
              <a:t>§</a:t>
            </a:r>
            <a:r>
              <a:rPr lang="en-US" sz="2400" dirty="0">
                <a:ea typeface="ＭＳ Ｐゴシック" charset="0"/>
              </a:rPr>
              <a:t>7704(c)(3))</a:t>
            </a: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ea typeface="ＭＳ Ｐゴシック" charset="0"/>
              <a:hlinkClick r:id="rId2"/>
            </a:endParaRPr>
          </a:p>
          <a:p>
            <a:pPr>
              <a:lnSpc>
                <a:spcPct val="80000"/>
              </a:lnSpc>
            </a:pPr>
            <a:r>
              <a:rPr lang="en-US" sz="2800" dirty="0">
                <a:ea typeface="ＭＳ Ｐゴシック" charset="0"/>
                <a:hlinkClick r:id="rId2"/>
              </a:rPr>
              <a:t>A list of current MLPs</a:t>
            </a:r>
            <a:endParaRPr lang="en-US" sz="2800" dirty="0">
              <a:ea typeface="ＭＳ Ｐゴシック" charset="0"/>
            </a:endParaRPr>
          </a:p>
          <a:p>
            <a:pPr>
              <a:lnSpc>
                <a:spcPct val="80000"/>
              </a:lnSpc>
            </a:pPr>
            <a:endParaRPr lang="en-US" sz="2800" dirty="0">
              <a:ea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sz="2800" dirty="0">
                <a:ea typeface="ＭＳ Ｐゴシック" charset="0"/>
              </a:rPr>
              <a:t>Why are some MLPs converting to C Corps after the TCJA?  </a:t>
            </a:r>
            <a:r>
              <a:rPr lang="en-US" sz="2800" i="1" dirty="0">
                <a:ea typeface="ＭＳ Ｐゴシック" charset="0"/>
              </a:rPr>
              <a:t>See </a:t>
            </a:r>
            <a:r>
              <a:rPr lang="en-US" sz="2800" dirty="0">
                <a:ea typeface="ＭＳ Ｐゴシック" charset="0"/>
              </a:rPr>
              <a:t>article on class web site.</a:t>
            </a:r>
            <a:endParaRPr lang="en-US" sz="2800" dirty="0"/>
          </a:p>
          <a:p>
            <a:pPr>
              <a:lnSpc>
                <a:spcPct val="80000"/>
              </a:lnSpc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Publicly Traded Partnerships (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PTPs</a:t>
            </a:r>
            <a:r>
              <a:rPr lang="en-US" dirty="0">
                <a:ea typeface="ＭＳ Ｐゴシック" charset="0"/>
                <a:cs typeface="ＭＳ Ｐゴシック" charset="0"/>
              </a:rPr>
              <a:t>/</a:t>
            </a:r>
            <a:r>
              <a:rPr lang="en-US" dirty="0" err="1">
                <a:ea typeface="ＭＳ Ｐゴシック" charset="0"/>
                <a:cs typeface="ＭＳ Ｐゴシック" charset="0"/>
              </a:rPr>
              <a:t>MLPs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70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1_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A41C218D-EB0F-0640-8FD3-104D758806C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CT_COE_16</Template>
  <TotalTime>11070</TotalTime>
  <Words>2211</Words>
  <Application>Microsoft Macintosh PowerPoint</Application>
  <PresentationFormat>On-screen Show (4:3)</PresentationFormat>
  <Paragraphs>365</Paragraphs>
  <Slides>24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ＭＳ Ｐゴシック</vt:lpstr>
      <vt:lpstr>NSimSun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1_CG Body - Standard</vt:lpstr>
      <vt:lpstr>Equation</vt:lpstr>
      <vt:lpstr>Corporate Taxation Choice of Entity</vt:lpstr>
      <vt:lpstr>PowerPoint Presentation</vt:lpstr>
      <vt:lpstr>Choice of Business Entity</vt:lpstr>
      <vt:lpstr>C Corp vs. Pass-through</vt:lpstr>
      <vt:lpstr>Rates for 2026</vt:lpstr>
      <vt:lpstr>Marginal vs. Effective (Average) Tax Rates</vt:lpstr>
      <vt:lpstr>Tax Differences: C, S, and K</vt:lpstr>
      <vt:lpstr>Tax Differences: C, S, and K</vt:lpstr>
      <vt:lpstr>Comparison of AT-Returns for C Corporation and S Corp/PSH</vt:lpstr>
      <vt:lpstr>Partnership vs. Corporation</vt:lpstr>
      <vt:lpstr>Comparison of AT-Returns for C Corp and S Corp/PSH: The Benefits of Deferral</vt:lpstr>
      <vt:lpstr>Marginal Tax Rates</vt:lpstr>
      <vt:lpstr>Section 199A: New in the TCJA of 2017 and Unfortunately Expanded in OBBBA of 2025</vt:lpstr>
      <vt:lpstr>Choice of Business Entity</vt:lpstr>
      <vt:lpstr>CTB Regs: Business Entity</vt:lpstr>
      <vt:lpstr>CTB Regs: Eligible Entity</vt:lpstr>
      <vt:lpstr>CTB Regs: Corporation Defined</vt:lpstr>
      <vt:lpstr>CTB Regs: Election</vt:lpstr>
      <vt:lpstr>CTB Regs: Default Classification of Foreign Eligible Entities</vt:lpstr>
      <vt:lpstr>CTB Regs: Election</vt:lpstr>
      <vt:lpstr>CTB Regs:  Classification Changes</vt:lpstr>
      <vt:lpstr>Graphical Representations of Entities</vt:lpstr>
      <vt:lpstr>Publicly Traded Partnerships (PTPs/MLPs)</vt:lpstr>
      <vt:lpstr>Publicly Traded Partnerships (PTPs/MLPs)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J.M. Colon</dc:creator>
  <cp:keywords/>
  <dc:description/>
  <cp:lastModifiedBy>Colon, Jeffrey M.</cp:lastModifiedBy>
  <cp:revision>58</cp:revision>
  <cp:lastPrinted>2013-07-03T14:40:00Z</cp:lastPrinted>
  <dcterms:created xsi:type="dcterms:W3CDTF">2016-08-02T01:01:38Z</dcterms:created>
  <dcterms:modified xsi:type="dcterms:W3CDTF">2026-01-01T20:15:30Z</dcterms:modified>
  <cp:category/>
</cp:coreProperties>
</file>