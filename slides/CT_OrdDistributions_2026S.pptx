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25"/>
  </p:notesMasterIdLst>
  <p:sldIdLst>
    <p:sldId id="263" r:id="rId2"/>
    <p:sldId id="257" r:id="rId3"/>
    <p:sldId id="264" r:id="rId4"/>
    <p:sldId id="293" r:id="rId5"/>
    <p:sldId id="265" r:id="rId6"/>
    <p:sldId id="267" r:id="rId7"/>
    <p:sldId id="268" r:id="rId8"/>
    <p:sldId id="276" r:id="rId9"/>
    <p:sldId id="270" r:id="rId10"/>
    <p:sldId id="272" r:id="rId11"/>
    <p:sldId id="271" r:id="rId12"/>
    <p:sldId id="273" r:id="rId13"/>
    <p:sldId id="277" r:id="rId14"/>
    <p:sldId id="278" r:id="rId15"/>
    <p:sldId id="279" r:id="rId16"/>
    <p:sldId id="289" r:id="rId17"/>
    <p:sldId id="288" r:id="rId18"/>
    <p:sldId id="281" r:id="rId19"/>
    <p:sldId id="282" r:id="rId20"/>
    <p:sldId id="286" r:id="rId21"/>
    <p:sldId id="290" r:id="rId22"/>
    <p:sldId id="291" r:id="rId23"/>
    <p:sldId id="292" r:id="rId24"/>
  </p:sldIdLst>
  <p:sldSz cx="12192000" cy="6858000"/>
  <p:notesSz cx="7010400" cy="923607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2CE70FE-FA9A-914E-A130-49386A759405}" v="338" dt="2026-02-24T14:18:09.73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851"/>
    <p:restoredTop sz="94581"/>
  </p:normalViewPr>
  <p:slideViewPr>
    <p:cSldViewPr snapToGrid="0" snapToObjects="1">
      <p:cViewPr varScale="1">
        <p:scale>
          <a:sx n="136" d="100"/>
          <a:sy n="136" d="100"/>
        </p:scale>
        <p:origin x="232" y="12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60" d="100"/>
        <a:sy n="16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Relationship Id="rId30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olon, Jeffrey M." userId="615143b1-cdee-493d-9a9d-1565ce8666d9" providerId="ADAL" clId="{DC1DB158-BAB1-5930-B714-AEF472873853}"/>
    <pc:docChg chg="addSld modSld modMainMaster">
      <pc:chgData name="Colon, Jeffrey M." userId="615143b1-cdee-493d-9a9d-1565ce8666d9" providerId="ADAL" clId="{DC1DB158-BAB1-5930-B714-AEF472873853}" dt="2026-02-24T14:18:09.737" v="432" actId="114"/>
      <pc:docMkLst>
        <pc:docMk/>
      </pc:docMkLst>
      <pc:sldChg chg="modSp">
        <pc:chgData name="Colon, Jeffrey M." userId="615143b1-cdee-493d-9a9d-1565ce8666d9" providerId="ADAL" clId="{DC1DB158-BAB1-5930-B714-AEF472873853}" dt="2026-02-15T14:24:18.311" v="10" actId="113"/>
        <pc:sldMkLst>
          <pc:docMk/>
          <pc:sldMk cId="739887545" sldId="257"/>
        </pc:sldMkLst>
        <pc:spChg chg="mod">
          <ac:chgData name="Colon, Jeffrey M." userId="615143b1-cdee-493d-9a9d-1565ce8666d9" providerId="ADAL" clId="{DC1DB158-BAB1-5930-B714-AEF472873853}" dt="2026-02-15T14:24:18.311" v="10" actId="113"/>
          <ac:spMkLst>
            <pc:docMk/>
            <pc:sldMk cId="739887545" sldId="257"/>
            <ac:spMk id="2" creationId="{00000000-0000-0000-0000-000000000000}"/>
          </ac:spMkLst>
        </pc:spChg>
      </pc:sldChg>
      <pc:sldChg chg="modSp">
        <pc:chgData name="Colon, Jeffrey M." userId="615143b1-cdee-493d-9a9d-1565ce8666d9" providerId="ADAL" clId="{DC1DB158-BAB1-5930-B714-AEF472873853}" dt="2026-02-15T14:12:21.897" v="8" actId="114"/>
        <pc:sldMkLst>
          <pc:docMk/>
          <pc:sldMk cId="902159089" sldId="264"/>
        </pc:sldMkLst>
        <pc:spChg chg="mod">
          <ac:chgData name="Colon, Jeffrey M." userId="615143b1-cdee-493d-9a9d-1565ce8666d9" providerId="ADAL" clId="{DC1DB158-BAB1-5930-B714-AEF472873853}" dt="2026-02-15T14:12:21.897" v="8" actId="114"/>
          <ac:spMkLst>
            <pc:docMk/>
            <pc:sldMk cId="902159089" sldId="264"/>
            <ac:spMk id="2" creationId="{00000000-0000-0000-0000-000000000000}"/>
          </ac:spMkLst>
        </pc:spChg>
      </pc:sldChg>
      <pc:sldChg chg="modSp">
        <pc:chgData name="Colon, Jeffrey M." userId="615143b1-cdee-493d-9a9d-1565ce8666d9" providerId="ADAL" clId="{DC1DB158-BAB1-5930-B714-AEF472873853}" dt="2026-02-15T14:36:08.151" v="35" actId="20577"/>
        <pc:sldMkLst>
          <pc:docMk/>
          <pc:sldMk cId="4093878086" sldId="265"/>
        </pc:sldMkLst>
        <pc:spChg chg="mod">
          <ac:chgData name="Colon, Jeffrey M." userId="615143b1-cdee-493d-9a9d-1565ce8666d9" providerId="ADAL" clId="{DC1DB158-BAB1-5930-B714-AEF472873853}" dt="2026-02-15T14:36:08.151" v="35" actId="20577"/>
          <ac:spMkLst>
            <pc:docMk/>
            <pc:sldMk cId="4093878086" sldId="265"/>
            <ac:spMk id="4" creationId="{00000000-0000-0000-0000-000000000000}"/>
          </ac:spMkLst>
        </pc:spChg>
      </pc:sldChg>
      <pc:sldChg chg="addSp modSp mod modAnim">
        <pc:chgData name="Colon, Jeffrey M." userId="615143b1-cdee-493d-9a9d-1565ce8666d9" providerId="ADAL" clId="{DC1DB158-BAB1-5930-B714-AEF472873853}" dt="2026-02-15T16:12:59.060" v="105"/>
        <pc:sldMkLst>
          <pc:docMk/>
          <pc:sldMk cId="1159437371" sldId="268"/>
        </pc:sldMkLst>
        <pc:spChg chg="mod">
          <ac:chgData name="Colon, Jeffrey M." userId="615143b1-cdee-493d-9a9d-1565ce8666d9" providerId="ADAL" clId="{DC1DB158-BAB1-5930-B714-AEF472873853}" dt="2026-02-15T16:12:41.511" v="103" actId="6549"/>
          <ac:spMkLst>
            <pc:docMk/>
            <pc:sldMk cId="1159437371" sldId="268"/>
            <ac:spMk id="2" creationId="{00000000-0000-0000-0000-000000000000}"/>
          </ac:spMkLst>
        </pc:spChg>
        <pc:picChg chg="add mod">
          <ac:chgData name="Colon, Jeffrey M." userId="615143b1-cdee-493d-9a9d-1565ce8666d9" providerId="ADAL" clId="{DC1DB158-BAB1-5930-B714-AEF472873853}" dt="2026-02-15T16:12:30.112" v="101" actId="14100"/>
          <ac:picMkLst>
            <pc:docMk/>
            <pc:sldMk cId="1159437371" sldId="268"/>
            <ac:picMk id="7" creationId="{0168DD2E-4F46-79DA-A6D2-B5E357B4BF0B}"/>
          </ac:picMkLst>
        </pc:picChg>
      </pc:sldChg>
      <pc:sldChg chg="addSp modSp mod modAnim">
        <pc:chgData name="Colon, Jeffrey M." userId="615143b1-cdee-493d-9a9d-1565ce8666d9" providerId="ADAL" clId="{DC1DB158-BAB1-5930-B714-AEF472873853}" dt="2026-02-16T16:30:24.597" v="310" actId="113"/>
        <pc:sldMkLst>
          <pc:docMk/>
          <pc:sldMk cId="687998912" sldId="272"/>
        </pc:sldMkLst>
        <pc:spChg chg="add mod">
          <ac:chgData name="Colon, Jeffrey M." userId="615143b1-cdee-493d-9a9d-1565ce8666d9" providerId="ADAL" clId="{DC1DB158-BAB1-5930-B714-AEF472873853}" dt="2026-02-15T22:58:06.613" v="202" actId="692"/>
          <ac:spMkLst>
            <pc:docMk/>
            <pc:sldMk cId="687998912" sldId="272"/>
            <ac:spMk id="6" creationId="{83E71572-C3A1-635D-AF9C-98C8706D1B8C}"/>
          </ac:spMkLst>
        </pc:spChg>
        <pc:spChg chg="mod">
          <ac:chgData name="Colon, Jeffrey M." userId="615143b1-cdee-493d-9a9d-1565ce8666d9" providerId="ADAL" clId="{DC1DB158-BAB1-5930-B714-AEF472873853}" dt="2026-02-16T16:13:49.746" v="263" actId="20577"/>
          <ac:spMkLst>
            <pc:docMk/>
            <pc:sldMk cId="687998912" sldId="272"/>
            <ac:spMk id="8" creationId="{52A6365E-9BEA-9F8D-4FC4-743B29227295}"/>
          </ac:spMkLst>
        </pc:spChg>
        <pc:spChg chg="mod">
          <ac:chgData name="Colon, Jeffrey M." userId="615143b1-cdee-493d-9a9d-1565ce8666d9" providerId="ADAL" clId="{DC1DB158-BAB1-5930-B714-AEF472873853}" dt="2026-02-16T16:30:18.571" v="307" actId="113"/>
          <ac:spMkLst>
            <pc:docMk/>
            <pc:sldMk cId="687998912" sldId="272"/>
            <ac:spMk id="10" creationId="{E319C0EA-6CEE-30D4-7B88-A3D40C2A0BDB}"/>
          </ac:spMkLst>
        </pc:spChg>
        <pc:spChg chg="mod">
          <ac:chgData name="Colon, Jeffrey M." userId="615143b1-cdee-493d-9a9d-1565ce8666d9" providerId="ADAL" clId="{DC1DB158-BAB1-5930-B714-AEF472873853}" dt="2026-02-16T16:14:21.622" v="286" actId="20577"/>
          <ac:spMkLst>
            <pc:docMk/>
            <pc:sldMk cId="687998912" sldId="272"/>
            <ac:spMk id="11" creationId="{14A697E5-1D31-8EC2-F0DD-78B4075C50F9}"/>
          </ac:spMkLst>
        </pc:spChg>
        <pc:spChg chg="mod">
          <ac:chgData name="Colon, Jeffrey M." userId="615143b1-cdee-493d-9a9d-1565ce8666d9" providerId="ADAL" clId="{DC1DB158-BAB1-5930-B714-AEF472873853}" dt="2026-02-16T16:14:09.795" v="273" actId="20577"/>
          <ac:spMkLst>
            <pc:docMk/>
            <pc:sldMk cId="687998912" sldId="272"/>
            <ac:spMk id="12" creationId="{E73D8293-07A9-350D-2DB5-65EF7DC537F1}"/>
          </ac:spMkLst>
        </pc:spChg>
        <pc:spChg chg="mod">
          <ac:chgData name="Colon, Jeffrey M." userId="615143b1-cdee-493d-9a9d-1565ce8666d9" providerId="ADAL" clId="{DC1DB158-BAB1-5930-B714-AEF472873853}" dt="2026-02-16T16:30:24.597" v="310" actId="113"/>
          <ac:spMkLst>
            <pc:docMk/>
            <pc:sldMk cId="687998912" sldId="272"/>
            <ac:spMk id="13" creationId="{C344CC1E-B920-893D-FF83-8B97AA65F0D7}"/>
          </ac:spMkLst>
        </pc:spChg>
        <pc:spChg chg="mod">
          <ac:chgData name="Colon, Jeffrey M." userId="615143b1-cdee-493d-9a9d-1565ce8666d9" providerId="ADAL" clId="{DC1DB158-BAB1-5930-B714-AEF472873853}" dt="2026-02-15T20:25:20.697" v="112" actId="1076"/>
          <ac:spMkLst>
            <pc:docMk/>
            <pc:sldMk cId="687998912" sldId="272"/>
            <ac:spMk id="14" creationId="{1C469B69-EA32-2778-4D75-6A837E5DB624}"/>
          </ac:spMkLst>
        </pc:spChg>
        <pc:spChg chg="mod">
          <ac:chgData name="Colon, Jeffrey M." userId="615143b1-cdee-493d-9a9d-1565ce8666d9" providerId="ADAL" clId="{DC1DB158-BAB1-5930-B714-AEF472873853}" dt="2026-02-15T20:25:20.697" v="112" actId="1076"/>
          <ac:spMkLst>
            <pc:docMk/>
            <pc:sldMk cId="687998912" sldId="272"/>
            <ac:spMk id="23" creationId="{09237E88-6E8B-A3CC-D696-6CDEA246F5D9}"/>
          </ac:spMkLst>
        </pc:spChg>
        <pc:spChg chg="mod">
          <ac:chgData name="Colon, Jeffrey M." userId="615143b1-cdee-493d-9a9d-1565ce8666d9" providerId="ADAL" clId="{DC1DB158-BAB1-5930-B714-AEF472873853}" dt="2026-02-16T16:14:55.315" v="294" actId="20577"/>
          <ac:spMkLst>
            <pc:docMk/>
            <pc:sldMk cId="687998912" sldId="272"/>
            <ac:spMk id="24" creationId="{B1F17BEE-1324-810C-1AA8-B8B50032607F}"/>
          </ac:spMkLst>
        </pc:spChg>
        <pc:spChg chg="mod">
          <ac:chgData name="Colon, Jeffrey M." userId="615143b1-cdee-493d-9a9d-1565ce8666d9" providerId="ADAL" clId="{DC1DB158-BAB1-5930-B714-AEF472873853}" dt="2026-02-16T16:15:01.897" v="300" actId="20577"/>
          <ac:spMkLst>
            <pc:docMk/>
            <pc:sldMk cId="687998912" sldId="272"/>
            <ac:spMk id="25" creationId="{8B890F38-47B7-1AA1-40C7-7A4250AA3F26}"/>
          </ac:spMkLst>
        </pc:spChg>
        <pc:spChg chg="mod">
          <ac:chgData name="Colon, Jeffrey M." userId="615143b1-cdee-493d-9a9d-1565ce8666d9" providerId="ADAL" clId="{DC1DB158-BAB1-5930-B714-AEF472873853}" dt="2026-02-15T20:27:59.637" v="162" actId="1038"/>
          <ac:spMkLst>
            <pc:docMk/>
            <pc:sldMk cId="687998912" sldId="272"/>
            <ac:spMk id="26" creationId="{E056477E-643C-38B1-BDBB-557307C62EDF}"/>
          </ac:spMkLst>
        </pc:spChg>
        <pc:cxnChg chg="mod">
          <ac:chgData name="Colon, Jeffrey M." userId="615143b1-cdee-493d-9a9d-1565ce8666d9" providerId="ADAL" clId="{DC1DB158-BAB1-5930-B714-AEF472873853}" dt="2026-02-15T20:25:20.697" v="112" actId="1076"/>
          <ac:cxnSpMkLst>
            <pc:docMk/>
            <pc:sldMk cId="687998912" sldId="272"/>
            <ac:cxnSpMk id="16" creationId="{9988441F-A5D3-CDF3-766D-D33AC826A446}"/>
          </ac:cxnSpMkLst>
        </pc:cxnChg>
        <pc:cxnChg chg="mod">
          <ac:chgData name="Colon, Jeffrey M." userId="615143b1-cdee-493d-9a9d-1565ce8666d9" providerId="ADAL" clId="{DC1DB158-BAB1-5930-B714-AEF472873853}" dt="2026-02-15T20:25:20.697" v="112" actId="1076"/>
          <ac:cxnSpMkLst>
            <pc:docMk/>
            <pc:sldMk cId="687998912" sldId="272"/>
            <ac:cxnSpMk id="18" creationId="{F19DB18F-D158-4B2B-C8D5-6A4E45D688E2}"/>
          </ac:cxnSpMkLst>
        </pc:cxnChg>
        <pc:cxnChg chg="mod">
          <ac:chgData name="Colon, Jeffrey M." userId="615143b1-cdee-493d-9a9d-1565ce8666d9" providerId="ADAL" clId="{DC1DB158-BAB1-5930-B714-AEF472873853}" dt="2026-02-15T20:25:20.697" v="112" actId="1076"/>
          <ac:cxnSpMkLst>
            <pc:docMk/>
            <pc:sldMk cId="687998912" sldId="272"/>
            <ac:cxnSpMk id="20" creationId="{82E0FB60-0E43-CF62-0EAE-A2042825B2CA}"/>
          </ac:cxnSpMkLst>
        </pc:cxnChg>
        <pc:cxnChg chg="mod">
          <ac:chgData name="Colon, Jeffrey M." userId="615143b1-cdee-493d-9a9d-1565ce8666d9" providerId="ADAL" clId="{DC1DB158-BAB1-5930-B714-AEF472873853}" dt="2026-02-15T20:27:59.637" v="162" actId="1038"/>
          <ac:cxnSpMkLst>
            <pc:docMk/>
            <pc:sldMk cId="687998912" sldId="272"/>
            <ac:cxnSpMk id="33" creationId="{2628A1CC-D4B9-9471-D5E9-7FECE7102F23}"/>
          </ac:cxnSpMkLst>
        </pc:cxnChg>
        <pc:cxnChg chg="mod">
          <ac:chgData name="Colon, Jeffrey M." userId="615143b1-cdee-493d-9a9d-1565ce8666d9" providerId="ADAL" clId="{DC1DB158-BAB1-5930-B714-AEF472873853}" dt="2026-02-15T20:27:59.637" v="162" actId="1038"/>
          <ac:cxnSpMkLst>
            <pc:docMk/>
            <pc:sldMk cId="687998912" sldId="272"/>
            <ac:cxnSpMk id="37" creationId="{69AEBA46-6BF9-59D7-9D5E-F8EB1444571E}"/>
          </ac:cxnSpMkLst>
        </pc:cxnChg>
      </pc:sldChg>
      <pc:sldChg chg="modSp">
        <pc:chgData name="Colon, Jeffrey M." userId="615143b1-cdee-493d-9a9d-1565ce8666d9" providerId="ADAL" clId="{DC1DB158-BAB1-5930-B714-AEF472873853}" dt="2026-02-22T14:52:56.984" v="312" actId="113"/>
        <pc:sldMkLst>
          <pc:docMk/>
          <pc:sldMk cId="427147073" sldId="273"/>
        </pc:sldMkLst>
        <pc:spChg chg="mod">
          <ac:chgData name="Colon, Jeffrey M." userId="615143b1-cdee-493d-9a9d-1565ce8666d9" providerId="ADAL" clId="{DC1DB158-BAB1-5930-B714-AEF472873853}" dt="2026-02-22T14:52:56.984" v="312" actId="113"/>
          <ac:spMkLst>
            <pc:docMk/>
            <pc:sldMk cId="427147073" sldId="273"/>
            <ac:spMk id="2" creationId="{00000000-0000-0000-0000-000000000000}"/>
          </ac:spMkLst>
        </pc:spChg>
      </pc:sldChg>
      <pc:sldChg chg="modSp">
        <pc:chgData name="Colon, Jeffrey M." userId="615143b1-cdee-493d-9a9d-1565ce8666d9" providerId="ADAL" clId="{DC1DB158-BAB1-5930-B714-AEF472873853}" dt="2026-02-15T16:14:24.213" v="106" actId="20577"/>
        <pc:sldMkLst>
          <pc:docMk/>
          <pc:sldMk cId="1625774788" sldId="276"/>
        </pc:sldMkLst>
        <pc:spChg chg="mod">
          <ac:chgData name="Colon, Jeffrey M." userId="615143b1-cdee-493d-9a9d-1565ce8666d9" providerId="ADAL" clId="{DC1DB158-BAB1-5930-B714-AEF472873853}" dt="2026-02-15T16:14:24.213" v="106" actId="20577"/>
          <ac:spMkLst>
            <pc:docMk/>
            <pc:sldMk cId="1625774788" sldId="276"/>
            <ac:spMk id="2" creationId="{00000000-0000-0000-0000-000000000000}"/>
          </ac:spMkLst>
        </pc:spChg>
      </pc:sldChg>
      <pc:sldChg chg="modSp">
        <pc:chgData name="Colon, Jeffrey M." userId="615143b1-cdee-493d-9a9d-1565ce8666d9" providerId="ADAL" clId="{DC1DB158-BAB1-5930-B714-AEF472873853}" dt="2026-02-15T23:03:28.862" v="217" actId="20577"/>
        <pc:sldMkLst>
          <pc:docMk/>
          <pc:sldMk cId="1857089619" sldId="277"/>
        </pc:sldMkLst>
        <pc:spChg chg="mod">
          <ac:chgData name="Colon, Jeffrey M." userId="615143b1-cdee-493d-9a9d-1565ce8666d9" providerId="ADAL" clId="{DC1DB158-BAB1-5930-B714-AEF472873853}" dt="2026-02-15T23:03:28.862" v="217" actId="20577"/>
          <ac:spMkLst>
            <pc:docMk/>
            <pc:sldMk cId="1857089619" sldId="277"/>
            <ac:spMk id="2" creationId="{00000000-0000-0000-0000-000000000000}"/>
          </ac:spMkLst>
        </pc:spChg>
      </pc:sldChg>
      <pc:sldChg chg="modSp">
        <pc:chgData name="Colon, Jeffrey M." userId="615143b1-cdee-493d-9a9d-1565ce8666d9" providerId="ADAL" clId="{DC1DB158-BAB1-5930-B714-AEF472873853}" dt="2026-02-23T18:31:14.697" v="373" actId="20577"/>
        <pc:sldMkLst>
          <pc:docMk/>
          <pc:sldMk cId="3426051145" sldId="282"/>
        </pc:sldMkLst>
        <pc:spChg chg="mod">
          <ac:chgData name="Colon, Jeffrey M." userId="615143b1-cdee-493d-9a9d-1565ce8666d9" providerId="ADAL" clId="{DC1DB158-BAB1-5930-B714-AEF472873853}" dt="2026-02-23T18:31:14.697" v="373" actId="20577"/>
          <ac:spMkLst>
            <pc:docMk/>
            <pc:sldMk cId="3426051145" sldId="282"/>
            <ac:spMk id="2" creationId="{00000000-0000-0000-0000-000000000000}"/>
          </ac:spMkLst>
        </pc:spChg>
      </pc:sldChg>
      <pc:sldChg chg="modSp">
        <pc:chgData name="Colon, Jeffrey M." userId="615143b1-cdee-493d-9a9d-1565ce8666d9" providerId="ADAL" clId="{DC1DB158-BAB1-5930-B714-AEF472873853}" dt="2026-02-24T14:18:09.737" v="432" actId="114"/>
        <pc:sldMkLst>
          <pc:docMk/>
          <pc:sldMk cId="1564657787" sldId="286"/>
        </pc:sldMkLst>
        <pc:spChg chg="mod">
          <ac:chgData name="Colon, Jeffrey M." userId="615143b1-cdee-493d-9a9d-1565ce8666d9" providerId="ADAL" clId="{DC1DB158-BAB1-5930-B714-AEF472873853}" dt="2026-02-24T14:18:09.737" v="432" actId="114"/>
          <ac:spMkLst>
            <pc:docMk/>
            <pc:sldMk cId="1564657787" sldId="286"/>
            <ac:spMk id="2" creationId="{00000000-0000-0000-0000-000000000000}"/>
          </ac:spMkLst>
        </pc:spChg>
      </pc:sldChg>
      <pc:sldChg chg="modSp">
        <pc:chgData name="Colon, Jeffrey M." userId="615143b1-cdee-493d-9a9d-1565ce8666d9" providerId="ADAL" clId="{DC1DB158-BAB1-5930-B714-AEF472873853}" dt="2026-02-16T02:06:19.731" v="219" actId="20577"/>
        <pc:sldMkLst>
          <pc:docMk/>
          <pc:sldMk cId="3825100612" sldId="290"/>
        </pc:sldMkLst>
        <pc:spChg chg="mod">
          <ac:chgData name="Colon, Jeffrey M." userId="615143b1-cdee-493d-9a9d-1565ce8666d9" providerId="ADAL" clId="{DC1DB158-BAB1-5930-B714-AEF472873853}" dt="2026-02-16T02:06:19.731" v="219" actId="20577"/>
          <ac:spMkLst>
            <pc:docMk/>
            <pc:sldMk cId="3825100612" sldId="290"/>
            <ac:spMk id="2" creationId="{E7F35FD3-50DE-754A-A966-5737688BD9A4}"/>
          </ac:spMkLst>
        </pc:spChg>
      </pc:sldChg>
      <pc:sldChg chg="modSp">
        <pc:chgData name="Colon, Jeffrey M." userId="615143b1-cdee-493d-9a9d-1565ce8666d9" providerId="ADAL" clId="{DC1DB158-BAB1-5930-B714-AEF472873853}" dt="2026-02-24T00:48:39.132" v="406" actId="113"/>
        <pc:sldMkLst>
          <pc:docMk/>
          <pc:sldMk cId="1465351913" sldId="292"/>
        </pc:sldMkLst>
        <pc:spChg chg="mod">
          <ac:chgData name="Colon, Jeffrey M." userId="615143b1-cdee-493d-9a9d-1565ce8666d9" providerId="ADAL" clId="{DC1DB158-BAB1-5930-B714-AEF472873853}" dt="2026-02-24T00:48:39.132" v="406" actId="113"/>
          <ac:spMkLst>
            <pc:docMk/>
            <pc:sldMk cId="1465351913" sldId="292"/>
            <ac:spMk id="2" creationId="{E7AA56FF-D746-BCCB-A1C3-5AE1EC09FE94}"/>
          </ac:spMkLst>
        </pc:spChg>
      </pc:sldChg>
      <pc:sldChg chg="addSp delSp modSp new mod">
        <pc:chgData name="Colon, Jeffrey M." userId="615143b1-cdee-493d-9a9d-1565ce8666d9" providerId="ADAL" clId="{DC1DB158-BAB1-5930-B714-AEF472873853}" dt="2026-02-15T14:27:02.174" v="31" actId="14100"/>
        <pc:sldMkLst>
          <pc:docMk/>
          <pc:sldMk cId="3850320528" sldId="293"/>
        </pc:sldMkLst>
        <pc:spChg chg="mod">
          <ac:chgData name="Colon, Jeffrey M." userId="615143b1-cdee-493d-9a9d-1565ce8666d9" providerId="ADAL" clId="{DC1DB158-BAB1-5930-B714-AEF472873853}" dt="2026-02-15T14:25:45.631" v="25" actId="20577"/>
          <ac:spMkLst>
            <pc:docMk/>
            <pc:sldMk cId="3850320528" sldId="293"/>
            <ac:spMk id="3" creationId="{70D30399-54E6-60CA-A29C-F519D88D60C7}"/>
          </ac:spMkLst>
        </pc:spChg>
        <pc:picChg chg="add mod ord">
          <ac:chgData name="Colon, Jeffrey M." userId="615143b1-cdee-493d-9a9d-1565ce8666d9" providerId="ADAL" clId="{DC1DB158-BAB1-5930-B714-AEF472873853}" dt="2026-02-15T14:27:02.174" v="31" actId="14100"/>
          <ac:picMkLst>
            <pc:docMk/>
            <pc:sldMk cId="3850320528" sldId="293"/>
            <ac:picMk id="7" creationId="{2143BD94-AF61-99CD-91F3-3571CB2C1164}"/>
          </ac:picMkLst>
        </pc:picChg>
      </pc:sldChg>
      <pc:sldMasterChg chg="modSp mod">
        <pc:chgData name="Colon, Jeffrey M." userId="615143b1-cdee-493d-9a9d-1565ce8666d9" providerId="ADAL" clId="{DC1DB158-BAB1-5930-B714-AEF472873853}" dt="2026-02-15T14:08:52.034" v="3" actId="20577"/>
        <pc:sldMasterMkLst>
          <pc:docMk/>
          <pc:sldMasterMk cId="371776349" sldId="2147483660"/>
        </pc:sldMasterMkLst>
        <pc:spChg chg="mod">
          <ac:chgData name="Colon, Jeffrey M." userId="615143b1-cdee-493d-9a9d-1565ce8666d9" providerId="ADAL" clId="{DC1DB158-BAB1-5930-B714-AEF472873853}" dt="2026-02-15T14:08:52.034" v="3" actId="20577"/>
          <ac:spMkLst>
            <pc:docMk/>
            <pc:sldMasterMk cId="371776349" sldId="2147483660"/>
            <ac:spMk id="9" creationId="{00000000-0000-0000-0000-000000000000}"/>
          </ac:spMkLst>
        </pc:sp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3408"/>
          </a:xfrm>
          <a:prstGeom prst="rect">
            <a:avLst/>
          </a:prstGeom>
        </p:spPr>
        <p:txBody>
          <a:bodyPr vert="horz" lIns="92830" tIns="46415" rIns="92830" bIns="46415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3408"/>
          </a:xfrm>
          <a:prstGeom prst="rect">
            <a:avLst/>
          </a:prstGeom>
        </p:spPr>
        <p:txBody>
          <a:bodyPr vert="horz" lIns="92830" tIns="46415" rIns="92830" bIns="46415" rtlCol="0"/>
          <a:lstStyle>
            <a:lvl1pPr algn="r">
              <a:defRPr sz="1200"/>
            </a:lvl1pPr>
          </a:lstStyle>
          <a:p>
            <a:fld id="{F10024FF-F3BD-FE46-AA3D-5D319904FD4D}" type="datetimeFigureOut">
              <a:rPr lang="en-US" smtClean="0"/>
              <a:t>2/23/26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33425" y="1154113"/>
            <a:ext cx="5543550" cy="31178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830" tIns="46415" rIns="92830" bIns="46415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44861"/>
            <a:ext cx="5608320" cy="3636705"/>
          </a:xfrm>
          <a:prstGeom prst="rect">
            <a:avLst/>
          </a:prstGeom>
        </p:spPr>
        <p:txBody>
          <a:bodyPr vert="horz" lIns="92830" tIns="46415" rIns="92830" bIns="46415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772669"/>
            <a:ext cx="3037840" cy="463407"/>
          </a:xfrm>
          <a:prstGeom prst="rect">
            <a:avLst/>
          </a:prstGeom>
        </p:spPr>
        <p:txBody>
          <a:bodyPr vert="horz" lIns="92830" tIns="46415" rIns="92830" bIns="46415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772669"/>
            <a:ext cx="3037840" cy="463407"/>
          </a:xfrm>
          <a:prstGeom prst="rect">
            <a:avLst/>
          </a:prstGeom>
        </p:spPr>
        <p:txBody>
          <a:bodyPr vert="horz" lIns="92830" tIns="46415" rIns="92830" bIns="46415" rtlCol="0" anchor="b"/>
          <a:lstStyle>
            <a:lvl1pPr algn="r">
              <a:defRPr sz="1200"/>
            </a:lvl1pPr>
          </a:lstStyle>
          <a:p>
            <a:fld id="{D677CC9A-0057-2743-8872-8C9F0C8957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0481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2991C84-E9AD-4349-A89D-CDCB4DBB2B68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591572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2991C84-E9AD-4349-A89D-CDCB4DBB2B68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556664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77CC9A-0057-2743-8872-8C9F0C8957E2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10083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1"/>
          <p:cNvSpPr txBox="1">
            <a:spLocks noChangeArrowheads="1"/>
          </p:cNvSpPr>
          <p:nvPr userDrawn="1"/>
        </p:nvSpPr>
        <p:spPr bwMode="auto">
          <a:xfrm>
            <a:off x="0" y="914400"/>
            <a:ext cx="12192000" cy="369888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alpha val="0"/>
              </a:schemeClr>
            </a:solidFill>
            <a:miter lim="800000"/>
            <a:headEnd/>
            <a:tailEnd/>
          </a:ln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 eaLnBrk="1" hangingPunct="1"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3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algn="r">
              <a:defRPr/>
            </a:lvl1pPr>
          </a:lstStyle>
          <a:p>
            <a:fld id="{22D706CB-156B-8643-9A07-D8448DABBCBD}" type="slidenum">
              <a:rPr lang="en-US" altLang="en-US" smtClean="0"/>
              <a:pPr/>
              <a:t>‹#›</a:t>
            </a:fld>
            <a:endParaRPr lang="en-US" alt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4165600" y="6474733"/>
            <a:ext cx="3860800" cy="288925"/>
          </a:xfrm>
        </p:spPr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Taxation of C Corporations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225FBEE-0AE8-5854-1122-E66C7E7012BB}"/>
              </a:ext>
            </a:extLst>
          </p:cNvPr>
          <p:cNvSpPr txBox="1"/>
          <p:nvPr userDrawn="1"/>
        </p:nvSpPr>
        <p:spPr>
          <a:xfrm>
            <a:off x="665018" y="6567055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592511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>
            <a:off x="512064" y="533400"/>
            <a:ext cx="11277600" cy="5812064"/>
          </a:xfrm>
          <a:prstGeom prst="rect">
            <a:avLst/>
          </a:prstGeom>
        </p:spPr>
        <p:txBody>
          <a:bodyPr/>
          <a:lstStyle>
            <a:lvl1pPr marL="228600" indent="-228600" algn="just" defTabSz="914400" rtl="0" eaLnBrk="1" latinLnBrk="0" hangingPunct="1">
              <a:spcBef>
                <a:spcPct val="20000"/>
              </a:spcBef>
              <a:buClr>
                <a:srgbClr val="B01C2E"/>
              </a:buClr>
              <a:buSzPct val="60000"/>
              <a:buFont typeface="Wingdings 2" pitchFamily="18" charset="2"/>
              <a:buChar char=""/>
              <a:defRPr lang="en-US" sz="2400" kern="1200" dirty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1pPr>
            <a:lvl2pPr marL="457200" indent="-228600" algn="just">
              <a:buClr>
                <a:srgbClr val="B01C2E"/>
              </a:buClr>
              <a:buSzPct val="60000"/>
              <a:buFont typeface="Wingdings" charset="2"/>
              <a:buChar char="Ø"/>
              <a:defRPr lang="en-US" sz="2200" kern="120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2pPr>
            <a:lvl3pPr marL="685800" indent="-228600" algn="just">
              <a:buClr>
                <a:srgbClr val="B01C2E"/>
              </a:buClr>
              <a:buSzPct val="60000"/>
              <a:buFont typeface="Courier New" charset="0"/>
              <a:buChar char="o"/>
              <a:defRPr lang="en-US" sz="2200" kern="1200" baseline="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3pPr>
            <a:lvl4pPr marL="914400" indent="-228600" algn="just">
              <a:buClr>
                <a:srgbClr val="B01C2E"/>
              </a:buClr>
              <a:buSzPct val="60000"/>
              <a:buFont typeface="Arial" charset="0"/>
              <a:buChar char="•"/>
              <a:defRPr lang="en-US" sz="2000" kern="1200" baseline="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4pPr>
            <a:lvl5pPr marL="1143000" algn="just">
              <a:buClr>
                <a:srgbClr val="B01C2E"/>
              </a:buClr>
              <a:buSzPct val="60000"/>
              <a:buFont typeface="Calibri" pitchFamily="34" charset="0"/>
              <a:buChar char="–"/>
              <a:defRPr lang="en-US" sz="2000" kern="120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12064" y="41933"/>
            <a:ext cx="11277600" cy="36512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marL="0" indent="0" algn="l">
              <a:tabLst>
                <a:tab pos="395288" algn="l"/>
              </a:tabLst>
              <a:defRPr sz="2200" b="1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5" name="Slide Number Placeholder 9"/>
          <p:cNvSpPr>
            <a:spLocks noGrp="1"/>
          </p:cNvSpPr>
          <p:nvPr>
            <p:ph type="sldNum" sz="quarter" idx="10"/>
          </p:nvPr>
        </p:nvSpPr>
        <p:spPr>
          <a:xfrm>
            <a:off x="11180064" y="6471105"/>
            <a:ext cx="609600" cy="365125"/>
          </a:xfrm>
        </p:spPr>
        <p:txBody>
          <a:bodyPr/>
          <a:lstStyle>
            <a:lvl1pPr algn="r">
              <a:defRPr/>
            </a:lvl1pPr>
          </a:lstStyle>
          <a:p>
            <a:fld id="{7B3E355C-57B9-BC4B-95D8-406A1F834537}" type="slidenum">
              <a:rPr lang="en-US" altLang="en-US" smtClean="0"/>
              <a:pPr/>
              <a:t>‹#›</a:t>
            </a:fld>
            <a:endParaRPr lang="en-US" altLang="en-US" dirty="0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 dirty="0"/>
              <a:t>Taxation of C Corporations</a:t>
            </a:r>
          </a:p>
        </p:txBody>
      </p:sp>
      <p:sp>
        <p:nvSpPr>
          <p:cNvPr id="8" name="Rectangle 7"/>
          <p:cNvSpPr/>
          <p:nvPr userDrawn="1"/>
        </p:nvSpPr>
        <p:spPr>
          <a:xfrm>
            <a:off x="512064" y="407060"/>
            <a:ext cx="11277600" cy="91169"/>
          </a:xfrm>
          <a:prstGeom prst="rect">
            <a:avLst/>
          </a:prstGeom>
          <a:solidFill>
            <a:schemeClr val="accent1">
              <a:alpha val="69000"/>
            </a:schemeClr>
          </a:solidFill>
          <a:ln w="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8E1DE72-46B0-F83E-C31F-F5619A191B94}"/>
              </a:ext>
            </a:extLst>
          </p:cNvPr>
          <p:cNvSpPr txBox="1"/>
          <p:nvPr userDrawn="1"/>
        </p:nvSpPr>
        <p:spPr>
          <a:xfrm>
            <a:off x="442127" y="6611815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0567130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y S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08000" y="2"/>
            <a:ext cx="11281664" cy="381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 b="1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9" name="Content Placeholder 10"/>
          <p:cNvSpPr>
            <a:spLocks noGrp="1"/>
          </p:cNvSpPr>
          <p:nvPr>
            <p:ph sz="quarter" idx="16"/>
          </p:nvPr>
        </p:nvSpPr>
        <p:spPr>
          <a:xfrm>
            <a:off x="508000" y="835131"/>
            <a:ext cx="5486400" cy="5491091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Pct val="60000"/>
              <a:buFont typeface="Wingdings 2" pitchFamily="18" charset="2"/>
              <a:buChar char=""/>
              <a:tabLst/>
              <a:defRPr sz="2000">
                <a:latin typeface="Calibri" charset="0"/>
                <a:ea typeface="Calibri" charset="0"/>
                <a:cs typeface="Calibri" charset="0"/>
              </a:defRPr>
            </a:lvl1pPr>
            <a:lvl2pPr marL="457200" indent="-228600">
              <a:buClr>
                <a:schemeClr val="accent1"/>
              </a:buClr>
              <a:buSzPct val="60000"/>
              <a:buFont typeface="Wingdings" charset="2"/>
              <a:buChar char="Ø"/>
              <a:defRPr lang="en-US" sz="2000" kern="120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2pPr>
            <a:lvl3pPr marL="685800" indent="-228600">
              <a:buClr>
                <a:schemeClr val="accent1"/>
              </a:buClr>
              <a:buSzPct val="60000"/>
              <a:buFont typeface="Courier New" charset="0"/>
              <a:buChar char="o"/>
              <a:defRPr sz="2000">
                <a:latin typeface="Calibri" charset="0"/>
                <a:ea typeface="Calibri" charset="0"/>
                <a:cs typeface="Calibri" charset="0"/>
              </a:defRPr>
            </a:lvl3pPr>
            <a:lvl4pPr marL="914400" indent="-228600">
              <a:buClr>
                <a:schemeClr val="accent1"/>
              </a:buClr>
              <a:buSzPct val="60000"/>
              <a:buFont typeface="Arial" charset="0"/>
              <a:buChar char="•"/>
              <a:defRPr sz="2000">
                <a:latin typeface="Calibri" charset="0"/>
                <a:ea typeface="Calibri" charset="0"/>
                <a:cs typeface="Calibri" charset="0"/>
              </a:defRPr>
            </a:lvl4pPr>
            <a:lvl5pPr marL="1143000">
              <a:buClr>
                <a:schemeClr val="accent1"/>
              </a:buClr>
              <a:buSzPct val="60000"/>
              <a:buFont typeface="Arial" pitchFamily="34" charset="0"/>
              <a:buChar char="–"/>
              <a:defRPr sz="2000">
                <a:latin typeface="Calibri" charset="0"/>
                <a:ea typeface="Calibri" charset="0"/>
                <a:cs typeface="Calibri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10"/>
          <p:cNvSpPr>
            <a:spLocks noGrp="1"/>
          </p:cNvSpPr>
          <p:nvPr>
            <p:ph sz="quarter" idx="17"/>
          </p:nvPr>
        </p:nvSpPr>
        <p:spPr>
          <a:xfrm>
            <a:off x="6197600" y="835132"/>
            <a:ext cx="5592064" cy="5485238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Pct val="60000"/>
              <a:buFont typeface="Wingdings 2" pitchFamily="18" charset="2"/>
              <a:buChar char=""/>
              <a:tabLst/>
              <a:defRPr sz="2000">
                <a:latin typeface="Calibri" charset="0"/>
                <a:ea typeface="Calibri" charset="0"/>
                <a:cs typeface="Calibri" charset="0"/>
              </a:defRPr>
            </a:lvl1pPr>
            <a:lvl2pPr marL="457200" indent="-228600">
              <a:buClr>
                <a:schemeClr val="accent1"/>
              </a:buClr>
              <a:buSzPct val="60000"/>
              <a:buFont typeface="Wingdings" charset="2"/>
              <a:buChar char="Ø"/>
              <a:defRPr lang="en-US" sz="2000" kern="120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2pPr>
            <a:lvl3pPr marL="685800" indent="-228600">
              <a:buClr>
                <a:schemeClr val="accent1"/>
              </a:buClr>
              <a:buSzPct val="60000"/>
              <a:buFont typeface="Courier New" charset="0"/>
              <a:buChar char="o"/>
              <a:defRPr sz="2000">
                <a:latin typeface="Calibri" charset="0"/>
                <a:ea typeface="Calibri" charset="0"/>
                <a:cs typeface="Calibri" charset="0"/>
              </a:defRPr>
            </a:lvl3pPr>
            <a:lvl4pPr marL="914400" indent="-228600">
              <a:buClr>
                <a:schemeClr val="accent1"/>
              </a:buClr>
              <a:buSzPct val="60000"/>
              <a:buFont typeface="Arial" charset="0"/>
              <a:buChar char="•"/>
              <a:defRPr sz="2000">
                <a:latin typeface="Calibri" charset="0"/>
                <a:ea typeface="Calibri" charset="0"/>
                <a:cs typeface="Calibri" charset="0"/>
              </a:defRPr>
            </a:lvl4pPr>
            <a:lvl5pPr marL="1143000">
              <a:buClr>
                <a:schemeClr val="accent1"/>
              </a:buClr>
              <a:buSzPct val="60000"/>
              <a:buFont typeface="Arial" pitchFamily="34" charset="0"/>
              <a:buChar char="–"/>
              <a:defRPr sz="2000">
                <a:latin typeface="Calibri" charset="0"/>
                <a:ea typeface="Calibri" charset="0"/>
                <a:cs typeface="Calibri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lide Number Placeholder 9"/>
          <p:cNvSpPr>
            <a:spLocks noGrp="1"/>
          </p:cNvSpPr>
          <p:nvPr>
            <p:ph type="sldNum" sz="quarter" idx="18"/>
          </p:nvPr>
        </p:nvSpPr>
        <p:spPr/>
        <p:txBody>
          <a:bodyPr/>
          <a:lstStyle>
            <a:lvl1pPr>
              <a:defRPr/>
            </a:lvl1pPr>
          </a:lstStyle>
          <a:p>
            <a:fld id="{463EAD6B-1B79-144E-A805-1CA6FF1F03FA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6" name="Footer Placeholder 12"/>
          <p:cNvSpPr>
            <a:spLocks noGrp="1"/>
          </p:cNvSpPr>
          <p:nvPr>
            <p:ph type="ftr" sz="quarter" idx="19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Taxation of C Corporations</a:t>
            </a:r>
          </a:p>
        </p:txBody>
      </p:sp>
      <p:sp>
        <p:nvSpPr>
          <p:cNvPr id="2" name="TextBox 1"/>
          <p:cNvSpPr txBox="1"/>
          <p:nvPr userDrawn="1"/>
        </p:nvSpPr>
        <p:spPr>
          <a:xfrm>
            <a:off x="2748039" y="53702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sz="1800" dirty="0"/>
          </a:p>
        </p:txBody>
      </p:sp>
      <p:sp>
        <p:nvSpPr>
          <p:cNvPr id="8" name="Rectangle 7"/>
          <p:cNvSpPr/>
          <p:nvPr userDrawn="1"/>
        </p:nvSpPr>
        <p:spPr>
          <a:xfrm>
            <a:off x="512064" y="407060"/>
            <a:ext cx="11277600" cy="91169"/>
          </a:xfrm>
          <a:prstGeom prst="rect">
            <a:avLst/>
          </a:prstGeom>
          <a:solidFill>
            <a:schemeClr val="accent1">
              <a:alpha val="69000"/>
            </a:schemeClr>
          </a:solidFill>
          <a:ln w="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</p:spTree>
    <p:extLst>
      <p:ext uri="{BB962C8B-B14F-4D97-AF65-F5344CB8AC3E}">
        <p14:creationId xmlns:p14="http://schemas.microsoft.com/office/powerpoint/2010/main" val="18748995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Top / One Bot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/>
          <p:cNvSpPr>
            <a:spLocks noGrp="1"/>
          </p:cNvSpPr>
          <p:nvPr>
            <p:ph sz="quarter" idx="16"/>
          </p:nvPr>
        </p:nvSpPr>
        <p:spPr>
          <a:xfrm>
            <a:off x="508000" y="1417320"/>
            <a:ext cx="5486400" cy="22860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0"/>
          <p:cNvSpPr>
            <a:spLocks noGrp="1"/>
          </p:cNvSpPr>
          <p:nvPr>
            <p:ph sz="quarter" idx="17"/>
          </p:nvPr>
        </p:nvSpPr>
        <p:spPr>
          <a:xfrm>
            <a:off x="6197600" y="1417320"/>
            <a:ext cx="5486400" cy="22860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0"/>
          <p:cNvSpPr>
            <a:spLocks noGrp="1"/>
          </p:cNvSpPr>
          <p:nvPr>
            <p:ph sz="quarter" idx="18"/>
          </p:nvPr>
        </p:nvSpPr>
        <p:spPr>
          <a:xfrm>
            <a:off x="508000" y="3886200"/>
            <a:ext cx="11176000" cy="22860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lide Number Placeholder 9"/>
          <p:cNvSpPr>
            <a:spLocks noGrp="1"/>
          </p:cNvSpPr>
          <p:nvPr>
            <p:ph type="sldNum" sz="quarter" idx="19"/>
          </p:nvPr>
        </p:nvSpPr>
        <p:spPr/>
        <p:txBody>
          <a:bodyPr/>
          <a:lstStyle>
            <a:lvl1pPr>
              <a:defRPr/>
            </a:lvl1pPr>
          </a:lstStyle>
          <a:p>
            <a:fld id="{DBDD9035-58B9-F243-8D2E-5AB7C4167337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8" name="Footer Placeholder 12"/>
          <p:cNvSpPr>
            <a:spLocks noGrp="1"/>
          </p:cNvSpPr>
          <p:nvPr>
            <p:ph type="ftr" sz="quarter" idx="2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Taxation of C Corporations</a:t>
            </a:r>
          </a:p>
        </p:txBody>
      </p:sp>
    </p:spTree>
    <p:extLst>
      <p:ext uri="{BB962C8B-B14F-4D97-AF65-F5344CB8AC3E}">
        <p14:creationId xmlns:p14="http://schemas.microsoft.com/office/powerpoint/2010/main" val="19375077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Left / One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/>
          <p:cNvSpPr>
            <a:spLocks noGrp="1"/>
          </p:cNvSpPr>
          <p:nvPr>
            <p:ph sz="quarter" idx="17"/>
          </p:nvPr>
        </p:nvSpPr>
        <p:spPr>
          <a:xfrm>
            <a:off x="6197600" y="1417320"/>
            <a:ext cx="5486400" cy="48006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2"/>
          <p:cNvSpPr>
            <a:spLocks noGrp="1"/>
          </p:cNvSpPr>
          <p:nvPr>
            <p:ph sz="quarter" idx="18"/>
          </p:nvPr>
        </p:nvSpPr>
        <p:spPr>
          <a:xfrm>
            <a:off x="508000" y="1417320"/>
            <a:ext cx="5486400" cy="22860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Content Placeholder 12"/>
          <p:cNvSpPr>
            <a:spLocks noGrp="1"/>
          </p:cNvSpPr>
          <p:nvPr>
            <p:ph sz="quarter" idx="19"/>
          </p:nvPr>
        </p:nvSpPr>
        <p:spPr>
          <a:xfrm>
            <a:off x="508000" y="3931920"/>
            <a:ext cx="5486400" cy="22860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lide Number Placeholder 9"/>
          <p:cNvSpPr>
            <a:spLocks noGrp="1"/>
          </p:cNvSpPr>
          <p:nvPr>
            <p:ph type="sldNum" sz="quarter" idx="20"/>
          </p:nvPr>
        </p:nvSpPr>
        <p:spPr/>
        <p:txBody>
          <a:bodyPr/>
          <a:lstStyle>
            <a:lvl1pPr>
              <a:defRPr/>
            </a:lvl1pPr>
          </a:lstStyle>
          <a:p>
            <a:fld id="{6C93E8D5-2692-0D44-9EA4-C6015F0C54D7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8" name="Footer Placeholder 12"/>
          <p:cNvSpPr>
            <a:spLocks noGrp="1"/>
          </p:cNvSpPr>
          <p:nvPr>
            <p:ph type="ftr" sz="quarter" idx="2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Taxation of C Corporations</a:t>
            </a:r>
          </a:p>
        </p:txBody>
      </p:sp>
    </p:spTree>
    <p:extLst>
      <p:ext uri="{BB962C8B-B14F-4D97-AF65-F5344CB8AC3E}">
        <p14:creationId xmlns:p14="http://schemas.microsoft.com/office/powerpoint/2010/main" val="6208757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395527EB-3756-C241-BFD3-DBB1E111190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4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Taxation of C Corporations</a:t>
            </a:r>
          </a:p>
        </p:txBody>
      </p:sp>
    </p:spTree>
    <p:extLst>
      <p:ext uri="{BB962C8B-B14F-4D97-AF65-F5344CB8AC3E}">
        <p14:creationId xmlns:p14="http://schemas.microsoft.com/office/powerpoint/2010/main" val="8981844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ide by Side w/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512064" y="805002"/>
            <a:ext cx="5386917" cy="38039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600" b="1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6299200" y="814835"/>
            <a:ext cx="5386917" cy="38039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600" b="1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0"/>
          </p:nvPr>
        </p:nvSpPr>
        <p:spPr>
          <a:xfrm>
            <a:off x="505883" y="1195227"/>
            <a:ext cx="5388864" cy="4955707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Content Placeholder 10"/>
          <p:cNvSpPr>
            <a:spLocks noGrp="1"/>
          </p:cNvSpPr>
          <p:nvPr>
            <p:ph sz="quarter" idx="21"/>
          </p:nvPr>
        </p:nvSpPr>
        <p:spPr>
          <a:xfrm>
            <a:off x="6299200" y="1195227"/>
            <a:ext cx="5388864" cy="4955707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/>
            </a:lvl1pPr>
          </a:lstStyle>
          <a:p>
            <a:fld id="{856F0A94-AD2E-974D-AF6B-04AF335E854A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23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Taxation of C Corporations</a:t>
            </a:r>
          </a:p>
        </p:txBody>
      </p:sp>
      <p:sp>
        <p:nvSpPr>
          <p:cNvPr id="15" name="Rectangle 14"/>
          <p:cNvSpPr/>
          <p:nvPr userDrawn="1"/>
        </p:nvSpPr>
        <p:spPr>
          <a:xfrm>
            <a:off x="512064" y="407060"/>
            <a:ext cx="11277600" cy="91169"/>
          </a:xfrm>
          <a:prstGeom prst="rect">
            <a:avLst/>
          </a:prstGeom>
          <a:solidFill>
            <a:schemeClr val="accent1">
              <a:alpha val="69000"/>
            </a:schemeClr>
          </a:solidFill>
          <a:ln w="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1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12064" y="2"/>
            <a:ext cx="11277600" cy="38959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 b="1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5709385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y Side w/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505883" y="1371600"/>
            <a:ext cx="5386917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6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6299200" y="1371600"/>
            <a:ext cx="5386917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6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0"/>
          </p:nvPr>
        </p:nvSpPr>
        <p:spPr>
          <a:xfrm>
            <a:off x="505883" y="1807534"/>
            <a:ext cx="5388864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Content Placeholder 10"/>
          <p:cNvSpPr>
            <a:spLocks noGrp="1"/>
          </p:cNvSpPr>
          <p:nvPr>
            <p:ph sz="quarter" idx="21"/>
          </p:nvPr>
        </p:nvSpPr>
        <p:spPr>
          <a:xfrm>
            <a:off x="6299200" y="1807534"/>
            <a:ext cx="5388864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/>
            </a:lvl1pPr>
          </a:lstStyle>
          <a:p>
            <a:fld id="{856F0A94-AD2E-974D-AF6B-04AF335E854A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23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Taxation of C Corporations</a:t>
            </a:r>
          </a:p>
        </p:txBody>
      </p:sp>
    </p:spTree>
    <p:extLst>
      <p:ext uri="{BB962C8B-B14F-4D97-AF65-F5344CB8AC3E}">
        <p14:creationId xmlns:p14="http://schemas.microsoft.com/office/powerpoint/2010/main" val="625434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y Side Arrow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ight Arrow 9"/>
          <p:cNvSpPr/>
          <p:nvPr userDrawn="1"/>
        </p:nvSpPr>
        <p:spPr bwMode="auto">
          <a:xfrm>
            <a:off x="5384800" y="3046413"/>
            <a:ext cx="1320800" cy="1009650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505883" y="1371600"/>
            <a:ext cx="4876800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6705600" y="1371600"/>
            <a:ext cx="4876800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10"/>
          <p:cNvSpPr>
            <a:spLocks noGrp="1"/>
          </p:cNvSpPr>
          <p:nvPr>
            <p:ph sz="quarter" idx="20"/>
          </p:nvPr>
        </p:nvSpPr>
        <p:spPr>
          <a:xfrm>
            <a:off x="505883" y="1807534"/>
            <a:ext cx="487680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0"/>
          <p:cNvSpPr>
            <a:spLocks noGrp="1"/>
          </p:cNvSpPr>
          <p:nvPr>
            <p:ph sz="quarter" idx="21"/>
          </p:nvPr>
        </p:nvSpPr>
        <p:spPr>
          <a:xfrm>
            <a:off x="6705600" y="1828800"/>
            <a:ext cx="487680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Slide Number Placeholder 2"/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/>
            </a:lvl1pPr>
          </a:lstStyle>
          <a:p>
            <a:fld id="{652385A1-7A9F-1D44-AA51-16856D64E5B5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4" name="Footer Placeholder 9"/>
          <p:cNvSpPr>
            <a:spLocks noGrp="1"/>
          </p:cNvSpPr>
          <p:nvPr>
            <p:ph type="ftr" sz="quarter" idx="23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Taxation of C Corporations</a:t>
            </a:r>
          </a:p>
        </p:txBody>
      </p:sp>
    </p:spTree>
    <p:extLst>
      <p:ext uri="{BB962C8B-B14F-4D97-AF65-F5344CB8AC3E}">
        <p14:creationId xmlns:p14="http://schemas.microsoft.com/office/powerpoint/2010/main" val="20245206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y Side Double Arr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ight Arrow 8"/>
          <p:cNvSpPr/>
          <p:nvPr userDrawn="1"/>
        </p:nvSpPr>
        <p:spPr bwMode="auto">
          <a:xfrm>
            <a:off x="5359125" y="2692959"/>
            <a:ext cx="1326383" cy="1022294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scene3d>
            <a:camera prst="orthographicFront"/>
            <a:lightRig rig="threePt" dir="t"/>
          </a:scene3d>
          <a:sp3d prstMaterial="dkEdge"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2" name="Right Arrow 11"/>
          <p:cNvSpPr/>
          <p:nvPr userDrawn="1"/>
        </p:nvSpPr>
        <p:spPr bwMode="auto">
          <a:xfrm rot="10800000">
            <a:off x="5427337" y="3778176"/>
            <a:ext cx="1353183" cy="1022289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scene3d>
            <a:camera prst="orthographicFront"/>
            <a:lightRig rig="threePt" dir="t"/>
          </a:scene3d>
          <a:sp3d prstMaterial="dkEdge"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505883" y="1371600"/>
            <a:ext cx="4876800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6705600" y="1371600"/>
            <a:ext cx="4876800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0"/>
          </p:nvPr>
        </p:nvSpPr>
        <p:spPr>
          <a:xfrm>
            <a:off x="505883" y="1807534"/>
            <a:ext cx="487680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Content Placeholder 10"/>
          <p:cNvSpPr>
            <a:spLocks noGrp="1"/>
          </p:cNvSpPr>
          <p:nvPr>
            <p:ph sz="quarter" idx="21"/>
          </p:nvPr>
        </p:nvSpPr>
        <p:spPr>
          <a:xfrm>
            <a:off x="6705600" y="1807534"/>
            <a:ext cx="487680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Slide Number Placeholder 2"/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/>
            </a:lvl1pPr>
          </a:lstStyle>
          <a:p>
            <a:fld id="{0A6B8188-A85F-5349-B14D-08361E6A7245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5" name="Footer Placeholder 14"/>
          <p:cNvSpPr>
            <a:spLocks noGrp="1"/>
          </p:cNvSpPr>
          <p:nvPr>
            <p:ph type="ftr" sz="quarter" idx="23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Taxation of C Corporations</a:t>
            </a:r>
          </a:p>
        </p:txBody>
      </p:sp>
    </p:spTree>
    <p:extLst>
      <p:ext uri="{BB962C8B-B14F-4D97-AF65-F5344CB8AC3E}">
        <p14:creationId xmlns:p14="http://schemas.microsoft.com/office/powerpoint/2010/main" val="12101124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Top Arrow to Two Bot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ight Arrow 9"/>
          <p:cNvSpPr/>
          <p:nvPr userDrawn="1"/>
        </p:nvSpPr>
        <p:spPr bwMode="auto">
          <a:xfrm rot="5400000">
            <a:off x="5768941" y="3106216"/>
            <a:ext cx="654118" cy="1363059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scene3d>
            <a:camera prst="orthographicFront"/>
            <a:lightRig rig="threePt" dir="t"/>
          </a:scene3d>
          <a:sp3d prstMaterial="dkEdge"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16"/>
          </p:nvPr>
        </p:nvSpPr>
        <p:spPr>
          <a:xfrm>
            <a:off x="609600" y="4479952"/>
            <a:ext cx="5181600" cy="164592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0"/>
          <p:cNvSpPr>
            <a:spLocks noGrp="1"/>
          </p:cNvSpPr>
          <p:nvPr>
            <p:ph sz="quarter" idx="17"/>
          </p:nvPr>
        </p:nvSpPr>
        <p:spPr>
          <a:xfrm>
            <a:off x="6400800" y="4479952"/>
            <a:ext cx="5181600" cy="164592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0"/>
          <p:cNvSpPr>
            <a:spLocks noGrp="1"/>
          </p:cNvSpPr>
          <p:nvPr>
            <p:ph sz="quarter" idx="18"/>
          </p:nvPr>
        </p:nvSpPr>
        <p:spPr>
          <a:xfrm>
            <a:off x="609600" y="1807534"/>
            <a:ext cx="10972800" cy="16459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3"/>
          </p:nvPr>
        </p:nvSpPr>
        <p:spPr>
          <a:xfrm>
            <a:off x="609600" y="1417320"/>
            <a:ext cx="109728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609600" y="4114800"/>
            <a:ext cx="51816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2"/>
          <p:cNvSpPr>
            <a:spLocks noGrp="1"/>
          </p:cNvSpPr>
          <p:nvPr>
            <p:ph type="body" idx="20"/>
          </p:nvPr>
        </p:nvSpPr>
        <p:spPr>
          <a:xfrm>
            <a:off x="6400800" y="4114800"/>
            <a:ext cx="51816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21"/>
          </p:nvPr>
        </p:nvSpPr>
        <p:spPr/>
        <p:txBody>
          <a:bodyPr/>
          <a:lstStyle>
            <a:lvl1pPr>
              <a:defRPr/>
            </a:lvl1pPr>
          </a:lstStyle>
          <a:p>
            <a:fld id="{7C6F7C23-5FF9-2A4B-BF08-C1294322DB52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5"/>
          <p:cNvSpPr>
            <a:spLocks noGrp="1"/>
          </p:cNvSpPr>
          <p:nvPr>
            <p:ph type="ftr" sz="quarter" idx="2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Taxation of C Corporations</a:t>
            </a:r>
          </a:p>
        </p:txBody>
      </p:sp>
    </p:spTree>
    <p:extLst>
      <p:ext uri="{BB962C8B-B14F-4D97-AF65-F5344CB8AC3E}">
        <p14:creationId xmlns:p14="http://schemas.microsoft.com/office/powerpoint/2010/main" val="5076972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Top Arrow to One Bot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ight Arrow 9"/>
          <p:cNvSpPr/>
          <p:nvPr userDrawn="1"/>
        </p:nvSpPr>
        <p:spPr bwMode="auto">
          <a:xfrm rot="5400000">
            <a:off x="5768941" y="3106216"/>
            <a:ext cx="654118" cy="1363059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scene3d>
            <a:camera prst="orthographicFront"/>
            <a:lightRig rig="threePt" dir="t"/>
          </a:scene3d>
          <a:sp3d prstMaterial="dkEdge"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16"/>
          </p:nvPr>
        </p:nvSpPr>
        <p:spPr>
          <a:xfrm>
            <a:off x="609600" y="1783080"/>
            <a:ext cx="5181600" cy="164592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0"/>
          <p:cNvSpPr>
            <a:spLocks noGrp="1"/>
          </p:cNvSpPr>
          <p:nvPr>
            <p:ph sz="quarter" idx="17"/>
          </p:nvPr>
        </p:nvSpPr>
        <p:spPr>
          <a:xfrm>
            <a:off x="6400800" y="1783080"/>
            <a:ext cx="5181600" cy="164592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0"/>
          <p:cNvSpPr>
            <a:spLocks noGrp="1"/>
          </p:cNvSpPr>
          <p:nvPr>
            <p:ph sz="quarter" idx="18"/>
          </p:nvPr>
        </p:nvSpPr>
        <p:spPr>
          <a:xfrm>
            <a:off x="609600" y="4505014"/>
            <a:ext cx="10972800" cy="16459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3"/>
          </p:nvPr>
        </p:nvSpPr>
        <p:spPr>
          <a:xfrm>
            <a:off x="609600" y="4114800"/>
            <a:ext cx="109728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609600" y="1417928"/>
            <a:ext cx="51816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2"/>
          <p:cNvSpPr>
            <a:spLocks noGrp="1"/>
          </p:cNvSpPr>
          <p:nvPr>
            <p:ph type="body" idx="20"/>
          </p:nvPr>
        </p:nvSpPr>
        <p:spPr>
          <a:xfrm>
            <a:off x="6400800" y="1417928"/>
            <a:ext cx="51816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21"/>
          </p:nvPr>
        </p:nvSpPr>
        <p:spPr/>
        <p:txBody>
          <a:bodyPr/>
          <a:lstStyle>
            <a:lvl1pPr>
              <a:defRPr/>
            </a:lvl1pPr>
          </a:lstStyle>
          <a:p>
            <a:fld id="{06494A95-A7E5-E34F-8DB1-F10A4839B0B9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5"/>
          <p:cNvSpPr>
            <a:spLocks noGrp="1"/>
          </p:cNvSpPr>
          <p:nvPr>
            <p:ph type="ftr" sz="quarter" idx="2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Taxation of C Corporations</a:t>
            </a:r>
          </a:p>
        </p:txBody>
      </p:sp>
    </p:spTree>
    <p:extLst>
      <p:ext uri="{BB962C8B-B14F-4D97-AF65-F5344CB8AC3E}">
        <p14:creationId xmlns:p14="http://schemas.microsoft.com/office/powerpoint/2010/main" val="127606138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Six Palett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 Placeholder 5"/>
          <p:cNvSpPr>
            <a:spLocks noGrp="1"/>
          </p:cNvSpPr>
          <p:nvPr>
            <p:ph type="body" sz="quarter" idx="30"/>
          </p:nvPr>
        </p:nvSpPr>
        <p:spPr>
          <a:xfrm>
            <a:off x="6191251" y="4627745"/>
            <a:ext cx="51816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27"/>
          </p:nvPr>
        </p:nvSpPr>
        <p:spPr>
          <a:xfrm>
            <a:off x="501651" y="4627745"/>
            <a:ext cx="51816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5"/>
          <p:cNvSpPr>
            <a:spLocks noGrp="1"/>
          </p:cNvSpPr>
          <p:nvPr>
            <p:ph type="body" sz="quarter" idx="26"/>
          </p:nvPr>
        </p:nvSpPr>
        <p:spPr>
          <a:xfrm>
            <a:off x="501651" y="3015622"/>
            <a:ext cx="51816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5"/>
          <p:cNvSpPr>
            <a:spLocks noGrp="1"/>
          </p:cNvSpPr>
          <p:nvPr>
            <p:ph type="body" sz="quarter" idx="29"/>
          </p:nvPr>
        </p:nvSpPr>
        <p:spPr>
          <a:xfrm>
            <a:off x="6191251" y="3015622"/>
            <a:ext cx="51816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5"/>
          <p:cNvSpPr>
            <a:spLocks noGrp="1"/>
          </p:cNvSpPr>
          <p:nvPr>
            <p:ph type="body" sz="quarter" idx="28"/>
          </p:nvPr>
        </p:nvSpPr>
        <p:spPr>
          <a:xfrm>
            <a:off x="6191251" y="1403499"/>
            <a:ext cx="51816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5"/>
          <p:cNvSpPr>
            <a:spLocks noGrp="1"/>
          </p:cNvSpPr>
          <p:nvPr>
            <p:ph type="body" sz="quarter" idx="25"/>
          </p:nvPr>
        </p:nvSpPr>
        <p:spPr>
          <a:xfrm>
            <a:off x="501651" y="1403499"/>
            <a:ext cx="51816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501651" y="1676400"/>
            <a:ext cx="51816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1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501651" y="3302419"/>
            <a:ext cx="51816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2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501651" y="4914990"/>
            <a:ext cx="51816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3" name="Text Placeholder 5"/>
          <p:cNvSpPr>
            <a:spLocks noGrp="1"/>
          </p:cNvSpPr>
          <p:nvPr>
            <p:ph type="body" sz="quarter" idx="34"/>
          </p:nvPr>
        </p:nvSpPr>
        <p:spPr>
          <a:xfrm>
            <a:off x="6191251" y="1676400"/>
            <a:ext cx="51816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4" name="Text Placeholder 5"/>
          <p:cNvSpPr>
            <a:spLocks noGrp="1"/>
          </p:cNvSpPr>
          <p:nvPr>
            <p:ph type="body" sz="quarter" idx="35"/>
          </p:nvPr>
        </p:nvSpPr>
        <p:spPr>
          <a:xfrm>
            <a:off x="6191251" y="3302418"/>
            <a:ext cx="51816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5" name="Text Placeholder 5"/>
          <p:cNvSpPr>
            <a:spLocks noGrp="1"/>
          </p:cNvSpPr>
          <p:nvPr>
            <p:ph type="body" sz="quarter" idx="36"/>
          </p:nvPr>
        </p:nvSpPr>
        <p:spPr>
          <a:xfrm>
            <a:off x="6191251" y="4914990"/>
            <a:ext cx="51816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37"/>
          </p:nvPr>
        </p:nvSpPr>
        <p:spPr/>
        <p:txBody>
          <a:bodyPr/>
          <a:lstStyle>
            <a:lvl1pPr>
              <a:defRPr/>
            </a:lvl1pPr>
          </a:lstStyle>
          <a:p>
            <a:fld id="{A23329EE-AB34-E748-89A3-8E74FFF398F3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2"/>
          <p:cNvSpPr>
            <a:spLocks noGrp="1"/>
          </p:cNvSpPr>
          <p:nvPr>
            <p:ph type="ftr" sz="quarter" idx="38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Taxation of C Corporations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799333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Five Palett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5"/>
          <p:cNvSpPr>
            <a:spLocks noGrp="1"/>
          </p:cNvSpPr>
          <p:nvPr>
            <p:ph type="body" sz="quarter" idx="25"/>
          </p:nvPr>
        </p:nvSpPr>
        <p:spPr>
          <a:xfrm>
            <a:off x="601565" y="1402080"/>
            <a:ext cx="201168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1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5"/>
          <p:cNvSpPr>
            <a:spLocks noGrp="1"/>
          </p:cNvSpPr>
          <p:nvPr>
            <p:ph type="body" sz="quarter" idx="35"/>
          </p:nvPr>
        </p:nvSpPr>
        <p:spPr>
          <a:xfrm>
            <a:off x="2844800" y="1402080"/>
            <a:ext cx="201168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1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36"/>
          </p:nvPr>
        </p:nvSpPr>
        <p:spPr>
          <a:xfrm>
            <a:off x="5130360" y="1402080"/>
            <a:ext cx="201168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1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5"/>
          <p:cNvSpPr>
            <a:spLocks noGrp="1"/>
          </p:cNvSpPr>
          <p:nvPr>
            <p:ph type="body" sz="quarter" idx="37"/>
          </p:nvPr>
        </p:nvSpPr>
        <p:spPr>
          <a:xfrm>
            <a:off x="7408972" y="1402080"/>
            <a:ext cx="201168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1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5"/>
          <p:cNvSpPr>
            <a:spLocks noGrp="1"/>
          </p:cNvSpPr>
          <p:nvPr>
            <p:ph type="body" sz="quarter" idx="38"/>
          </p:nvPr>
        </p:nvSpPr>
        <p:spPr>
          <a:xfrm>
            <a:off x="9747251" y="1402080"/>
            <a:ext cx="201168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1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39"/>
          </p:nvPr>
        </p:nvSpPr>
        <p:spPr>
          <a:xfrm>
            <a:off x="601565" y="1676400"/>
            <a:ext cx="201168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1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1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100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7" name="Text Placeholder 5"/>
          <p:cNvSpPr>
            <a:spLocks noGrp="1"/>
          </p:cNvSpPr>
          <p:nvPr>
            <p:ph type="body" sz="quarter" idx="40"/>
          </p:nvPr>
        </p:nvSpPr>
        <p:spPr>
          <a:xfrm>
            <a:off x="2844800" y="1676400"/>
            <a:ext cx="201168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1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1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100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41"/>
          </p:nvPr>
        </p:nvSpPr>
        <p:spPr>
          <a:xfrm>
            <a:off x="5130360" y="1676400"/>
            <a:ext cx="201168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1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1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100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8" name="Text Placeholder 5"/>
          <p:cNvSpPr>
            <a:spLocks noGrp="1"/>
          </p:cNvSpPr>
          <p:nvPr>
            <p:ph type="body" sz="quarter" idx="42"/>
          </p:nvPr>
        </p:nvSpPr>
        <p:spPr>
          <a:xfrm>
            <a:off x="7408972" y="1676400"/>
            <a:ext cx="201168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1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1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100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9" name="Text Placeholder 5"/>
          <p:cNvSpPr>
            <a:spLocks noGrp="1"/>
          </p:cNvSpPr>
          <p:nvPr>
            <p:ph type="body" sz="quarter" idx="43"/>
          </p:nvPr>
        </p:nvSpPr>
        <p:spPr>
          <a:xfrm>
            <a:off x="9747251" y="1676400"/>
            <a:ext cx="201168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1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1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100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Slide Number Placeholder 9"/>
          <p:cNvSpPr>
            <a:spLocks noGrp="1"/>
          </p:cNvSpPr>
          <p:nvPr>
            <p:ph type="sldNum" sz="quarter" idx="44"/>
          </p:nvPr>
        </p:nvSpPr>
        <p:spPr/>
        <p:txBody>
          <a:bodyPr/>
          <a:lstStyle>
            <a:lvl1pPr>
              <a:defRPr/>
            </a:lvl1pPr>
          </a:lstStyle>
          <a:p>
            <a:fld id="{1EB3DA79-8920-3645-A529-9AD16B41E65B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9" name="Footer Placeholder 12"/>
          <p:cNvSpPr>
            <a:spLocks noGrp="1"/>
          </p:cNvSpPr>
          <p:nvPr>
            <p:ph type="ftr" sz="quarter" idx="4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Taxation of C Corporations</a:t>
            </a:r>
          </a:p>
        </p:txBody>
      </p:sp>
    </p:spTree>
    <p:extLst>
      <p:ext uri="{BB962C8B-B14F-4D97-AF65-F5344CB8AC3E}">
        <p14:creationId xmlns:p14="http://schemas.microsoft.com/office/powerpoint/2010/main" val="24485453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jor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/>
          <p:cNvSpPr>
            <a:spLocks noGrp="1"/>
          </p:cNvSpPr>
          <p:nvPr>
            <p:ph type="body" sz="quarter" idx="19"/>
          </p:nvPr>
        </p:nvSpPr>
        <p:spPr>
          <a:xfrm>
            <a:off x="609600" y="1417320"/>
            <a:ext cx="2243328" cy="150876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>
              <a:buNone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7"/>
          <p:cNvSpPr>
            <a:spLocks noGrp="1"/>
          </p:cNvSpPr>
          <p:nvPr>
            <p:ph type="body" sz="quarter" idx="21"/>
          </p:nvPr>
        </p:nvSpPr>
        <p:spPr>
          <a:xfrm>
            <a:off x="609600" y="3065544"/>
            <a:ext cx="2243328" cy="150876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>
              <a:buNone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609600" y="4713767"/>
            <a:ext cx="2243328" cy="150876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>
              <a:buNone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2844800" y="1417320"/>
            <a:ext cx="874166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2844800" y="3065543"/>
            <a:ext cx="874166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2844800" y="4713767"/>
            <a:ext cx="874166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Slide Number Placeholder 9"/>
          <p:cNvSpPr>
            <a:spLocks noGrp="1"/>
          </p:cNvSpPr>
          <p:nvPr>
            <p:ph type="sldNum" sz="quarter" idx="34"/>
          </p:nvPr>
        </p:nvSpPr>
        <p:spPr/>
        <p:txBody>
          <a:bodyPr/>
          <a:lstStyle>
            <a:lvl1pPr>
              <a:defRPr/>
            </a:lvl1pPr>
          </a:lstStyle>
          <a:p>
            <a:fld id="{055F7767-1EA1-1B4C-AF44-6A3FCE365276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1" name="Footer Placeholder 12"/>
          <p:cNvSpPr>
            <a:spLocks noGrp="1"/>
          </p:cNvSpPr>
          <p:nvPr>
            <p:ph type="ftr" sz="quarter" idx="3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Taxation of C Corporations</a:t>
            </a:r>
          </a:p>
        </p:txBody>
      </p:sp>
    </p:spTree>
    <p:extLst>
      <p:ext uri="{BB962C8B-B14F-4D97-AF65-F5344CB8AC3E}">
        <p14:creationId xmlns:p14="http://schemas.microsoft.com/office/powerpoint/2010/main" val="74160523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evr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 Placeholder 2"/>
          <p:cNvSpPr>
            <a:spLocks noGrp="1"/>
          </p:cNvSpPr>
          <p:nvPr>
            <p:ph type="body" sz="quarter" idx="12"/>
          </p:nvPr>
        </p:nvSpPr>
        <p:spPr>
          <a:xfrm>
            <a:off x="563034" y="1397000"/>
            <a:ext cx="2317751" cy="1155700"/>
          </a:xfrm>
          <a:prstGeom prst="homePlate">
            <a:avLst>
              <a:gd name="adj" fmla="val 19565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3"/>
          <p:cNvSpPr>
            <a:spLocks noGrp="1"/>
          </p:cNvSpPr>
          <p:nvPr>
            <p:ph type="body" sz="quarter" idx="13"/>
          </p:nvPr>
        </p:nvSpPr>
        <p:spPr>
          <a:xfrm>
            <a:off x="2747434" y="1397000"/>
            <a:ext cx="2315633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4"/>
          <p:cNvSpPr>
            <a:spLocks noGrp="1"/>
          </p:cNvSpPr>
          <p:nvPr>
            <p:ph type="body" sz="quarter" idx="15"/>
          </p:nvPr>
        </p:nvSpPr>
        <p:spPr>
          <a:xfrm>
            <a:off x="7114120" y="1397000"/>
            <a:ext cx="2317749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4931834" y="1397000"/>
            <a:ext cx="2315633" cy="1155700"/>
          </a:xfrm>
          <a:prstGeom prst="chevron">
            <a:avLst>
              <a:gd name="adj" fmla="val 18687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6"/>
          <p:cNvSpPr>
            <a:spLocks noGrp="1"/>
          </p:cNvSpPr>
          <p:nvPr>
            <p:ph type="body" sz="quarter" idx="17"/>
          </p:nvPr>
        </p:nvSpPr>
        <p:spPr>
          <a:xfrm>
            <a:off x="9298521" y="1397000"/>
            <a:ext cx="2315633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7"/>
          <p:cNvSpPr>
            <a:spLocks noGrp="1"/>
          </p:cNvSpPr>
          <p:nvPr>
            <p:ph type="body" sz="quarter" idx="18"/>
          </p:nvPr>
        </p:nvSpPr>
        <p:spPr>
          <a:xfrm>
            <a:off x="563033" y="2954338"/>
            <a:ext cx="2863851" cy="1155700"/>
          </a:xfrm>
          <a:prstGeom prst="homePlate">
            <a:avLst>
              <a:gd name="adj" fmla="val 19557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8"/>
          <p:cNvSpPr>
            <a:spLocks noGrp="1"/>
          </p:cNvSpPr>
          <p:nvPr>
            <p:ph type="body" sz="quarter" idx="19"/>
          </p:nvPr>
        </p:nvSpPr>
        <p:spPr>
          <a:xfrm>
            <a:off x="3291418" y="2954338"/>
            <a:ext cx="2865967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9"/>
          <p:cNvSpPr>
            <a:spLocks noGrp="1"/>
          </p:cNvSpPr>
          <p:nvPr>
            <p:ph type="body" sz="quarter" idx="20"/>
          </p:nvPr>
        </p:nvSpPr>
        <p:spPr>
          <a:xfrm>
            <a:off x="8748186" y="2954338"/>
            <a:ext cx="2865967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10"/>
          <p:cNvSpPr>
            <a:spLocks noGrp="1"/>
          </p:cNvSpPr>
          <p:nvPr>
            <p:ph type="body" sz="quarter" idx="21"/>
          </p:nvPr>
        </p:nvSpPr>
        <p:spPr>
          <a:xfrm>
            <a:off x="6019802" y="2954338"/>
            <a:ext cx="2865967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11"/>
          <p:cNvSpPr>
            <a:spLocks noGrp="1"/>
          </p:cNvSpPr>
          <p:nvPr>
            <p:ph type="body" sz="quarter" idx="22"/>
          </p:nvPr>
        </p:nvSpPr>
        <p:spPr>
          <a:xfrm>
            <a:off x="575734" y="4497388"/>
            <a:ext cx="3754967" cy="1154112"/>
          </a:xfrm>
          <a:prstGeom prst="homePlate">
            <a:avLst>
              <a:gd name="adj" fmla="val 19565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Text Placeholder 12"/>
          <p:cNvSpPr>
            <a:spLocks noGrp="1"/>
          </p:cNvSpPr>
          <p:nvPr>
            <p:ph type="body" sz="quarter" idx="23"/>
          </p:nvPr>
        </p:nvSpPr>
        <p:spPr>
          <a:xfrm>
            <a:off x="4226985" y="4497388"/>
            <a:ext cx="3754967" cy="1154112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13"/>
          <p:cNvSpPr>
            <a:spLocks noGrp="1"/>
          </p:cNvSpPr>
          <p:nvPr>
            <p:ph type="body" sz="quarter" idx="25"/>
          </p:nvPr>
        </p:nvSpPr>
        <p:spPr>
          <a:xfrm>
            <a:off x="7878234" y="4497388"/>
            <a:ext cx="3754967" cy="1154112"/>
          </a:xfrm>
          <a:prstGeom prst="chevron">
            <a:avLst>
              <a:gd name="adj" fmla="val 1871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26"/>
          </p:nvPr>
        </p:nvSpPr>
        <p:spPr/>
        <p:txBody>
          <a:bodyPr/>
          <a:lstStyle>
            <a:lvl1pPr>
              <a:defRPr/>
            </a:lvl1pPr>
          </a:lstStyle>
          <a:p>
            <a:fld id="{48E524AC-D0C7-2340-84EA-A4DF70E8214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7" name="Footer Placeholder 12"/>
          <p:cNvSpPr>
            <a:spLocks noGrp="1"/>
          </p:cNvSpPr>
          <p:nvPr>
            <p:ph type="ftr" sz="quarter" idx="2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Taxation of C Corporations</a:t>
            </a:r>
          </a:p>
        </p:txBody>
      </p:sp>
    </p:spTree>
    <p:extLst>
      <p:ext uri="{BB962C8B-B14F-4D97-AF65-F5344CB8AC3E}">
        <p14:creationId xmlns:p14="http://schemas.microsoft.com/office/powerpoint/2010/main" val="33448180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 Blocks - Major Points - Chevr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2844800" y="1344304"/>
            <a:ext cx="88392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2844800" y="2360778"/>
            <a:ext cx="88392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2844800" y="3377252"/>
            <a:ext cx="88392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5"/>
          <p:cNvSpPr>
            <a:spLocks noGrp="1"/>
          </p:cNvSpPr>
          <p:nvPr>
            <p:ph type="body" sz="quarter" idx="34"/>
          </p:nvPr>
        </p:nvSpPr>
        <p:spPr>
          <a:xfrm>
            <a:off x="2844800" y="4393726"/>
            <a:ext cx="88392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5"/>
          <p:cNvSpPr>
            <a:spLocks noGrp="1"/>
          </p:cNvSpPr>
          <p:nvPr>
            <p:ph type="body" sz="quarter" idx="35"/>
          </p:nvPr>
        </p:nvSpPr>
        <p:spPr>
          <a:xfrm>
            <a:off x="2844800" y="5410200"/>
            <a:ext cx="88392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9"/>
          <p:cNvSpPr>
            <a:spLocks noGrp="1"/>
          </p:cNvSpPr>
          <p:nvPr>
            <p:ph type="body" sz="quarter" idx="10"/>
          </p:nvPr>
        </p:nvSpPr>
        <p:spPr>
          <a:xfrm>
            <a:off x="609600" y="1344304"/>
            <a:ext cx="2540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9"/>
          <p:cNvSpPr>
            <a:spLocks noGrp="1"/>
          </p:cNvSpPr>
          <p:nvPr>
            <p:ph type="body" sz="quarter" idx="22"/>
          </p:nvPr>
        </p:nvSpPr>
        <p:spPr>
          <a:xfrm>
            <a:off x="609600" y="2357366"/>
            <a:ext cx="2540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19"/>
          <p:cNvSpPr>
            <a:spLocks noGrp="1"/>
          </p:cNvSpPr>
          <p:nvPr>
            <p:ph type="body" sz="quarter" idx="24"/>
          </p:nvPr>
        </p:nvSpPr>
        <p:spPr>
          <a:xfrm>
            <a:off x="609600" y="3370428"/>
            <a:ext cx="2540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9"/>
          <p:cNvSpPr>
            <a:spLocks noGrp="1"/>
          </p:cNvSpPr>
          <p:nvPr>
            <p:ph type="body" sz="quarter" idx="26"/>
          </p:nvPr>
        </p:nvSpPr>
        <p:spPr>
          <a:xfrm>
            <a:off x="609600" y="4383490"/>
            <a:ext cx="2540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19"/>
          <p:cNvSpPr>
            <a:spLocks noGrp="1"/>
          </p:cNvSpPr>
          <p:nvPr>
            <p:ph type="body" sz="quarter" idx="28"/>
          </p:nvPr>
        </p:nvSpPr>
        <p:spPr>
          <a:xfrm>
            <a:off x="609600" y="5396552"/>
            <a:ext cx="2540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Slide Number Placeholder 9"/>
          <p:cNvSpPr>
            <a:spLocks noGrp="1"/>
          </p:cNvSpPr>
          <p:nvPr>
            <p:ph type="sldNum" sz="quarter" idx="36"/>
          </p:nvPr>
        </p:nvSpPr>
        <p:spPr/>
        <p:txBody>
          <a:bodyPr/>
          <a:lstStyle>
            <a:lvl1pPr>
              <a:defRPr/>
            </a:lvl1pPr>
          </a:lstStyle>
          <a:p>
            <a:fld id="{19846C2F-D19C-FA45-A159-B087F18BCDE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1" name="Footer Placeholder 12"/>
          <p:cNvSpPr>
            <a:spLocks noGrp="1"/>
          </p:cNvSpPr>
          <p:nvPr>
            <p:ph type="ftr" sz="quarter" idx="3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Taxation of C Corporations</a:t>
            </a:r>
          </a:p>
        </p:txBody>
      </p:sp>
    </p:spTree>
    <p:extLst>
      <p:ext uri="{BB962C8B-B14F-4D97-AF65-F5344CB8AC3E}">
        <p14:creationId xmlns:p14="http://schemas.microsoft.com/office/powerpoint/2010/main" val="87879428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Line 105"/>
          <p:cNvSpPr>
            <a:spLocks noChangeShapeType="1"/>
          </p:cNvSpPr>
          <p:nvPr/>
        </p:nvSpPr>
        <p:spPr bwMode="gray">
          <a:xfrm>
            <a:off x="5892800" y="3632201"/>
            <a:ext cx="0" cy="519113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/>
          </a:p>
        </p:txBody>
      </p:sp>
      <p:sp>
        <p:nvSpPr>
          <p:cNvPr id="16" name="Line 115"/>
          <p:cNvSpPr>
            <a:spLocks noChangeShapeType="1"/>
          </p:cNvSpPr>
          <p:nvPr userDrawn="1"/>
        </p:nvSpPr>
        <p:spPr bwMode="gray">
          <a:xfrm>
            <a:off x="3048000" y="3632201"/>
            <a:ext cx="0" cy="519113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/>
          </a:p>
        </p:txBody>
      </p:sp>
      <p:sp>
        <p:nvSpPr>
          <p:cNvPr id="17" name="Line 118"/>
          <p:cNvSpPr>
            <a:spLocks noChangeShapeType="1"/>
          </p:cNvSpPr>
          <p:nvPr/>
        </p:nvSpPr>
        <p:spPr bwMode="gray">
          <a:xfrm>
            <a:off x="9004300" y="3632201"/>
            <a:ext cx="0" cy="519113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/>
          </a:p>
        </p:txBody>
      </p:sp>
      <p:grpSp>
        <p:nvGrpSpPr>
          <p:cNvPr id="18" name="Group 123"/>
          <p:cNvGrpSpPr>
            <a:grpSpLocks/>
          </p:cNvGrpSpPr>
          <p:nvPr userDrawn="1"/>
        </p:nvGrpSpPr>
        <p:grpSpPr bwMode="auto">
          <a:xfrm>
            <a:off x="611718" y="3478213"/>
            <a:ext cx="10358967" cy="182562"/>
            <a:chOff x="289" y="2191"/>
            <a:chExt cx="4894" cy="115"/>
          </a:xfrm>
        </p:grpSpPr>
        <p:grpSp>
          <p:nvGrpSpPr>
            <p:cNvPr id="19" name="Group 44"/>
            <p:cNvGrpSpPr>
              <a:grpSpLocks/>
            </p:cNvGrpSpPr>
            <p:nvPr/>
          </p:nvGrpSpPr>
          <p:grpSpPr bwMode="auto">
            <a:xfrm>
              <a:off x="289" y="2191"/>
              <a:ext cx="1470" cy="115"/>
              <a:chOff x="696" y="2508"/>
              <a:chExt cx="1470" cy="168"/>
            </a:xfrm>
          </p:grpSpPr>
          <p:sp>
            <p:nvSpPr>
              <p:cNvPr id="53" name="Line 45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4" name="Line 46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5" name="Line 47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6" name="Line 48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7" name="Line 49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8" name="Line 50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9" name="Line 51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60" name="Line 52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61" name="Line 53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62" name="Line 54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63" name="Line 55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64" name="Line 56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65" name="Line 57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</p:grpSp>
        <p:grpSp>
          <p:nvGrpSpPr>
            <p:cNvPr id="20" name="Group 58"/>
            <p:cNvGrpSpPr>
              <a:grpSpLocks/>
            </p:cNvGrpSpPr>
            <p:nvPr/>
          </p:nvGrpSpPr>
          <p:grpSpPr bwMode="auto">
            <a:xfrm>
              <a:off x="1758" y="2191"/>
              <a:ext cx="1470" cy="115"/>
              <a:chOff x="696" y="2508"/>
              <a:chExt cx="1470" cy="168"/>
            </a:xfrm>
          </p:grpSpPr>
          <p:sp>
            <p:nvSpPr>
              <p:cNvPr id="40" name="Line 59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1" name="Line 60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2" name="Line 61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3" name="Line 62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4" name="Line 63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5" name="Line 64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6" name="Line 65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7" name="Line 66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8" name="Line 67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9" name="Line 68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0" name="Line 69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1" name="Line 70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2" name="Line 71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</p:grpSp>
        <p:grpSp>
          <p:nvGrpSpPr>
            <p:cNvPr id="21" name="Group 72"/>
            <p:cNvGrpSpPr>
              <a:grpSpLocks/>
            </p:cNvGrpSpPr>
            <p:nvPr/>
          </p:nvGrpSpPr>
          <p:grpSpPr bwMode="auto">
            <a:xfrm>
              <a:off x="3227" y="2191"/>
              <a:ext cx="1470" cy="115"/>
              <a:chOff x="696" y="2508"/>
              <a:chExt cx="1470" cy="168"/>
            </a:xfrm>
          </p:grpSpPr>
          <p:sp>
            <p:nvSpPr>
              <p:cNvPr id="27" name="Line 73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28" name="Line 74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29" name="Line 75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0" name="Line 76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1" name="Line 77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2" name="Line 78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3" name="Line 79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4" name="Line 80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5" name="Line 81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6" name="Line 82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7" name="Line 83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8" name="Line 84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9" name="Line 85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</p:grpSp>
        <p:sp>
          <p:nvSpPr>
            <p:cNvPr id="22" name="Line 90"/>
            <p:cNvSpPr>
              <a:spLocks noChangeShapeType="1"/>
            </p:cNvSpPr>
            <p:nvPr/>
          </p:nvSpPr>
          <p:spPr bwMode="gray">
            <a:xfrm>
              <a:off x="4698" y="2191"/>
              <a:ext cx="0" cy="115"/>
            </a:xfrm>
            <a:prstGeom prst="line">
              <a:avLst/>
            </a:prstGeom>
            <a:noFill/>
            <a:ln w="1905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3" name="Line 91"/>
            <p:cNvSpPr>
              <a:spLocks noChangeShapeType="1"/>
            </p:cNvSpPr>
            <p:nvPr/>
          </p:nvSpPr>
          <p:spPr bwMode="gray">
            <a:xfrm>
              <a:off x="4820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4" name="Line 92"/>
            <p:cNvSpPr>
              <a:spLocks noChangeShapeType="1"/>
            </p:cNvSpPr>
            <p:nvPr/>
          </p:nvSpPr>
          <p:spPr bwMode="gray">
            <a:xfrm>
              <a:off x="4943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5" name="Line 93"/>
            <p:cNvSpPr>
              <a:spLocks noChangeShapeType="1"/>
            </p:cNvSpPr>
            <p:nvPr/>
          </p:nvSpPr>
          <p:spPr bwMode="gray">
            <a:xfrm>
              <a:off x="5065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6" name="Line 122"/>
            <p:cNvSpPr>
              <a:spLocks noChangeShapeType="1"/>
            </p:cNvSpPr>
            <p:nvPr/>
          </p:nvSpPr>
          <p:spPr bwMode="gray">
            <a:xfrm>
              <a:off x="5183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</p:grpSp>
      <p:sp>
        <p:nvSpPr>
          <p:cNvPr id="66" name="Line 125"/>
          <p:cNvSpPr>
            <a:spLocks noChangeShapeType="1"/>
          </p:cNvSpPr>
          <p:nvPr userDrawn="1"/>
        </p:nvSpPr>
        <p:spPr bwMode="gray">
          <a:xfrm>
            <a:off x="4572000" y="3651251"/>
            <a:ext cx="0" cy="1757363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/>
          </a:p>
        </p:txBody>
      </p:sp>
      <p:sp>
        <p:nvSpPr>
          <p:cNvPr id="67" name="Line 4"/>
          <p:cNvSpPr>
            <a:spLocks noChangeShapeType="1"/>
          </p:cNvSpPr>
          <p:nvPr userDrawn="1"/>
        </p:nvSpPr>
        <p:spPr bwMode="gray">
          <a:xfrm>
            <a:off x="2235200" y="2976563"/>
            <a:ext cx="0" cy="512762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/>
          </a:p>
        </p:txBody>
      </p:sp>
      <p:sp>
        <p:nvSpPr>
          <p:cNvPr id="68" name="Line 108"/>
          <p:cNvSpPr>
            <a:spLocks noChangeShapeType="1"/>
          </p:cNvSpPr>
          <p:nvPr userDrawn="1"/>
        </p:nvSpPr>
        <p:spPr bwMode="gray">
          <a:xfrm>
            <a:off x="7416800" y="2976563"/>
            <a:ext cx="0" cy="512762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/>
          </a:p>
        </p:txBody>
      </p:sp>
      <p:sp>
        <p:nvSpPr>
          <p:cNvPr id="69" name="Line 111"/>
          <p:cNvSpPr>
            <a:spLocks noChangeShapeType="1"/>
          </p:cNvSpPr>
          <p:nvPr userDrawn="1"/>
        </p:nvSpPr>
        <p:spPr bwMode="gray">
          <a:xfrm>
            <a:off x="10261600" y="2976563"/>
            <a:ext cx="0" cy="512762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/>
          </a:p>
        </p:txBody>
      </p:sp>
      <p:sp>
        <p:nvSpPr>
          <p:cNvPr id="70" name="Line 139"/>
          <p:cNvSpPr>
            <a:spLocks noChangeShapeType="1"/>
          </p:cNvSpPr>
          <p:nvPr userDrawn="1"/>
        </p:nvSpPr>
        <p:spPr bwMode="gray">
          <a:xfrm>
            <a:off x="4375151" y="2074863"/>
            <a:ext cx="0" cy="1414462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/>
          </a:p>
        </p:txBody>
      </p:sp>
      <p:sp>
        <p:nvSpPr>
          <p:cNvPr id="71" name="AutoShape 3"/>
          <p:cNvSpPr>
            <a:spLocks noChangeArrowheads="1"/>
          </p:cNvSpPr>
          <p:nvPr userDrawn="1"/>
        </p:nvSpPr>
        <p:spPr bwMode="gray">
          <a:xfrm>
            <a:off x="603251" y="3413125"/>
            <a:ext cx="10985500" cy="311150"/>
          </a:xfrm>
          <a:prstGeom prst="rightArrow">
            <a:avLst>
              <a:gd name="adj1" fmla="val 52037"/>
              <a:gd name="adj2" fmla="val 96479"/>
            </a:avLst>
          </a:prstGeom>
          <a:solidFill>
            <a:srgbClr val="808080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med" len="lg"/>
              </a14:hiddenLine>
            </a:ext>
          </a:extLst>
        </p:spPr>
        <p:txBody>
          <a:bodyPr wrap="none" tIns="91440" bIns="91440" anchor="ctr"/>
          <a:lstStyle>
            <a:lvl1pPr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eaLnBrk="1" hangingPunct="1"/>
            <a:endParaRPr lang="nl-NL" altLang="en-US" sz="1000" b="1">
              <a:solidFill>
                <a:srgbClr val="4D4D4D"/>
              </a:solidFill>
              <a:latin typeface="Arial" charset="0"/>
            </a:endParaRPr>
          </a:p>
        </p:txBody>
      </p:sp>
      <p:grpSp>
        <p:nvGrpSpPr>
          <p:cNvPr id="72" name="Group 123"/>
          <p:cNvGrpSpPr>
            <a:grpSpLocks/>
          </p:cNvGrpSpPr>
          <p:nvPr userDrawn="1"/>
        </p:nvGrpSpPr>
        <p:grpSpPr bwMode="auto">
          <a:xfrm>
            <a:off x="814918" y="3460751"/>
            <a:ext cx="10358967" cy="182563"/>
            <a:chOff x="289" y="2191"/>
            <a:chExt cx="4894" cy="115"/>
          </a:xfrm>
        </p:grpSpPr>
        <p:grpSp>
          <p:nvGrpSpPr>
            <p:cNvPr id="73" name="Group 44"/>
            <p:cNvGrpSpPr>
              <a:grpSpLocks/>
            </p:cNvGrpSpPr>
            <p:nvPr/>
          </p:nvGrpSpPr>
          <p:grpSpPr bwMode="auto">
            <a:xfrm>
              <a:off x="289" y="2191"/>
              <a:ext cx="1470" cy="115"/>
              <a:chOff x="696" y="2508"/>
              <a:chExt cx="1470" cy="168"/>
            </a:xfrm>
          </p:grpSpPr>
          <p:sp>
            <p:nvSpPr>
              <p:cNvPr id="107" name="Line 45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8" name="Line 46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9" name="Line 47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0" name="Line 48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1" name="Line 49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2" name="Line 50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3" name="Line 51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4" name="Line 52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5" name="Line 53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6" name="Line 54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7" name="Line 55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8" name="Line 56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9" name="Line 57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</p:grpSp>
        <p:grpSp>
          <p:nvGrpSpPr>
            <p:cNvPr id="74" name="Group 58"/>
            <p:cNvGrpSpPr>
              <a:grpSpLocks/>
            </p:cNvGrpSpPr>
            <p:nvPr/>
          </p:nvGrpSpPr>
          <p:grpSpPr bwMode="auto">
            <a:xfrm>
              <a:off x="1758" y="2191"/>
              <a:ext cx="1470" cy="115"/>
              <a:chOff x="696" y="2508"/>
              <a:chExt cx="1470" cy="168"/>
            </a:xfrm>
          </p:grpSpPr>
          <p:sp>
            <p:nvSpPr>
              <p:cNvPr id="94" name="Line 59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5" name="Line 60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6" name="Line 61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7" name="Line 62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8" name="Line 63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9" name="Line 64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0" name="Line 65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1" name="Line 66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2" name="Line 67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3" name="Line 68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4" name="Line 69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5" name="Line 70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6" name="Line 71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</p:grpSp>
        <p:grpSp>
          <p:nvGrpSpPr>
            <p:cNvPr id="75" name="Group 72"/>
            <p:cNvGrpSpPr>
              <a:grpSpLocks/>
            </p:cNvGrpSpPr>
            <p:nvPr/>
          </p:nvGrpSpPr>
          <p:grpSpPr bwMode="auto">
            <a:xfrm>
              <a:off x="3227" y="2191"/>
              <a:ext cx="1470" cy="115"/>
              <a:chOff x="696" y="2508"/>
              <a:chExt cx="1470" cy="168"/>
            </a:xfrm>
          </p:grpSpPr>
          <p:sp>
            <p:nvSpPr>
              <p:cNvPr id="81" name="Line 73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82" name="Line 74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83" name="Line 75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84" name="Line 76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85" name="Line 77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86" name="Line 78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87" name="Line 79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88" name="Line 80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89" name="Line 81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0" name="Line 82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1" name="Line 83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2" name="Line 84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3" name="Line 85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</p:grpSp>
        <p:sp>
          <p:nvSpPr>
            <p:cNvPr id="76" name="Line 90"/>
            <p:cNvSpPr>
              <a:spLocks noChangeShapeType="1"/>
            </p:cNvSpPr>
            <p:nvPr/>
          </p:nvSpPr>
          <p:spPr bwMode="gray">
            <a:xfrm>
              <a:off x="4698" y="2191"/>
              <a:ext cx="0" cy="115"/>
            </a:xfrm>
            <a:prstGeom prst="line">
              <a:avLst/>
            </a:prstGeom>
            <a:noFill/>
            <a:ln w="1905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77" name="Line 91"/>
            <p:cNvSpPr>
              <a:spLocks noChangeShapeType="1"/>
            </p:cNvSpPr>
            <p:nvPr/>
          </p:nvSpPr>
          <p:spPr bwMode="gray">
            <a:xfrm>
              <a:off x="4820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78" name="Line 92"/>
            <p:cNvSpPr>
              <a:spLocks noChangeShapeType="1"/>
            </p:cNvSpPr>
            <p:nvPr/>
          </p:nvSpPr>
          <p:spPr bwMode="gray">
            <a:xfrm>
              <a:off x="4943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79" name="Line 93"/>
            <p:cNvSpPr>
              <a:spLocks noChangeShapeType="1"/>
            </p:cNvSpPr>
            <p:nvPr/>
          </p:nvSpPr>
          <p:spPr bwMode="gray">
            <a:xfrm>
              <a:off x="5065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80" name="Line 122"/>
            <p:cNvSpPr>
              <a:spLocks noChangeShapeType="1"/>
            </p:cNvSpPr>
            <p:nvPr/>
          </p:nvSpPr>
          <p:spPr bwMode="gray">
            <a:xfrm>
              <a:off x="5183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</p:grpSp>
      <p:sp>
        <p:nvSpPr>
          <p:cNvPr id="248" name="Text Placeholder 246"/>
          <p:cNvSpPr>
            <a:spLocks noGrp="1"/>
          </p:cNvSpPr>
          <p:nvPr>
            <p:ph type="body" sz="quarter" idx="11"/>
          </p:nvPr>
        </p:nvSpPr>
        <p:spPr>
          <a:xfrm>
            <a:off x="3381155" y="12954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3" name="Text Placeholder 142"/>
          <p:cNvSpPr>
            <a:spLocks noGrp="1"/>
          </p:cNvSpPr>
          <p:nvPr>
            <p:ph type="body" sz="quarter" idx="19"/>
          </p:nvPr>
        </p:nvSpPr>
        <p:spPr>
          <a:xfrm>
            <a:off x="1422400" y="3733800"/>
            <a:ext cx="609600" cy="13716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4" name="Text Placeholder 142"/>
          <p:cNvSpPr>
            <a:spLocks noGrp="1"/>
          </p:cNvSpPr>
          <p:nvPr>
            <p:ph type="body" sz="quarter" idx="20"/>
          </p:nvPr>
        </p:nvSpPr>
        <p:spPr>
          <a:xfrm>
            <a:off x="4775200" y="3733800"/>
            <a:ext cx="609600" cy="13716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6" name="Text Placeholder 142"/>
          <p:cNvSpPr>
            <a:spLocks noGrp="1"/>
          </p:cNvSpPr>
          <p:nvPr>
            <p:ph type="body" sz="quarter" idx="21"/>
          </p:nvPr>
        </p:nvSpPr>
        <p:spPr>
          <a:xfrm>
            <a:off x="7071360" y="3733800"/>
            <a:ext cx="609600" cy="13716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7" name="Text Placeholder 142"/>
          <p:cNvSpPr>
            <a:spLocks noGrp="1"/>
          </p:cNvSpPr>
          <p:nvPr>
            <p:ph type="body" sz="quarter" idx="22"/>
          </p:nvPr>
        </p:nvSpPr>
        <p:spPr>
          <a:xfrm>
            <a:off x="9631680" y="3733800"/>
            <a:ext cx="609600" cy="13716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1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2" name="Text Placeholder 246"/>
          <p:cNvSpPr>
            <a:spLocks noGrp="1"/>
          </p:cNvSpPr>
          <p:nvPr>
            <p:ph type="body" sz="quarter" idx="23"/>
          </p:nvPr>
        </p:nvSpPr>
        <p:spPr>
          <a:xfrm>
            <a:off x="1219200" y="21336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8" name="Text Placeholder 246"/>
          <p:cNvSpPr>
            <a:spLocks noGrp="1"/>
          </p:cNvSpPr>
          <p:nvPr>
            <p:ph type="body" sz="quarter" idx="24"/>
          </p:nvPr>
        </p:nvSpPr>
        <p:spPr>
          <a:xfrm>
            <a:off x="9245600" y="21336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9" name="Text Placeholder 246"/>
          <p:cNvSpPr>
            <a:spLocks noGrp="1"/>
          </p:cNvSpPr>
          <p:nvPr>
            <p:ph type="body" sz="quarter" idx="25"/>
          </p:nvPr>
        </p:nvSpPr>
        <p:spPr>
          <a:xfrm>
            <a:off x="2032000" y="41148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0" name="Text Placeholder 246"/>
          <p:cNvSpPr>
            <a:spLocks noGrp="1"/>
          </p:cNvSpPr>
          <p:nvPr>
            <p:ph type="body" sz="quarter" idx="26"/>
          </p:nvPr>
        </p:nvSpPr>
        <p:spPr>
          <a:xfrm>
            <a:off x="6400800" y="21336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1" name="Text Placeholder 246"/>
          <p:cNvSpPr>
            <a:spLocks noGrp="1"/>
          </p:cNvSpPr>
          <p:nvPr>
            <p:ph type="body" sz="quarter" idx="27"/>
          </p:nvPr>
        </p:nvSpPr>
        <p:spPr>
          <a:xfrm>
            <a:off x="3556000" y="51816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2" name="Text Placeholder 246"/>
          <p:cNvSpPr>
            <a:spLocks noGrp="1"/>
          </p:cNvSpPr>
          <p:nvPr>
            <p:ph type="body" sz="quarter" idx="28"/>
          </p:nvPr>
        </p:nvSpPr>
        <p:spPr>
          <a:xfrm>
            <a:off x="7988300" y="41148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3" name="Text Placeholder 246"/>
          <p:cNvSpPr>
            <a:spLocks noGrp="1"/>
          </p:cNvSpPr>
          <p:nvPr>
            <p:ph type="body" sz="quarter" idx="29"/>
          </p:nvPr>
        </p:nvSpPr>
        <p:spPr>
          <a:xfrm>
            <a:off x="4876800" y="41148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20" name="Slide Number Placeholder 9"/>
          <p:cNvSpPr>
            <a:spLocks noGrp="1"/>
          </p:cNvSpPr>
          <p:nvPr>
            <p:ph type="sldNum" sz="quarter" idx="30"/>
          </p:nvPr>
        </p:nvSpPr>
        <p:spPr/>
        <p:txBody>
          <a:bodyPr/>
          <a:lstStyle>
            <a:lvl1pPr>
              <a:defRPr/>
            </a:lvl1pPr>
          </a:lstStyle>
          <a:p>
            <a:fld id="{132B4441-E44F-854A-A9C3-46F08E0FCFC7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21" name="Footer Placeholder 133"/>
          <p:cNvSpPr>
            <a:spLocks noGrp="1"/>
          </p:cNvSpPr>
          <p:nvPr>
            <p:ph type="ftr" sz="quarter" idx="3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Taxation of C Corporations</a:t>
            </a:r>
          </a:p>
        </p:txBody>
      </p:sp>
    </p:spTree>
    <p:extLst>
      <p:ext uri="{BB962C8B-B14F-4D97-AF65-F5344CB8AC3E}">
        <p14:creationId xmlns:p14="http://schemas.microsoft.com/office/powerpoint/2010/main" val="131703678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/ TO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 Placeholder 27"/>
          <p:cNvSpPr>
            <a:spLocks noGrp="1"/>
          </p:cNvSpPr>
          <p:nvPr>
            <p:ph type="body" sz="quarter" idx="21"/>
          </p:nvPr>
        </p:nvSpPr>
        <p:spPr>
          <a:xfrm>
            <a:off x="1219201" y="1295400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7"/>
          <p:cNvSpPr>
            <a:spLocks noGrp="1"/>
          </p:cNvSpPr>
          <p:nvPr>
            <p:ph type="body" sz="quarter" idx="22"/>
          </p:nvPr>
        </p:nvSpPr>
        <p:spPr>
          <a:xfrm>
            <a:off x="1219201" y="1800013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7"/>
          <p:cNvSpPr>
            <a:spLocks noGrp="1"/>
          </p:cNvSpPr>
          <p:nvPr>
            <p:ph type="body" sz="quarter" idx="23"/>
          </p:nvPr>
        </p:nvSpPr>
        <p:spPr>
          <a:xfrm>
            <a:off x="1219201" y="2304626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7"/>
          <p:cNvSpPr>
            <a:spLocks noGrp="1"/>
          </p:cNvSpPr>
          <p:nvPr>
            <p:ph type="body" sz="quarter" idx="24"/>
          </p:nvPr>
        </p:nvSpPr>
        <p:spPr>
          <a:xfrm>
            <a:off x="1219201" y="2809239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7"/>
          <p:cNvSpPr>
            <a:spLocks noGrp="1"/>
          </p:cNvSpPr>
          <p:nvPr>
            <p:ph type="body" sz="quarter" idx="25"/>
          </p:nvPr>
        </p:nvSpPr>
        <p:spPr>
          <a:xfrm>
            <a:off x="1219201" y="3313852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7"/>
          <p:cNvSpPr>
            <a:spLocks noGrp="1"/>
          </p:cNvSpPr>
          <p:nvPr>
            <p:ph type="body" sz="quarter" idx="26"/>
          </p:nvPr>
        </p:nvSpPr>
        <p:spPr>
          <a:xfrm>
            <a:off x="1219201" y="3818465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27"/>
          <p:cNvSpPr>
            <a:spLocks noGrp="1"/>
          </p:cNvSpPr>
          <p:nvPr>
            <p:ph type="body" sz="quarter" idx="27"/>
          </p:nvPr>
        </p:nvSpPr>
        <p:spPr>
          <a:xfrm>
            <a:off x="1219201" y="4323078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27"/>
          <p:cNvSpPr>
            <a:spLocks noGrp="1"/>
          </p:cNvSpPr>
          <p:nvPr>
            <p:ph type="body" sz="quarter" idx="28"/>
          </p:nvPr>
        </p:nvSpPr>
        <p:spPr>
          <a:xfrm>
            <a:off x="1219201" y="4827691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2"/>
          <p:cNvSpPr>
            <a:spLocks noGrp="1"/>
          </p:cNvSpPr>
          <p:nvPr>
            <p:ph type="body" sz="quarter" idx="29"/>
          </p:nvPr>
        </p:nvSpPr>
        <p:spPr>
          <a:xfrm>
            <a:off x="609600" y="1295400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2"/>
          <p:cNvSpPr>
            <a:spLocks noGrp="1"/>
          </p:cNvSpPr>
          <p:nvPr>
            <p:ph type="body" sz="quarter" idx="30"/>
          </p:nvPr>
        </p:nvSpPr>
        <p:spPr>
          <a:xfrm>
            <a:off x="609600" y="1800013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2"/>
          <p:cNvSpPr>
            <a:spLocks noGrp="1"/>
          </p:cNvSpPr>
          <p:nvPr>
            <p:ph type="body" sz="quarter" idx="31"/>
          </p:nvPr>
        </p:nvSpPr>
        <p:spPr>
          <a:xfrm>
            <a:off x="609600" y="2304626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2"/>
          <p:cNvSpPr>
            <a:spLocks noGrp="1"/>
          </p:cNvSpPr>
          <p:nvPr>
            <p:ph type="body" sz="quarter" idx="32"/>
          </p:nvPr>
        </p:nvSpPr>
        <p:spPr>
          <a:xfrm>
            <a:off x="609600" y="2809239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22"/>
          <p:cNvSpPr>
            <a:spLocks noGrp="1"/>
          </p:cNvSpPr>
          <p:nvPr>
            <p:ph type="body" sz="quarter" idx="33"/>
          </p:nvPr>
        </p:nvSpPr>
        <p:spPr>
          <a:xfrm>
            <a:off x="609600" y="3313852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22"/>
          <p:cNvSpPr>
            <a:spLocks noGrp="1"/>
          </p:cNvSpPr>
          <p:nvPr>
            <p:ph type="body" sz="quarter" idx="34"/>
          </p:nvPr>
        </p:nvSpPr>
        <p:spPr>
          <a:xfrm>
            <a:off x="609600" y="3818465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22"/>
          <p:cNvSpPr>
            <a:spLocks noGrp="1"/>
          </p:cNvSpPr>
          <p:nvPr>
            <p:ph type="body" sz="quarter" idx="35"/>
          </p:nvPr>
        </p:nvSpPr>
        <p:spPr>
          <a:xfrm>
            <a:off x="609600" y="4323078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22"/>
          <p:cNvSpPr>
            <a:spLocks noGrp="1"/>
          </p:cNvSpPr>
          <p:nvPr>
            <p:ph type="body" sz="quarter" idx="36"/>
          </p:nvPr>
        </p:nvSpPr>
        <p:spPr>
          <a:xfrm>
            <a:off x="609600" y="4827691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2" name="Text Placeholder 22"/>
          <p:cNvSpPr>
            <a:spLocks noGrp="1"/>
          </p:cNvSpPr>
          <p:nvPr>
            <p:ph type="body" sz="quarter" idx="37"/>
          </p:nvPr>
        </p:nvSpPr>
        <p:spPr>
          <a:xfrm>
            <a:off x="10972800" y="1295400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2"/>
          <p:cNvSpPr>
            <a:spLocks noGrp="1"/>
          </p:cNvSpPr>
          <p:nvPr>
            <p:ph type="body" sz="quarter" idx="38"/>
          </p:nvPr>
        </p:nvSpPr>
        <p:spPr>
          <a:xfrm>
            <a:off x="10972800" y="1800013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2"/>
          <p:cNvSpPr>
            <a:spLocks noGrp="1"/>
          </p:cNvSpPr>
          <p:nvPr>
            <p:ph type="body" sz="quarter" idx="39"/>
          </p:nvPr>
        </p:nvSpPr>
        <p:spPr>
          <a:xfrm>
            <a:off x="10972800" y="2304626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22"/>
          <p:cNvSpPr>
            <a:spLocks noGrp="1"/>
          </p:cNvSpPr>
          <p:nvPr>
            <p:ph type="body" sz="quarter" idx="40"/>
          </p:nvPr>
        </p:nvSpPr>
        <p:spPr>
          <a:xfrm>
            <a:off x="10972800" y="2809239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22"/>
          <p:cNvSpPr>
            <a:spLocks noGrp="1"/>
          </p:cNvSpPr>
          <p:nvPr>
            <p:ph type="body" sz="quarter" idx="41"/>
          </p:nvPr>
        </p:nvSpPr>
        <p:spPr>
          <a:xfrm>
            <a:off x="10972800" y="3313852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22"/>
          <p:cNvSpPr>
            <a:spLocks noGrp="1"/>
          </p:cNvSpPr>
          <p:nvPr>
            <p:ph type="body" sz="quarter" idx="42"/>
          </p:nvPr>
        </p:nvSpPr>
        <p:spPr>
          <a:xfrm>
            <a:off x="10972800" y="3818465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22"/>
          <p:cNvSpPr>
            <a:spLocks noGrp="1"/>
          </p:cNvSpPr>
          <p:nvPr>
            <p:ph type="body" sz="quarter" idx="43"/>
          </p:nvPr>
        </p:nvSpPr>
        <p:spPr>
          <a:xfrm>
            <a:off x="10972800" y="4323078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Text Placeholder 22"/>
          <p:cNvSpPr>
            <a:spLocks noGrp="1"/>
          </p:cNvSpPr>
          <p:nvPr>
            <p:ph type="body" sz="quarter" idx="44"/>
          </p:nvPr>
        </p:nvSpPr>
        <p:spPr>
          <a:xfrm>
            <a:off x="10972800" y="4827691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27"/>
          <p:cNvSpPr>
            <a:spLocks noGrp="1"/>
          </p:cNvSpPr>
          <p:nvPr>
            <p:ph type="body" sz="quarter" idx="45"/>
          </p:nvPr>
        </p:nvSpPr>
        <p:spPr>
          <a:xfrm>
            <a:off x="1215702" y="5332304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7" name="Text Placeholder 22"/>
          <p:cNvSpPr>
            <a:spLocks noGrp="1"/>
          </p:cNvSpPr>
          <p:nvPr>
            <p:ph type="body" sz="quarter" idx="46"/>
          </p:nvPr>
        </p:nvSpPr>
        <p:spPr>
          <a:xfrm>
            <a:off x="606100" y="5332304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22"/>
          <p:cNvSpPr>
            <a:spLocks noGrp="1"/>
          </p:cNvSpPr>
          <p:nvPr>
            <p:ph type="body" sz="quarter" idx="47"/>
          </p:nvPr>
        </p:nvSpPr>
        <p:spPr>
          <a:xfrm>
            <a:off x="10969300" y="5332304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9" name="Text Placeholder 27"/>
          <p:cNvSpPr>
            <a:spLocks noGrp="1"/>
          </p:cNvSpPr>
          <p:nvPr>
            <p:ph type="body" sz="quarter" idx="48"/>
          </p:nvPr>
        </p:nvSpPr>
        <p:spPr>
          <a:xfrm>
            <a:off x="1215702" y="5836920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0" name="Text Placeholder 22"/>
          <p:cNvSpPr>
            <a:spLocks noGrp="1"/>
          </p:cNvSpPr>
          <p:nvPr>
            <p:ph type="body" sz="quarter" idx="49"/>
          </p:nvPr>
        </p:nvSpPr>
        <p:spPr>
          <a:xfrm>
            <a:off x="606100" y="5836920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1" name="Text Placeholder 22"/>
          <p:cNvSpPr>
            <a:spLocks noGrp="1"/>
          </p:cNvSpPr>
          <p:nvPr>
            <p:ph type="body" sz="quarter" idx="50"/>
          </p:nvPr>
        </p:nvSpPr>
        <p:spPr>
          <a:xfrm>
            <a:off x="10969300" y="5836920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2" name="Slide Number Placeholder 9"/>
          <p:cNvSpPr>
            <a:spLocks noGrp="1"/>
          </p:cNvSpPr>
          <p:nvPr>
            <p:ph type="sldNum" sz="quarter" idx="51"/>
          </p:nvPr>
        </p:nvSpPr>
        <p:spPr/>
        <p:txBody>
          <a:bodyPr/>
          <a:lstStyle>
            <a:lvl1pPr>
              <a:defRPr/>
            </a:lvl1pPr>
          </a:lstStyle>
          <a:p>
            <a:fld id="{4A9EBD57-3091-C548-9F5E-83F63CC3338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53" name="Footer Placeholder 12"/>
          <p:cNvSpPr>
            <a:spLocks noGrp="1"/>
          </p:cNvSpPr>
          <p:nvPr>
            <p:ph type="ftr" sz="quarter" idx="5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Taxation of C Corporations</a:t>
            </a:r>
          </a:p>
        </p:txBody>
      </p:sp>
    </p:spTree>
    <p:extLst>
      <p:ext uri="{BB962C8B-B14F-4D97-AF65-F5344CB8AC3E}">
        <p14:creationId xmlns:p14="http://schemas.microsoft.com/office/powerpoint/2010/main" val="44554578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Major and Sub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 Placeholder 15"/>
          <p:cNvSpPr>
            <a:spLocks noGrp="1"/>
          </p:cNvSpPr>
          <p:nvPr>
            <p:ph type="body" sz="quarter" idx="21"/>
          </p:nvPr>
        </p:nvSpPr>
        <p:spPr>
          <a:xfrm>
            <a:off x="609600" y="1335024"/>
            <a:ext cx="1828800" cy="2322576"/>
          </a:xfrm>
          <a:prstGeom prst="rect">
            <a:avLst/>
          </a:prstGeom>
          <a:solidFill>
            <a:srgbClr val="B01C2E"/>
          </a:solidFill>
        </p:spPr>
        <p:txBody>
          <a:bodyPr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5"/>
          <p:cNvSpPr>
            <a:spLocks noGrp="1"/>
          </p:cNvSpPr>
          <p:nvPr>
            <p:ph type="body" sz="quarter" idx="22"/>
          </p:nvPr>
        </p:nvSpPr>
        <p:spPr>
          <a:xfrm>
            <a:off x="609600" y="3744363"/>
            <a:ext cx="1828800" cy="2322576"/>
          </a:xfrm>
          <a:prstGeom prst="rect">
            <a:avLst/>
          </a:prstGeom>
          <a:solidFill>
            <a:srgbClr val="B01C2E"/>
          </a:solidFill>
        </p:spPr>
        <p:txBody>
          <a:bodyPr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5"/>
          <p:cNvSpPr>
            <a:spLocks noGrp="1"/>
          </p:cNvSpPr>
          <p:nvPr>
            <p:ph type="body" sz="quarter" idx="23"/>
          </p:nvPr>
        </p:nvSpPr>
        <p:spPr>
          <a:xfrm>
            <a:off x="2540000" y="1348565"/>
            <a:ext cx="1219200" cy="777240"/>
          </a:xfrm>
          <a:prstGeom prst="rect">
            <a:avLst/>
          </a:prstGeom>
          <a:solidFill>
            <a:srgbClr val="8E8E8E"/>
          </a:solidFill>
          <a:ln>
            <a:solidFill>
              <a:srgbClr val="8E8E8E"/>
            </a:solidFill>
          </a:ln>
        </p:spPr>
        <p:txBody>
          <a:bodyPr rIns="4572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5"/>
          <p:cNvSpPr>
            <a:spLocks noGrp="1"/>
          </p:cNvSpPr>
          <p:nvPr>
            <p:ph type="body" sz="quarter" idx="24"/>
          </p:nvPr>
        </p:nvSpPr>
        <p:spPr>
          <a:xfrm>
            <a:off x="2540000" y="3763963"/>
            <a:ext cx="1219200" cy="777240"/>
          </a:xfrm>
          <a:prstGeom prst="rect">
            <a:avLst/>
          </a:prstGeom>
          <a:solidFill>
            <a:srgbClr val="8E8E8E"/>
          </a:solidFill>
          <a:ln>
            <a:solidFill>
              <a:srgbClr val="8E8E8E"/>
            </a:solidFill>
          </a:ln>
        </p:spPr>
        <p:txBody>
          <a:bodyPr rIns="4572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5"/>
          <p:cNvSpPr>
            <a:spLocks noGrp="1"/>
          </p:cNvSpPr>
          <p:nvPr>
            <p:ph type="body" sz="quarter" idx="25"/>
          </p:nvPr>
        </p:nvSpPr>
        <p:spPr>
          <a:xfrm>
            <a:off x="2540000" y="2199167"/>
            <a:ext cx="1219200" cy="1463040"/>
          </a:xfrm>
          <a:prstGeom prst="rect">
            <a:avLst/>
          </a:prstGeom>
          <a:solidFill>
            <a:srgbClr val="8E8E8E"/>
          </a:solidFill>
          <a:ln>
            <a:solidFill>
              <a:srgbClr val="8E8E8E"/>
            </a:solidFill>
          </a:ln>
        </p:spPr>
        <p:txBody>
          <a:bodyPr rIns="4572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5"/>
          <p:cNvSpPr>
            <a:spLocks noGrp="1"/>
          </p:cNvSpPr>
          <p:nvPr>
            <p:ph type="body" sz="quarter" idx="26"/>
          </p:nvPr>
        </p:nvSpPr>
        <p:spPr>
          <a:xfrm>
            <a:off x="2540000" y="4619625"/>
            <a:ext cx="1219200" cy="1463040"/>
          </a:xfrm>
          <a:prstGeom prst="rect">
            <a:avLst/>
          </a:prstGeom>
          <a:solidFill>
            <a:srgbClr val="8E8E8E"/>
          </a:solidFill>
          <a:ln>
            <a:solidFill>
              <a:srgbClr val="8E8E8E"/>
            </a:solidFill>
          </a:ln>
        </p:spPr>
        <p:txBody>
          <a:bodyPr rIns="4572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3759200" y="1348565"/>
            <a:ext cx="7827264" cy="7772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3759200" y="3763963"/>
            <a:ext cx="7827264" cy="7772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3759200" y="2199167"/>
            <a:ext cx="7827264" cy="14630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5"/>
          <p:cNvSpPr>
            <a:spLocks noGrp="1"/>
          </p:cNvSpPr>
          <p:nvPr>
            <p:ph type="body" sz="quarter" idx="34"/>
          </p:nvPr>
        </p:nvSpPr>
        <p:spPr>
          <a:xfrm>
            <a:off x="3759200" y="4619625"/>
            <a:ext cx="7827264" cy="14630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Slide Number Placeholder 9"/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>
              <a:defRPr/>
            </a:lvl1pPr>
          </a:lstStyle>
          <a:p>
            <a:fld id="{1622A13A-1CFD-CA4E-A8DD-C641C07281EA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3" name="Footer Placeholder 12"/>
          <p:cNvSpPr>
            <a:spLocks noGrp="1"/>
          </p:cNvSpPr>
          <p:nvPr>
            <p:ph type="ftr" sz="quarter" idx="3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Taxation of C Corporations</a:t>
            </a:r>
          </a:p>
        </p:txBody>
      </p:sp>
    </p:spTree>
    <p:extLst>
      <p:ext uri="{BB962C8B-B14F-4D97-AF65-F5344CB8AC3E}">
        <p14:creationId xmlns:p14="http://schemas.microsoft.com/office/powerpoint/2010/main" val="174447638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sequences Vertical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4"/>
          <p:cNvSpPr>
            <a:spLocks/>
          </p:cNvSpPr>
          <p:nvPr userDrawn="1"/>
        </p:nvSpPr>
        <p:spPr bwMode="auto">
          <a:xfrm>
            <a:off x="6195484" y="1914525"/>
            <a:ext cx="4876800" cy="4184650"/>
          </a:xfrm>
          <a:custGeom>
            <a:avLst/>
            <a:gdLst>
              <a:gd name="T0" fmla="*/ 2147483647 w 2475"/>
              <a:gd name="T1" fmla="*/ 2147483647 h 2469"/>
              <a:gd name="T2" fmla="*/ 2147483647 w 2475"/>
              <a:gd name="T3" fmla="*/ 0 h 2469"/>
              <a:gd name="T4" fmla="*/ 2147483647 w 2475"/>
              <a:gd name="T5" fmla="*/ 2147483647 h 2469"/>
              <a:gd name="T6" fmla="*/ 0 w 2475"/>
              <a:gd name="T7" fmla="*/ 2147483647 h 2469"/>
              <a:gd name="T8" fmla="*/ 0 w 2475"/>
              <a:gd name="T9" fmla="*/ 0 h 2469"/>
              <a:gd name="T10" fmla="*/ 2147483647 w 2475"/>
              <a:gd name="T11" fmla="*/ 2147483647 h 2469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2475" h="2469">
                <a:moveTo>
                  <a:pt x="1235" y="147"/>
                </a:moveTo>
                <a:lnTo>
                  <a:pt x="2475" y="0"/>
                </a:lnTo>
                <a:lnTo>
                  <a:pt x="2475" y="2469"/>
                </a:lnTo>
                <a:lnTo>
                  <a:pt x="0" y="2469"/>
                </a:lnTo>
                <a:lnTo>
                  <a:pt x="0" y="0"/>
                </a:lnTo>
                <a:lnTo>
                  <a:pt x="1235" y="147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182880" tIns="365760" rIns="182880" bIns="182880"/>
          <a:lstStyle/>
          <a:p>
            <a:endParaRPr lang="en-US" sz="1800"/>
          </a:p>
        </p:txBody>
      </p:sp>
      <p:sp>
        <p:nvSpPr>
          <p:cNvPr id="8" name="Freeform 4"/>
          <p:cNvSpPr>
            <a:spLocks/>
          </p:cNvSpPr>
          <p:nvPr userDrawn="1"/>
        </p:nvSpPr>
        <p:spPr bwMode="auto">
          <a:xfrm>
            <a:off x="1003300" y="1914525"/>
            <a:ext cx="4876800" cy="4184650"/>
          </a:xfrm>
          <a:custGeom>
            <a:avLst/>
            <a:gdLst>
              <a:gd name="T0" fmla="*/ 2147483647 w 2475"/>
              <a:gd name="T1" fmla="*/ 2147483647 h 2469"/>
              <a:gd name="T2" fmla="*/ 2147483647 w 2475"/>
              <a:gd name="T3" fmla="*/ 0 h 2469"/>
              <a:gd name="T4" fmla="*/ 2147483647 w 2475"/>
              <a:gd name="T5" fmla="*/ 2147483647 h 2469"/>
              <a:gd name="T6" fmla="*/ 0 w 2475"/>
              <a:gd name="T7" fmla="*/ 2147483647 h 2469"/>
              <a:gd name="T8" fmla="*/ 0 w 2475"/>
              <a:gd name="T9" fmla="*/ 0 h 2469"/>
              <a:gd name="T10" fmla="*/ 2147483647 w 2475"/>
              <a:gd name="T11" fmla="*/ 2147483647 h 2469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2475" h="2469">
                <a:moveTo>
                  <a:pt x="1235" y="147"/>
                </a:moveTo>
                <a:lnTo>
                  <a:pt x="2475" y="0"/>
                </a:lnTo>
                <a:lnTo>
                  <a:pt x="2475" y="2469"/>
                </a:lnTo>
                <a:lnTo>
                  <a:pt x="0" y="2469"/>
                </a:lnTo>
                <a:lnTo>
                  <a:pt x="0" y="0"/>
                </a:lnTo>
                <a:lnTo>
                  <a:pt x="1235" y="147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182880" tIns="365760" rIns="182880" bIns="182880"/>
          <a:lstStyle/>
          <a:p>
            <a:endParaRPr lang="en-US" sz="1800"/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21"/>
          </p:nvPr>
        </p:nvSpPr>
        <p:spPr>
          <a:xfrm rot="5400000">
            <a:off x="3122762" y="-699446"/>
            <a:ext cx="636898" cy="4876800"/>
          </a:xfrm>
          <a:prstGeom prst="homePlate">
            <a:avLst>
              <a:gd name="adj" fmla="val 35000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8"/>
          <p:cNvSpPr>
            <a:spLocks noGrp="1"/>
          </p:cNvSpPr>
          <p:nvPr>
            <p:ph type="body" sz="quarter" idx="25"/>
          </p:nvPr>
        </p:nvSpPr>
        <p:spPr>
          <a:xfrm rot="5400000">
            <a:off x="8315844" y="-699446"/>
            <a:ext cx="636898" cy="4876800"/>
          </a:xfrm>
          <a:prstGeom prst="homePlate">
            <a:avLst>
              <a:gd name="adj" fmla="val 35000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1002811" y="2282953"/>
            <a:ext cx="4876800" cy="3813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6195893" y="2282953"/>
            <a:ext cx="4876800" cy="3813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 sz="1200"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Slide Number Placeholder 9"/>
          <p:cNvSpPr>
            <a:spLocks noGrp="1"/>
          </p:cNvSpPr>
          <p:nvPr>
            <p:ph type="sldNum" sz="quarter" idx="33"/>
          </p:nvPr>
        </p:nvSpPr>
        <p:spPr/>
        <p:txBody>
          <a:bodyPr/>
          <a:lstStyle>
            <a:lvl1pPr>
              <a:defRPr/>
            </a:lvl1pPr>
          </a:lstStyle>
          <a:p>
            <a:fld id="{9B3A2EF8-18A0-3548-8284-3CDE95E84B95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4" name="Footer Placeholder 10"/>
          <p:cNvSpPr>
            <a:spLocks noGrp="1"/>
          </p:cNvSpPr>
          <p:nvPr>
            <p:ph type="ftr" sz="quarter" idx="34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Taxation of C Corporations</a:t>
            </a:r>
          </a:p>
        </p:txBody>
      </p:sp>
    </p:spTree>
    <p:extLst>
      <p:ext uri="{BB962C8B-B14F-4D97-AF65-F5344CB8AC3E}">
        <p14:creationId xmlns:p14="http://schemas.microsoft.com/office/powerpoint/2010/main" val="32402631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sequences Vertical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4"/>
          <p:cNvSpPr>
            <a:spLocks/>
          </p:cNvSpPr>
          <p:nvPr userDrawn="1"/>
        </p:nvSpPr>
        <p:spPr bwMode="auto">
          <a:xfrm>
            <a:off x="588434" y="1911351"/>
            <a:ext cx="2561167" cy="4206875"/>
          </a:xfrm>
          <a:custGeom>
            <a:avLst/>
            <a:gdLst>
              <a:gd name="T0" fmla="*/ 2147483647 w 2475"/>
              <a:gd name="T1" fmla="*/ 2147483647 h 2946"/>
              <a:gd name="T2" fmla="*/ 2147483647 w 2475"/>
              <a:gd name="T3" fmla="*/ 2147483647 h 2946"/>
              <a:gd name="T4" fmla="*/ 2147483647 w 2475"/>
              <a:gd name="T5" fmla="*/ 2147483647 h 2946"/>
              <a:gd name="T6" fmla="*/ 2147483647 w 2475"/>
              <a:gd name="T7" fmla="*/ 2147483647 h 2946"/>
              <a:gd name="T8" fmla="*/ 0 w 2475"/>
              <a:gd name="T9" fmla="*/ 2147483647 h 2946"/>
              <a:gd name="T10" fmla="*/ 0 w 2475"/>
              <a:gd name="T11" fmla="*/ 2147483647 h 2946"/>
              <a:gd name="T12" fmla="*/ 2147483647 w 2475"/>
              <a:gd name="T13" fmla="*/ 0 h 2946"/>
              <a:gd name="T14" fmla="*/ 2147483647 w 2475"/>
              <a:gd name="T15" fmla="*/ 2147483647 h 294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2475" h="2946">
                <a:moveTo>
                  <a:pt x="1235" y="149"/>
                </a:moveTo>
                <a:lnTo>
                  <a:pt x="2475" y="2"/>
                </a:lnTo>
                <a:lnTo>
                  <a:pt x="2475" y="2471"/>
                </a:lnTo>
                <a:cubicBezTo>
                  <a:pt x="2466" y="2473"/>
                  <a:pt x="2458" y="2937"/>
                  <a:pt x="2449" y="2939"/>
                </a:cubicBezTo>
                <a:lnTo>
                  <a:pt x="0" y="2946"/>
                </a:lnTo>
                <a:lnTo>
                  <a:pt x="0" y="2"/>
                </a:lnTo>
                <a:cubicBezTo>
                  <a:pt x="1" y="1"/>
                  <a:pt x="2" y="1"/>
                  <a:pt x="3" y="0"/>
                </a:cubicBezTo>
                <a:lnTo>
                  <a:pt x="1235" y="149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tIns="274320" bIns="91440"/>
          <a:lstStyle/>
          <a:p>
            <a:endParaRPr lang="en-US" sz="1800"/>
          </a:p>
        </p:txBody>
      </p:sp>
      <p:sp>
        <p:nvSpPr>
          <p:cNvPr id="12" name="Freeform 4"/>
          <p:cNvSpPr>
            <a:spLocks/>
          </p:cNvSpPr>
          <p:nvPr userDrawn="1"/>
        </p:nvSpPr>
        <p:spPr bwMode="auto">
          <a:xfrm>
            <a:off x="3403600" y="1911351"/>
            <a:ext cx="2559051" cy="4206875"/>
          </a:xfrm>
          <a:custGeom>
            <a:avLst/>
            <a:gdLst>
              <a:gd name="T0" fmla="*/ 2147483647 w 2475"/>
              <a:gd name="T1" fmla="*/ 2147483647 h 2946"/>
              <a:gd name="T2" fmla="*/ 2147483647 w 2475"/>
              <a:gd name="T3" fmla="*/ 2147483647 h 2946"/>
              <a:gd name="T4" fmla="*/ 2147483647 w 2475"/>
              <a:gd name="T5" fmla="*/ 2147483647 h 2946"/>
              <a:gd name="T6" fmla="*/ 2147483647 w 2475"/>
              <a:gd name="T7" fmla="*/ 2147483647 h 2946"/>
              <a:gd name="T8" fmla="*/ 0 w 2475"/>
              <a:gd name="T9" fmla="*/ 2147483647 h 2946"/>
              <a:gd name="T10" fmla="*/ 0 w 2475"/>
              <a:gd name="T11" fmla="*/ 2147483647 h 2946"/>
              <a:gd name="T12" fmla="*/ 2147483647 w 2475"/>
              <a:gd name="T13" fmla="*/ 0 h 2946"/>
              <a:gd name="T14" fmla="*/ 2147483647 w 2475"/>
              <a:gd name="T15" fmla="*/ 2147483647 h 294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2475" h="2946">
                <a:moveTo>
                  <a:pt x="1235" y="149"/>
                </a:moveTo>
                <a:lnTo>
                  <a:pt x="2475" y="2"/>
                </a:lnTo>
                <a:lnTo>
                  <a:pt x="2475" y="2471"/>
                </a:lnTo>
                <a:cubicBezTo>
                  <a:pt x="2466" y="2473"/>
                  <a:pt x="2458" y="2937"/>
                  <a:pt x="2449" y="2939"/>
                </a:cubicBezTo>
                <a:lnTo>
                  <a:pt x="0" y="2946"/>
                </a:lnTo>
                <a:lnTo>
                  <a:pt x="0" y="2"/>
                </a:lnTo>
                <a:cubicBezTo>
                  <a:pt x="1" y="1"/>
                  <a:pt x="2" y="1"/>
                  <a:pt x="3" y="0"/>
                </a:cubicBezTo>
                <a:lnTo>
                  <a:pt x="1235" y="149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tIns="274320" bIns="91440"/>
          <a:lstStyle/>
          <a:p>
            <a:endParaRPr lang="en-US" sz="1800"/>
          </a:p>
        </p:txBody>
      </p:sp>
      <p:sp>
        <p:nvSpPr>
          <p:cNvPr id="13" name="Freeform 4"/>
          <p:cNvSpPr>
            <a:spLocks/>
          </p:cNvSpPr>
          <p:nvPr userDrawn="1"/>
        </p:nvSpPr>
        <p:spPr bwMode="auto">
          <a:xfrm>
            <a:off x="6197601" y="1911351"/>
            <a:ext cx="2561167" cy="4206875"/>
          </a:xfrm>
          <a:custGeom>
            <a:avLst/>
            <a:gdLst>
              <a:gd name="T0" fmla="*/ 2147483647 w 2475"/>
              <a:gd name="T1" fmla="*/ 2147483647 h 2946"/>
              <a:gd name="T2" fmla="*/ 2147483647 w 2475"/>
              <a:gd name="T3" fmla="*/ 2147483647 h 2946"/>
              <a:gd name="T4" fmla="*/ 2147483647 w 2475"/>
              <a:gd name="T5" fmla="*/ 2147483647 h 2946"/>
              <a:gd name="T6" fmla="*/ 2147483647 w 2475"/>
              <a:gd name="T7" fmla="*/ 2147483647 h 2946"/>
              <a:gd name="T8" fmla="*/ 0 w 2475"/>
              <a:gd name="T9" fmla="*/ 2147483647 h 2946"/>
              <a:gd name="T10" fmla="*/ 0 w 2475"/>
              <a:gd name="T11" fmla="*/ 2147483647 h 2946"/>
              <a:gd name="T12" fmla="*/ 2147483647 w 2475"/>
              <a:gd name="T13" fmla="*/ 0 h 2946"/>
              <a:gd name="T14" fmla="*/ 2147483647 w 2475"/>
              <a:gd name="T15" fmla="*/ 2147483647 h 294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2475" h="2946">
                <a:moveTo>
                  <a:pt x="1235" y="149"/>
                </a:moveTo>
                <a:lnTo>
                  <a:pt x="2475" y="2"/>
                </a:lnTo>
                <a:lnTo>
                  <a:pt x="2475" y="2471"/>
                </a:lnTo>
                <a:cubicBezTo>
                  <a:pt x="2466" y="2473"/>
                  <a:pt x="2458" y="2937"/>
                  <a:pt x="2449" y="2939"/>
                </a:cubicBezTo>
                <a:lnTo>
                  <a:pt x="0" y="2946"/>
                </a:lnTo>
                <a:lnTo>
                  <a:pt x="0" y="2"/>
                </a:lnTo>
                <a:cubicBezTo>
                  <a:pt x="1" y="1"/>
                  <a:pt x="2" y="1"/>
                  <a:pt x="3" y="0"/>
                </a:cubicBezTo>
                <a:lnTo>
                  <a:pt x="1235" y="149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tIns="274320" bIns="91440"/>
          <a:lstStyle/>
          <a:p>
            <a:endParaRPr lang="en-US" sz="1800"/>
          </a:p>
        </p:txBody>
      </p:sp>
      <p:sp>
        <p:nvSpPr>
          <p:cNvPr id="14" name="Freeform 4"/>
          <p:cNvSpPr>
            <a:spLocks/>
          </p:cNvSpPr>
          <p:nvPr userDrawn="1"/>
        </p:nvSpPr>
        <p:spPr bwMode="auto">
          <a:xfrm>
            <a:off x="9027585" y="1911351"/>
            <a:ext cx="2561167" cy="4206875"/>
          </a:xfrm>
          <a:custGeom>
            <a:avLst/>
            <a:gdLst>
              <a:gd name="T0" fmla="*/ 2147483647 w 2475"/>
              <a:gd name="T1" fmla="*/ 2147483647 h 2946"/>
              <a:gd name="T2" fmla="*/ 2147483647 w 2475"/>
              <a:gd name="T3" fmla="*/ 2147483647 h 2946"/>
              <a:gd name="T4" fmla="*/ 2147483647 w 2475"/>
              <a:gd name="T5" fmla="*/ 2147483647 h 2946"/>
              <a:gd name="T6" fmla="*/ 2147483647 w 2475"/>
              <a:gd name="T7" fmla="*/ 2147483647 h 2946"/>
              <a:gd name="T8" fmla="*/ 0 w 2475"/>
              <a:gd name="T9" fmla="*/ 2147483647 h 2946"/>
              <a:gd name="T10" fmla="*/ 0 w 2475"/>
              <a:gd name="T11" fmla="*/ 2147483647 h 2946"/>
              <a:gd name="T12" fmla="*/ 2147483647 w 2475"/>
              <a:gd name="T13" fmla="*/ 0 h 2946"/>
              <a:gd name="T14" fmla="*/ 2147483647 w 2475"/>
              <a:gd name="T15" fmla="*/ 2147483647 h 294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2475" h="2946">
                <a:moveTo>
                  <a:pt x="1235" y="149"/>
                </a:moveTo>
                <a:lnTo>
                  <a:pt x="2475" y="2"/>
                </a:lnTo>
                <a:lnTo>
                  <a:pt x="2475" y="2471"/>
                </a:lnTo>
                <a:cubicBezTo>
                  <a:pt x="2466" y="2473"/>
                  <a:pt x="2458" y="2937"/>
                  <a:pt x="2449" y="2939"/>
                </a:cubicBezTo>
                <a:lnTo>
                  <a:pt x="0" y="2946"/>
                </a:lnTo>
                <a:lnTo>
                  <a:pt x="0" y="2"/>
                </a:lnTo>
                <a:cubicBezTo>
                  <a:pt x="1" y="1"/>
                  <a:pt x="2" y="1"/>
                  <a:pt x="3" y="0"/>
                </a:cubicBezTo>
                <a:lnTo>
                  <a:pt x="1235" y="149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tIns="274320" bIns="91440"/>
          <a:lstStyle/>
          <a:p>
            <a:endParaRPr lang="en-US" sz="180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21"/>
          </p:nvPr>
        </p:nvSpPr>
        <p:spPr>
          <a:xfrm rot="5400000">
            <a:off x="1563115" y="473964"/>
            <a:ext cx="612648" cy="2560320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27"/>
          </p:nvPr>
        </p:nvSpPr>
        <p:spPr>
          <a:xfrm rot="5400000">
            <a:off x="4377013" y="473964"/>
            <a:ext cx="612648" cy="2560320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8"/>
          <p:cNvSpPr>
            <a:spLocks noGrp="1"/>
          </p:cNvSpPr>
          <p:nvPr>
            <p:ph type="body" sz="quarter" idx="28"/>
          </p:nvPr>
        </p:nvSpPr>
        <p:spPr>
          <a:xfrm rot="5400000">
            <a:off x="7171436" y="473964"/>
            <a:ext cx="612648" cy="2560320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8"/>
          <p:cNvSpPr>
            <a:spLocks noGrp="1"/>
          </p:cNvSpPr>
          <p:nvPr>
            <p:ph type="body" sz="quarter" idx="29"/>
          </p:nvPr>
        </p:nvSpPr>
        <p:spPr>
          <a:xfrm rot="5400000">
            <a:off x="10002267" y="473964"/>
            <a:ext cx="612648" cy="2560320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589279" y="2155123"/>
            <a:ext cx="2560320" cy="3959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3403177" y="2155123"/>
            <a:ext cx="2560320" cy="3959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6197600" y="2155123"/>
            <a:ext cx="2560320" cy="3959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34"/>
          </p:nvPr>
        </p:nvSpPr>
        <p:spPr>
          <a:xfrm>
            <a:off x="9028431" y="2155123"/>
            <a:ext cx="2560320" cy="3959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>
              <a:defRPr/>
            </a:lvl1pPr>
          </a:lstStyle>
          <a:p>
            <a:fld id="{6D75ED15-758A-614E-A17B-56CD5E692F69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1" name="Footer Placeholder 20"/>
          <p:cNvSpPr>
            <a:spLocks noGrp="1"/>
          </p:cNvSpPr>
          <p:nvPr>
            <p:ph type="ftr" sz="quarter" idx="36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Taxation of C Corporations</a:t>
            </a:r>
          </a:p>
        </p:txBody>
      </p:sp>
    </p:spTree>
    <p:extLst>
      <p:ext uri="{BB962C8B-B14F-4D97-AF65-F5344CB8AC3E}">
        <p14:creationId xmlns:p14="http://schemas.microsoft.com/office/powerpoint/2010/main" val="25252670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2"/>
          <p:cNvSpPr>
            <a:spLocks noGrp="1"/>
          </p:cNvSpPr>
          <p:nvPr>
            <p:ph type="body" sz="quarter" idx="12"/>
          </p:nvPr>
        </p:nvSpPr>
        <p:spPr>
          <a:xfrm>
            <a:off x="451104" y="1450181"/>
            <a:ext cx="3462528" cy="457200"/>
          </a:xfrm>
          <a:prstGeom prst="homePlate">
            <a:avLst>
              <a:gd name="adj" fmla="val 33316"/>
            </a:avLst>
          </a:prstGeom>
          <a:solidFill>
            <a:srgbClr val="B01C2E"/>
          </a:solidFill>
          <a:ln w="6350">
            <a:solidFill>
              <a:srgbClr val="A9A9A9"/>
            </a:solidFill>
          </a:ln>
        </p:spPr>
        <p:txBody>
          <a:bodyPr lIns="137160" tIns="137160" rIns="274320" bIns="137160" anchor="ctr"/>
          <a:lstStyle>
            <a:lvl1pPr marL="0" indent="0" algn="l"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3"/>
          <p:cNvSpPr>
            <a:spLocks noGrp="1"/>
          </p:cNvSpPr>
          <p:nvPr>
            <p:ph type="body" sz="quarter" idx="17"/>
          </p:nvPr>
        </p:nvSpPr>
        <p:spPr>
          <a:xfrm>
            <a:off x="4364739" y="1447805"/>
            <a:ext cx="3534833" cy="461963"/>
          </a:xfrm>
          <a:prstGeom prst="chevron">
            <a:avLst>
              <a:gd name="adj" fmla="val 34831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3"/>
          <p:cNvSpPr>
            <a:spLocks noGrp="1"/>
          </p:cNvSpPr>
          <p:nvPr>
            <p:ph type="body" sz="quarter" idx="29"/>
          </p:nvPr>
        </p:nvSpPr>
        <p:spPr>
          <a:xfrm>
            <a:off x="8278372" y="1447805"/>
            <a:ext cx="3534833" cy="461963"/>
          </a:xfrm>
          <a:prstGeom prst="chevron">
            <a:avLst>
              <a:gd name="adj" fmla="val 34831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4364736" y="2057400"/>
            <a:ext cx="3364992" cy="31089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8278368" y="2057400"/>
            <a:ext cx="3364992" cy="31089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451104" y="2057402"/>
            <a:ext cx="3364992" cy="276999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anchor="t" anchorCtr="0">
            <a:spAutoFit/>
          </a:bodyPr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Slide Number Placeholder 9"/>
          <p:cNvSpPr>
            <a:spLocks noGrp="1"/>
          </p:cNvSpPr>
          <p:nvPr>
            <p:ph type="sldNum" sz="quarter" idx="34"/>
          </p:nvPr>
        </p:nvSpPr>
        <p:spPr/>
        <p:txBody>
          <a:bodyPr/>
          <a:lstStyle>
            <a:lvl1pPr>
              <a:defRPr/>
            </a:lvl1pPr>
          </a:lstStyle>
          <a:p>
            <a:fld id="{8A4AF9FF-8501-8442-BA34-6C86C862CF8D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0" name="Footer Placeholder 12"/>
          <p:cNvSpPr>
            <a:spLocks noGrp="1"/>
          </p:cNvSpPr>
          <p:nvPr>
            <p:ph type="ftr" sz="quarter" idx="3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Taxation of C Corporations</a:t>
            </a:r>
          </a:p>
        </p:txBody>
      </p:sp>
    </p:spTree>
    <p:extLst>
      <p:ext uri="{BB962C8B-B14F-4D97-AF65-F5344CB8AC3E}">
        <p14:creationId xmlns:p14="http://schemas.microsoft.com/office/powerpoint/2010/main" val="177847825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rge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8"/>
          <p:cNvSpPr>
            <a:spLocks noGrp="1"/>
          </p:cNvSpPr>
          <p:nvPr>
            <p:ph type="body" sz="quarter" idx="29"/>
          </p:nvPr>
        </p:nvSpPr>
        <p:spPr>
          <a:xfrm>
            <a:off x="9505696" y="1493520"/>
            <a:ext cx="1975104" cy="47548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lIns="45720" anchor="t"/>
          <a:lstStyle>
            <a:lvl1pPr marL="164592" indent="-164592" algn="l">
              <a:lnSpc>
                <a:spcPts val="1400"/>
              </a:lnSpc>
              <a:spcBef>
                <a:spcPts val="0"/>
              </a:spcBef>
              <a:buClr>
                <a:schemeClr val="accent1"/>
              </a:buClr>
              <a:buFont typeface="Wingdings" pitchFamily="2" charset="2"/>
              <a:buChar char="§"/>
              <a:defRPr sz="1200" b="0">
                <a:solidFill>
                  <a:srgbClr val="000000"/>
                </a:solidFill>
              </a:defRPr>
            </a:lvl1pPr>
            <a:lvl2pPr marL="164592" indent="0" algn="l">
              <a:spcBef>
                <a:spcPts val="700"/>
              </a:spcBef>
              <a:buNone/>
              <a:defRPr sz="1200" b="0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5"/>
          <p:cNvSpPr>
            <a:spLocks noGrp="1"/>
          </p:cNvSpPr>
          <p:nvPr>
            <p:ph type="body" sz="quarter" idx="21"/>
          </p:nvPr>
        </p:nvSpPr>
        <p:spPr>
          <a:xfrm>
            <a:off x="609600" y="1600200"/>
            <a:ext cx="2133600" cy="128016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C0C0"/>
              </a:buClr>
              <a:buSzTx/>
              <a:buFont typeface="Wingdings 2" pitchFamily="18" charset="2"/>
              <a:buChar char="¡"/>
              <a:tabLst/>
              <a:defRPr sz="1200" b="1" baseline="0">
                <a:solidFill>
                  <a:srgbClr val="FFFFFF"/>
                </a:solidFill>
              </a:defRPr>
            </a:lvl1pPr>
            <a:lvl2pPr marL="117475" indent="0">
              <a:buFontTx/>
              <a:buNone/>
              <a:defRPr sz="10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5"/>
          <p:cNvSpPr>
            <a:spLocks noGrp="1"/>
          </p:cNvSpPr>
          <p:nvPr>
            <p:ph type="body" sz="quarter" idx="23"/>
          </p:nvPr>
        </p:nvSpPr>
        <p:spPr>
          <a:xfrm>
            <a:off x="609600" y="4876800"/>
            <a:ext cx="2133600" cy="128016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¡"/>
              <a:tabLst/>
              <a:defRPr lang="en-US" sz="1200" b="1" kern="1200" baseline="0" dirty="0" smtClean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117475" indent="0">
              <a:buFontTx/>
              <a:buNone/>
              <a:defRPr sz="10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24"/>
          </p:nvPr>
        </p:nvSpPr>
        <p:spPr>
          <a:xfrm>
            <a:off x="609600" y="3238500"/>
            <a:ext cx="2133600" cy="128016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¡"/>
              <a:tabLst/>
              <a:defRPr lang="en-US" sz="1200" b="1" kern="1200" baseline="0" dirty="0" smtClean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117475" indent="0">
              <a:buFontTx/>
              <a:buNone/>
              <a:defRPr sz="10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5"/>
          <p:cNvSpPr>
            <a:spLocks noGrp="1"/>
          </p:cNvSpPr>
          <p:nvPr>
            <p:ph type="body" sz="quarter" idx="30"/>
          </p:nvPr>
        </p:nvSpPr>
        <p:spPr>
          <a:xfrm>
            <a:off x="2922016" y="1600200"/>
            <a:ext cx="6486144" cy="1280160"/>
          </a:xfrm>
          <a:prstGeom prst="homePlate">
            <a:avLst>
              <a:gd name="adj" fmla="val 25111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/>
          <a:lstStyle>
            <a:lvl1pPr marL="164592" marR="0" indent="-16459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64592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03504" indent="-164592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768096" indent="-164592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 marL="914400" indent="-164592">
              <a:buClr>
                <a:srgbClr val="B01C2E"/>
              </a:buClr>
              <a:buFont typeface="Arial" pitchFamily="34" charset="0"/>
              <a:buChar char="–"/>
              <a:defRPr sz="120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2922016" y="3238500"/>
            <a:ext cx="6486144" cy="1280160"/>
          </a:xfrm>
          <a:prstGeom prst="homePlate">
            <a:avLst>
              <a:gd name="adj" fmla="val 25111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/>
          <a:lstStyle>
            <a:lvl1pPr marL="164592" marR="0" indent="-16459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64592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03504" indent="-164592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768096" indent="-164592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 marL="914400" indent="-164592">
              <a:buClr>
                <a:srgbClr val="B01C2E"/>
              </a:buClr>
              <a:buFont typeface="Arial" pitchFamily="34" charset="0"/>
              <a:buChar char="–"/>
              <a:defRPr sz="120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2922016" y="4876800"/>
            <a:ext cx="6486144" cy="1280160"/>
          </a:xfrm>
          <a:prstGeom prst="homePlate">
            <a:avLst>
              <a:gd name="adj" fmla="val 25111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/>
          <a:lstStyle>
            <a:lvl1pPr marL="164592" marR="0" indent="-16459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64592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03504" indent="-164592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768096" indent="-164592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 marL="914400" indent="-164592">
              <a:buClr>
                <a:srgbClr val="B01C2E"/>
              </a:buClr>
              <a:buFont typeface="Arial" pitchFamily="34" charset="0"/>
              <a:buChar char="–"/>
              <a:defRPr sz="120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33"/>
          </p:nvPr>
        </p:nvSpPr>
        <p:spPr/>
        <p:txBody>
          <a:bodyPr/>
          <a:lstStyle>
            <a:lvl1pPr>
              <a:defRPr/>
            </a:lvl1pPr>
          </a:lstStyle>
          <a:p>
            <a:fld id="{00398512-78EB-D84B-88E3-8EFD360D49E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34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Taxation of C Corporations</a:t>
            </a:r>
          </a:p>
        </p:txBody>
      </p:sp>
    </p:spTree>
    <p:extLst>
      <p:ext uri="{BB962C8B-B14F-4D97-AF65-F5344CB8AC3E}">
        <p14:creationId xmlns:p14="http://schemas.microsoft.com/office/powerpoint/2010/main" val="40049188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Two palettes moving forw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AutoShape 3"/>
          <p:cNvSpPr>
            <a:spLocks noChangeArrowheads="1"/>
          </p:cNvSpPr>
          <p:nvPr userDrawn="1"/>
        </p:nvSpPr>
        <p:spPr bwMode="auto">
          <a:xfrm>
            <a:off x="912284" y="2635250"/>
            <a:ext cx="10369549" cy="1587500"/>
          </a:xfrm>
          <a:prstGeom prst="homePlate">
            <a:avLst>
              <a:gd name="adj" fmla="val 32592"/>
            </a:avLst>
          </a:prstGeom>
          <a:gradFill rotWithShape="1">
            <a:gsLst>
              <a:gs pos="0">
                <a:srgbClr val="9E9E9E"/>
              </a:gs>
              <a:gs pos="50000">
                <a:srgbClr val="C4C4C4"/>
              </a:gs>
              <a:gs pos="100000">
                <a:srgbClr val="E3E3E3"/>
              </a:gs>
            </a:gsLst>
            <a:lin ang="108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tIns="91440" bIns="91440" anchor="ctr"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eaLnBrk="1" hangingPunct="1"/>
            <a:endParaRPr lang="en-US" altLang="en-US" sz="1800">
              <a:latin typeface="Arial" charset="0"/>
            </a:endParaRPr>
          </a:p>
        </p:txBody>
      </p:sp>
      <p:sp>
        <p:nvSpPr>
          <p:cNvPr id="18" name="Text Placeholder 17"/>
          <p:cNvSpPr>
            <a:spLocks noGrp="1"/>
          </p:cNvSpPr>
          <p:nvPr>
            <p:ph type="body" sz="quarter" idx="21"/>
          </p:nvPr>
        </p:nvSpPr>
        <p:spPr>
          <a:xfrm>
            <a:off x="1402080" y="1417320"/>
            <a:ext cx="4389120" cy="45720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7"/>
          <p:cNvSpPr>
            <a:spLocks noGrp="1"/>
          </p:cNvSpPr>
          <p:nvPr>
            <p:ph type="body" sz="quarter" idx="23"/>
          </p:nvPr>
        </p:nvSpPr>
        <p:spPr>
          <a:xfrm>
            <a:off x="6096000" y="1417320"/>
            <a:ext cx="4389120" cy="45720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Content Placeholder 10"/>
          <p:cNvSpPr>
            <a:spLocks noGrp="1"/>
          </p:cNvSpPr>
          <p:nvPr>
            <p:ph sz="quarter" idx="20"/>
          </p:nvPr>
        </p:nvSpPr>
        <p:spPr>
          <a:xfrm>
            <a:off x="1402080" y="1874520"/>
            <a:ext cx="4389120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Content Placeholder 10"/>
          <p:cNvSpPr>
            <a:spLocks noGrp="1"/>
          </p:cNvSpPr>
          <p:nvPr>
            <p:ph sz="quarter" idx="24"/>
          </p:nvPr>
        </p:nvSpPr>
        <p:spPr>
          <a:xfrm>
            <a:off x="6096000" y="1874520"/>
            <a:ext cx="4389120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25"/>
          </p:nvPr>
        </p:nvSpPr>
        <p:spPr/>
        <p:txBody>
          <a:bodyPr/>
          <a:lstStyle>
            <a:lvl1pPr>
              <a:defRPr/>
            </a:lvl1pPr>
          </a:lstStyle>
          <a:p>
            <a:fld id="{6CB47071-B393-DC4F-9921-408D035EE572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26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Taxation of C Corporations</a:t>
            </a:r>
          </a:p>
        </p:txBody>
      </p:sp>
    </p:spTree>
    <p:extLst>
      <p:ext uri="{BB962C8B-B14F-4D97-AF65-F5344CB8AC3E}">
        <p14:creationId xmlns:p14="http://schemas.microsoft.com/office/powerpoint/2010/main" val="42098441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fli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7"/>
          <p:cNvSpPr>
            <a:spLocks/>
          </p:cNvSpPr>
          <p:nvPr userDrawn="1"/>
        </p:nvSpPr>
        <p:spPr bwMode="auto">
          <a:xfrm>
            <a:off x="5846233" y="3341688"/>
            <a:ext cx="501651" cy="1403350"/>
          </a:xfrm>
          <a:custGeom>
            <a:avLst/>
            <a:gdLst>
              <a:gd name="T0" fmla="*/ 2147483647 w 176"/>
              <a:gd name="T1" fmla="*/ 0 h 608"/>
              <a:gd name="T2" fmla="*/ 0 w 176"/>
              <a:gd name="T3" fmla="*/ 2147483647 h 608"/>
              <a:gd name="T4" fmla="*/ 2147483647 w 176"/>
              <a:gd name="T5" fmla="*/ 2147483647 h 608"/>
              <a:gd name="T6" fmla="*/ 0 w 176"/>
              <a:gd name="T7" fmla="*/ 2147483647 h 608"/>
              <a:gd name="T8" fmla="*/ 2147483647 w 176"/>
              <a:gd name="T9" fmla="*/ 2147483647 h 608"/>
              <a:gd name="T10" fmla="*/ 2147483647 w 176"/>
              <a:gd name="T11" fmla="*/ 2147483647 h 608"/>
              <a:gd name="T12" fmla="*/ 0 w 176"/>
              <a:gd name="T13" fmla="*/ 2147483647 h 608"/>
              <a:gd name="T14" fmla="*/ 0 w 176"/>
              <a:gd name="T15" fmla="*/ 2147483647 h 608"/>
              <a:gd name="T16" fmla="*/ 2147483647 w 176"/>
              <a:gd name="T17" fmla="*/ 2147483647 h 608"/>
              <a:gd name="T18" fmla="*/ 2147483647 w 176"/>
              <a:gd name="T19" fmla="*/ 2147483647 h 608"/>
              <a:gd name="T20" fmla="*/ 2147483647 w 176"/>
              <a:gd name="T21" fmla="*/ 2147483647 h 608"/>
              <a:gd name="T22" fmla="*/ 2147483647 w 176"/>
              <a:gd name="T23" fmla="*/ 2147483647 h 608"/>
              <a:gd name="T24" fmla="*/ 2147483647 w 176"/>
              <a:gd name="T25" fmla="*/ 2147483647 h 608"/>
              <a:gd name="T26" fmla="*/ 2147483647 w 176"/>
              <a:gd name="T27" fmla="*/ 2147483647 h 608"/>
              <a:gd name="T28" fmla="*/ 2147483647 w 176"/>
              <a:gd name="T29" fmla="*/ 0 h 608"/>
              <a:gd name="T30" fmla="*/ 2147483647 w 176"/>
              <a:gd name="T31" fmla="*/ 0 h 608"/>
              <a:gd name="T32" fmla="*/ 0 60000 65536"/>
              <a:gd name="T33" fmla="*/ 0 60000 65536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</a:gdLst>
            <a:ahLst/>
            <a:cxnLst>
              <a:cxn ang="T32">
                <a:pos x="T0" y="T1"/>
              </a:cxn>
              <a:cxn ang="T33">
                <a:pos x="T2" y="T3"/>
              </a:cxn>
              <a:cxn ang="T34">
                <a:pos x="T4" y="T5"/>
              </a:cxn>
              <a:cxn ang="T35">
                <a:pos x="T6" y="T7"/>
              </a:cxn>
              <a:cxn ang="T36">
                <a:pos x="T8" y="T9"/>
              </a:cxn>
              <a:cxn ang="T37">
                <a:pos x="T10" y="T11"/>
              </a:cxn>
              <a:cxn ang="T38">
                <a:pos x="T12" y="T13"/>
              </a:cxn>
              <a:cxn ang="T39">
                <a:pos x="T14" y="T15"/>
              </a:cxn>
              <a:cxn ang="T40">
                <a:pos x="T16" y="T17"/>
              </a:cxn>
              <a:cxn ang="T41">
                <a:pos x="T18" y="T19"/>
              </a:cxn>
              <a:cxn ang="T42">
                <a:pos x="T20" y="T21"/>
              </a:cxn>
              <a:cxn ang="T43">
                <a:pos x="T22" y="T23"/>
              </a:cxn>
              <a:cxn ang="T44">
                <a:pos x="T24" y="T25"/>
              </a:cxn>
              <a:cxn ang="T45">
                <a:pos x="T26" y="T27"/>
              </a:cxn>
              <a:cxn ang="T46">
                <a:pos x="T28" y="T29"/>
              </a:cxn>
              <a:cxn ang="T47">
                <a:pos x="T30" y="T31"/>
              </a:cxn>
            </a:cxnLst>
            <a:rect l="0" t="0" r="r" b="b"/>
            <a:pathLst>
              <a:path w="176" h="608">
                <a:moveTo>
                  <a:pt x="72" y="0"/>
                </a:moveTo>
                <a:lnTo>
                  <a:pt x="0" y="232"/>
                </a:lnTo>
                <a:lnTo>
                  <a:pt x="48" y="232"/>
                </a:lnTo>
                <a:lnTo>
                  <a:pt x="0" y="376"/>
                </a:lnTo>
                <a:lnTo>
                  <a:pt x="72" y="376"/>
                </a:lnTo>
                <a:lnTo>
                  <a:pt x="32" y="504"/>
                </a:lnTo>
                <a:lnTo>
                  <a:pt x="0" y="504"/>
                </a:lnTo>
                <a:lnTo>
                  <a:pt x="0" y="608"/>
                </a:lnTo>
                <a:lnTo>
                  <a:pt x="96" y="496"/>
                </a:lnTo>
                <a:lnTo>
                  <a:pt x="48" y="504"/>
                </a:lnTo>
                <a:lnTo>
                  <a:pt x="144" y="336"/>
                </a:lnTo>
                <a:lnTo>
                  <a:pt x="72" y="336"/>
                </a:lnTo>
                <a:lnTo>
                  <a:pt x="144" y="192"/>
                </a:lnTo>
                <a:lnTo>
                  <a:pt x="88" y="192"/>
                </a:lnTo>
                <a:lnTo>
                  <a:pt x="176" y="0"/>
                </a:lnTo>
                <a:lnTo>
                  <a:pt x="72" y="0"/>
                </a:lnTo>
                <a:close/>
              </a:path>
            </a:pathLst>
          </a:custGeom>
          <a:solidFill>
            <a:srgbClr val="B01C2E"/>
          </a:solidFill>
          <a:ln w="6350" cap="flat" cmpd="sng">
            <a:solidFill>
              <a:srgbClr val="B01C2E"/>
            </a:solidFill>
            <a:prstDash val="solid"/>
            <a:round/>
            <a:headEnd/>
            <a:tailEnd/>
          </a:ln>
        </p:spPr>
        <p:txBody>
          <a:bodyPr lIns="72000" tIns="72000" rIns="72000" bIns="72000" anchor="ctr"/>
          <a:lstStyle/>
          <a:p>
            <a:endParaRPr lang="en-US" sz="1800"/>
          </a:p>
        </p:txBody>
      </p:sp>
      <p:sp>
        <p:nvSpPr>
          <p:cNvPr id="18" name="Text Placeholder 17"/>
          <p:cNvSpPr>
            <a:spLocks noGrp="1"/>
          </p:cNvSpPr>
          <p:nvPr>
            <p:ph type="body" sz="quarter" idx="21"/>
          </p:nvPr>
        </p:nvSpPr>
        <p:spPr>
          <a:xfrm>
            <a:off x="1113536" y="1417320"/>
            <a:ext cx="4047744" cy="45720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algn="ctr">
              <a:buNone/>
              <a:defRPr sz="1200" b="1" baseline="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7"/>
          <p:cNvSpPr>
            <a:spLocks noGrp="1"/>
          </p:cNvSpPr>
          <p:nvPr>
            <p:ph type="body" sz="quarter" idx="23"/>
          </p:nvPr>
        </p:nvSpPr>
        <p:spPr>
          <a:xfrm>
            <a:off x="7022169" y="1417320"/>
            <a:ext cx="4072128" cy="45720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0"/>
          </p:nvPr>
        </p:nvSpPr>
        <p:spPr>
          <a:xfrm>
            <a:off x="1113536" y="1874520"/>
            <a:ext cx="4389120" cy="4343400"/>
          </a:xfrm>
          <a:prstGeom prst="homePlate">
            <a:avLst>
              <a:gd name="adj" fmla="val 7684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0"/>
          <p:cNvSpPr>
            <a:spLocks noGrp="1"/>
          </p:cNvSpPr>
          <p:nvPr>
            <p:ph sz="quarter" idx="24"/>
          </p:nvPr>
        </p:nvSpPr>
        <p:spPr>
          <a:xfrm flipH="1">
            <a:off x="6705177" y="1874520"/>
            <a:ext cx="4389120" cy="4343400"/>
          </a:xfrm>
          <a:prstGeom prst="homePlate">
            <a:avLst>
              <a:gd name="adj" fmla="val 7343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228600"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25"/>
          </p:nvPr>
        </p:nvSpPr>
        <p:spPr/>
        <p:txBody>
          <a:bodyPr/>
          <a:lstStyle>
            <a:lvl1pPr>
              <a:defRPr/>
            </a:lvl1pPr>
          </a:lstStyle>
          <a:p>
            <a:fld id="{6C637242-61C1-4C47-AFEF-079B86936FE6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0" name="Footer Placeholder 12"/>
          <p:cNvSpPr>
            <a:spLocks noGrp="1"/>
          </p:cNvSpPr>
          <p:nvPr>
            <p:ph type="ftr" sz="quarter" idx="26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Taxation of C Corporations</a:t>
            </a:r>
          </a:p>
        </p:txBody>
      </p:sp>
    </p:spTree>
    <p:extLst>
      <p:ext uri="{BB962C8B-B14F-4D97-AF65-F5344CB8AC3E}">
        <p14:creationId xmlns:p14="http://schemas.microsoft.com/office/powerpoint/2010/main" val="11794056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sequences 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Content Placeholder 10"/>
          <p:cNvSpPr>
            <a:spLocks noGrp="1"/>
          </p:cNvSpPr>
          <p:nvPr>
            <p:ph sz="quarter" idx="35"/>
          </p:nvPr>
        </p:nvSpPr>
        <p:spPr>
          <a:xfrm>
            <a:off x="8242300" y="1577977"/>
            <a:ext cx="3316224" cy="39319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0" rIns="91440"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Content Placeholder 10"/>
          <p:cNvSpPr>
            <a:spLocks noGrp="1"/>
          </p:cNvSpPr>
          <p:nvPr>
            <p:ph sz="quarter" idx="20"/>
          </p:nvPr>
        </p:nvSpPr>
        <p:spPr>
          <a:xfrm>
            <a:off x="646176" y="1577977"/>
            <a:ext cx="3316224" cy="39319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0"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4" name="Text Placeholder 23"/>
          <p:cNvSpPr>
            <a:spLocks noGrp="1"/>
          </p:cNvSpPr>
          <p:nvPr>
            <p:ph type="body" sz="quarter" idx="10"/>
          </p:nvPr>
        </p:nvSpPr>
        <p:spPr>
          <a:xfrm>
            <a:off x="3556000" y="1828800"/>
            <a:ext cx="524256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3"/>
          <p:cNvSpPr>
            <a:spLocks noGrp="1"/>
          </p:cNvSpPr>
          <p:nvPr>
            <p:ph type="body" sz="quarter" idx="21"/>
          </p:nvPr>
        </p:nvSpPr>
        <p:spPr>
          <a:xfrm>
            <a:off x="3556000" y="2423160"/>
            <a:ext cx="524256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3"/>
          <p:cNvSpPr>
            <a:spLocks noGrp="1"/>
          </p:cNvSpPr>
          <p:nvPr>
            <p:ph type="body" sz="quarter" idx="22"/>
          </p:nvPr>
        </p:nvSpPr>
        <p:spPr>
          <a:xfrm>
            <a:off x="3556000" y="3017520"/>
            <a:ext cx="524256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3"/>
          <p:cNvSpPr>
            <a:spLocks noGrp="1"/>
          </p:cNvSpPr>
          <p:nvPr>
            <p:ph type="body" sz="quarter" idx="23"/>
          </p:nvPr>
        </p:nvSpPr>
        <p:spPr>
          <a:xfrm>
            <a:off x="3556000" y="3611880"/>
            <a:ext cx="524256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3"/>
          <p:cNvSpPr>
            <a:spLocks noGrp="1"/>
          </p:cNvSpPr>
          <p:nvPr>
            <p:ph type="body" sz="quarter" idx="24"/>
          </p:nvPr>
        </p:nvSpPr>
        <p:spPr>
          <a:xfrm>
            <a:off x="3556000" y="4206240"/>
            <a:ext cx="524256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23"/>
          <p:cNvSpPr>
            <a:spLocks noGrp="1"/>
          </p:cNvSpPr>
          <p:nvPr>
            <p:ph type="body" sz="quarter" idx="25"/>
          </p:nvPr>
        </p:nvSpPr>
        <p:spPr>
          <a:xfrm>
            <a:off x="3556000" y="4800600"/>
            <a:ext cx="524256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22"/>
          <p:cNvSpPr>
            <a:spLocks noGrp="1"/>
          </p:cNvSpPr>
          <p:nvPr>
            <p:ph type="body" sz="quarter" idx="29"/>
          </p:nvPr>
        </p:nvSpPr>
        <p:spPr>
          <a:xfrm>
            <a:off x="3352800" y="1981200"/>
            <a:ext cx="316992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22"/>
          <p:cNvSpPr>
            <a:spLocks noGrp="1"/>
          </p:cNvSpPr>
          <p:nvPr>
            <p:ph type="body" sz="quarter" idx="30"/>
          </p:nvPr>
        </p:nvSpPr>
        <p:spPr>
          <a:xfrm>
            <a:off x="3352800" y="2570074"/>
            <a:ext cx="316992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22"/>
          <p:cNvSpPr>
            <a:spLocks noGrp="1"/>
          </p:cNvSpPr>
          <p:nvPr>
            <p:ph type="body" sz="quarter" idx="31"/>
          </p:nvPr>
        </p:nvSpPr>
        <p:spPr>
          <a:xfrm>
            <a:off x="3352800" y="3158948"/>
            <a:ext cx="316992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22"/>
          <p:cNvSpPr>
            <a:spLocks noGrp="1"/>
          </p:cNvSpPr>
          <p:nvPr>
            <p:ph type="body" sz="quarter" idx="32"/>
          </p:nvPr>
        </p:nvSpPr>
        <p:spPr>
          <a:xfrm>
            <a:off x="3352800" y="3747822"/>
            <a:ext cx="316992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22"/>
          <p:cNvSpPr>
            <a:spLocks noGrp="1"/>
          </p:cNvSpPr>
          <p:nvPr>
            <p:ph type="body" sz="quarter" idx="33"/>
          </p:nvPr>
        </p:nvSpPr>
        <p:spPr>
          <a:xfrm>
            <a:off x="3352800" y="4336696"/>
            <a:ext cx="316992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22"/>
          <p:cNvSpPr>
            <a:spLocks noGrp="1"/>
          </p:cNvSpPr>
          <p:nvPr>
            <p:ph type="body" sz="quarter" idx="34"/>
          </p:nvPr>
        </p:nvSpPr>
        <p:spPr>
          <a:xfrm>
            <a:off x="3352800" y="4925568"/>
            <a:ext cx="316992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Slide Number Placeholder 9"/>
          <p:cNvSpPr>
            <a:spLocks noGrp="1"/>
          </p:cNvSpPr>
          <p:nvPr>
            <p:ph type="sldNum" sz="quarter" idx="36"/>
          </p:nvPr>
        </p:nvSpPr>
        <p:spPr/>
        <p:txBody>
          <a:bodyPr/>
          <a:lstStyle>
            <a:lvl1pPr>
              <a:defRPr/>
            </a:lvl1pPr>
          </a:lstStyle>
          <a:p>
            <a:fld id="{6F716D94-026E-1240-A247-91A0127FD885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1" name="Footer Placeholder 12"/>
          <p:cNvSpPr>
            <a:spLocks noGrp="1"/>
          </p:cNvSpPr>
          <p:nvPr>
            <p:ph type="ftr" sz="quarter" idx="3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Taxation of C Corporations</a:t>
            </a:r>
          </a:p>
        </p:txBody>
      </p:sp>
    </p:spTree>
    <p:extLst>
      <p:ext uri="{BB962C8B-B14F-4D97-AF65-F5344CB8AC3E}">
        <p14:creationId xmlns:p14="http://schemas.microsoft.com/office/powerpoint/2010/main" val="84775436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Horizontal chevrons wit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19"/>
          <p:cNvSpPr>
            <a:spLocks noGrp="1"/>
          </p:cNvSpPr>
          <p:nvPr>
            <p:ph type="body" sz="quarter" idx="10"/>
          </p:nvPr>
        </p:nvSpPr>
        <p:spPr>
          <a:xfrm>
            <a:off x="528320" y="1600200"/>
            <a:ext cx="24384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9"/>
          <p:cNvSpPr>
            <a:spLocks noGrp="1"/>
          </p:cNvSpPr>
          <p:nvPr>
            <p:ph type="body" sz="quarter" idx="29"/>
          </p:nvPr>
        </p:nvSpPr>
        <p:spPr>
          <a:xfrm>
            <a:off x="3495040" y="1600200"/>
            <a:ext cx="816864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7" name="Text Placeholder 19"/>
          <p:cNvSpPr>
            <a:spLocks noGrp="1"/>
          </p:cNvSpPr>
          <p:nvPr>
            <p:ph type="body" sz="quarter" idx="30"/>
          </p:nvPr>
        </p:nvSpPr>
        <p:spPr>
          <a:xfrm>
            <a:off x="528320" y="2748280"/>
            <a:ext cx="24384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9"/>
          <p:cNvSpPr>
            <a:spLocks noGrp="1"/>
          </p:cNvSpPr>
          <p:nvPr>
            <p:ph type="body" sz="quarter" idx="31"/>
          </p:nvPr>
        </p:nvSpPr>
        <p:spPr>
          <a:xfrm>
            <a:off x="3495040" y="2748280"/>
            <a:ext cx="816864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9" name="Text Placeholder 19"/>
          <p:cNvSpPr>
            <a:spLocks noGrp="1"/>
          </p:cNvSpPr>
          <p:nvPr>
            <p:ph type="body" sz="quarter" idx="32"/>
          </p:nvPr>
        </p:nvSpPr>
        <p:spPr>
          <a:xfrm>
            <a:off x="528320" y="3896360"/>
            <a:ext cx="24384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9"/>
          <p:cNvSpPr>
            <a:spLocks noGrp="1"/>
          </p:cNvSpPr>
          <p:nvPr>
            <p:ph type="body" sz="quarter" idx="33"/>
          </p:nvPr>
        </p:nvSpPr>
        <p:spPr>
          <a:xfrm>
            <a:off x="3495040" y="3896360"/>
            <a:ext cx="816864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3" name="Text Placeholder 19"/>
          <p:cNvSpPr>
            <a:spLocks noGrp="1"/>
          </p:cNvSpPr>
          <p:nvPr>
            <p:ph type="body" sz="quarter" idx="34"/>
          </p:nvPr>
        </p:nvSpPr>
        <p:spPr>
          <a:xfrm>
            <a:off x="536355" y="5044440"/>
            <a:ext cx="24384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19"/>
          <p:cNvSpPr>
            <a:spLocks noGrp="1"/>
          </p:cNvSpPr>
          <p:nvPr>
            <p:ph type="body" sz="quarter" idx="35"/>
          </p:nvPr>
        </p:nvSpPr>
        <p:spPr>
          <a:xfrm>
            <a:off x="3503075" y="5044440"/>
            <a:ext cx="816864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Slide Number Placeholder 9"/>
          <p:cNvSpPr>
            <a:spLocks noGrp="1"/>
          </p:cNvSpPr>
          <p:nvPr>
            <p:ph type="sldNum" sz="quarter" idx="36"/>
          </p:nvPr>
        </p:nvSpPr>
        <p:spPr/>
        <p:txBody>
          <a:bodyPr/>
          <a:lstStyle>
            <a:lvl1pPr>
              <a:defRPr/>
            </a:lvl1pPr>
          </a:lstStyle>
          <a:p>
            <a:fld id="{DDD5FA0E-3EAB-CB47-B428-C2E5915BFD66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4" name="Footer Placeholder 12"/>
          <p:cNvSpPr>
            <a:spLocks noGrp="1"/>
          </p:cNvSpPr>
          <p:nvPr>
            <p:ph type="ftr" sz="quarter" idx="3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Taxation of C Corporations</a:t>
            </a:r>
          </a:p>
        </p:txBody>
      </p:sp>
    </p:spTree>
    <p:extLst>
      <p:ext uri="{BB962C8B-B14F-4D97-AF65-F5344CB8AC3E}">
        <p14:creationId xmlns:p14="http://schemas.microsoft.com/office/powerpoint/2010/main" val="865705389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Vertical chevrons wit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3"/>
          <p:cNvSpPr>
            <a:spLocks noGrp="1"/>
          </p:cNvSpPr>
          <p:nvPr>
            <p:ph type="body" sz="quarter" idx="17"/>
          </p:nvPr>
        </p:nvSpPr>
        <p:spPr>
          <a:xfrm rot="5400000">
            <a:off x="1187196" y="794005"/>
            <a:ext cx="1271016" cy="2426208"/>
          </a:xfrm>
          <a:prstGeom prst="chevron">
            <a:avLst>
              <a:gd name="adj" fmla="val 18344"/>
            </a:avLst>
          </a:prstGeom>
          <a:solidFill>
            <a:srgbClr val="B01C2E"/>
          </a:solidFill>
        </p:spPr>
        <p:txBody>
          <a:bodyPr vert="vert270"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9"/>
          <p:cNvSpPr>
            <a:spLocks noGrp="1"/>
          </p:cNvSpPr>
          <p:nvPr>
            <p:ph type="body" sz="quarter" idx="29"/>
          </p:nvPr>
        </p:nvSpPr>
        <p:spPr>
          <a:xfrm>
            <a:off x="3149600" y="1371600"/>
            <a:ext cx="82905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5" name="Text Placeholder 19"/>
          <p:cNvSpPr>
            <a:spLocks noGrp="1"/>
          </p:cNvSpPr>
          <p:nvPr>
            <p:ph type="body" sz="quarter" idx="30"/>
          </p:nvPr>
        </p:nvSpPr>
        <p:spPr>
          <a:xfrm>
            <a:off x="3149600" y="2474977"/>
            <a:ext cx="82905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6" name="Text Placeholder 19"/>
          <p:cNvSpPr>
            <a:spLocks noGrp="1"/>
          </p:cNvSpPr>
          <p:nvPr>
            <p:ph type="body" sz="quarter" idx="31"/>
          </p:nvPr>
        </p:nvSpPr>
        <p:spPr>
          <a:xfrm>
            <a:off x="3149600" y="3578353"/>
            <a:ext cx="82905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7" name="Text Placeholder 19"/>
          <p:cNvSpPr>
            <a:spLocks noGrp="1"/>
          </p:cNvSpPr>
          <p:nvPr>
            <p:ph type="body" sz="quarter" idx="32"/>
          </p:nvPr>
        </p:nvSpPr>
        <p:spPr>
          <a:xfrm>
            <a:off x="3149600" y="4681728"/>
            <a:ext cx="82905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13"/>
          <p:cNvSpPr>
            <a:spLocks noGrp="1"/>
          </p:cNvSpPr>
          <p:nvPr>
            <p:ph type="body" sz="quarter" idx="33"/>
          </p:nvPr>
        </p:nvSpPr>
        <p:spPr>
          <a:xfrm rot="5400000">
            <a:off x="1187196" y="1897381"/>
            <a:ext cx="1271016" cy="2426208"/>
          </a:xfrm>
          <a:prstGeom prst="chevron">
            <a:avLst>
              <a:gd name="adj" fmla="val 18344"/>
            </a:avLst>
          </a:prstGeom>
          <a:solidFill>
            <a:srgbClr val="B01C2E"/>
          </a:solidFill>
        </p:spPr>
        <p:txBody>
          <a:bodyPr vert="vert270"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3"/>
          <p:cNvSpPr>
            <a:spLocks noGrp="1"/>
          </p:cNvSpPr>
          <p:nvPr>
            <p:ph type="body" sz="quarter" idx="34"/>
          </p:nvPr>
        </p:nvSpPr>
        <p:spPr>
          <a:xfrm rot="5400000">
            <a:off x="1187196" y="3000757"/>
            <a:ext cx="1271016" cy="2426208"/>
          </a:xfrm>
          <a:prstGeom prst="chevron">
            <a:avLst>
              <a:gd name="adj" fmla="val 18344"/>
            </a:avLst>
          </a:prstGeom>
          <a:solidFill>
            <a:srgbClr val="B01C2E"/>
          </a:solidFill>
        </p:spPr>
        <p:txBody>
          <a:bodyPr vert="vert270"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3"/>
          <p:cNvSpPr>
            <a:spLocks noGrp="1"/>
          </p:cNvSpPr>
          <p:nvPr>
            <p:ph type="body" sz="quarter" idx="35"/>
          </p:nvPr>
        </p:nvSpPr>
        <p:spPr>
          <a:xfrm rot="5400000">
            <a:off x="1187196" y="4104132"/>
            <a:ext cx="1271016" cy="2426208"/>
          </a:xfrm>
          <a:prstGeom prst="chevron">
            <a:avLst>
              <a:gd name="adj" fmla="val 18344"/>
            </a:avLst>
          </a:prstGeom>
          <a:solidFill>
            <a:srgbClr val="B01C2E"/>
          </a:solidFill>
        </p:spPr>
        <p:txBody>
          <a:bodyPr vert="vert270"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Slide Number Placeholder 9"/>
          <p:cNvSpPr>
            <a:spLocks noGrp="1"/>
          </p:cNvSpPr>
          <p:nvPr>
            <p:ph type="sldNum" sz="quarter" idx="36"/>
          </p:nvPr>
        </p:nvSpPr>
        <p:spPr/>
        <p:txBody>
          <a:bodyPr/>
          <a:lstStyle>
            <a:lvl1pPr>
              <a:defRPr/>
            </a:lvl1pPr>
          </a:lstStyle>
          <a:p>
            <a:fld id="{4835DA82-056E-9542-8819-BE1B86DFF077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2" name="Footer Placeholder 12"/>
          <p:cNvSpPr>
            <a:spLocks noGrp="1"/>
          </p:cNvSpPr>
          <p:nvPr>
            <p:ph type="ftr" sz="quarter" idx="3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Taxation of C Corporations</a:t>
            </a:r>
          </a:p>
        </p:txBody>
      </p:sp>
    </p:spTree>
    <p:extLst>
      <p:ext uri="{BB962C8B-B14F-4D97-AF65-F5344CB8AC3E}">
        <p14:creationId xmlns:p14="http://schemas.microsoft.com/office/powerpoint/2010/main" val="11312797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tr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AutoShape 8"/>
          <p:cNvSpPr>
            <a:spLocks noChangeArrowheads="1"/>
          </p:cNvSpPr>
          <p:nvPr userDrawn="1"/>
        </p:nvSpPr>
        <p:spPr bwMode="auto">
          <a:xfrm rot="5400000">
            <a:off x="7797801" y="3117850"/>
            <a:ext cx="4406900" cy="1828800"/>
          </a:xfrm>
          <a:prstGeom prst="homePlate">
            <a:avLst>
              <a:gd name="adj" fmla="val 19772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72000" tIns="72000" rIns="72000" bIns="72000" anchor="ctr"/>
          <a:lstStyle/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2" name="AutoShape 4"/>
          <p:cNvSpPr>
            <a:spLocks noChangeArrowheads="1"/>
          </p:cNvSpPr>
          <p:nvPr userDrawn="1"/>
        </p:nvSpPr>
        <p:spPr bwMode="auto">
          <a:xfrm rot="5400000">
            <a:off x="-277813" y="3122613"/>
            <a:ext cx="4416425" cy="1828800"/>
          </a:xfrm>
          <a:prstGeom prst="homePlate">
            <a:avLst>
              <a:gd name="adj" fmla="val 19749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72000" tIns="72000" rIns="72000" bIns="72000" anchor="ctr"/>
          <a:lstStyle/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3" name="AutoShape 5"/>
          <p:cNvSpPr>
            <a:spLocks noChangeArrowheads="1"/>
          </p:cNvSpPr>
          <p:nvPr userDrawn="1"/>
        </p:nvSpPr>
        <p:spPr bwMode="auto">
          <a:xfrm rot="5400000">
            <a:off x="1741488" y="3122613"/>
            <a:ext cx="4416425" cy="1828800"/>
          </a:xfrm>
          <a:prstGeom prst="homePlate">
            <a:avLst>
              <a:gd name="adj" fmla="val 19749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72000" tIns="72000" rIns="72000" bIns="72000" anchor="ctr"/>
          <a:lstStyle/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4" name="AutoShape 6"/>
          <p:cNvSpPr>
            <a:spLocks noChangeArrowheads="1"/>
          </p:cNvSpPr>
          <p:nvPr userDrawn="1"/>
        </p:nvSpPr>
        <p:spPr bwMode="auto">
          <a:xfrm rot="5400000">
            <a:off x="3758672" y="3122613"/>
            <a:ext cx="4416425" cy="1828800"/>
          </a:xfrm>
          <a:prstGeom prst="homePlate">
            <a:avLst>
              <a:gd name="adj" fmla="val 19772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72000" tIns="72000" rIns="72000" bIns="72000" anchor="ctr"/>
          <a:lstStyle/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5" name="AutoShape 7"/>
          <p:cNvSpPr>
            <a:spLocks noChangeArrowheads="1"/>
          </p:cNvSpPr>
          <p:nvPr userDrawn="1"/>
        </p:nvSpPr>
        <p:spPr bwMode="auto">
          <a:xfrm rot="5400000">
            <a:off x="5777972" y="3122613"/>
            <a:ext cx="4416425" cy="1828800"/>
          </a:xfrm>
          <a:prstGeom prst="homePlate">
            <a:avLst>
              <a:gd name="adj" fmla="val 19749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72000" tIns="72000" rIns="72000" bIns="72000" anchor="ctr"/>
          <a:lstStyle/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0"/>
          </p:nvPr>
        </p:nvSpPr>
        <p:spPr>
          <a:xfrm>
            <a:off x="1016000" y="1417320"/>
            <a:ext cx="18288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6"/>
          <p:cNvSpPr>
            <a:spLocks noGrp="1"/>
          </p:cNvSpPr>
          <p:nvPr>
            <p:ph type="body" sz="quarter" idx="11"/>
          </p:nvPr>
        </p:nvSpPr>
        <p:spPr>
          <a:xfrm>
            <a:off x="3035300" y="1417320"/>
            <a:ext cx="18288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6"/>
          <p:cNvSpPr>
            <a:spLocks noGrp="1"/>
          </p:cNvSpPr>
          <p:nvPr>
            <p:ph type="body" sz="quarter" idx="12"/>
          </p:nvPr>
        </p:nvSpPr>
        <p:spPr>
          <a:xfrm>
            <a:off x="5052484" y="1417320"/>
            <a:ext cx="18288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6"/>
          <p:cNvSpPr>
            <a:spLocks noGrp="1"/>
          </p:cNvSpPr>
          <p:nvPr>
            <p:ph type="body" sz="quarter" idx="13"/>
          </p:nvPr>
        </p:nvSpPr>
        <p:spPr>
          <a:xfrm>
            <a:off x="7071784" y="1417320"/>
            <a:ext cx="18288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6"/>
          <p:cNvSpPr>
            <a:spLocks noGrp="1"/>
          </p:cNvSpPr>
          <p:nvPr>
            <p:ph type="body" sz="quarter" idx="14"/>
          </p:nvPr>
        </p:nvSpPr>
        <p:spPr>
          <a:xfrm>
            <a:off x="9086851" y="1417320"/>
            <a:ext cx="18288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9"/>
          <p:cNvSpPr>
            <a:spLocks noGrp="1"/>
          </p:cNvSpPr>
          <p:nvPr>
            <p:ph type="body" sz="quarter" idx="15"/>
          </p:nvPr>
        </p:nvSpPr>
        <p:spPr>
          <a:xfrm>
            <a:off x="812800" y="2133601"/>
            <a:ext cx="10521696" cy="114300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1" name="Text Placeholder 19"/>
          <p:cNvSpPr>
            <a:spLocks noGrp="1"/>
          </p:cNvSpPr>
          <p:nvPr>
            <p:ph type="body" sz="quarter" idx="21"/>
          </p:nvPr>
        </p:nvSpPr>
        <p:spPr>
          <a:xfrm>
            <a:off x="812800" y="3390901"/>
            <a:ext cx="10521696" cy="114300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  <a:lvl4pPr>
              <a:def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2" name="Text Placeholder 19"/>
          <p:cNvSpPr>
            <a:spLocks noGrp="1"/>
          </p:cNvSpPr>
          <p:nvPr>
            <p:ph type="body" sz="quarter" idx="22"/>
          </p:nvPr>
        </p:nvSpPr>
        <p:spPr>
          <a:xfrm>
            <a:off x="812800" y="4648200"/>
            <a:ext cx="10521696" cy="114300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  <a:lvl4pPr>
              <a:def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Slide Number Placeholder 9"/>
          <p:cNvSpPr>
            <a:spLocks noGrp="1"/>
          </p:cNvSpPr>
          <p:nvPr>
            <p:ph type="sldNum" sz="quarter" idx="23"/>
          </p:nvPr>
        </p:nvSpPr>
        <p:spPr/>
        <p:txBody>
          <a:bodyPr/>
          <a:lstStyle>
            <a:lvl1pPr>
              <a:defRPr/>
            </a:lvl1pPr>
          </a:lstStyle>
          <a:p>
            <a:fld id="{4755A724-3117-D848-90FF-6F79FEC20653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2" name="Footer Placeholder 21"/>
          <p:cNvSpPr>
            <a:spLocks noGrp="1"/>
          </p:cNvSpPr>
          <p:nvPr>
            <p:ph type="ftr" sz="quarter" idx="24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Taxation of C Corporations</a:t>
            </a:r>
          </a:p>
        </p:txBody>
      </p:sp>
    </p:spTree>
    <p:extLst>
      <p:ext uri="{BB962C8B-B14F-4D97-AF65-F5344CB8AC3E}">
        <p14:creationId xmlns:p14="http://schemas.microsoft.com/office/powerpoint/2010/main" val="1871942132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Chevrons resulting Fr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 Placeholder 12"/>
          <p:cNvSpPr>
            <a:spLocks noGrp="1"/>
          </p:cNvSpPr>
          <p:nvPr>
            <p:ph type="body" sz="quarter" idx="18"/>
          </p:nvPr>
        </p:nvSpPr>
        <p:spPr>
          <a:xfrm>
            <a:off x="4364736" y="1444752"/>
            <a:ext cx="3462528" cy="3968496"/>
          </a:xfrm>
          <a:prstGeom prst="rect">
            <a:avLst/>
          </a:prstGeom>
        </p:spPr>
        <p:txBody>
          <a:bodyPr wrap="square" lIns="640080" rIns="640080" anchor="ctr" anchorCtr="1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2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9"/>
          <p:cNvSpPr>
            <a:spLocks noGrp="1"/>
          </p:cNvSpPr>
          <p:nvPr>
            <p:ph type="body" sz="quarter" idx="15"/>
          </p:nvPr>
        </p:nvSpPr>
        <p:spPr>
          <a:xfrm>
            <a:off x="7160768" y="152400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91440" tIns="45720" rIns="18288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8" name="Text Placeholder 19"/>
          <p:cNvSpPr>
            <a:spLocks noGrp="1"/>
          </p:cNvSpPr>
          <p:nvPr>
            <p:ph type="body" sz="quarter" idx="31"/>
          </p:nvPr>
        </p:nvSpPr>
        <p:spPr>
          <a:xfrm flipH="1">
            <a:off x="812800" y="152400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182880" tIns="45720" rIns="9144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9" name="Text Placeholder 19"/>
          <p:cNvSpPr>
            <a:spLocks noGrp="1"/>
          </p:cNvSpPr>
          <p:nvPr>
            <p:ph type="body" sz="quarter" idx="32"/>
          </p:nvPr>
        </p:nvSpPr>
        <p:spPr>
          <a:xfrm>
            <a:off x="7160768" y="255016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91440" tIns="45720" rIns="18288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0" name="Text Placeholder 19"/>
          <p:cNvSpPr>
            <a:spLocks noGrp="1"/>
          </p:cNvSpPr>
          <p:nvPr>
            <p:ph type="body" sz="quarter" idx="33"/>
          </p:nvPr>
        </p:nvSpPr>
        <p:spPr>
          <a:xfrm flipH="1">
            <a:off x="812800" y="255016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182880" tIns="45720" rIns="9144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8" name="Text Placeholder 19"/>
          <p:cNvSpPr>
            <a:spLocks noGrp="1"/>
          </p:cNvSpPr>
          <p:nvPr>
            <p:ph type="body" sz="quarter" idx="34"/>
          </p:nvPr>
        </p:nvSpPr>
        <p:spPr>
          <a:xfrm>
            <a:off x="7160768" y="357632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91440" tIns="45720" rIns="18288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2" name="Text Placeholder 19"/>
          <p:cNvSpPr>
            <a:spLocks noGrp="1"/>
          </p:cNvSpPr>
          <p:nvPr>
            <p:ph type="body" sz="quarter" idx="35"/>
          </p:nvPr>
        </p:nvSpPr>
        <p:spPr>
          <a:xfrm flipH="1">
            <a:off x="812800" y="357632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182880" tIns="45720" rIns="9144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3" name="Text Placeholder 19"/>
          <p:cNvSpPr>
            <a:spLocks noGrp="1"/>
          </p:cNvSpPr>
          <p:nvPr>
            <p:ph type="body" sz="quarter" idx="36"/>
          </p:nvPr>
        </p:nvSpPr>
        <p:spPr>
          <a:xfrm>
            <a:off x="7160768" y="460248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91440" tIns="45720" rIns="18288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4" name="Text Placeholder 19"/>
          <p:cNvSpPr>
            <a:spLocks noGrp="1"/>
          </p:cNvSpPr>
          <p:nvPr>
            <p:ph type="body" sz="quarter" idx="37"/>
          </p:nvPr>
        </p:nvSpPr>
        <p:spPr>
          <a:xfrm flipH="1">
            <a:off x="812800" y="460248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182880" tIns="45720" rIns="9144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Slide Number Placeholder 9"/>
          <p:cNvSpPr>
            <a:spLocks noGrp="1"/>
          </p:cNvSpPr>
          <p:nvPr>
            <p:ph type="sldNum" sz="quarter" idx="38"/>
          </p:nvPr>
        </p:nvSpPr>
        <p:spPr/>
        <p:txBody>
          <a:bodyPr/>
          <a:lstStyle>
            <a:lvl1pPr>
              <a:defRPr/>
            </a:lvl1pPr>
          </a:lstStyle>
          <a:p>
            <a:fld id="{BA6B416F-5AE6-D74C-AE38-5D34E63DFA9A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5" name="Footer Placeholder 12"/>
          <p:cNvSpPr>
            <a:spLocks noGrp="1"/>
          </p:cNvSpPr>
          <p:nvPr>
            <p:ph type="ftr" sz="quarter" idx="39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Taxation of C Corporations</a:t>
            </a:r>
          </a:p>
        </p:txBody>
      </p:sp>
    </p:spTree>
    <p:extLst>
      <p:ext uri="{BB962C8B-B14F-4D97-AF65-F5344CB8AC3E}">
        <p14:creationId xmlns:p14="http://schemas.microsoft.com/office/powerpoint/2010/main" val="123541069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Chevrons leading 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12"/>
          <p:cNvSpPr>
            <a:spLocks noGrp="1"/>
          </p:cNvSpPr>
          <p:nvPr>
            <p:ph type="body" sz="quarter" idx="18"/>
          </p:nvPr>
        </p:nvSpPr>
        <p:spPr>
          <a:xfrm>
            <a:off x="8331200" y="1420504"/>
            <a:ext cx="3450336" cy="480060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233363" indent="-233363" algn="l"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200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200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 marL="1115568">
              <a:buClr>
                <a:srgbClr val="B01C1A"/>
              </a:buClr>
              <a:buFont typeface="Arial" pitchFamily="34" charset="0"/>
              <a:buChar char="–"/>
              <a:defRPr sz="120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19"/>
          <p:cNvSpPr>
            <a:spLocks noGrp="1"/>
          </p:cNvSpPr>
          <p:nvPr>
            <p:ph type="body" sz="quarter" idx="15"/>
          </p:nvPr>
        </p:nvSpPr>
        <p:spPr>
          <a:xfrm>
            <a:off x="670560" y="1554480"/>
            <a:ext cx="7376160" cy="96012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Text Placeholder 19"/>
          <p:cNvSpPr>
            <a:spLocks noGrp="1"/>
          </p:cNvSpPr>
          <p:nvPr>
            <p:ph type="body" sz="quarter" idx="21"/>
          </p:nvPr>
        </p:nvSpPr>
        <p:spPr>
          <a:xfrm>
            <a:off x="670560" y="2748280"/>
            <a:ext cx="7376160" cy="96012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Text Placeholder 19"/>
          <p:cNvSpPr>
            <a:spLocks noGrp="1"/>
          </p:cNvSpPr>
          <p:nvPr>
            <p:ph type="body" sz="quarter" idx="22"/>
          </p:nvPr>
        </p:nvSpPr>
        <p:spPr>
          <a:xfrm>
            <a:off x="670560" y="3942080"/>
            <a:ext cx="7376160" cy="96012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6" name="Text Placeholder 19"/>
          <p:cNvSpPr>
            <a:spLocks noGrp="1"/>
          </p:cNvSpPr>
          <p:nvPr>
            <p:ph type="body" sz="quarter" idx="23"/>
          </p:nvPr>
        </p:nvSpPr>
        <p:spPr>
          <a:xfrm>
            <a:off x="670560" y="5135880"/>
            <a:ext cx="7376160" cy="96012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24"/>
          </p:nvPr>
        </p:nvSpPr>
        <p:spPr/>
        <p:txBody>
          <a:bodyPr/>
          <a:lstStyle>
            <a:lvl1pPr>
              <a:defRPr/>
            </a:lvl1pPr>
          </a:lstStyle>
          <a:p>
            <a:fld id="{12EFD6B5-614C-464C-AC16-8E45A0815BB5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2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Taxation of C Corporations</a:t>
            </a:r>
          </a:p>
        </p:txBody>
      </p:sp>
    </p:spTree>
    <p:extLst>
      <p:ext uri="{BB962C8B-B14F-4D97-AF65-F5344CB8AC3E}">
        <p14:creationId xmlns:p14="http://schemas.microsoft.com/office/powerpoint/2010/main" val="1706955121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ases and threads with arrow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Text Placeholder 19"/>
          <p:cNvSpPr>
            <a:spLocks noGrp="1"/>
          </p:cNvSpPr>
          <p:nvPr>
            <p:ph type="body" sz="quarter" idx="15"/>
          </p:nvPr>
        </p:nvSpPr>
        <p:spPr>
          <a:xfrm>
            <a:off x="406400" y="2362200"/>
            <a:ext cx="8156448" cy="941832"/>
          </a:xfrm>
          <a:prstGeom prst="homePlate">
            <a:avLst>
              <a:gd name="adj" fmla="val 50223"/>
            </a:avLst>
          </a:prstGeom>
          <a:gradFill flip="none" rotWithShape="1">
            <a:gsLst>
              <a:gs pos="0">
                <a:srgbClr val="000000">
                  <a:tint val="66000"/>
                  <a:satMod val="160000"/>
                </a:srgbClr>
              </a:gs>
              <a:gs pos="50000">
                <a:srgbClr val="000000">
                  <a:tint val="44500"/>
                  <a:satMod val="160000"/>
                </a:srgbClr>
              </a:gs>
              <a:gs pos="100000">
                <a:srgbClr val="000000">
                  <a:tint val="23500"/>
                  <a:satMod val="160000"/>
                </a:srgbClr>
              </a:gs>
            </a:gsLst>
            <a:lin ang="10800000" scaled="1"/>
            <a:tileRect/>
          </a:gradFill>
          <a:ln>
            <a:noFill/>
          </a:ln>
        </p:spPr>
        <p:txBody>
          <a:bodyPr wrap="square" lIns="91440" tIns="45720" rIns="5029200" bIns="45720" anchor="ctr">
            <a:noAutofit/>
          </a:bodyPr>
          <a:lstStyle>
            <a:lvl1pPr marL="0" indent="0">
              <a:spcBef>
                <a:spcPts val="0"/>
              </a:spcBef>
              <a:buClr>
                <a:schemeClr val="accent1"/>
              </a:buClr>
              <a:buFont typeface="Wingdings" pitchFamily="2" charset="2"/>
              <a:buNone/>
              <a:defRPr sz="1000" b="1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19"/>
          <p:cNvSpPr>
            <a:spLocks noGrp="1"/>
          </p:cNvSpPr>
          <p:nvPr>
            <p:ph type="body" sz="quarter" idx="33"/>
          </p:nvPr>
        </p:nvSpPr>
        <p:spPr>
          <a:xfrm>
            <a:off x="406400" y="3491484"/>
            <a:ext cx="8128000" cy="941832"/>
          </a:xfrm>
          <a:prstGeom prst="homePlate">
            <a:avLst>
              <a:gd name="adj" fmla="val 50223"/>
            </a:avLst>
          </a:prstGeom>
          <a:gradFill flip="none" rotWithShape="1">
            <a:gsLst>
              <a:gs pos="0">
                <a:srgbClr val="000000">
                  <a:tint val="66000"/>
                  <a:satMod val="160000"/>
                </a:srgbClr>
              </a:gs>
              <a:gs pos="50000">
                <a:srgbClr val="000000">
                  <a:tint val="44500"/>
                  <a:satMod val="160000"/>
                </a:srgbClr>
              </a:gs>
              <a:gs pos="100000">
                <a:srgbClr val="000000">
                  <a:tint val="23500"/>
                  <a:satMod val="160000"/>
                </a:srgbClr>
              </a:gs>
            </a:gsLst>
            <a:lin ang="10800000" scaled="1"/>
            <a:tileRect/>
          </a:gradFill>
          <a:ln>
            <a:noFill/>
          </a:ln>
        </p:spPr>
        <p:txBody>
          <a:bodyPr wrap="square" lIns="91440" tIns="45720" rIns="5029200" bIns="45720" anchor="ctr">
            <a:noAutofit/>
          </a:bodyPr>
          <a:lstStyle>
            <a:lvl1pPr marL="0" indent="0">
              <a:spcBef>
                <a:spcPts val="0"/>
              </a:spcBef>
              <a:buClr>
                <a:schemeClr val="accent1"/>
              </a:buClr>
              <a:buFont typeface="Wingdings" pitchFamily="2" charset="2"/>
              <a:buNone/>
              <a:defRPr sz="1000" b="1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19"/>
          <p:cNvSpPr>
            <a:spLocks noGrp="1"/>
          </p:cNvSpPr>
          <p:nvPr>
            <p:ph type="body" sz="quarter" idx="34"/>
          </p:nvPr>
        </p:nvSpPr>
        <p:spPr>
          <a:xfrm>
            <a:off x="406400" y="4620768"/>
            <a:ext cx="8128000" cy="941832"/>
          </a:xfrm>
          <a:prstGeom prst="homePlate">
            <a:avLst>
              <a:gd name="adj" fmla="val 50223"/>
            </a:avLst>
          </a:prstGeom>
          <a:gradFill flip="none" rotWithShape="1">
            <a:gsLst>
              <a:gs pos="0">
                <a:srgbClr val="000000">
                  <a:tint val="66000"/>
                  <a:satMod val="160000"/>
                </a:srgbClr>
              </a:gs>
              <a:gs pos="50000">
                <a:srgbClr val="000000">
                  <a:tint val="44500"/>
                  <a:satMod val="160000"/>
                </a:srgbClr>
              </a:gs>
              <a:gs pos="100000">
                <a:srgbClr val="000000">
                  <a:tint val="23500"/>
                  <a:satMod val="160000"/>
                </a:srgbClr>
              </a:gs>
            </a:gsLst>
            <a:lin ang="10800000" scaled="1"/>
            <a:tileRect/>
          </a:gradFill>
          <a:ln>
            <a:noFill/>
          </a:ln>
        </p:spPr>
        <p:txBody>
          <a:bodyPr wrap="square" lIns="91440" tIns="45720" rIns="5029200" bIns="45720" anchor="ctr">
            <a:noAutofit/>
          </a:bodyPr>
          <a:lstStyle>
            <a:lvl1pPr marL="0" indent="0">
              <a:spcBef>
                <a:spcPts val="0"/>
              </a:spcBef>
              <a:buClr>
                <a:schemeClr val="accent1"/>
              </a:buClr>
              <a:buFont typeface="Wingdings" pitchFamily="2" charset="2"/>
              <a:buNone/>
              <a:defRPr sz="1000" b="1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5"/>
          <p:cNvSpPr>
            <a:spLocks noGrp="1"/>
          </p:cNvSpPr>
          <p:nvPr>
            <p:ph type="body" sz="quarter" idx="21"/>
          </p:nvPr>
        </p:nvSpPr>
        <p:spPr>
          <a:xfrm>
            <a:off x="8548577" y="1417320"/>
            <a:ext cx="2804160" cy="429768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2"/>
          <p:cNvSpPr>
            <a:spLocks noGrp="1"/>
          </p:cNvSpPr>
          <p:nvPr>
            <p:ph type="body" sz="quarter" idx="27"/>
          </p:nvPr>
        </p:nvSpPr>
        <p:spPr>
          <a:xfrm>
            <a:off x="5854700" y="2136788"/>
            <a:ext cx="1975104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233363" indent="-233363" algn="l"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000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000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000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Text Placeholder 12"/>
          <p:cNvSpPr>
            <a:spLocks noGrp="1"/>
          </p:cNvSpPr>
          <p:nvPr>
            <p:ph type="body" sz="quarter" idx="28"/>
          </p:nvPr>
        </p:nvSpPr>
        <p:spPr>
          <a:xfrm>
            <a:off x="3698748" y="2136788"/>
            <a:ext cx="1975104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233363" indent="-233363" algn="l"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000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000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000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Text Placeholder 12"/>
          <p:cNvSpPr>
            <a:spLocks noGrp="1"/>
          </p:cNvSpPr>
          <p:nvPr>
            <p:ph type="body" sz="quarter" idx="29"/>
          </p:nvPr>
        </p:nvSpPr>
        <p:spPr>
          <a:xfrm>
            <a:off x="1542796" y="2136788"/>
            <a:ext cx="1975104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233363" indent="-233363" algn="l"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000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000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000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0" name="Text Placeholder 25"/>
          <p:cNvSpPr>
            <a:spLocks noGrp="1"/>
          </p:cNvSpPr>
          <p:nvPr>
            <p:ph type="body" sz="quarter" idx="30"/>
          </p:nvPr>
        </p:nvSpPr>
        <p:spPr>
          <a:xfrm>
            <a:off x="1542796" y="1738919"/>
            <a:ext cx="1975104" cy="384048"/>
          </a:xfrm>
          <a:prstGeom prst="rect">
            <a:avLst/>
          </a:prstGeom>
          <a:solidFill>
            <a:srgbClr val="4D4D4D"/>
          </a:solidFill>
          <a:ln>
            <a:solidFill>
              <a:srgbClr val="4D4D4D"/>
            </a:solidFill>
          </a:ln>
        </p:spPr>
        <p:txBody>
          <a:bodyPr anchor="ctr"/>
          <a:lstStyle>
            <a:lvl1pPr algn="ctr">
              <a:buNone/>
              <a:defRPr sz="10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25"/>
          <p:cNvSpPr>
            <a:spLocks noGrp="1"/>
          </p:cNvSpPr>
          <p:nvPr>
            <p:ph type="body" sz="quarter" idx="31"/>
          </p:nvPr>
        </p:nvSpPr>
        <p:spPr>
          <a:xfrm>
            <a:off x="3698748" y="1738919"/>
            <a:ext cx="1975104" cy="384048"/>
          </a:xfrm>
          <a:prstGeom prst="rect">
            <a:avLst/>
          </a:prstGeom>
          <a:solidFill>
            <a:srgbClr val="4D4D4D"/>
          </a:solidFill>
          <a:ln>
            <a:solidFill>
              <a:srgbClr val="4D4D4D"/>
            </a:solidFill>
          </a:ln>
        </p:spPr>
        <p:txBody>
          <a:bodyPr anchor="ctr"/>
          <a:lstStyle>
            <a:lvl1pPr algn="ctr">
              <a:buNone/>
              <a:defRPr sz="10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5"/>
          <p:cNvSpPr>
            <a:spLocks noGrp="1"/>
          </p:cNvSpPr>
          <p:nvPr>
            <p:ph type="body" sz="quarter" idx="32"/>
          </p:nvPr>
        </p:nvSpPr>
        <p:spPr>
          <a:xfrm>
            <a:off x="5854700" y="1738919"/>
            <a:ext cx="1975104" cy="384048"/>
          </a:xfrm>
          <a:prstGeom prst="rect">
            <a:avLst/>
          </a:prstGeom>
          <a:solidFill>
            <a:srgbClr val="4D4D4D"/>
          </a:solidFill>
          <a:ln>
            <a:solidFill>
              <a:srgbClr val="4D4D4D"/>
            </a:solidFill>
          </a:ln>
        </p:spPr>
        <p:txBody>
          <a:bodyPr anchor="ctr"/>
          <a:lstStyle>
            <a:lvl1pPr algn="ctr">
              <a:buNone/>
              <a:defRPr sz="10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Content Placeholder 10"/>
          <p:cNvSpPr>
            <a:spLocks noGrp="1"/>
          </p:cNvSpPr>
          <p:nvPr>
            <p:ph sz="quarter" idx="20"/>
          </p:nvPr>
        </p:nvSpPr>
        <p:spPr>
          <a:xfrm>
            <a:off x="8548577" y="1861185"/>
            <a:ext cx="2804160" cy="42062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0"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4" name="Slide Number Placeholder 9"/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>
              <a:defRPr/>
            </a:lvl1pPr>
          </a:lstStyle>
          <a:p>
            <a:fld id="{08AE5534-AA48-F74E-87DE-645A72BA9DD1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2" name="Footer Placeholder 12"/>
          <p:cNvSpPr>
            <a:spLocks noGrp="1"/>
          </p:cNvSpPr>
          <p:nvPr>
            <p:ph type="ftr" sz="quarter" idx="3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Taxation of C Corporations</a:t>
            </a:r>
          </a:p>
        </p:txBody>
      </p:sp>
    </p:spTree>
    <p:extLst>
      <p:ext uri="{BB962C8B-B14F-4D97-AF65-F5344CB8AC3E}">
        <p14:creationId xmlns:p14="http://schemas.microsoft.com/office/powerpoint/2010/main" val="163188782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ject Phas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 11"/>
          <p:cNvSpPr>
            <a:spLocks/>
          </p:cNvSpPr>
          <p:nvPr userDrawn="1"/>
        </p:nvSpPr>
        <p:spPr bwMode="auto">
          <a:xfrm>
            <a:off x="4091518" y="1981201"/>
            <a:ext cx="3382433" cy="339725"/>
          </a:xfrm>
          <a:custGeom>
            <a:avLst/>
            <a:gdLst>
              <a:gd name="T0" fmla="*/ 0 w 2536891"/>
              <a:gd name="T1" fmla="*/ 0 h 488372"/>
              <a:gd name="T2" fmla="*/ 1942613 w 2536891"/>
              <a:gd name="T3" fmla="*/ 0 h 488372"/>
              <a:gd name="T4" fmla="*/ 2455867 w 2536891"/>
              <a:gd name="T5" fmla="*/ 200 h 488372"/>
              <a:gd name="T6" fmla="*/ 2536627 w 2536891"/>
              <a:gd name="T7" fmla="*/ 114356 h 488372"/>
              <a:gd name="T8" fmla="*/ 131751 w 2536891"/>
              <a:gd name="T9" fmla="*/ 114356 h 488372"/>
              <a:gd name="T10" fmla="*/ 81090 w 2536891"/>
              <a:gd name="T11" fmla="*/ 113442 h 488372"/>
              <a:gd name="T12" fmla="*/ 0 w 2536891"/>
              <a:gd name="T13" fmla="*/ 0 h 488372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0" t="0" r="r" b="b"/>
            <a:pathLst>
              <a:path w="2536891" h="488372">
                <a:moveTo>
                  <a:pt x="0" y="0"/>
                </a:moveTo>
                <a:lnTo>
                  <a:pt x="1942817" y="0"/>
                </a:lnTo>
                <a:lnTo>
                  <a:pt x="2456123" y="856"/>
                </a:lnTo>
                <a:lnTo>
                  <a:pt x="2536891" y="488372"/>
                </a:lnTo>
                <a:lnTo>
                  <a:pt x="131763" y="488372"/>
                </a:lnTo>
                <a:lnTo>
                  <a:pt x="81098" y="484467"/>
                </a:lnTo>
                <a:lnTo>
                  <a:pt x="0" y="0"/>
                </a:lnTo>
                <a:close/>
              </a:path>
            </a:pathLst>
          </a:custGeom>
          <a:solidFill>
            <a:srgbClr val="4D4D4D"/>
          </a:solidFill>
          <a:ln w="6350" cap="flat" cmpd="sng">
            <a:solidFill>
              <a:srgbClr val="A9A9A9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 sz="1800"/>
          </a:p>
        </p:txBody>
      </p:sp>
      <p:sp>
        <p:nvSpPr>
          <p:cNvPr id="17" name="Freeform 13"/>
          <p:cNvSpPr>
            <a:spLocks/>
          </p:cNvSpPr>
          <p:nvPr userDrawn="1"/>
        </p:nvSpPr>
        <p:spPr bwMode="auto">
          <a:xfrm>
            <a:off x="609601" y="1982789"/>
            <a:ext cx="3373967" cy="339725"/>
          </a:xfrm>
          <a:custGeom>
            <a:avLst/>
            <a:gdLst>
              <a:gd name="T0" fmla="*/ 0 w 2529680"/>
              <a:gd name="T1" fmla="*/ 0 h 488372"/>
              <a:gd name="T2" fmla="*/ 1945261 w 2529680"/>
              <a:gd name="T3" fmla="*/ 0 h 488372"/>
              <a:gd name="T4" fmla="*/ 2463980 w 2529680"/>
              <a:gd name="T5" fmla="*/ 200 h 488372"/>
              <a:gd name="T6" fmla="*/ 2532861 w 2529680"/>
              <a:gd name="T7" fmla="*/ 113442 h 488372"/>
              <a:gd name="T8" fmla="*/ 0 w 2529680"/>
              <a:gd name="T9" fmla="*/ 114356 h 488372"/>
              <a:gd name="T10" fmla="*/ 0 w 2529680"/>
              <a:gd name="T11" fmla="*/ 0 h 488372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2529680" h="488372">
                <a:moveTo>
                  <a:pt x="0" y="0"/>
                </a:moveTo>
                <a:lnTo>
                  <a:pt x="1942817" y="0"/>
                </a:lnTo>
                <a:lnTo>
                  <a:pt x="2460885" y="856"/>
                </a:lnTo>
                <a:lnTo>
                  <a:pt x="2529680" y="484467"/>
                </a:lnTo>
                <a:lnTo>
                  <a:pt x="0" y="488372"/>
                </a:lnTo>
                <a:lnTo>
                  <a:pt x="0" y="0"/>
                </a:lnTo>
                <a:close/>
              </a:path>
            </a:pathLst>
          </a:custGeom>
          <a:solidFill>
            <a:srgbClr val="4D4D4D"/>
          </a:solidFill>
          <a:ln w="6350" cap="flat" cmpd="sng">
            <a:solidFill>
              <a:srgbClr val="A9A9A9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 sz="1800"/>
          </a:p>
        </p:txBody>
      </p:sp>
      <p:sp>
        <p:nvSpPr>
          <p:cNvPr id="21" name="Freeform 14"/>
          <p:cNvSpPr>
            <a:spLocks/>
          </p:cNvSpPr>
          <p:nvPr userDrawn="1"/>
        </p:nvSpPr>
        <p:spPr bwMode="auto">
          <a:xfrm>
            <a:off x="7579785" y="1981201"/>
            <a:ext cx="3829049" cy="339725"/>
          </a:xfrm>
          <a:custGeom>
            <a:avLst/>
            <a:gdLst>
              <a:gd name="T0" fmla="*/ 0 w 2996886"/>
              <a:gd name="T1" fmla="*/ 0 h 488372"/>
              <a:gd name="T2" fmla="*/ 1638173 w 2996886"/>
              <a:gd name="T3" fmla="*/ 0 h 488372"/>
              <a:gd name="T4" fmla="*/ 2526959 w 2996886"/>
              <a:gd name="T5" fmla="*/ 200 h 488372"/>
              <a:gd name="T6" fmla="*/ 2525539 w 2996886"/>
              <a:gd name="T7" fmla="*/ 114356 h 488372"/>
              <a:gd name="T8" fmla="*/ 60236 w 2996886"/>
              <a:gd name="T9" fmla="*/ 114356 h 488372"/>
              <a:gd name="T10" fmla="*/ 0 w 2996886"/>
              <a:gd name="T11" fmla="*/ 0 h 488372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2996886" h="488372">
                <a:moveTo>
                  <a:pt x="0" y="0"/>
                </a:moveTo>
                <a:lnTo>
                  <a:pt x="1942817" y="0"/>
                </a:lnTo>
                <a:lnTo>
                  <a:pt x="2996886" y="855"/>
                </a:lnTo>
                <a:cubicBezTo>
                  <a:pt x="2996325" y="163361"/>
                  <a:pt x="2995763" y="325866"/>
                  <a:pt x="2995202" y="488372"/>
                </a:cubicBezTo>
                <a:lnTo>
                  <a:pt x="71438" y="488372"/>
                </a:lnTo>
                <a:lnTo>
                  <a:pt x="0" y="0"/>
                </a:lnTo>
                <a:close/>
              </a:path>
            </a:pathLst>
          </a:custGeom>
          <a:solidFill>
            <a:srgbClr val="4D4D4D"/>
          </a:solidFill>
          <a:ln w="6350" cap="flat" cmpd="sng">
            <a:solidFill>
              <a:srgbClr val="A9A9A9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 sz="1800"/>
          </a:p>
        </p:txBody>
      </p:sp>
      <p:sp>
        <p:nvSpPr>
          <p:cNvPr id="28" name="Text Placeholder 12"/>
          <p:cNvSpPr>
            <a:spLocks noGrp="1"/>
          </p:cNvSpPr>
          <p:nvPr>
            <p:ph type="body" sz="quarter" idx="16"/>
          </p:nvPr>
        </p:nvSpPr>
        <p:spPr bwMode="gray">
          <a:xfrm>
            <a:off x="7574514" y="1983087"/>
            <a:ext cx="3834321" cy="1903112"/>
          </a:xfrm>
          <a:custGeom>
            <a:avLst/>
            <a:gdLst>
              <a:gd name="connsiteX0" fmla="*/ 0 w 2674468"/>
              <a:gd name="connsiteY0" fmla="*/ 0 h 1724992"/>
              <a:gd name="connsiteX1" fmla="*/ 2472747 w 2674468"/>
              <a:gd name="connsiteY1" fmla="*/ 0 h 1724992"/>
              <a:gd name="connsiteX2" fmla="*/ 2674468 w 2674468"/>
              <a:gd name="connsiteY2" fmla="*/ 862496 h 1724992"/>
              <a:gd name="connsiteX3" fmla="*/ 2472747 w 2674468"/>
              <a:gd name="connsiteY3" fmla="*/ 1724992 h 1724992"/>
              <a:gd name="connsiteX4" fmla="*/ 0 w 2674468"/>
              <a:gd name="connsiteY4" fmla="*/ 1724992 h 1724992"/>
              <a:gd name="connsiteX5" fmla="*/ 201721 w 2674468"/>
              <a:gd name="connsiteY5" fmla="*/ 862496 h 1724992"/>
              <a:gd name="connsiteX6" fmla="*/ 0 w 2674468"/>
              <a:gd name="connsiteY6" fmla="*/ 0 h 1724992"/>
              <a:gd name="connsiteX0" fmla="*/ 0 w 2472747"/>
              <a:gd name="connsiteY0" fmla="*/ 0 h 1724992"/>
              <a:gd name="connsiteX1" fmla="*/ 2472747 w 2472747"/>
              <a:gd name="connsiteY1" fmla="*/ 0 h 1724992"/>
              <a:gd name="connsiteX2" fmla="*/ 2472747 w 2472747"/>
              <a:gd name="connsiteY2" fmla="*/ 1724992 h 1724992"/>
              <a:gd name="connsiteX3" fmla="*/ 0 w 2472747"/>
              <a:gd name="connsiteY3" fmla="*/ 1724992 h 1724992"/>
              <a:gd name="connsiteX4" fmla="*/ 201721 w 2472747"/>
              <a:gd name="connsiteY4" fmla="*/ 862496 h 1724992"/>
              <a:gd name="connsiteX5" fmla="*/ 0 w 2472747"/>
              <a:gd name="connsiteY5" fmla="*/ 0 h 1724992"/>
              <a:gd name="connsiteX0" fmla="*/ 0 w 2472747"/>
              <a:gd name="connsiteY0" fmla="*/ 0 h 1724992"/>
              <a:gd name="connsiteX1" fmla="*/ 2472747 w 2472747"/>
              <a:gd name="connsiteY1" fmla="*/ 0 h 1724992"/>
              <a:gd name="connsiteX2" fmla="*/ 2472747 w 2472747"/>
              <a:gd name="connsiteY2" fmla="*/ 1724992 h 1724992"/>
              <a:gd name="connsiteX3" fmla="*/ 0 w 2472747"/>
              <a:gd name="connsiteY3" fmla="*/ 1724992 h 1724992"/>
              <a:gd name="connsiteX4" fmla="*/ 169327 w 2472747"/>
              <a:gd name="connsiteY4" fmla="*/ 862496 h 1724992"/>
              <a:gd name="connsiteX5" fmla="*/ 0 w 2472747"/>
              <a:gd name="connsiteY5" fmla="*/ 0 h 1724992"/>
              <a:gd name="connsiteX0" fmla="*/ 0 w 2472747"/>
              <a:gd name="connsiteY0" fmla="*/ 0 h 1724992"/>
              <a:gd name="connsiteX1" fmla="*/ 2472747 w 2472747"/>
              <a:gd name="connsiteY1" fmla="*/ 0 h 1724992"/>
              <a:gd name="connsiteX2" fmla="*/ 2472747 w 2472747"/>
              <a:gd name="connsiteY2" fmla="*/ 1724992 h 1724992"/>
              <a:gd name="connsiteX3" fmla="*/ 0 w 2472747"/>
              <a:gd name="connsiteY3" fmla="*/ 1724992 h 1724992"/>
              <a:gd name="connsiteX4" fmla="*/ 169327 w 2472747"/>
              <a:gd name="connsiteY4" fmla="*/ 862496 h 1724992"/>
              <a:gd name="connsiteX5" fmla="*/ 0 w 2472747"/>
              <a:gd name="connsiteY5" fmla="*/ 0 h 1724992"/>
              <a:gd name="connsiteX0" fmla="*/ 0 w 2472747"/>
              <a:gd name="connsiteY0" fmla="*/ 0 h 1724992"/>
              <a:gd name="connsiteX1" fmla="*/ 2472747 w 2472747"/>
              <a:gd name="connsiteY1" fmla="*/ 0 h 1724992"/>
              <a:gd name="connsiteX2" fmla="*/ 2472747 w 2472747"/>
              <a:gd name="connsiteY2" fmla="*/ 1724992 h 1724992"/>
              <a:gd name="connsiteX3" fmla="*/ 0 w 2472747"/>
              <a:gd name="connsiteY3" fmla="*/ 1724992 h 1724992"/>
              <a:gd name="connsiteX4" fmla="*/ 169327 w 2472747"/>
              <a:gd name="connsiteY4" fmla="*/ 862496 h 1724992"/>
              <a:gd name="connsiteX5" fmla="*/ 0 w 2472747"/>
              <a:gd name="connsiteY5" fmla="*/ 0 h 1724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472747" h="1724992">
                <a:moveTo>
                  <a:pt x="0" y="0"/>
                </a:moveTo>
                <a:lnTo>
                  <a:pt x="2472747" y="0"/>
                </a:lnTo>
                <a:lnTo>
                  <a:pt x="2472747" y="1724992"/>
                </a:lnTo>
                <a:lnTo>
                  <a:pt x="0" y="1724992"/>
                </a:lnTo>
                <a:lnTo>
                  <a:pt x="169327" y="862496"/>
                </a:lnTo>
                <a:lnTo>
                  <a:pt x="0" y="0"/>
                </a:lnTo>
                <a:close/>
              </a:path>
            </a:pathLst>
          </a:custGeom>
          <a:noFill/>
          <a:ln w="6350">
            <a:solidFill>
              <a:srgbClr val="A9A9A9"/>
            </a:solidFill>
            <a:miter lim="800000"/>
            <a:headEnd/>
            <a:tailEnd/>
          </a:ln>
        </p:spPr>
        <p:txBody>
          <a:bodyPr lIns="411480" tIns="457200" rIns="137160" bIns="13716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20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2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2625" indent="-169863">
              <a:buClr>
                <a:srgbClr val="B01C2E"/>
              </a:buClr>
              <a:defRPr sz="12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2" name="Text Placeholder 12"/>
          <p:cNvSpPr>
            <a:spLocks noGrp="1"/>
          </p:cNvSpPr>
          <p:nvPr>
            <p:ph type="body" sz="quarter" idx="33"/>
          </p:nvPr>
        </p:nvSpPr>
        <p:spPr>
          <a:xfrm>
            <a:off x="4091412" y="1983087"/>
            <a:ext cx="3565957" cy="1903112"/>
          </a:xfrm>
          <a:prstGeom prst="chevron">
            <a:avLst>
              <a:gd name="adj" fmla="val 10431"/>
            </a:avLst>
          </a:prstGeom>
          <a:ln w="6350">
            <a:solidFill>
              <a:srgbClr val="A9A9A9"/>
            </a:solidFill>
          </a:ln>
        </p:spPr>
        <p:txBody>
          <a:bodyPr lIns="137160" tIns="457200" rIns="137160" bIns="13716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2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2625" indent="-169863">
              <a:buClr>
                <a:srgbClr val="B01C2E"/>
              </a:buClr>
              <a:defRPr sz="12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ext Placeholder 15"/>
          <p:cNvSpPr>
            <a:spLocks noGrp="1"/>
          </p:cNvSpPr>
          <p:nvPr>
            <p:ph type="body" sz="quarter" idx="21"/>
          </p:nvPr>
        </p:nvSpPr>
        <p:spPr>
          <a:xfrm>
            <a:off x="609600" y="4038600"/>
            <a:ext cx="10769600" cy="310896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anchor="ctr" anchorCtr="1"/>
          <a:lstStyle>
            <a:lvl1pPr marL="0" indent="0"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5"/>
          <p:cNvSpPr>
            <a:spLocks noGrp="1"/>
          </p:cNvSpPr>
          <p:nvPr>
            <p:ph type="body" sz="quarter" idx="23"/>
          </p:nvPr>
        </p:nvSpPr>
        <p:spPr>
          <a:xfrm>
            <a:off x="609600" y="5937504"/>
            <a:ext cx="5266944" cy="310896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anchor="ctr" anchorCtr="1"/>
          <a:lstStyle>
            <a:lvl1pPr marL="0" indent="173736" algn="l">
              <a:buClr>
                <a:schemeClr val="accent1"/>
              </a:buClr>
              <a:buFont typeface="Wingdings" pitchFamily="2" charset="2"/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5"/>
          <p:cNvSpPr>
            <a:spLocks noGrp="1"/>
          </p:cNvSpPr>
          <p:nvPr>
            <p:ph type="body" sz="quarter" idx="24"/>
          </p:nvPr>
        </p:nvSpPr>
        <p:spPr>
          <a:xfrm>
            <a:off x="6114371" y="5937504"/>
            <a:ext cx="5266944" cy="310896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anchor="ctr" anchorCtr="1"/>
          <a:lstStyle>
            <a:lvl1pPr marL="0" indent="173736" algn="l">
              <a:buClr>
                <a:schemeClr val="accent1"/>
              </a:buClr>
              <a:buFont typeface="Wingdings" pitchFamily="2" charset="2"/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2"/>
          <p:cNvSpPr>
            <a:spLocks noGrp="1"/>
          </p:cNvSpPr>
          <p:nvPr>
            <p:ph type="body" sz="quarter" idx="12"/>
          </p:nvPr>
        </p:nvSpPr>
        <p:spPr>
          <a:xfrm>
            <a:off x="609600" y="1417320"/>
            <a:ext cx="6925056" cy="457200"/>
          </a:xfrm>
          <a:prstGeom prst="homePlate">
            <a:avLst>
              <a:gd name="adj" fmla="val 33316"/>
            </a:avLst>
          </a:prstGeom>
          <a:solidFill>
            <a:srgbClr val="B01C2E"/>
          </a:solidFill>
          <a:ln w="6350">
            <a:solidFill>
              <a:srgbClr val="A9A9A9"/>
            </a:solidFill>
          </a:ln>
        </p:spPr>
        <p:txBody>
          <a:bodyPr lIns="137160" tIns="137160" rIns="274320" bIns="13716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13"/>
          <p:cNvSpPr>
            <a:spLocks noGrp="1"/>
          </p:cNvSpPr>
          <p:nvPr>
            <p:ph type="body" sz="quarter" idx="17"/>
          </p:nvPr>
        </p:nvSpPr>
        <p:spPr>
          <a:xfrm>
            <a:off x="7541684" y="1417325"/>
            <a:ext cx="4047744" cy="461963"/>
          </a:xfrm>
          <a:prstGeom prst="chevron">
            <a:avLst>
              <a:gd name="adj" fmla="val 34831"/>
            </a:avLst>
          </a:prstGeom>
          <a:solidFill>
            <a:srgbClr val="B01C2E"/>
          </a:solidFill>
        </p:spPr>
        <p:txBody>
          <a:bodyPr anchor="ctr"/>
          <a:lstStyle>
            <a:lvl1pPr marL="342900" marR="0" indent="-34290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2"/>
          <p:cNvSpPr>
            <a:spLocks noGrp="1"/>
          </p:cNvSpPr>
          <p:nvPr>
            <p:ph type="body" sz="quarter" idx="11"/>
          </p:nvPr>
        </p:nvSpPr>
        <p:spPr>
          <a:xfrm>
            <a:off x="609600" y="1983087"/>
            <a:ext cx="3565957" cy="1903112"/>
          </a:xfrm>
          <a:prstGeom prst="homePlate">
            <a:avLst>
              <a:gd name="adj" fmla="val 11448"/>
            </a:avLst>
          </a:prstGeom>
          <a:ln w="6350">
            <a:solidFill>
              <a:srgbClr val="A9A9A9"/>
            </a:solidFill>
          </a:ln>
        </p:spPr>
        <p:txBody>
          <a:bodyPr lIns="137160" tIns="457200" rIns="137160" bIns="13716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2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2625" indent="-169863">
              <a:buClr>
                <a:srgbClr val="B01C2E"/>
              </a:buClr>
              <a:defRPr sz="12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1" name="Text Placeholder 29"/>
          <p:cNvSpPr>
            <a:spLocks noGrp="1"/>
          </p:cNvSpPr>
          <p:nvPr>
            <p:ph type="body" sz="quarter" idx="13"/>
          </p:nvPr>
        </p:nvSpPr>
        <p:spPr>
          <a:xfrm>
            <a:off x="609600" y="1981200"/>
            <a:ext cx="3297573" cy="320988"/>
          </a:xfrm>
          <a:prstGeom prst="rect">
            <a:avLst/>
          </a:prstGeom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29"/>
          <p:cNvSpPr>
            <a:spLocks noGrp="1"/>
          </p:cNvSpPr>
          <p:nvPr>
            <p:ph type="body" sz="quarter" idx="15"/>
          </p:nvPr>
        </p:nvSpPr>
        <p:spPr>
          <a:xfrm>
            <a:off x="4192430" y="1988239"/>
            <a:ext cx="3183381" cy="320988"/>
          </a:xfrm>
          <a:prstGeom prst="rect">
            <a:avLst/>
          </a:prstGeom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9" name="Content Placeholder 10"/>
          <p:cNvSpPr>
            <a:spLocks noGrp="1"/>
          </p:cNvSpPr>
          <p:nvPr>
            <p:ph sz="quarter" idx="18"/>
          </p:nvPr>
        </p:nvSpPr>
        <p:spPr>
          <a:xfrm>
            <a:off x="609600" y="4343400"/>
            <a:ext cx="10769600" cy="14813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73736" indent="-173736">
              <a:lnSpc>
                <a:spcPct val="95000"/>
              </a:lnSpc>
              <a:spcBef>
                <a:spcPts val="720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347472" indent="-173736">
              <a:lnSpc>
                <a:spcPct val="95000"/>
              </a:lnSpc>
              <a:spcBef>
                <a:spcPts val="300"/>
              </a:spcBef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521208" indent="-173736">
              <a:lnSpc>
                <a:spcPct val="95000"/>
              </a:lnSpc>
              <a:spcBef>
                <a:spcPts val="300"/>
              </a:spcBef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685800" indent="-173736">
              <a:lnSpc>
                <a:spcPct val="95000"/>
              </a:lnSpc>
              <a:spcBef>
                <a:spcPts val="300"/>
              </a:spcBef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914400" indent="-173736">
              <a:lnSpc>
                <a:spcPct val="95000"/>
              </a:lnSpc>
              <a:spcBef>
                <a:spcPts val="300"/>
              </a:spcBef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9" name="Text Placeholder 29"/>
          <p:cNvSpPr>
            <a:spLocks noGrp="1"/>
          </p:cNvSpPr>
          <p:nvPr>
            <p:ph type="body" sz="quarter" idx="34"/>
          </p:nvPr>
        </p:nvSpPr>
        <p:spPr>
          <a:xfrm>
            <a:off x="7683241" y="1987175"/>
            <a:ext cx="3725596" cy="320988"/>
          </a:xfrm>
          <a:prstGeom prst="rect">
            <a:avLst/>
          </a:prstGeom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Slide Number Placeholder 9"/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>
              <a:defRPr/>
            </a:lvl1pPr>
          </a:lstStyle>
          <a:p>
            <a:fld id="{E70D8206-912D-3041-8A60-C5747B4B98EB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4" name="Footer Placeholder 23"/>
          <p:cNvSpPr>
            <a:spLocks noGrp="1"/>
          </p:cNvSpPr>
          <p:nvPr>
            <p:ph type="ftr" sz="quarter" idx="36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Taxation of C Corporations</a:t>
            </a:r>
          </a:p>
        </p:txBody>
      </p:sp>
    </p:spTree>
    <p:extLst>
      <p:ext uri="{BB962C8B-B14F-4D97-AF65-F5344CB8AC3E}">
        <p14:creationId xmlns:p14="http://schemas.microsoft.com/office/powerpoint/2010/main" val="93213104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Workstreams and outcom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entagon 32"/>
          <p:cNvSpPr/>
          <p:nvPr userDrawn="1"/>
        </p:nvSpPr>
        <p:spPr bwMode="auto">
          <a:xfrm>
            <a:off x="7342718" y="1755775"/>
            <a:ext cx="905933" cy="4343400"/>
          </a:xfrm>
          <a:prstGeom prst="homePlate">
            <a:avLst>
              <a:gd name="adj" fmla="val 98835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anchor="ctr"/>
          <a:lstStyle/>
          <a:p>
            <a:pPr indent="-117475" eaLnBrk="0" hangingPunct="0">
              <a:lnSpc>
                <a:spcPct val="95000"/>
              </a:lnSpc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6" name="Text Placeholder 2"/>
          <p:cNvSpPr>
            <a:spLocks noGrp="1"/>
          </p:cNvSpPr>
          <p:nvPr>
            <p:ph type="body" idx="38"/>
          </p:nvPr>
        </p:nvSpPr>
        <p:spPr>
          <a:xfrm>
            <a:off x="3991647" y="1290639"/>
            <a:ext cx="3169920" cy="4808536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2"/>
          <p:cNvSpPr>
            <a:spLocks noGrp="1"/>
          </p:cNvSpPr>
          <p:nvPr>
            <p:ph type="body" idx="39"/>
          </p:nvPr>
        </p:nvSpPr>
        <p:spPr>
          <a:xfrm>
            <a:off x="637117" y="1290639"/>
            <a:ext cx="3169920" cy="4808536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5"/>
          </p:nvPr>
        </p:nvSpPr>
        <p:spPr>
          <a:xfrm>
            <a:off x="3991647" y="1290638"/>
            <a:ext cx="3169920" cy="380392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1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2"/>
          <p:cNvSpPr>
            <a:spLocks noGrp="1"/>
          </p:cNvSpPr>
          <p:nvPr>
            <p:ph type="body" idx="22"/>
          </p:nvPr>
        </p:nvSpPr>
        <p:spPr>
          <a:xfrm>
            <a:off x="8400511" y="1290638"/>
            <a:ext cx="316992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1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2"/>
          <p:cNvSpPr>
            <a:spLocks noGrp="1"/>
          </p:cNvSpPr>
          <p:nvPr>
            <p:ph type="body" idx="30"/>
          </p:nvPr>
        </p:nvSpPr>
        <p:spPr>
          <a:xfrm>
            <a:off x="637117" y="1290638"/>
            <a:ext cx="3169920" cy="380392"/>
          </a:xfrm>
          <a:prstGeom prst="rect">
            <a:avLst/>
          </a:prstGeom>
          <a:solidFill>
            <a:srgbClr val="4D4D4D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1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9"/>
          <p:cNvSpPr>
            <a:spLocks noGrp="1"/>
          </p:cNvSpPr>
          <p:nvPr>
            <p:ph type="body" sz="quarter" idx="40"/>
          </p:nvPr>
        </p:nvSpPr>
        <p:spPr>
          <a:xfrm>
            <a:off x="759037" y="1731264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0" rIns="45720" bIns="0" anchor="ctr" anchorCtr="0"/>
          <a:lstStyle>
            <a:lvl1pPr marL="0" indent="-118872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9"/>
          <p:cNvSpPr>
            <a:spLocks noGrp="1"/>
          </p:cNvSpPr>
          <p:nvPr>
            <p:ph type="body" sz="quarter" idx="41"/>
          </p:nvPr>
        </p:nvSpPr>
        <p:spPr>
          <a:xfrm>
            <a:off x="759037" y="2357120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9"/>
          <p:cNvSpPr>
            <a:spLocks noGrp="1"/>
          </p:cNvSpPr>
          <p:nvPr>
            <p:ph type="body" sz="quarter" idx="42"/>
          </p:nvPr>
        </p:nvSpPr>
        <p:spPr>
          <a:xfrm>
            <a:off x="759037" y="2982976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9"/>
          <p:cNvSpPr>
            <a:spLocks noGrp="1"/>
          </p:cNvSpPr>
          <p:nvPr>
            <p:ph type="body" sz="quarter" idx="43"/>
          </p:nvPr>
        </p:nvSpPr>
        <p:spPr>
          <a:xfrm>
            <a:off x="759037" y="3608832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19"/>
          <p:cNvSpPr>
            <a:spLocks noGrp="1"/>
          </p:cNvSpPr>
          <p:nvPr>
            <p:ph type="body" sz="quarter" idx="44"/>
          </p:nvPr>
        </p:nvSpPr>
        <p:spPr>
          <a:xfrm>
            <a:off x="759037" y="4234688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19"/>
          <p:cNvSpPr>
            <a:spLocks noGrp="1"/>
          </p:cNvSpPr>
          <p:nvPr>
            <p:ph type="body" sz="quarter" idx="45"/>
          </p:nvPr>
        </p:nvSpPr>
        <p:spPr>
          <a:xfrm>
            <a:off x="759037" y="5486400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9"/>
          <p:cNvSpPr>
            <a:spLocks noGrp="1"/>
          </p:cNvSpPr>
          <p:nvPr>
            <p:ph type="body" sz="quarter" idx="46"/>
          </p:nvPr>
        </p:nvSpPr>
        <p:spPr>
          <a:xfrm>
            <a:off x="759037" y="4860544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9"/>
          <p:cNvSpPr>
            <a:spLocks noGrp="1"/>
          </p:cNvSpPr>
          <p:nvPr>
            <p:ph type="body" sz="quarter" idx="47"/>
          </p:nvPr>
        </p:nvSpPr>
        <p:spPr>
          <a:xfrm>
            <a:off x="4113567" y="1743456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9"/>
          <p:cNvSpPr>
            <a:spLocks noGrp="1"/>
          </p:cNvSpPr>
          <p:nvPr>
            <p:ph type="body" sz="quarter" idx="48"/>
          </p:nvPr>
        </p:nvSpPr>
        <p:spPr>
          <a:xfrm>
            <a:off x="4113567" y="2369312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9"/>
          <p:cNvSpPr>
            <a:spLocks noGrp="1"/>
          </p:cNvSpPr>
          <p:nvPr>
            <p:ph type="body" sz="quarter" idx="49"/>
          </p:nvPr>
        </p:nvSpPr>
        <p:spPr>
          <a:xfrm>
            <a:off x="4113567" y="2995168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9"/>
          <p:cNvSpPr>
            <a:spLocks noGrp="1"/>
          </p:cNvSpPr>
          <p:nvPr>
            <p:ph type="body" sz="quarter" idx="50"/>
          </p:nvPr>
        </p:nvSpPr>
        <p:spPr>
          <a:xfrm>
            <a:off x="4113567" y="3621024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9"/>
          <p:cNvSpPr>
            <a:spLocks noGrp="1"/>
          </p:cNvSpPr>
          <p:nvPr>
            <p:ph type="body" sz="quarter" idx="51"/>
          </p:nvPr>
        </p:nvSpPr>
        <p:spPr>
          <a:xfrm>
            <a:off x="4113567" y="4246880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9"/>
          <p:cNvSpPr>
            <a:spLocks noGrp="1"/>
          </p:cNvSpPr>
          <p:nvPr>
            <p:ph type="body" sz="quarter" idx="52"/>
          </p:nvPr>
        </p:nvSpPr>
        <p:spPr>
          <a:xfrm>
            <a:off x="4113567" y="5498592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19"/>
          <p:cNvSpPr>
            <a:spLocks noGrp="1"/>
          </p:cNvSpPr>
          <p:nvPr>
            <p:ph type="body" sz="quarter" idx="53"/>
          </p:nvPr>
        </p:nvSpPr>
        <p:spPr>
          <a:xfrm>
            <a:off x="4113567" y="4872736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19"/>
          <p:cNvSpPr>
            <a:spLocks noGrp="1"/>
          </p:cNvSpPr>
          <p:nvPr>
            <p:ph type="body" sz="quarter" idx="54"/>
          </p:nvPr>
        </p:nvSpPr>
        <p:spPr>
          <a:xfrm>
            <a:off x="8400511" y="1743456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9"/>
          <p:cNvSpPr>
            <a:spLocks noGrp="1"/>
          </p:cNvSpPr>
          <p:nvPr>
            <p:ph type="body" sz="quarter" idx="55"/>
          </p:nvPr>
        </p:nvSpPr>
        <p:spPr>
          <a:xfrm>
            <a:off x="8400511" y="2369312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19"/>
          <p:cNvSpPr>
            <a:spLocks noGrp="1"/>
          </p:cNvSpPr>
          <p:nvPr>
            <p:ph type="body" sz="quarter" idx="56"/>
          </p:nvPr>
        </p:nvSpPr>
        <p:spPr>
          <a:xfrm>
            <a:off x="8400511" y="2995168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19"/>
          <p:cNvSpPr>
            <a:spLocks noGrp="1"/>
          </p:cNvSpPr>
          <p:nvPr>
            <p:ph type="body" sz="quarter" idx="57"/>
          </p:nvPr>
        </p:nvSpPr>
        <p:spPr>
          <a:xfrm>
            <a:off x="8400511" y="3621024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19"/>
          <p:cNvSpPr>
            <a:spLocks noGrp="1"/>
          </p:cNvSpPr>
          <p:nvPr>
            <p:ph type="body" sz="quarter" idx="58"/>
          </p:nvPr>
        </p:nvSpPr>
        <p:spPr>
          <a:xfrm>
            <a:off x="8400511" y="4246880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9"/>
          <p:cNvSpPr>
            <a:spLocks noGrp="1"/>
          </p:cNvSpPr>
          <p:nvPr>
            <p:ph type="body" sz="quarter" idx="59"/>
          </p:nvPr>
        </p:nvSpPr>
        <p:spPr>
          <a:xfrm>
            <a:off x="8400511" y="5498592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19"/>
          <p:cNvSpPr>
            <a:spLocks noGrp="1"/>
          </p:cNvSpPr>
          <p:nvPr>
            <p:ph type="body" sz="quarter" idx="60"/>
          </p:nvPr>
        </p:nvSpPr>
        <p:spPr>
          <a:xfrm>
            <a:off x="8400511" y="4872736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4" name="Slide Number Placeholder 9"/>
          <p:cNvSpPr>
            <a:spLocks noGrp="1"/>
          </p:cNvSpPr>
          <p:nvPr>
            <p:ph type="sldNum" sz="quarter" idx="61"/>
          </p:nvPr>
        </p:nvSpPr>
        <p:spPr/>
        <p:txBody>
          <a:bodyPr/>
          <a:lstStyle>
            <a:lvl1pPr>
              <a:defRPr/>
            </a:lvl1pPr>
          </a:lstStyle>
          <a:p>
            <a:fld id="{250D9D91-D592-1043-AF8D-0FC015913F1E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5" name="Footer Placeholder 33"/>
          <p:cNvSpPr>
            <a:spLocks noGrp="1"/>
          </p:cNvSpPr>
          <p:nvPr>
            <p:ph type="ftr" sz="quarter" idx="6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Taxation of C Corporations</a:t>
            </a:r>
          </a:p>
        </p:txBody>
      </p:sp>
    </p:spTree>
    <p:extLst>
      <p:ext uri="{BB962C8B-B14F-4D97-AF65-F5344CB8AC3E}">
        <p14:creationId xmlns:p14="http://schemas.microsoft.com/office/powerpoint/2010/main" val="843374824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Elements Leading 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entagon 14"/>
          <p:cNvSpPr/>
          <p:nvPr userDrawn="1"/>
        </p:nvSpPr>
        <p:spPr bwMode="auto">
          <a:xfrm>
            <a:off x="7133167" y="1497014"/>
            <a:ext cx="905933" cy="4352925"/>
          </a:xfrm>
          <a:prstGeom prst="homePlate">
            <a:avLst>
              <a:gd name="adj" fmla="val 98835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7" name="Text Placeholder 8"/>
          <p:cNvSpPr>
            <a:spLocks noGrp="1"/>
          </p:cNvSpPr>
          <p:nvPr>
            <p:ph type="body" sz="quarter" idx="21"/>
          </p:nvPr>
        </p:nvSpPr>
        <p:spPr>
          <a:xfrm rot="5400000">
            <a:off x="9549384" y="-97536"/>
            <a:ext cx="640080" cy="3425952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12"/>
          <p:cNvSpPr>
            <a:spLocks noGrp="1"/>
          </p:cNvSpPr>
          <p:nvPr>
            <p:ph type="body" sz="quarter" idx="18"/>
          </p:nvPr>
        </p:nvSpPr>
        <p:spPr>
          <a:xfrm>
            <a:off x="8156448" y="1981200"/>
            <a:ext cx="3425952" cy="411480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233363" indent="-233363" algn="l">
              <a:spcBef>
                <a:spcPts val="200"/>
              </a:spcBef>
              <a:buClr>
                <a:srgbClr val="B01C2E"/>
              </a:buClr>
              <a:buFont typeface="Wingdings" pitchFamily="2" charset="2"/>
              <a:buChar char="§"/>
              <a:defRPr sz="1200" b="1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200" b="1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 b="1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200" b="1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3"/>
          <p:cNvSpPr>
            <a:spLocks noGrp="1"/>
          </p:cNvSpPr>
          <p:nvPr>
            <p:ph sz="half" idx="12"/>
          </p:nvPr>
        </p:nvSpPr>
        <p:spPr>
          <a:xfrm>
            <a:off x="508004" y="1497016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Content Placeholder 3"/>
          <p:cNvSpPr>
            <a:spLocks noGrp="1"/>
          </p:cNvSpPr>
          <p:nvPr>
            <p:ph sz="half" idx="22"/>
          </p:nvPr>
        </p:nvSpPr>
        <p:spPr>
          <a:xfrm>
            <a:off x="508004" y="2985438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Content Placeholder 3"/>
          <p:cNvSpPr>
            <a:spLocks noGrp="1"/>
          </p:cNvSpPr>
          <p:nvPr>
            <p:ph sz="half" idx="23"/>
          </p:nvPr>
        </p:nvSpPr>
        <p:spPr>
          <a:xfrm>
            <a:off x="508004" y="4473858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half" idx="24"/>
          </p:nvPr>
        </p:nvSpPr>
        <p:spPr>
          <a:xfrm>
            <a:off x="2743204" y="1497016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Content Placeholder 3"/>
          <p:cNvSpPr>
            <a:spLocks noGrp="1"/>
          </p:cNvSpPr>
          <p:nvPr>
            <p:ph sz="half" idx="25"/>
          </p:nvPr>
        </p:nvSpPr>
        <p:spPr>
          <a:xfrm>
            <a:off x="2743204" y="2985438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4" name="Content Placeholder 3"/>
          <p:cNvSpPr>
            <a:spLocks noGrp="1"/>
          </p:cNvSpPr>
          <p:nvPr>
            <p:ph sz="half" idx="26"/>
          </p:nvPr>
        </p:nvSpPr>
        <p:spPr>
          <a:xfrm>
            <a:off x="2743204" y="4473858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8" name="Content Placeholder 3"/>
          <p:cNvSpPr>
            <a:spLocks noGrp="1"/>
          </p:cNvSpPr>
          <p:nvPr>
            <p:ph sz="half" idx="27"/>
          </p:nvPr>
        </p:nvSpPr>
        <p:spPr>
          <a:xfrm>
            <a:off x="4978404" y="1497016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9" name="Content Placeholder 3"/>
          <p:cNvSpPr>
            <a:spLocks noGrp="1"/>
          </p:cNvSpPr>
          <p:nvPr>
            <p:ph sz="half" idx="28"/>
          </p:nvPr>
        </p:nvSpPr>
        <p:spPr>
          <a:xfrm>
            <a:off x="4978404" y="2985438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0" name="Content Placeholder 3"/>
          <p:cNvSpPr>
            <a:spLocks noGrp="1"/>
          </p:cNvSpPr>
          <p:nvPr>
            <p:ph sz="half" idx="29"/>
          </p:nvPr>
        </p:nvSpPr>
        <p:spPr>
          <a:xfrm>
            <a:off x="4978404" y="4473858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Slide Number Placeholder 9"/>
          <p:cNvSpPr>
            <a:spLocks noGrp="1"/>
          </p:cNvSpPr>
          <p:nvPr>
            <p:ph type="sldNum" sz="quarter" idx="30"/>
          </p:nvPr>
        </p:nvSpPr>
        <p:spPr/>
        <p:txBody>
          <a:bodyPr/>
          <a:lstStyle>
            <a:lvl1pPr>
              <a:defRPr/>
            </a:lvl1pPr>
          </a:lstStyle>
          <a:p>
            <a:fld id="{09CF501B-85A3-0748-9525-578425C49286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1" name="Footer Placeholder 20"/>
          <p:cNvSpPr>
            <a:spLocks noGrp="1"/>
          </p:cNvSpPr>
          <p:nvPr>
            <p:ph type="ftr" sz="quarter" idx="3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Taxation of C Corporations</a:t>
            </a:r>
          </a:p>
        </p:txBody>
      </p:sp>
    </p:spTree>
    <p:extLst>
      <p:ext uri="{BB962C8B-B14F-4D97-AF65-F5344CB8AC3E}">
        <p14:creationId xmlns:p14="http://schemas.microsoft.com/office/powerpoint/2010/main" val="1985546450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lated Text Blocks - Sequen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Elbow Connector 24"/>
          <p:cNvCxnSpPr>
            <a:cxnSpLocks noChangeShapeType="1"/>
          </p:cNvCxnSpPr>
          <p:nvPr userDrawn="1"/>
        </p:nvCxnSpPr>
        <p:spPr bwMode="auto">
          <a:xfrm rot="16200000" flipH="1">
            <a:off x="1340909" y="2289175"/>
            <a:ext cx="768350" cy="850900"/>
          </a:xfrm>
          <a:prstGeom prst="bentConnector2">
            <a:avLst/>
          </a:prstGeom>
          <a:noFill/>
          <a:ln w="12700">
            <a:solidFill>
              <a:srgbClr val="4D4D4D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3" name="Elbow Connector 28"/>
          <p:cNvCxnSpPr>
            <a:cxnSpLocks noChangeShapeType="1"/>
          </p:cNvCxnSpPr>
          <p:nvPr userDrawn="1"/>
        </p:nvCxnSpPr>
        <p:spPr bwMode="auto">
          <a:xfrm rot="16200000" flipH="1">
            <a:off x="2881313" y="3486680"/>
            <a:ext cx="752475" cy="833967"/>
          </a:xfrm>
          <a:prstGeom prst="bentConnector2">
            <a:avLst/>
          </a:prstGeom>
          <a:noFill/>
          <a:ln w="12700">
            <a:solidFill>
              <a:srgbClr val="4D4D4D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4" name="Elbow Connector 39"/>
          <p:cNvCxnSpPr>
            <a:cxnSpLocks noChangeShapeType="1"/>
          </p:cNvCxnSpPr>
          <p:nvPr userDrawn="1"/>
        </p:nvCxnSpPr>
        <p:spPr bwMode="auto">
          <a:xfrm rot="16200000" flipH="1">
            <a:off x="4429126" y="4714875"/>
            <a:ext cx="698500" cy="793751"/>
          </a:xfrm>
          <a:prstGeom prst="bentConnector2">
            <a:avLst/>
          </a:prstGeom>
          <a:noFill/>
          <a:ln w="12700">
            <a:solidFill>
              <a:srgbClr val="4D4D4D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8" name="Content Placeholder 3"/>
          <p:cNvSpPr>
            <a:spLocks noGrp="1"/>
          </p:cNvSpPr>
          <p:nvPr>
            <p:ph sz="half" idx="17"/>
          </p:nvPr>
        </p:nvSpPr>
        <p:spPr>
          <a:xfrm>
            <a:off x="5175608" y="4986243"/>
            <a:ext cx="6413145" cy="95097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lIns="137160" tIns="137160" rIns="137160" bIns="137160" anchor="ctr"/>
          <a:lstStyle>
            <a:lvl1pPr marL="176213" marR="0" indent="-176213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 sz="1200"/>
            </a:lvl1pPr>
            <a:lvl2pPr marL="342900" indent="-166688">
              <a:buClr>
                <a:srgbClr val="B01C2E"/>
              </a:buClr>
              <a:buSzPct val="125000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Content Placeholder 3"/>
          <p:cNvSpPr>
            <a:spLocks noGrp="1"/>
          </p:cNvSpPr>
          <p:nvPr>
            <p:ph sz="half" idx="14"/>
          </p:nvPr>
        </p:nvSpPr>
        <p:spPr>
          <a:xfrm>
            <a:off x="638822" y="1441358"/>
            <a:ext cx="6413145" cy="95097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lIns="137160" tIns="137160" rIns="137160" bIns="137160" anchor="ctr"/>
          <a:lstStyle>
            <a:lvl1pPr marL="176213" marR="0" indent="-176213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 sz="1200"/>
            </a:lvl1pPr>
            <a:lvl2pPr marL="342900" indent="-166688">
              <a:buClr>
                <a:srgbClr val="B01C2E"/>
              </a:buClr>
              <a:buSzPct val="125000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Content Placeholder 3"/>
          <p:cNvSpPr>
            <a:spLocks noGrp="1"/>
          </p:cNvSpPr>
          <p:nvPr>
            <p:ph sz="half" idx="15"/>
          </p:nvPr>
        </p:nvSpPr>
        <p:spPr>
          <a:xfrm>
            <a:off x="2150310" y="2622986"/>
            <a:ext cx="6413145" cy="95097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lIns="137160" tIns="137160" rIns="137160" bIns="137160" anchor="ctr"/>
          <a:lstStyle>
            <a:lvl1pPr marL="176213" marR="0" indent="-176213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 sz="1200"/>
            </a:lvl1pPr>
            <a:lvl2pPr marL="342900" indent="-166688">
              <a:buClr>
                <a:srgbClr val="B01C2E"/>
              </a:buClr>
              <a:buSzPct val="125000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Content Placeholder 3"/>
          <p:cNvSpPr>
            <a:spLocks noGrp="1"/>
          </p:cNvSpPr>
          <p:nvPr>
            <p:ph sz="half" idx="16"/>
          </p:nvPr>
        </p:nvSpPr>
        <p:spPr>
          <a:xfrm>
            <a:off x="3674314" y="3804614"/>
            <a:ext cx="6413145" cy="95097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lIns="137160" tIns="137160" rIns="137160" bIns="137160" anchor="ctr"/>
          <a:lstStyle>
            <a:lvl1pPr marL="176213" marR="0" indent="-176213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 sz="1200"/>
            </a:lvl1pPr>
            <a:lvl2pPr marL="342900" indent="-166688">
              <a:buClr>
                <a:srgbClr val="B01C2E"/>
              </a:buClr>
              <a:buSzPct val="125000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18"/>
          </p:nvPr>
        </p:nvSpPr>
        <p:spPr/>
        <p:txBody>
          <a:bodyPr/>
          <a:lstStyle>
            <a:lvl1pPr>
              <a:defRPr/>
            </a:lvl1pPr>
          </a:lstStyle>
          <a:p>
            <a:fld id="{0C10D6D8-3B97-854D-B9A2-DD1E2B17F6F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3"/>
          <p:cNvSpPr>
            <a:spLocks noGrp="1"/>
          </p:cNvSpPr>
          <p:nvPr>
            <p:ph type="ftr" sz="quarter" idx="19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Taxation of C Corporations</a:t>
            </a:r>
          </a:p>
        </p:txBody>
      </p:sp>
    </p:spTree>
    <p:extLst>
      <p:ext uri="{BB962C8B-B14F-4D97-AF65-F5344CB8AC3E}">
        <p14:creationId xmlns:p14="http://schemas.microsoft.com/office/powerpoint/2010/main" val="619583014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uideli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arallelogram 6"/>
          <p:cNvSpPr/>
          <p:nvPr userDrawn="1"/>
        </p:nvSpPr>
        <p:spPr bwMode="auto">
          <a:xfrm>
            <a:off x="950384" y="1782764"/>
            <a:ext cx="10625667" cy="528637"/>
          </a:xfrm>
          <a:prstGeom prst="parallelogram">
            <a:avLst>
              <a:gd name="adj" fmla="val 135335"/>
            </a:avLst>
          </a:prstGeom>
          <a:gradFill>
            <a:gsLst>
              <a:gs pos="100000">
                <a:srgbClr val="666666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8" name="Parallelogram 7"/>
          <p:cNvSpPr/>
          <p:nvPr userDrawn="1"/>
        </p:nvSpPr>
        <p:spPr bwMode="auto">
          <a:xfrm>
            <a:off x="950384" y="5300664"/>
            <a:ext cx="10625667" cy="530225"/>
          </a:xfrm>
          <a:prstGeom prst="parallelogram">
            <a:avLst>
              <a:gd name="adj" fmla="val 135335"/>
            </a:avLst>
          </a:prstGeom>
          <a:gradFill>
            <a:gsLst>
              <a:gs pos="100000">
                <a:srgbClr val="666666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4" name="Parallelogram 13"/>
          <p:cNvSpPr/>
          <p:nvPr userDrawn="1"/>
        </p:nvSpPr>
        <p:spPr bwMode="auto">
          <a:xfrm>
            <a:off x="950384" y="4129089"/>
            <a:ext cx="10625667" cy="528637"/>
          </a:xfrm>
          <a:prstGeom prst="parallelogram">
            <a:avLst>
              <a:gd name="adj" fmla="val 135335"/>
            </a:avLst>
          </a:prstGeom>
          <a:gradFill>
            <a:gsLst>
              <a:gs pos="100000">
                <a:srgbClr val="666666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5" name="Parallelogram 14"/>
          <p:cNvSpPr/>
          <p:nvPr userDrawn="1"/>
        </p:nvSpPr>
        <p:spPr bwMode="auto">
          <a:xfrm>
            <a:off x="950384" y="2955925"/>
            <a:ext cx="10625667" cy="528638"/>
          </a:xfrm>
          <a:prstGeom prst="parallelogram">
            <a:avLst>
              <a:gd name="adj" fmla="val 135335"/>
            </a:avLst>
          </a:prstGeom>
          <a:gradFill>
            <a:gsLst>
              <a:gs pos="100000">
                <a:srgbClr val="666666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9" name="Content Placeholder 3"/>
          <p:cNvSpPr>
            <a:spLocks noGrp="1"/>
          </p:cNvSpPr>
          <p:nvPr>
            <p:ph sz="half" idx="12"/>
          </p:nvPr>
        </p:nvSpPr>
        <p:spPr>
          <a:xfrm>
            <a:off x="944921" y="1501649"/>
            <a:ext cx="9934099" cy="789371"/>
          </a:xfrm>
          <a:prstGeom prst="parallelogram">
            <a:avLst/>
          </a:prstGeom>
          <a:solidFill>
            <a:schemeClr val="accent1"/>
          </a:solidFill>
          <a:ln w="6350">
            <a:noFill/>
          </a:ln>
        </p:spPr>
        <p:txBody>
          <a:bodyPr lIns="137160" tIns="137160" rIns="137160" bIns="137160" anchor="ctr"/>
          <a:lstStyle>
            <a:lvl1pPr marL="176213" indent="-176213" algn="ctr">
              <a:buNone/>
              <a:defRPr sz="1200" b="1">
                <a:solidFill>
                  <a:schemeClr val="bg1"/>
                </a:solidFill>
              </a:defRPr>
            </a:lvl1pPr>
            <a:lvl2pPr marL="342900" indent="-166688">
              <a:buSzPct val="125000"/>
              <a:defRPr sz="1400"/>
            </a:lvl2pPr>
            <a:lvl3pPr marL="519113" indent="-176213">
              <a:defRPr sz="14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Content Placeholder 3"/>
          <p:cNvSpPr>
            <a:spLocks noGrp="1"/>
          </p:cNvSpPr>
          <p:nvPr>
            <p:ph sz="half" idx="13"/>
          </p:nvPr>
        </p:nvSpPr>
        <p:spPr>
          <a:xfrm>
            <a:off x="944921" y="5019703"/>
            <a:ext cx="9934099" cy="789371"/>
          </a:xfrm>
          <a:prstGeom prst="parallelogram">
            <a:avLst/>
          </a:prstGeom>
          <a:solidFill>
            <a:schemeClr val="accent1"/>
          </a:solidFill>
          <a:ln w="6350">
            <a:noFill/>
          </a:ln>
        </p:spPr>
        <p:txBody>
          <a:bodyPr lIns="137160" tIns="137160" rIns="137160" bIns="137160" anchor="ctr"/>
          <a:lstStyle>
            <a:lvl1pPr marL="176213" marR="0" indent="-176213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chemeClr val="bg1"/>
                </a:solidFill>
              </a:defRPr>
            </a:lvl1pPr>
            <a:lvl2pPr marL="342900" indent="-166688">
              <a:buSzPct val="125000"/>
              <a:defRPr sz="1400"/>
            </a:lvl2pPr>
            <a:lvl3pPr marL="519113" indent="-176213">
              <a:defRPr sz="14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Content Placeholder 3"/>
          <p:cNvSpPr>
            <a:spLocks noGrp="1"/>
          </p:cNvSpPr>
          <p:nvPr>
            <p:ph sz="half" idx="14"/>
          </p:nvPr>
        </p:nvSpPr>
        <p:spPr>
          <a:xfrm>
            <a:off x="944921" y="3847016"/>
            <a:ext cx="9934099" cy="789371"/>
          </a:xfrm>
          <a:prstGeom prst="parallelogram">
            <a:avLst/>
          </a:prstGeom>
          <a:solidFill>
            <a:schemeClr val="accent1"/>
          </a:solidFill>
          <a:ln w="6350">
            <a:noFill/>
          </a:ln>
        </p:spPr>
        <p:txBody>
          <a:bodyPr lIns="137160" tIns="137160" rIns="137160" bIns="137160" anchor="ctr"/>
          <a:lstStyle>
            <a:lvl1pPr marL="176213" indent="-176213" algn="ctr">
              <a:buNone/>
              <a:defRPr sz="1200" b="1">
                <a:solidFill>
                  <a:schemeClr val="bg1"/>
                </a:solidFill>
              </a:defRPr>
            </a:lvl1pPr>
            <a:lvl2pPr marL="342900" indent="-166688">
              <a:buSzPct val="125000"/>
              <a:defRPr sz="1400"/>
            </a:lvl2pPr>
            <a:lvl3pPr marL="519113" indent="-176213">
              <a:defRPr sz="14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half" idx="15"/>
          </p:nvPr>
        </p:nvSpPr>
        <p:spPr>
          <a:xfrm>
            <a:off x="944921" y="2674335"/>
            <a:ext cx="9934099" cy="789371"/>
          </a:xfrm>
          <a:prstGeom prst="parallelogram">
            <a:avLst/>
          </a:prstGeom>
          <a:solidFill>
            <a:schemeClr val="accent1"/>
          </a:solidFill>
          <a:ln w="6350">
            <a:noFill/>
          </a:ln>
        </p:spPr>
        <p:txBody>
          <a:bodyPr lIns="137160" tIns="137160" rIns="137160" bIns="137160" anchor="ctr"/>
          <a:lstStyle>
            <a:lvl1pPr marL="176213" indent="-176213" algn="ctr">
              <a:buNone/>
              <a:defRPr sz="1200" b="1">
                <a:solidFill>
                  <a:schemeClr val="bg1"/>
                </a:solidFill>
              </a:defRPr>
            </a:lvl1pPr>
            <a:lvl2pPr marL="342900" indent="-166688">
              <a:buSzPct val="125000"/>
              <a:defRPr sz="1400"/>
            </a:lvl2pPr>
            <a:lvl3pPr marL="519113" indent="-176213">
              <a:defRPr sz="14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Slide Number Placeholder 9"/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/>
            </a:lvl1pPr>
          </a:lstStyle>
          <a:p>
            <a:fld id="{97E92AD8-7AD1-8240-8596-9839AB315E2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7" name="Footer Placeholder 14"/>
          <p:cNvSpPr>
            <a:spLocks noGrp="1"/>
          </p:cNvSpPr>
          <p:nvPr>
            <p:ph type="ftr" sz="quarter" idx="17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Taxation of C Corporations</a:t>
            </a:r>
          </a:p>
        </p:txBody>
      </p:sp>
    </p:spTree>
    <p:extLst>
      <p:ext uri="{BB962C8B-B14F-4D97-AF65-F5344CB8AC3E}">
        <p14:creationId xmlns:p14="http://schemas.microsoft.com/office/powerpoint/2010/main" val="499582873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ases and threads with chevr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Straight Connector 8"/>
          <p:cNvCxnSpPr>
            <a:cxnSpLocks noChangeShapeType="1"/>
          </p:cNvCxnSpPr>
          <p:nvPr userDrawn="1"/>
        </p:nvCxnSpPr>
        <p:spPr bwMode="auto">
          <a:xfrm>
            <a:off x="637117" y="3294064"/>
            <a:ext cx="10651067" cy="1587"/>
          </a:xfrm>
          <a:prstGeom prst="line">
            <a:avLst/>
          </a:prstGeom>
          <a:noFill/>
          <a:ln w="12700">
            <a:solidFill>
              <a:srgbClr val="A9A9A9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" name="Straight Connector 9"/>
          <p:cNvCxnSpPr>
            <a:cxnSpLocks noChangeShapeType="1"/>
          </p:cNvCxnSpPr>
          <p:nvPr userDrawn="1"/>
        </p:nvCxnSpPr>
        <p:spPr bwMode="auto">
          <a:xfrm>
            <a:off x="637117" y="4670425"/>
            <a:ext cx="10651067" cy="1588"/>
          </a:xfrm>
          <a:prstGeom prst="line">
            <a:avLst/>
          </a:prstGeom>
          <a:noFill/>
          <a:ln w="12700">
            <a:solidFill>
              <a:srgbClr val="A9A9A9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4" name="Straight Connector 10"/>
          <p:cNvCxnSpPr>
            <a:cxnSpLocks noChangeShapeType="1"/>
          </p:cNvCxnSpPr>
          <p:nvPr userDrawn="1"/>
        </p:nvCxnSpPr>
        <p:spPr bwMode="auto">
          <a:xfrm>
            <a:off x="637117" y="6046789"/>
            <a:ext cx="10651067" cy="1587"/>
          </a:xfrm>
          <a:prstGeom prst="line">
            <a:avLst/>
          </a:prstGeom>
          <a:noFill/>
          <a:ln w="12700">
            <a:solidFill>
              <a:srgbClr val="A9A9A9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" name="Text Placeholder 12"/>
          <p:cNvSpPr>
            <a:spLocks noGrp="1"/>
          </p:cNvSpPr>
          <p:nvPr>
            <p:ph type="body" sz="quarter" idx="12"/>
          </p:nvPr>
        </p:nvSpPr>
        <p:spPr>
          <a:xfrm>
            <a:off x="2110661" y="1290643"/>
            <a:ext cx="2494291" cy="600507"/>
          </a:xfrm>
          <a:prstGeom prst="homePlate">
            <a:avLst>
              <a:gd name="adj" fmla="val 31973"/>
            </a:avLst>
          </a:prstGeom>
          <a:solidFill>
            <a:schemeClr val="accent1"/>
          </a:solidFill>
          <a:ln w="6350">
            <a:solidFill>
              <a:srgbClr val="A9A9A9"/>
            </a:solidFill>
          </a:ln>
        </p:spPr>
        <p:txBody>
          <a:bodyPr lIns="91440" tIns="137160" rIns="91440" bIns="13716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12"/>
          <p:cNvSpPr>
            <a:spLocks noGrp="1"/>
          </p:cNvSpPr>
          <p:nvPr>
            <p:ph type="body" sz="quarter" idx="15"/>
          </p:nvPr>
        </p:nvSpPr>
        <p:spPr>
          <a:xfrm>
            <a:off x="9195340" y="1290643"/>
            <a:ext cx="2538493" cy="600507"/>
          </a:xfrm>
          <a:prstGeom prst="chevron">
            <a:avLst>
              <a:gd name="adj" fmla="val 31246"/>
            </a:avLst>
          </a:prstGeom>
          <a:solidFill>
            <a:schemeClr val="accent1"/>
          </a:solidFill>
          <a:ln w="6350">
            <a:solidFill>
              <a:srgbClr val="A9A9A9"/>
            </a:solidFill>
          </a:ln>
        </p:spPr>
        <p:txBody>
          <a:bodyPr lIns="91440" tIns="137160" rIns="91440" bIns="13716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12"/>
          <p:cNvSpPr>
            <a:spLocks noGrp="1"/>
          </p:cNvSpPr>
          <p:nvPr>
            <p:ph type="body" sz="quarter" idx="30"/>
          </p:nvPr>
        </p:nvSpPr>
        <p:spPr>
          <a:xfrm>
            <a:off x="6819046" y="1290643"/>
            <a:ext cx="2538493" cy="600507"/>
          </a:xfrm>
          <a:prstGeom prst="chevron">
            <a:avLst>
              <a:gd name="adj" fmla="val 31246"/>
            </a:avLst>
          </a:prstGeom>
          <a:solidFill>
            <a:schemeClr val="accent1"/>
          </a:solidFill>
          <a:ln w="6350">
            <a:solidFill>
              <a:srgbClr val="A9A9A9"/>
            </a:solidFill>
          </a:ln>
        </p:spPr>
        <p:txBody>
          <a:bodyPr lIns="91440" tIns="137160" rIns="91440" bIns="137160" anchor="ctr"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12"/>
          <p:cNvSpPr>
            <a:spLocks noGrp="1"/>
          </p:cNvSpPr>
          <p:nvPr>
            <p:ph type="body" sz="quarter" idx="31"/>
          </p:nvPr>
        </p:nvSpPr>
        <p:spPr>
          <a:xfrm>
            <a:off x="4442752" y="1290643"/>
            <a:ext cx="2538493" cy="600507"/>
          </a:xfrm>
          <a:prstGeom prst="chevron">
            <a:avLst>
              <a:gd name="adj" fmla="val 31246"/>
            </a:avLst>
          </a:prstGeom>
          <a:solidFill>
            <a:schemeClr val="accent1"/>
          </a:solidFill>
          <a:ln w="6350">
            <a:solidFill>
              <a:srgbClr val="A9A9A9"/>
            </a:solidFill>
          </a:ln>
        </p:spPr>
        <p:txBody>
          <a:bodyPr lIns="91440" tIns="137160" rIns="91440" bIns="13716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12"/>
          <p:cNvSpPr>
            <a:spLocks noGrp="1"/>
          </p:cNvSpPr>
          <p:nvPr>
            <p:ph type="body" sz="quarter" idx="11"/>
          </p:nvPr>
        </p:nvSpPr>
        <p:spPr>
          <a:xfrm>
            <a:off x="609600" y="2068960"/>
            <a:ext cx="1341120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12"/>
          <p:cNvSpPr>
            <a:spLocks noGrp="1"/>
          </p:cNvSpPr>
          <p:nvPr>
            <p:ph type="body" sz="quarter" idx="32"/>
          </p:nvPr>
        </p:nvSpPr>
        <p:spPr>
          <a:xfrm>
            <a:off x="609600" y="3436667"/>
            <a:ext cx="1341120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2"/>
          <p:cNvSpPr>
            <a:spLocks noGrp="1"/>
          </p:cNvSpPr>
          <p:nvPr>
            <p:ph type="body" sz="quarter" idx="33"/>
          </p:nvPr>
        </p:nvSpPr>
        <p:spPr>
          <a:xfrm>
            <a:off x="609600" y="4802487"/>
            <a:ext cx="1341120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2"/>
          <p:cNvSpPr>
            <a:spLocks noGrp="1"/>
          </p:cNvSpPr>
          <p:nvPr>
            <p:ph type="body" sz="quarter" idx="34"/>
          </p:nvPr>
        </p:nvSpPr>
        <p:spPr>
          <a:xfrm>
            <a:off x="2110661" y="2068960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35"/>
          </p:nvPr>
        </p:nvSpPr>
        <p:spPr>
          <a:xfrm>
            <a:off x="2110661" y="3441508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2"/>
          <p:cNvSpPr>
            <a:spLocks noGrp="1"/>
          </p:cNvSpPr>
          <p:nvPr>
            <p:ph type="body" sz="quarter" idx="36"/>
          </p:nvPr>
        </p:nvSpPr>
        <p:spPr>
          <a:xfrm>
            <a:off x="2110661" y="4807328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8" name="Text Placeholder 12"/>
          <p:cNvSpPr>
            <a:spLocks noGrp="1"/>
          </p:cNvSpPr>
          <p:nvPr>
            <p:ph type="body" sz="quarter" idx="37"/>
          </p:nvPr>
        </p:nvSpPr>
        <p:spPr>
          <a:xfrm>
            <a:off x="4442752" y="2066925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12"/>
          <p:cNvSpPr>
            <a:spLocks noGrp="1"/>
          </p:cNvSpPr>
          <p:nvPr>
            <p:ph type="body" sz="quarter" idx="38"/>
          </p:nvPr>
        </p:nvSpPr>
        <p:spPr>
          <a:xfrm>
            <a:off x="4442752" y="3439473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2"/>
          <p:cNvSpPr>
            <a:spLocks noGrp="1"/>
          </p:cNvSpPr>
          <p:nvPr>
            <p:ph type="body" sz="quarter" idx="39"/>
          </p:nvPr>
        </p:nvSpPr>
        <p:spPr>
          <a:xfrm>
            <a:off x="4442752" y="4805293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12"/>
          <p:cNvSpPr>
            <a:spLocks noGrp="1"/>
          </p:cNvSpPr>
          <p:nvPr>
            <p:ph type="body" sz="quarter" idx="40"/>
          </p:nvPr>
        </p:nvSpPr>
        <p:spPr>
          <a:xfrm>
            <a:off x="6819045" y="2066925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12"/>
          <p:cNvSpPr>
            <a:spLocks noGrp="1"/>
          </p:cNvSpPr>
          <p:nvPr>
            <p:ph type="body" sz="quarter" idx="41"/>
          </p:nvPr>
        </p:nvSpPr>
        <p:spPr>
          <a:xfrm>
            <a:off x="6819045" y="3439473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12"/>
          <p:cNvSpPr>
            <a:spLocks noGrp="1"/>
          </p:cNvSpPr>
          <p:nvPr>
            <p:ph type="body" sz="quarter" idx="42"/>
          </p:nvPr>
        </p:nvSpPr>
        <p:spPr>
          <a:xfrm>
            <a:off x="6819045" y="4805293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12"/>
          <p:cNvSpPr>
            <a:spLocks noGrp="1"/>
          </p:cNvSpPr>
          <p:nvPr>
            <p:ph type="body" sz="quarter" idx="43"/>
          </p:nvPr>
        </p:nvSpPr>
        <p:spPr>
          <a:xfrm>
            <a:off x="9195340" y="2066925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12"/>
          <p:cNvSpPr>
            <a:spLocks noGrp="1"/>
          </p:cNvSpPr>
          <p:nvPr>
            <p:ph type="body" sz="quarter" idx="44"/>
          </p:nvPr>
        </p:nvSpPr>
        <p:spPr>
          <a:xfrm>
            <a:off x="9195340" y="3439473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12"/>
          <p:cNvSpPr>
            <a:spLocks noGrp="1"/>
          </p:cNvSpPr>
          <p:nvPr>
            <p:ph type="body" sz="quarter" idx="45"/>
          </p:nvPr>
        </p:nvSpPr>
        <p:spPr>
          <a:xfrm>
            <a:off x="9195340" y="4805293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Slide Number Placeholder 9"/>
          <p:cNvSpPr>
            <a:spLocks noGrp="1"/>
          </p:cNvSpPr>
          <p:nvPr>
            <p:ph type="sldNum" sz="quarter" idx="46"/>
          </p:nvPr>
        </p:nvSpPr>
        <p:spPr/>
        <p:txBody>
          <a:bodyPr/>
          <a:lstStyle>
            <a:lvl1pPr>
              <a:defRPr/>
            </a:lvl1pPr>
          </a:lstStyle>
          <a:p>
            <a:fld id="{BC9105C1-E9DE-DA45-BFF7-4F496C07EBDE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6" name="Footer Placeholder 37"/>
          <p:cNvSpPr>
            <a:spLocks noGrp="1"/>
          </p:cNvSpPr>
          <p:nvPr>
            <p:ph type="ftr" sz="quarter" idx="47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Taxation of C Corporations</a:t>
            </a:r>
          </a:p>
        </p:txBody>
      </p:sp>
    </p:spTree>
    <p:extLst>
      <p:ext uri="{BB962C8B-B14F-4D97-AF65-F5344CB8AC3E}">
        <p14:creationId xmlns:p14="http://schemas.microsoft.com/office/powerpoint/2010/main" val="233277555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entagon 11"/>
          <p:cNvSpPr>
            <a:spLocks noChangeArrowheads="1"/>
          </p:cNvSpPr>
          <p:nvPr userDrawn="1"/>
        </p:nvSpPr>
        <p:spPr bwMode="auto">
          <a:xfrm>
            <a:off x="2868085" y="1277938"/>
            <a:ext cx="8824383" cy="582612"/>
          </a:xfrm>
          <a:prstGeom prst="homePlate">
            <a:avLst>
              <a:gd name="adj" fmla="val 39286"/>
            </a:avLst>
          </a:prstGeom>
          <a:solidFill>
            <a:schemeClr val="accent1"/>
          </a:solidFill>
          <a:ln w="12700">
            <a:solidFill>
              <a:srgbClr val="A9A9A9"/>
            </a:solidFill>
            <a:miter lim="800000"/>
            <a:headEnd/>
            <a:tailEnd/>
          </a:ln>
        </p:spPr>
        <p:txBody>
          <a:bodyPr lIns="137160" tIns="137160" rIns="228600" bIns="137160" anchor="ctr"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algn="ctr">
              <a:lnSpc>
                <a:spcPct val="95000"/>
              </a:lnSpc>
              <a:spcBef>
                <a:spcPct val="50000"/>
              </a:spcBef>
              <a:buClr>
                <a:schemeClr val="accent1"/>
              </a:buClr>
              <a:buFont typeface="Wingdings 2" charset="2"/>
              <a:buNone/>
            </a:pPr>
            <a:endParaRPr lang="en-US" altLang="en-US" sz="1800" b="1">
              <a:solidFill>
                <a:schemeClr val="bg1"/>
              </a:solidFill>
              <a:latin typeface="Arial" charset="0"/>
            </a:endParaRPr>
          </a:p>
        </p:txBody>
      </p:sp>
      <p:cxnSp>
        <p:nvCxnSpPr>
          <p:cNvPr id="23" name="Straight Connector 9"/>
          <p:cNvCxnSpPr>
            <a:cxnSpLocks noChangeShapeType="1"/>
          </p:cNvCxnSpPr>
          <p:nvPr userDrawn="1"/>
        </p:nvCxnSpPr>
        <p:spPr bwMode="auto">
          <a:xfrm>
            <a:off x="2880784" y="1568450"/>
            <a:ext cx="8811683" cy="0"/>
          </a:xfrm>
          <a:prstGeom prst="line">
            <a:avLst/>
          </a:prstGeom>
          <a:noFill/>
          <a:ln w="12700">
            <a:solidFill>
              <a:srgbClr val="A9A9A9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4" name="Straight Connector 10"/>
          <p:cNvCxnSpPr>
            <a:cxnSpLocks noChangeShapeType="1"/>
          </p:cNvCxnSpPr>
          <p:nvPr userDrawn="1"/>
        </p:nvCxnSpPr>
        <p:spPr bwMode="auto">
          <a:xfrm rot="16200000" flipH="1">
            <a:off x="554302" y="3602303"/>
            <a:ext cx="4665662" cy="16933"/>
          </a:xfrm>
          <a:prstGeom prst="line">
            <a:avLst/>
          </a:prstGeom>
          <a:noFill/>
          <a:ln w="12700">
            <a:solidFill>
              <a:srgbClr val="A9A9A9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25" name="Group 115"/>
          <p:cNvGrpSpPr>
            <a:grpSpLocks/>
          </p:cNvGrpSpPr>
          <p:nvPr userDrawn="1"/>
        </p:nvGrpSpPr>
        <p:grpSpPr bwMode="auto">
          <a:xfrm>
            <a:off x="3445933" y="1576388"/>
            <a:ext cx="7374467" cy="4367212"/>
            <a:chOff x="2585007" y="1576462"/>
            <a:chExt cx="5530617" cy="4041195"/>
          </a:xfrm>
        </p:grpSpPr>
        <p:cxnSp>
          <p:nvCxnSpPr>
            <p:cNvPr id="42" name="Straight Connector 12"/>
            <p:cNvCxnSpPr>
              <a:cxnSpLocks noChangeShapeType="1"/>
            </p:cNvCxnSpPr>
            <p:nvPr userDrawn="1"/>
          </p:nvCxnSpPr>
          <p:spPr bwMode="auto">
            <a:xfrm rot="5400000">
              <a:off x="564416" y="3597053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6" name="Straight Connector 13"/>
            <p:cNvCxnSpPr>
              <a:cxnSpLocks noChangeShapeType="1"/>
            </p:cNvCxnSpPr>
            <p:nvPr userDrawn="1"/>
          </p:nvCxnSpPr>
          <p:spPr bwMode="auto">
            <a:xfrm rot="5400000">
              <a:off x="1415280" y="3597055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8" name="Straight Connector 14"/>
            <p:cNvCxnSpPr>
              <a:cxnSpLocks noChangeShapeType="1"/>
            </p:cNvCxnSpPr>
            <p:nvPr userDrawn="1"/>
          </p:nvCxnSpPr>
          <p:spPr bwMode="auto">
            <a:xfrm rot="5400000">
              <a:off x="989848" y="3597056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9" name="Straight Connector 15"/>
            <p:cNvCxnSpPr>
              <a:cxnSpLocks noChangeShapeType="1"/>
            </p:cNvCxnSpPr>
            <p:nvPr userDrawn="1"/>
          </p:nvCxnSpPr>
          <p:spPr bwMode="auto">
            <a:xfrm rot="5400000">
              <a:off x="2266144" y="3597056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0" name="Straight Connector 16"/>
            <p:cNvCxnSpPr>
              <a:cxnSpLocks noChangeShapeType="1"/>
            </p:cNvCxnSpPr>
            <p:nvPr userDrawn="1"/>
          </p:nvCxnSpPr>
          <p:spPr bwMode="auto">
            <a:xfrm rot="5400000">
              <a:off x="1840712" y="3597058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1" name="Straight Connector 17"/>
            <p:cNvCxnSpPr>
              <a:cxnSpLocks noChangeShapeType="1"/>
            </p:cNvCxnSpPr>
            <p:nvPr userDrawn="1"/>
          </p:nvCxnSpPr>
          <p:spPr bwMode="auto">
            <a:xfrm rot="5400000">
              <a:off x="3117008" y="3597058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2" name="Straight Connector 18"/>
            <p:cNvCxnSpPr>
              <a:cxnSpLocks noChangeShapeType="1"/>
            </p:cNvCxnSpPr>
            <p:nvPr userDrawn="1"/>
          </p:nvCxnSpPr>
          <p:spPr bwMode="auto">
            <a:xfrm rot="5400000">
              <a:off x="2691576" y="3597059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3" name="Straight Connector 19"/>
            <p:cNvCxnSpPr>
              <a:cxnSpLocks noChangeShapeType="1"/>
            </p:cNvCxnSpPr>
            <p:nvPr userDrawn="1"/>
          </p:nvCxnSpPr>
          <p:spPr bwMode="auto">
            <a:xfrm rot="5400000">
              <a:off x="3967872" y="3597059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4" name="Straight Connector 20"/>
            <p:cNvCxnSpPr>
              <a:cxnSpLocks noChangeShapeType="1"/>
            </p:cNvCxnSpPr>
            <p:nvPr userDrawn="1"/>
          </p:nvCxnSpPr>
          <p:spPr bwMode="auto">
            <a:xfrm rot="5400000">
              <a:off x="3542440" y="3597061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5" name="Straight Connector 21"/>
            <p:cNvCxnSpPr>
              <a:cxnSpLocks noChangeShapeType="1"/>
            </p:cNvCxnSpPr>
            <p:nvPr userDrawn="1"/>
          </p:nvCxnSpPr>
          <p:spPr bwMode="auto">
            <a:xfrm rot="5400000">
              <a:off x="4818736" y="3597061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6" name="Straight Connector 22"/>
            <p:cNvCxnSpPr>
              <a:cxnSpLocks noChangeShapeType="1"/>
            </p:cNvCxnSpPr>
            <p:nvPr userDrawn="1"/>
          </p:nvCxnSpPr>
          <p:spPr bwMode="auto">
            <a:xfrm rot="5400000">
              <a:off x="4393304" y="3597062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7" name="Straight Connector 23"/>
            <p:cNvCxnSpPr>
              <a:cxnSpLocks noChangeShapeType="1"/>
            </p:cNvCxnSpPr>
            <p:nvPr userDrawn="1"/>
          </p:nvCxnSpPr>
          <p:spPr bwMode="auto">
            <a:xfrm rot="5400000">
              <a:off x="5669600" y="3597062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8" name="Straight Connector 24"/>
            <p:cNvCxnSpPr>
              <a:cxnSpLocks noChangeShapeType="1"/>
            </p:cNvCxnSpPr>
            <p:nvPr userDrawn="1"/>
          </p:nvCxnSpPr>
          <p:spPr bwMode="auto">
            <a:xfrm rot="5400000">
              <a:off x="5244168" y="3597064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9" name="Straight Connector 25"/>
            <p:cNvCxnSpPr>
              <a:cxnSpLocks noChangeShapeType="1"/>
            </p:cNvCxnSpPr>
            <p:nvPr userDrawn="1"/>
          </p:nvCxnSpPr>
          <p:spPr bwMode="auto">
            <a:xfrm rot="5400000">
              <a:off x="6095032" y="3597065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sp>
        <p:nvSpPr>
          <p:cNvPr id="60" name="Rectangle 30"/>
          <p:cNvSpPr>
            <a:spLocks noChangeArrowheads="1"/>
          </p:cNvSpPr>
          <p:nvPr userDrawn="1"/>
        </p:nvSpPr>
        <p:spPr bwMode="auto">
          <a:xfrm>
            <a:off x="624417" y="1860550"/>
            <a:ext cx="10759016" cy="4083050"/>
          </a:xfrm>
          <a:prstGeom prst="rect">
            <a:avLst/>
          </a:prstGeom>
          <a:noFill/>
          <a:ln w="12700">
            <a:solidFill>
              <a:srgbClr val="A9A9A9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137160" tIns="137160" rIns="228600" bIns="137160" anchor="ctr"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algn="ctr">
              <a:lnSpc>
                <a:spcPct val="95000"/>
              </a:lnSpc>
              <a:spcBef>
                <a:spcPct val="50000"/>
              </a:spcBef>
              <a:buClr>
                <a:schemeClr val="accent1"/>
              </a:buClr>
              <a:buFont typeface="Wingdings 2" charset="2"/>
              <a:buNone/>
            </a:pPr>
            <a:endParaRPr lang="en-US" altLang="en-US" sz="1800" b="1">
              <a:solidFill>
                <a:schemeClr val="bg1"/>
              </a:solidFill>
              <a:latin typeface="Arial" charset="0"/>
            </a:endParaRPr>
          </a:p>
        </p:txBody>
      </p:sp>
      <p:sp>
        <p:nvSpPr>
          <p:cNvPr id="61" name="Rectangle 31"/>
          <p:cNvSpPr>
            <a:spLocks noChangeArrowheads="1"/>
          </p:cNvSpPr>
          <p:nvPr userDrawn="1"/>
        </p:nvSpPr>
        <p:spPr bwMode="auto">
          <a:xfrm>
            <a:off x="624418" y="1277938"/>
            <a:ext cx="2256367" cy="582612"/>
          </a:xfrm>
          <a:prstGeom prst="rect">
            <a:avLst/>
          </a:prstGeom>
          <a:solidFill>
            <a:srgbClr val="4D4D4D"/>
          </a:solidFill>
          <a:ln w="12700">
            <a:solidFill>
              <a:srgbClr val="A9A9A9"/>
            </a:solidFill>
            <a:miter lim="800000"/>
            <a:headEnd/>
            <a:tailEnd/>
          </a:ln>
        </p:spPr>
        <p:txBody>
          <a:bodyPr lIns="137160" tIns="137160" rIns="228600" bIns="137160" anchor="ctr"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algn="ctr">
              <a:lnSpc>
                <a:spcPct val="95000"/>
              </a:lnSpc>
              <a:spcBef>
                <a:spcPct val="50000"/>
              </a:spcBef>
              <a:buClr>
                <a:schemeClr val="accent1"/>
              </a:buClr>
              <a:buFont typeface="Wingdings 2" charset="2"/>
              <a:buNone/>
            </a:pPr>
            <a:endParaRPr lang="en-US" altLang="en-US" sz="1800" b="1">
              <a:solidFill>
                <a:schemeClr val="bg1"/>
              </a:solidFill>
              <a:latin typeface="Arial" charset="0"/>
            </a:endParaRPr>
          </a:p>
        </p:txBody>
      </p:sp>
      <p:cxnSp>
        <p:nvCxnSpPr>
          <p:cNvPr id="62" name="Straight Connector 28"/>
          <p:cNvCxnSpPr>
            <a:cxnSpLocks noChangeShapeType="1"/>
          </p:cNvCxnSpPr>
          <p:nvPr userDrawn="1"/>
        </p:nvCxnSpPr>
        <p:spPr bwMode="auto">
          <a:xfrm>
            <a:off x="630767" y="1277938"/>
            <a:ext cx="2235200" cy="582612"/>
          </a:xfrm>
          <a:prstGeom prst="line">
            <a:avLst/>
          </a:prstGeom>
          <a:noFill/>
          <a:ln w="12700">
            <a:solidFill>
              <a:srgbClr val="A9A9A9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6" name="Text Placeholder 12"/>
          <p:cNvSpPr>
            <a:spLocks noGrp="1"/>
          </p:cNvSpPr>
          <p:nvPr>
            <p:ph type="body" sz="quarter" idx="28"/>
          </p:nvPr>
        </p:nvSpPr>
        <p:spPr>
          <a:xfrm>
            <a:off x="2879952" y="1282930"/>
            <a:ext cx="8496387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12"/>
          <p:cNvSpPr>
            <a:spLocks noGrp="1"/>
          </p:cNvSpPr>
          <p:nvPr>
            <p:ph type="body" sz="quarter" idx="31"/>
          </p:nvPr>
        </p:nvSpPr>
        <p:spPr>
          <a:xfrm>
            <a:off x="4021495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12"/>
          <p:cNvSpPr>
            <a:spLocks noGrp="1"/>
          </p:cNvSpPr>
          <p:nvPr>
            <p:ph type="body" sz="quarter" idx="32"/>
          </p:nvPr>
        </p:nvSpPr>
        <p:spPr>
          <a:xfrm>
            <a:off x="4588796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12"/>
          <p:cNvSpPr>
            <a:spLocks noGrp="1"/>
          </p:cNvSpPr>
          <p:nvPr>
            <p:ph type="body" sz="quarter" idx="33"/>
          </p:nvPr>
        </p:nvSpPr>
        <p:spPr>
          <a:xfrm>
            <a:off x="2886892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2"/>
          <p:cNvSpPr>
            <a:spLocks noGrp="1"/>
          </p:cNvSpPr>
          <p:nvPr>
            <p:ph type="body" sz="quarter" idx="34"/>
          </p:nvPr>
        </p:nvSpPr>
        <p:spPr>
          <a:xfrm>
            <a:off x="3454193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12"/>
          <p:cNvSpPr>
            <a:spLocks noGrp="1"/>
          </p:cNvSpPr>
          <p:nvPr>
            <p:ph type="body" sz="quarter" idx="35"/>
          </p:nvPr>
        </p:nvSpPr>
        <p:spPr>
          <a:xfrm>
            <a:off x="6290700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12"/>
          <p:cNvSpPr>
            <a:spLocks noGrp="1"/>
          </p:cNvSpPr>
          <p:nvPr>
            <p:ph type="body" sz="quarter" idx="36"/>
          </p:nvPr>
        </p:nvSpPr>
        <p:spPr>
          <a:xfrm>
            <a:off x="6858001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12"/>
          <p:cNvSpPr>
            <a:spLocks noGrp="1"/>
          </p:cNvSpPr>
          <p:nvPr>
            <p:ph type="body" sz="quarter" idx="37"/>
          </p:nvPr>
        </p:nvSpPr>
        <p:spPr>
          <a:xfrm>
            <a:off x="5156097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12"/>
          <p:cNvSpPr>
            <a:spLocks noGrp="1"/>
          </p:cNvSpPr>
          <p:nvPr>
            <p:ph type="body" sz="quarter" idx="38"/>
          </p:nvPr>
        </p:nvSpPr>
        <p:spPr>
          <a:xfrm>
            <a:off x="5723399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12"/>
          <p:cNvSpPr>
            <a:spLocks noGrp="1"/>
          </p:cNvSpPr>
          <p:nvPr>
            <p:ph type="body" sz="quarter" idx="39"/>
          </p:nvPr>
        </p:nvSpPr>
        <p:spPr>
          <a:xfrm>
            <a:off x="8559905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12"/>
          <p:cNvSpPr>
            <a:spLocks noGrp="1"/>
          </p:cNvSpPr>
          <p:nvPr>
            <p:ph type="body" sz="quarter" idx="40"/>
          </p:nvPr>
        </p:nvSpPr>
        <p:spPr>
          <a:xfrm>
            <a:off x="9127207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12"/>
          <p:cNvSpPr>
            <a:spLocks noGrp="1"/>
          </p:cNvSpPr>
          <p:nvPr>
            <p:ph type="body" sz="quarter" idx="41"/>
          </p:nvPr>
        </p:nvSpPr>
        <p:spPr>
          <a:xfrm>
            <a:off x="7425303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12"/>
          <p:cNvSpPr>
            <a:spLocks noGrp="1"/>
          </p:cNvSpPr>
          <p:nvPr>
            <p:ph type="body" sz="quarter" idx="42"/>
          </p:nvPr>
        </p:nvSpPr>
        <p:spPr>
          <a:xfrm>
            <a:off x="7992604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12"/>
          <p:cNvSpPr>
            <a:spLocks noGrp="1"/>
          </p:cNvSpPr>
          <p:nvPr>
            <p:ph type="body" sz="quarter" idx="43"/>
          </p:nvPr>
        </p:nvSpPr>
        <p:spPr>
          <a:xfrm>
            <a:off x="9694508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2"/>
          <p:cNvSpPr>
            <a:spLocks noGrp="1"/>
          </p:cNvSpPr>
          <p:nvPr>
            <p:ph type="body" sz="quarter" idx="44"/>
          </p:nvPr>
        </p:nvSpPr>
        <p:spPr>
          <a:xfrm>
            <a:off x="10261809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12"/>
          <p:cNvSpPr>
            <a:spLocks noGrp="1"/>
          </p:cNvSpPr>
          <p:nvPr>
            <p:ph type="body" sz="quarter" idx="45"/>
          </p:nvPr>
        </p:nvSpPr>
        <p:spPr>
          <a:xfrm>
            <a:off x="10829111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12"/>
          <p:cNvSpPr>
            <a:spLocks noGrp="1"/>
          </p:cNvSpPr>
          <p:nvPr>
            <p:ph type="body" sz="quarter" idx="46"/>
          </p:nvPr>
        </p:nvSpPr>
        <p:spPr>
          <a:xfrm>
            <a:off x="730741" y="1548247"/>
            <a:ext cx="860776" cy="280554"/>
          </a:xfrm>
          <a:prstGeom prst="rect">
            <a:avLst/>
          </a:prstGeom>
          <a:ln w="6350">
            <a:noFill/>
          </a:ln>
        </p:spPr>
        <p:txBody>
          <a:bodyPr lIns="0" tIns="0" rIns="0" bIns="0"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12"/>
          <p:cNvSpPr>
            <a:spLocks noGrp="1"/>
          </p:cNvSpPr>
          <p:nvPr>
            <p:ph type="body" sz="quarter" idx="47"/>
          </p:nvPr>
        </p:nvSpPr>
        <p:spPr>
          <a:xfrm>
            <a:off x="1868569" y="1278088"/>
            <a:ext cx="860776" cy="561107"/>
          </a:xfrm>
          <a:prstGeom prst="rect">
            <a:avLst/>
          </a:prstGeom>
          <a:ln w="6350">
            <a:noFill/>
          </a:ln>
        </p:spPr>
        <p:txBody>
          <a:bodyPr lIns="0" tIns="0" rIns="0" bIns="0" anchor="ctr"/>
          <a:lstStyle>
            <a:lvl1pPr marL="0" marR="0" indent="0" algn="r" defTabSz="914400" rtl="0" eaLnBrk="1" fontAlgn="auto" latinLnBrk="0" hangingPunct="1">
              <a:lnSpc>
                <a:spcPts val="17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7" name="Text Placeholder 12"/>
          <p:cNvSpPr>
            <a:spLocks noGrp="1"/>
          </p:cNvSpPr>
          <p:nvPr>
            <p:ph type="body" sz="quarter" idx="18"/>
          </p:nvPr>
        </p:nvSpPr>
        <p:spPr>
          <a:xfrm>
            <a:off x="711200" y="1905000"/>
            <a:ext cx="2072640" cy="3977640"/>
          </a:xfrm>
          <a:prstGeom prst="rect">
            <a:avLst/>
          </a:prstGeom>
          <a:noFill/>
          <a:ln>
            <a:noFill/>
          </a:ln>
        </p:spPr>
        <p:txBody>
          <a:bodyPr wrap="square" lIns="91440" anchor="t" anchorCtr="0">
            <a:noAutofit/>
          </a:bodyPr>
          <a:lstStyle>
            <a:lvl1pPr marL="173736" indent="-173736" algn="l">
              <a:spcBef>
                <a:spcPts val="200"/>
              </a:spcBef>
              <a:buClr>
                <a:srgbClr val="B01C2E"/>
              </a:buClr>
              <a:buFont typeface="Wingdings" pitchFamily="2" charset="2"/>
              <a:buChar char="§"/>
              <a:defRPr sz="1200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200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200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3" name="Slide Number Placeholder 9"/>
          <p:cNvSpPr>
            <a:spLocks noGrp="1"/>
          </p:cNvSpPr>
          <p:nvPr>
            <p:ph type="sldNum" sz="quarter" idx="48"/>
          </p:nvPr>
        </p:nvSpPr>
        <p:spPr/>
        <p:txBody>
          <a:bodyPr/>
          <a:lstStyle>
            <a:lvl1pPr>
              <a:defRPr/>
            </a:lvl1pPr>
          </a:lstStyle>
          <a:p>
            <a:fld id="{A2AEA599-6C77-BA4A-9F89-7B2425581CA4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64" name="Footer Placeholder 47"/>
          <p:cNvSpPr>
            <a:spLocks noGrp="1"/>
          </p:cNvSpPr>
          <p:nvPr>
            <p:ph type="ftr" sz="quarter" idx="49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Taxation of C Corporations</a:t>
            </a:r>
          </a:p>
        </p:txBody>
      </p:sp>
    </p:spTree>
    <p:extLst>
      <p:ext uri="{BB962C8B-B14F-4D97-AF65-F5344CB8AC3E}">
        <p14:creationId xmlns:p14="http://schemas.microsoft.com/office/powerpoint/2010/main" val="1305983184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ant chart or Timeline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Rectangle 11"/>
          <p:cNvSpPr>
            <a:spLocks noChangeArrowheads="1"/>
          </p:cNvSpPr>
          <p:nvPr userDrawn="1"/>
        </p:nvSpPr>
        <p:spPr bwMode="auto">
          <a:xfrm>
            <a:off x="2074333" y="1828801"/>
            <a:ext cx="9508067" cy="379413"/>
          </a:xfrm>
          <a:prstGeom prst="rect">
            <a:avLst/>
          </a:prstGeom>
          <a:solidFill>
            <a:srgbClr val="D9D9D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endParaRPr lang="en-US" altLang="en-US" sz="1800">
              <a:latin typeface="Arial" charset="0"/>
            </a:endParaRPr>
          </a:p>
        </p:txBody>
      </p:sp>
      <p:sp>
        <p:nvSpPr>
          <p:cNvPr id="71" name="Rectangle 13"/>
          <p:cNvSpPr>
            <a:spLocks noChangeArrowheads="1"/>
          </p:cNvSpPr>
          <p:nvPr userDrawn="1"/>
        </p:nvSpPr>
        <p:spPr bwMode="auto">
          <a:xfrm>
            <a:off x="596900" y="2189163"/>
            <a:ext cx="1464733" cy="3287712"/>
          </a:xfrm>
          <a:prstGeom prst="rect">
            <a:avLst/>
          </a:prstGeom>
          <a:solidFill>
            <a:srgbClr val="D9D9D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endParaRPr lang="en-US" altLang="en-US" sz="1800">
              <a:latin typeface="Arial" charset="0"/>
            </a:endParaRPr>
          </a:p>
        </p:txBody>
      </p:sp>
      <p:grpSp>
        <p:nvGrpSpPr>
          <p:cNvPr id="72" name="Group 84"/>
          <p:cNvGrpSpPr>
            <a:grpSpLocks/>
          </p:cNvGrpSpPr>
          <p:nvPr userDrawn="1"/>
        </p:nvGrpSpPr>
        <p:grpSpPr bwMode="auto">
          <a:xfrm>
            <a:off x="590551" y="1819275"/>
            <a:ext cx="10979149" cy="3657600"/>
            <a:chOff x="443344" y="1819866"/>
            <a:chExt cx="8234523" cy="3657600"/>
          </a:xfrm>
        </p:grpSpPr>
        <p:grpSp>
          <p:nvGrpSpPr>
            <p:cNvPr id="73" name="Group 83"/>
            <p:cNvGrpSpPr>
              <a:grpSpLocks/>
            </p:cNvGrpSpPr>
            <p:nvPr userDrawn="1"/>
          </p:nvGrpSpPr>
          <p:grpSpPr bwMode="auto">
            <a:xfrm>
              <a:off x="443344" y="2565862"/>
              <a:ext cx="8229600" cy="2556366"/>
              <a:chOff x="443344" y="2565862"/>
              <a:chExt cx="8229600" cy="2556366"/>
            </a:xfrm>
          </p:grpSpPr>
          <p:cxnSp>
            <p:nvCxnSpPr>
              <p:cNvPr id="87" name="Straight Connector 27"/>
              <p:cNvCxnSpPr>
                <a:cxnSpLocks noChangeShapeType="1"/>
              </p:cNvCxnSpPr>
              <p:nvPr userDrawn="1"/>
            </p:nvCxnSpPr>
            <p:spPr bwMode="auto">
              <a:xfrm>
                <a:off x="443344" y="5120640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8" name="Straight Connector 28"/>
              <p:cNvCxnSpPr>
                <a:cxnSpLocks noChangeShapeType="1"/>
              </p:cNvCxnSpPr>
              <p:nvPr userDrawn="1"/>
            </p:nvCxnSpPr>
            <p:spPr bwMode="auto">
              <a:xfrm>
                <a:off x="443344" y="4754880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9" name="Straight Connector 29"/>
              <p:cNvCxnSpPr>
                <a:cxnSpLocks noChangeShapeType="1"/>
              </p:cNvCxnSpPr>
              <p:nvPr userDrawn="1"/>
            </p:nvCxnSpPr>
            <p:spPr bwMode="auto">
              <a:xfrm>
                <a:off x="443344" y="4389120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0" name="Straight Connector 30"/>
              <p:cNvCxnSpPr>
                <a:cxnSpLocks noChangeShapeType="1"/>
              </p:cNvCxnSpPr>
              <p:nvPr userDrawn="1"/>
            </p:nvCxnSpPr>
            <p:spPr bwMode="auto">
              <a:xfrm>
                <a:off x="443344" y="4028902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1" name="Straight Connector 31"/>
              <p:cNvCxnSpPr>
                <a:cxnSpLocks noChangeShapeType="1"/>
              </p:cNvCxnSpPr>
              <p:nvPr userDrawn="1"/>
            </p:nvCxnSpPr>
            <p:spPr bwMode="auto">
              <a:xfrm>
                <a:off x="443344" y="3663142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2" name="Straight Connector 32"/>
              <p:cNvCxnSpPr>
                <a:cxnSpLocks noChangeShapeType="1"/>
              </p:cNvCxnSpPr>
              <p:nvPr userDrawn="1"/>
            </p:nvCxnSpPr>
            <p:spPr bwMode="auto">
              <a:xfrm>
                <a:off x="443344" y="3302924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3" name="Straight Connector 33"/>
              <p:cNvCxnSpPr>
                <a:cxnSpLocks noChangeShapeType="1"/>
              </p:cNvCxnSpPr>
              <p:nvPr userDrawn="1"/>
            </p:nvCxnSpPr>
            <p:spPr bwMode="auto">
              <a:xfrm>
                <a:off x="443344" y="2926080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4" name="Straight Connector 34"/>
              <p:cNvCxnSpPr>
                <a:cxnSpLocks noChangeShapeType="1"/>
              </p:cNvCxnSpPr>
              <p:nvPr userDrawn="1"/>
            </p:nvCxnSpPr>
            <p:spPr bwMode="auto">
              <a:xfrm>
                <a:off x="443344" y="2565862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grpSp>
          <p:nvGrpSpPr>
            <p:cNvPr id="74" name="Group 82"/>
            <p:cNvGrpSpPr>
              <a:grpSpLocks/>
            </p:cNvGrpSpPr>
            <p:nvPr userDrawn="1"/>
          </p:nvGrpSpPr>
          <p:grpSpPr bwMode="auto">
            <a:xfrm>
              <a:off x="2202964" y="1819866"/>
              <a:ext cx="6474903" cy="3657600"/>
              <a:chOff x="2202964" y="1819866"/>
              <a:chExt cx="6474903" cy="3657600"/>
            </a:xfrm>
          </p:grpSpPr>
          <p:cxnSp>
            <p:nvCxnSpPr>
              <p:cNvPr id="75" name="Straight Connector 16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374958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76" name="Straight Connector 17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1022290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77" name="Straight Connector 18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1669622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79" name="Straight Connector 19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2316954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0" name="Straight Connector 20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2964286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1" name="Straight Connector 21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3611618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2" name="Straight Connector 22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4258950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3" name="Straight Connector 23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4906282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4" name="Straight Connector 24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5553614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5" name="Straight Connector 25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6200946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6" name="Straight Connector 26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6848273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</p:grpSp>
      <p:sp>
        <p:nvSpPr>
          <p:cNvPr id="95" name="TextBox 36"/>
          <p:cNvSpPr txBox="1">
            <a:spLocks noChangeArrowheads="1"/>
          </p:cNvSpPr>
          <p:nvPr userDrawn="1"/>
        </p:nvSpPr>
        <p:spPr bwMode="auto">
          <a:xfrm>
            <a:off x="683685" y="1566864"/>
            <a:ext cx="1178983" cy="180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/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0" hangingPunct="0">
              <a:lnSpc>
                <a:spcPts val="1400"/>
              </a:lnSpc>
              <a:spcBef>
                <a:spcPts val="1500"/>
              </a:spcBef>
              <a:buClr>
                <a:schemeClr val="accent1"/>
              </a:buClr>
              <a:buFont typeface="Wingdings 2" pitchFamily="18" charset="2"/>
              <a:buNone/>
              <a:defRPr/>
            </a:pPr>
            <a:r>
              <a:rPr lang="en-US" sz="800" b="1">
                <a:solidFill>
                  <a:srgbClr val="000000"/>
                </a:solidFill>
                <a:latin typeface="Arial" charset="0"/>
                <a:ea typeface="+mn-ea"/>
              </a:rPr>
              <a:t>WEEK NUMBER</a:t>
            </a:r>
          </a:p>
        </p:txBody>
      </p:sp>
      <p:sp>
        <p:nvSpPr>
          <p:cNvPr id="96" name="TextBox 37"/>
          <p:cNvSpPr txBox="1">
            <a:spLocks noChangeArrowheads="1"/>
          </p:cNvSpPr>
          <p:nvPr userDrawn="1"/>
        </p:nvSpPr>
        <p:spPr bwMode="auto">
          <a:xfrm>
            <a:off x="683685" y="1939925"/>
            <a:ext cx="1178983" cy="179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/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0" hangingPunct="0">
              <a:lnSpc>
                <a:spcPts val="1400"/>
              </a:lnSpc>
              <a:spcBef>
                <a:spcPts val="1500"/>
              </a:spcBef>
              <a:buClr>
                <a:schemeClr val="accent1"/>
              </a:buClr>
              <a:buFont typeface="Wingdings 2" pitchFamily="18" charset="2"/>
              <a:buNone/>
              <a:defRPr/>
            </a:pPr>
            <a:r>
              <a:rPr lang="en-US" sz="800" b="1">
                <a:solidFill>
                  <a:srgbClr val="000000"/>
                </a:solidFill>
                <a:latin typeface="Arial" charset="0"/>
                <a:ea typeface="+mn-ea"/>
              </a:rPr>
              <a:t>STARTS ON</a:t>
            </a:r>
          </a:p>
        </p:txBody>
      </p:sp>
      <p:cxnSp>
        <p:nvCxnSpPr>
          <p:cNvPr id="97" name="Straight Connector 39"/>
          <p:cNvCxnSpPr>
            <a:cxnSpLocks noChangeShapeType="1"/>
          </p:cNvCxnSpPr>
          <p:nvPr userDrawn="1"/>
        </p:nvCxnSpPr>
        <p:spPr bwMode="auto">
          <a:xfrm>
            <a:off x="590551" y="2200275"/>
            <a:ext cx="10972800" cy="1588"/>
          </a:xfrm>
          <a:prstGeom prst="line">
            <a:avLst/>
          </a:prstGeom>
          <a:noFill/>
          <a:ln w="19050">
            <a:solidFill>
              <a:srgbClr val="66666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98" name="Straight Connector 40"/>
          <p:cNvCxnSpPr>
            <a:cxnSpLocks noChangeShapeType="1"/>
          </p:cNvCxnSpPr>
          <p:nvPr userDrawn="1"/>
        </p:nvCxnSpPr>
        <p:spPr bwMode="auto">
          <a:xfrm>
            <a:off x="590551" y="5486400"/>
            <a:ext cx="10972800" cy="1588"/>
          </a:xfrm>
          <a:prstGeom prst="line">
            <a:avLst/>
          </a:prstGeom>
          <a:noFill/>
          <a:ln w="19050">
            <a:solidFill>
              <a:srgbClr val="66666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99" name="Freeform 40"/>
          <p:cNvSpPr>
            <a:spLocks/>
          </p:cNvSpPr>
          <p:nvPr userDrawn="1"/>
        </p:nvSpPr>
        <p:spPr bwMode="auto">
          <a:xfrm>
            <a:off x="2074334" y="1468439"/>
            <a:ext cx="9469967" cy="4027487"/>
          </a:xfrm>
          <a:custGeom>
            <a:avLst/>
            <a:gdLst>
              <a:gd name="T0" fmla="*/ 0 w 7101191"/>
              <a:gd name="T1" fmla="*/ 4028195 h 4027251"/>
              <a:gd name="T2" fmla="*/ 0 w 7101191"/>
              <a:gd name="T3" fmla="*/ 0 h 4027251"/>
              <a:gd name="T4" fmla="*/ 7106328 w 7101191"/>
              <a:gd name="T5" fmla="*/ 0 h 4027251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7101191" h="4027251">
                <a:moveTo>
                  <a:pt x="0" y="4027251"/>
                </a:moveTo>
                <a:lnTo>
                  <a:pt x="0" y="0"/>
                </a:lnTo>
                <a:lnTo>
                  <a:pt x="7101191" y="0"/>
                </a:lnTo>
              </a:path>
            </a:pathLst>
          </a:custGeom>
          <a:noFill/>
          <a:ln w="19050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en-US" sz="1800"/>
          </a:p>
        </p:txBody>
      </p:sp>
      <p:cxnSp>
        <p:nvCxnSpPr>
          <p:cNvPr id="100" name="Straight Connector 42"/>
          <p:cNvCxnSpPr>
            <a:cxnSpLocks noChangeShapeType="1"/>
          </p:cNvCxnSpPr>
          <p:nvPr userDrawn="1"/>
        </p:nvCxnSpPr>
        <p:spPr bwMode="auto">
          <a:xfrm>
            <a:off x="2061634" y="1828800"/>
            <a:ext cx="865717" cy="228600"/>
          </a:xfrm>
          <a:prstGeom prst="line">
            <a:avLst/>
          </a:prstGeom>
          <a:noFill/>
          <a:ln w="19050">
            <a:solidFill>
              <a:srgbClr val="66666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9" name="Text Placeholder 12"/>
          <p:cNvSpPr>
            <a:spLocks noGrp="1"/>
          </p:cNvSpPr>
          <p:nvPr>
            <p:ph type="body" sz="quarter" idx="33"/>
          </p:nvPr>
        </p:nvSpPr>
        <p:spPr>
          <a:xfrm>
            <a:off x="2061633" y="1835813"/>
            <a:ext cx="861216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2"/>
          <p:cNvSpPr>
            <a:spLocks noGrp="1"/>
          </p:cNvSpPr>
          <p:nvPr>
            <p:ph type="body" sz="quarter" idx="34"/>
          </p:nvPr>
        </p:nvSpPr>
        <p:spPr>
          <a:xfrm>
            <a:off x="2937751" y="1835813"/>
            <a:ext cx="862519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12"/>
          <p:cNvSpPr>
            <a:spLocks noGrp="1"/>
          </p:cNvSpPr>
          <p:nvPr>
            <p:ph type="body" sz="quarter" idx="35"/>
          </p:nvPr>
        </p:nvSpPr>
        <p:spPr>
          <a:xfrm>
            <a:off x="3800274" y="1835813"/>
            <a:ext cx="869005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12"/>
          <p:cNvSpPr>
            <a:spLocks noGrp="1"/>
          </p:cNvSpPr>
          <p:nvPr>
            <p:ph type="body" sz="quarter" idx="36"/>
          </p:nvPr>
        </p:nvSpPr>
        <p:spPr>
          <a:xfrm>
            <a:off x="4662791" y="1835813"/>
            <a:ext cx="856035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12"/>
          <p:cNvSpPr>
            <a:spLocks noGrp="1"/>
          </p:cNvSpPr>
          <p:nvPr>
            <p:ph type="body" sz="quarter" idx="37"/>
          </p:nvPr>
        </p:nvSpPr>
        <p:spPr>
          <a:xfrm>
            <a:off x="5518824" y="1835813"/>
            <a:ext cx="865632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12"/>
          <p:cNvSpPr>
            <a:spLocks noGrp="1"/>
          </p:cNvSpPr>
          <p:nvPr>
            <p:ph type="body" sz="quarter" idx="38"/>
          </p:nvPr>
        </p:nvSpPr>
        <p:spPr>
          <a:xfrm>
            <a:off x="6394315" y="1835813"/>
            <a:ext cx="865632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Text Placeholder 12"/>
          <p:cNvSpPr>
            <a:spLocks noGrp="1"/>
          </p:cNvSpPr>
          <p:nvPr>
            <p:ph type="body" sz="quarter" idx="39"/>
          </p:nvPr>
        </p:nvSpPr>
        <p:spPr>
          <a:xfrm>
            <a:off x="7250347" y="1835813"/>
            <a:ext cx="865632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12"/>
          <p:cNvSpPr>
            <a:spLocks noGrp="1"/>
          </p:cNvSpPr>
          <p:nvPr>
            <p:ph type="body" sz="quarter" idx="40"/>
          </p:nvPr>
        </p:nvSpPr>
        <p:spPr>
          <a:xfrm>
            <a:off x="8112867" y="1835813"/>
            <a:ext cx="869005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7" name="Text Placeholder 12"/>
          <p:cNvSpPr>
            <a:spLocks noGrp="1"/>
          </p:cNvSpPr>
          <p:nvPr>
            <p:ph type="body" sz="quarter" idx="41"/>
          </p:nvPr>
        </p:nvSpPr>
        <p:spPr>
          <a:xfrm>
            <a:off x="8975387" y="1835813"/>
            <a:ext cx="862520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12"/>
          <p:cNvSpPr>
            <a:spLocks noGrp="1"/>
          </p:cNvSpPr>
          <p:nvPr>
            <p:ph type="body" sz="quarter" idx="42"/>
          </p:nvPr>
        </p:nvSpPr>
        <p:spPr>
          <a:xfrm>
            <a:off x="9844389" y="1835813"/>
            <a:ext cx="865632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9" name="Text Placeholder 12"/>
          <p:cNvSpPr>
            <a:spLocks noGrp="1"/>
          </p:cNvSpPr>
          <p:nvPr>
            <p:ph type="body" sz="quarter" idx="43"/>
          </p:nvPr>
        </p:nvSpPr>
        <p:spPr>
          <a:xfrm>
            <a:off x="10700427" y="1835813"/>
            <a:ext cx="870892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0" name="Text Placeholder 12"/>
          <p:cNvSpPr>
            <a:spLocks noGrp="1"/>
          </p:cNvSpPr>
          <p:nvPr>
            <p:ph type="body" sz="quarter" idx="45"/>
          </p:nvPr>
        </p:nvSpPr>
        <p:spPr>
          <a:xfrm>
            <a:off x="625653" y="223026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1" name="Text Placeholder 12"/>
          <p:cNvSpPr>
            <a:spLocks noGrp="1"/>
          </p:cNvSpPr>
          <p:nvPr>
            <p:ph type="body" sz="quarter" idx="46"/>
          </p:nvPr>
        </p:nvSpPr>
        <p:spPr>
          <a:xfrm>
            <a:off x="625653" y="259557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2" name="Text Placeholder 12"/>
          <p:cNvSpPr>
            <a:spLocks noGrp="1"/>
          </p:cNvSpPr>
          <p:nvPr>
            <p:ph type="body" sz="quarter" idx="47"/>
          </p:nvPr>
        </p:nvSpPr>
        <p:spPr>
          <a:xfrm>
            <a:off x="625653" y="296088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3" name="Text Placeholder 12"/>
          <p:cNvSpPr>
            <a:spLocks noGrp="1"/>
          </p:cNvSpPr>
          <p:nvPr>
            <p:ph type="body" sz="quarter" idx="48"/>
          </p:nvPr>
        </p:nvSpPr>
        <p:spPr>
          <a:xfrm>
            <a:off x="625653" y="332619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4" name="Text Placeholder 12"/>
          <p:cNvSpPr>
            <a:spLocks noGrp="1"/>
          </p:cNvSpPr>
          <p:nvPr>
            <p:ph type="body" sz="quarter" idx="49"/>
          </p:nvPr>
        </p:nvSpPr>
        <p:spPr>
          <a:xfrm>
            <a:off x="625653" y="369150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5" name="Text Placeholder 12"/>
          <p:cNvSpPr>
            <a:spLocks noGrp="1"/>
          </p:cNvSpPr>
          <p:nvPr>
            <p:ph type="body" sz="quarter" idx="50"/>
          </p:nvPr>
        </p:nvSpPr>
        <p:spPr>
          <a:xfrm>
            <a:off x="625653" y="405681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6" name="Text Placeholder 12"/>
          <p:cNvSpPr>
            <a:spLocks noGrp="1"/>
          </p:cNvSpPr>
          <p:nvPr>
            <p:ph type="body" sz="quarter" idx="51"/>
          </p:nvPr>
        </p:nvSpPr>
        <p:spPr>
          <a:xfrm>
            <a:off x="625653" y="5152742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7" name="Text Placeholder 12"/>
          <p:cNvSpPr>
            <a:spLocks noGrp="1"/>
          </p:cNvSpPr>
          <p:nvPr>
            <p:ph type="body" sz="quarter" idx="52"/>
          </p:nvPr>
        </p:nvSpPr>
        <p:spPr>
          <a:xfrm>
            <a:off x="625653" y="442212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8" name="Text Placeholder 12"/>
          <p:cNvSpPr>
            <a:spLocks noGrp="1"/>
          </p:cNvSpPr>
          <p:nvPr>
            <p:ph type="body" sz="quarter" idx="53"/>
          </p:nvPr>
        </p:nvSpPr>
        <p:spPr>
          <a:xfrm>
            <a:off x="625653" y="478743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9" name="Text Placeholder 12"/>
          <p:cNvSpPr>
            <a:spLocks noGrp="1"/>
          </p:cNvSpPr>
          <p:nvPr>
            <p:ph type="body" sz="quarter" idx="54"/>
          </p:nvPr>
        </p:nvSpPr>
        <p:spPr>
          <a:xfrm>
            <a:off x="2083023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94301C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0" name="Text Placeholder 12"/>
          <p:cNvSpPr>
            <a:spLocks noGrp="1"/>
          </p:cNvSpPr>
          <p:nvPr>
            <p:ph type="body" sz="quarter" idx="55"/>
          </p:nvPr>
        </p:nvSpPr>
        <p:spPr>
          <a:xfrm>
            <a:off x="2937751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1" name="Text Placeholder 12"/>
          <p:cNvSpPr>
            <a:spLocks noGrp="1"/>
          </p:cNvSpPr>
          <p:nvPr>
            <p:ph type="body" sz="quarter" idx="56"/>
          </p:nvPr>
        </p:nvSpPr>
        <p:spPr>
          <a:xfrm>
            <a:off x="3800271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2" name="Text Placeholder 12"/>
          <p:cNvSpPr>
            <a:spLocks noGrp="1"/>
          </p:cNvSpPr>
          <p:nvPr>
            <p:ph type="body" sz="quarter" idx="57"/>
          </p:nvPr>
        </p:nvSpPr>
        <p:spPr>
          <a:xfrm>
            <a:off x="4662791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3" name="Text Placeholder 12"/>
          <p:cNvSpPr>
            <a:spLocks noGrp="1"/>
          </p:cNvSpPr>
          <p:nvPr>
            <p:ph type="body" sz="quarter" idx="58"/>
          </p:nvPr>
        </p:nvSpPr>
        <p:spPr>
          <a:xfrm>
            <a:off x="5518824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4" name="Text Placeholder 12"/>
          <p:cNvSpPr>
            <a:spLocks noGrp="1"/>
          </p:cNvSpPr>
          <p:nvPr>
            <p:ph type="body" sz="quarter" idx="59"/>
          </p:nvPr>
        </p:nvSpPr>
        <p:spPr>
          <a:xfrm>
            <a:off x="6394315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5" name="Text Placeholder 12"/>
          <p:cNvSpPr>
            <a:spLocks noGrp="1"/>
          </p:cNvSpPr>
          <p:nvPr>
            <p:ph type="body" sz="quarter" idx="60"/>
          </p:nvPr>
        </p:nvSpPr>
        <p:spPr>
          <a:xfrm>
            <a:off x="7250347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6" name="Text Placeholder 12"/>
          <p:cNvSpPr>
            <a:spLocks noGrp="1"/>
          </p:cNvSpPr>
          <p:nvPr>
            <p:ph type="body" sz="quarter" idx="61"/>
          </p:nvPr>
        </p:nvSpPr>
        <p:spPr>
          <a:xfrm>
            <a:off x="8112867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7" name="Text Placeholder 12"/>
          <p:cNvSpPr>
            <a:spLocks noGrp="1"/>
          </p:cNvSpPr>
          <p:nvPr>
            <p:ph type="body" sz="quarter" idx="62"/>
          </p:nvPr>
        </p:nvSpPr>
        <p:spPr>
          <a:xfrm>
            <a:off x="8975387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8" name="Text Placeholder 12"/>
          <p:cNvSpPr>
            <a:spLocks noGrp="1"/>
          </p:cNvSpPr>
          <p:nvPr>
            <p:ph type="body" sz="quarter" idx="63"/>
          </p:nvPr>
        </p:nvSpPr>
        <p:spPr>
          <a:xfrm>
            <a:off x="9844389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9" name="Text Placeholder 12"/>
          <p:cNvSpPr>
            <a:spLocks noGrp="1"/>
          </p:cNvSpPr>
          <p:nvPr>
            <p:ph type="body" sz="quarter" idx="64"/>
          </p:nvPr>
        </p:nvSpPr>
        <p:spPr>
          <a:xfrm>
            <a:off x="10700424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9" name="Text Placeholder 178"/>
          <p:cNvSpPr>
            <a:spLocks noGrp="1"/>
          </p:cNvSpPr>
          <p:nvPr>
            <p:ph type="body" sz="quarter" idx="65"/>
          </p:nvPr>
        </p:nvSpPr>
        <p:spPr>
          <a:xfrm>
            <a:off x="2061633" y="2321700"/>
            <a:ext cx="12192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0" name="Text Placeholder 178"/>
          <p:cNvSpPr>
            <a:spLocks noGrp="1"/>
          </p:cNvSpPr>
          <p:nvPr>
            <p:ph type="body" sz="quarter" idx="66"/>
          </p:nvPr>
        </p:nvSpPr>
        <p:spPr>
          <a:xfrm>
            <a:off x="2061633" y="2687010"/>
            <a:ext cx="24384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1" name="Text Placeholder 178"/>
          <p:cNvSpPr>
            <a:spLocks noGrp="1"/>
          </p:cNvSpPr>
          <p:nvPr>
            <p:ph type="body" sz="quarter" idx="67"/>
          </p:nvPr>
        </p:nvSpPr>
        <p:spPr>
          <a:xfrm>
            <a:off x="2061633" y="3052320"/>
            <a:ext cx="36576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2" name="Text Placeholder 178"/>
          <p:cNvSpPr>
            <a:spLocks noGrp="1"/>
          </p:cNvSpPr>
          <p:nvPr>
            <p:ph type="body" sz="quarter" idx="68"/>
          </p:nvPr>
        </p:nvSpPr>
        <p:spPr>
          <a:xfrm>
            <a:off x="2061633" y="3417630"/>
            <a:ext cx="48768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3" name="Text Placeholder 178"/>
          <p:cNvSpPr>
            <a:spLocks noGrp="1"/>
          </p:cNvSpPr>
          <p:nvPr>
            <p:ph type="body" sz="quarter" idx="69"/>
          </p:nvPr>
        </p:nvSpPr>
        <p:spPr>
          <a:xfrm>
            <a:off x="2061633" y="3782940"/>
            <a:ext cx="60960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4" name="Text Placeholder 178"/>
          <p:cNvSpPr>
            <a:spLocks noGrp="1"/>
          </p:cNvSpPr>
          <p:nvPr>
            <p:ph type="body" sz="quarter" idx="70"/>
          </p:nvPr>
        </p:nvSpPr>
        <p:spPr>
          <a:xfrm>
            <a:off x="2061633" y="4148250"/>
            <a:ext cx="12192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5" name="Text Placeholder 178"/>
          <p:cNvSpPr>
            <a:spLocks noGrp="1"/>
          </p:cNvSpPr>
          <p:nvPr>
            <p:ph type="body" sz="quarter" idx="71"/>
          </p:nvPr>
        </p:nvSpPr>
        <p:spPr>
          <a:xfrm>
            <a:off x="2061633" y="4513560"/>
            <a:ext cx="24384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6" name="Text Placeholder 178"/>
          <p:cNvSpPr>
            <a:spLocks noGrp="1"/>
          </p:cNvSpPr>
          <p:nvPr>
            <p:ph type="body" sz="quarter" idx="72"/>
          </p:nvPr>
        </p:nvSpPr>
        <p:spPr>
          <a:xfrm>
            <a:off x="2061633" y="4878870"/>
            <a:ext cx="36576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7" name="Text Placeholder 178"/>
          <p:cNvSpPr>
            <a:spLocks noGrp="1"/>
          </p:cNvSpPr>
          <p:nvPr>
            <p:ph type="body" sz="quarter" idx="73"/>
          </p:nvPr>
        </p:nvSpPr>
        <p:spPr>
          <a:xfrm>
            <a:off x="2061633" y="5244182"/>
            <a:ext cx="48768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8" name="Text Placeholder 178"/>
          <p:cNvSpPr>
            <a:spLocks noGrp="1"/>
          </p:cNvSpPr>
          <p:nvPr>
            <p:ph type="body" sz="quarter" idx="74"/>
          </p:nvPr>
        </p:nvSpPr>
        <p:spPr>
          <a:xfrm>
            <a:off x="4582160" y="5562600"/>
            <a:ext cx="182880" cy="137160"/>
          </a:xfrm>
          <a:prstGeom prst="flowChartExtra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>
              <a:buNone/>
              <a:defRPr sz="8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0" name="Text Placeholder 12"/>
          <p:cNvSpPr>
            <a:spLocks noGrp="1"/>
          </p:cNvSpPr>
          <p:nvPr>
            <p:ph type="body" sz="quarter" idx="76"/>
          </p:nvPr>
        </p:nvSpPr>
        <p:spPr>
          <a:xfrm>
            <a:off x="4064000" y="5817472"/>
            <a:ext cx="1219200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1" name="Text Placeholder 178"/>
          <p:cNvSpPr>
            <a:spLocks noGrp="1"/>
          </p:cNvSpPr>
          <p:nvPr>
            <p:ph type="body" sz="quarter" idx="77"/>
          </p:nvPr>
        </p:nvSpPr>
        <p:spPr>
          <a:xfrm>
            <a:off x="7140089" y="5562600"/>
            <a:ext cx="182880" cy="137160"/>
          </a:xfrm>
          <a:prstGeom prst="flowChartExtra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>
              <a:buNone/>
              <a:defRPr sz="8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2" name="Text Placeholder 12"/>
          <p:cNvSpPr>
            <a:spLocks noGrp="1"/>
          </p:cNvSpPr>
          <p:nvPr>
            <p:ph type="body" sz="quarter" idx="78"/>
          </p:nvPr>
        </p:nvSpPr>
        <p:spPr>
          <a:xfrm>
            <a:off x="6621929" y="5817472"/>
            <a:ext cx="1219200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8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1" name="Slide Number Placeholder 9"/>
          <p:cNvSpPr>
            <a:spLocks noGrp="1"/>
          </p:cNvSpPr>
          <p:nvPr>
            <p:ph type="sldNum" sz="quarter" idx="79"/>
          </p:nvPr>
        </p:nvSpPr>
        <p:spPr/>
        <p:txBody>
          <a:bodyPr/>
          <a:lstStyle>
            <a:lvl1pPr>
              <a:defRPr/>
            </a:lvl1pPr>
          </a:lstStyle>
          <a:p>
            <a:fld id="{D003C6ED-C4A5-154D-A951-DFA096D6467B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02" name="Footer Placeholder 79"/>
          <p:cNvSpPr>
            <a:spLocks noGrp="1"/>
          </p:cNvSpPr>
          <p:nvPr>
            <p:ph type="ftr" sz="quarter" idx="8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Taxation of C Corporations</a:t>
            </a:r>
          </a:p>
        </p:txBody>
      </p:sp>
    </p:spTree>
    <p:extLst>
      <p:ext uri="{BB962C8B-B14F-4D97-AF65-F5344CB8AC3E}">
        <p14:creationId xmlns:p14="http://schemas.microsoft.com/office/powerpoint/2010/main" val="806443883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7"/>
          <p:cNvCxnSpPr>
            <a:cxnSpLocks noChangeShapeType="1"/>
          </p:cNvCxnSpPr>
          <p:nvPr userDrawn="1"/>
        </p:nvCxnSpPr>
        <p:spPr bwMode="auto">
          <a:xfrm>
            <a:off x="2372785" y="5981700"/>
            <a:ext cx="7327900" cy="1588"/>
          </a:xfrm>
          <a:prstGeom prst="line">
            <a:avLst/>
          </a:prstGeom>
          <a:noFill/>
          <a:ln w="9525">
            <a:solidFill>
              <a:srgbClr val="66666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2389717" y="5453936"/>
            <a:ext cx="7315200" cy="474325"/>
          </a:xfrm>
          <a:prstGeom prst="rect">
            <a:avLst/>
          </a:prstGeom>
        </p:spPr>
        <p:txBody>
          <a:bodyPr/>
          <a:lstStyle>
            <a:lvl1pPr algn="l">
              <a:defRPr sz="12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1166755"/>
            <a:ext cx="7315200" cy="419268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en-US" noProof="0"/>
              <a:t>Drag picture to placeholder or click icon to add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6042020"/>
            <a:ext cx="7315200" cy="31128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000" i="1">
                <a:solidFill>
                  <a:srgbClr val="4D4D4D"/>
                </a:solidFill>
                <a:latin typeface="Times New Roman" pitchFamily="18" charset="0"/>
                <a:cs typeface="Times New Roman" pitchFamily="18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10"/>
          </p:nvPr>
        </p:nvSpPr>
        <p:spPr>
          <a:xfrm>
            <a:off x="1026004" y="0"/>
            <a:ext cx="10139992" cy="896112"/>
          </a:xfrm>
          <a:prstGeom prst="rect">
            <a:avLst/>
          </a:prstGeom>
        </p:spPr>
        <p:txBody>
          <a:bodyPr anchor="b"/>
          <a:lstStyle>
            <a:lvl1pPr>
              <a:buNone/>
              <a:defRPr sz="22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614CE4E3-D3DE-AB41-A281-30813EB5473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2" name="Footer Placeholder 9"/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Taxation of C Corporations</a:t>
            </a:r>
          </a:p>
        </p:txBody>
      </p:sp>
    </p:spTree>
    <p:extLst>
      <p:ext uri="{BB962C8B-B14F-4D97-AF65-F5344CB8AC3E}">
        <p14:creationId xmlns:p14="http://schemas.microsoft.com/office/powerpoint/2010/main" val="1355934799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11"/>
          <p:cNvSpPr>
            <a:spLocks noGrp="1"/>
          </p:cNvSpPr>
          <p:nvPr>
            <p:ph type="body" sz="quarter" idx="11"/>
          </p:nvPr>
        </p:nvSpPr>
        <p:spPr>
          <a:xfrm>
            <a:off x="603254" y="14478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11"/>
          <p:cNvSpPr>
            <a:spLocks noGrp="1"/>
          </p:cNvSpPr>
          <p:nvPr>
            <p:ph type="body" sz="quarter" idx="12"/>
          </p:nvPr>
        </p:nvSpPr>
        <p:spPr>
          <a:xfrm>
            <a:off x="603254" y="26670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11"/>
          <p:cNvSpPr>
            <a:spLocks noGrp="1"/>
          </p:cNvSpPr>
          <p:nvPr>
            <p:ph type="body" sz="quarter" idx="13"/>
          </p:nvPr>
        </p:nvSpPr>
        <p:spPr>
          <a:xfrm>
            <a:off x="603254" y="51054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1"/>
          <p:cNvSpPr>
            <a:spLocks noGrp="1"/>
          </p:cNvSpPr>
          <p:nvPr>
            <p:ph type="body" sz="quarter" idx="14"/>
          </p:nvPr>
        </p:nvSpPr>
        <p:spPr>
          <a:xfrm>
            <a:off x="9337923" y="14478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5"/>
          </p:nvPr>
        </p:nvSpPr>
        <p:spPr>
          <a:xfrm>
            <a:off x="9337923" y="26670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1"/>
          <p:cNvSpPr>
            <a:spLocks noGrp="1"/>
          </p:cNvSpPr>
          <p:nvPr>
            <p:ph type="body" sz="quarter" idx="16"/>
          </p:nvPr>
        </p:nvSpPr>
        <p:spPr>
          <a:xfrm>
            <a:off x="9337923" y="38862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1"/>
          <p:cNvSpPr>
            <a:spLocks noGrp="1"/>
          </p:cNvSpPr>
          <p:nvPr>
            <p:ph type="body" sz="quarter" idx="17"/>
          </p:nvPr>
        </p:nvSpPr>
        <p:spPr>
          <a:xfrm>
            <a:off x="9337923" y="51054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11"/>
          <p:cNvSpPr>
            <a:spLocks noGrp="1"/>
          </p:cNvSpPr>
          <p:nvPr>
            <p:ph type="body" sz="quarter" idx="18"/>
          </p:nvPr>
        </p:nvSpPr>
        <p:spPr>
          <a:xfrm>
            <a:off x="603254" y="38862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Slide Number Placeholder 9"/>
          <p:cNvSpPr>
            <a:spLocks noGrp="1"/>
          </p:cNvSpPr>
          <p:nvPr>
            <p:ph type="sldNum" sz="quarter" idx="19"/>
          </p:nvPr>
        </p:nvSpPr>
        <p:spPr/>
        <p:txBody>
          <a:bodyPr/>
          <a:lstStyle>
            <a:lvl1pPr>
              <a:defRPr/>
            </a:lvl1pPr>
          </a:lstStyle>
          <a:p>
            <a:fld id="{1B28FF10-2575-714D-9D0B-AB6D45C94EAE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7" name="Footer Placeholder 12"/>
          <p:cNvSpPr>
            <a:spLocks noGrp="1"/>
          </p:cNvSpPr>
          <p:nvPr>
            <p:ph type="ftr" sz="quarter" idx="2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Taxation of C Corporations</a:t>
            </a:r>
          </a:p>
        </p:txBody>
      </p:sp>
    </p:spTree>
    <p:extLst>
      <p:ext uri="{BB962C8B-B14F-4D97-AF65-F5344CB8AC3E}">
        <p14:creationId xmlns:p14="http://schemas.microsoft.com/office/powerpoint/2010/main" val="70181634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p with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8212506" y="1419225"/>
            <a:ext cx="3376247" cy="48006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rgbClr val="B01C2E"/>
              </a:buClr>
              <a:buFont typeface="Wingdings 2" pitchFamily="18" charset="2"/>
              <a:buChar char=""/>
              <a:defRPr sz="1100"/>
            </a:lvl1pPr>
            <a:lvl2pPr marL="457200" indent="-228600">
              <a:buClr>
                <a:srgbClr val="B01C2E"/>
              </a:buClr>
              <a:buSzPct val="125000"/>
              <a:buFont typeface="Arial" pitchFamily="34" charset="0"/>
              <a:buChar char="•"/>
              <a:defRPr sz="1100"/>
            </a:lvl2pPr>
            <a:lvl3pPr marL="685800">
              <a:buClr>
                <a:srgbClr val="B01C2E"/>
              </a:buClr>
              <a:buFont typeface="Arial" pitchFamily="34" charset="0"/>
              <a:buChar char="–"/>
              <a:defRPr sz="1100"/>
            </a:lvl3pPr>
            <a:lvl4pPr marL="914400">
              <a:buClr>
                <a:srgbClr val="B01C2E"/>
              </a:buClr>
              <a:buFont typeface="Arial" pitchFamily="34" charset="0"/>
              <a:buChar char="–"/>
              <a:defRPr sz="1100"/>
            </a:lvl4pPr>
            <a:lvl5pPr marL="1143000">
              <a:buClr>
                <a:srgbClr val="B01C2E"/>
              </a:buClr>
              <a:buFont typeface="Arial" pitchFamily="34" charset="0"/>
              <a:buChar char="–"/>
              <a:defRPr sz="11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3B598768-D1F4-594C-B51E-99B1ED06033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6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Taxation of C Corporations</a:t>
            </a:r>
          </a:p>
        </p:txBody>
      </p:sp>
    </p:spTree>
    <p:extLst>
      <p:ext uri="{BB962C8B-B14F-4D97-AF65-F5344CB8AC3E}">
        <p14:creationId xmlns:p14="http://schemas.microsoft.com/office/powerpoint/2010/main" val="946923664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4766735" y="1419225"/>
            <a:ext cx="6815667" cy="4706938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rgbClr val="B01C2E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rgbClr val="B01C2E"/>
              </a:buClr>
              <a:buSzPct val="125000"/>
              <a:buFont typeface="Arial" pitchFamily="34" charset="0"/>
              <a:buChar char="•"/>
              <a:defRPr sz="1200"/>
            </a:lvl2pPr>
            <a:lvl3pPr marL="685800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19226"/>
            <a:ext cx="3891064" cy="47069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i="1">
                <a:solidFill>
                  <a:srgbClr val="666666"/>
                </a:solidFill>
                <a:latin typeface="Times New Roman" pitchFamily="18" charset="0"/>
                <a:cs typeface="Times New Roman" pitchFamily="18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219B113F-1BA8-CA4E-A6B3-92D1D8C0C887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9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Taxation of C Corporations</a:t>
            </a:r>
          </a:p>
        </p:txBody>
      </p:sp>
    </p:spTree>
    <p:extLst>
      <p:ext uri="{BB962C8B-B14F-4D97-AF65-F5344CB8AC3E}">
        <p14:creationId xmlns:p14="http://schemas.microsoft.com/office/powerpoint/2010/main" val="650650468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ght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609601" y="1419225"/>
            <a:ext cx="6815667" cy="4706938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rgbClr val="B01C2E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rgbClr val="B01C2E"/>
              </a:buClr>
              <a:buSzPct val="125000"/>
              <a:buFont typeface="Arial" pitchFamily="34" charset="0"/>
              <a:buChar char="•"/>
              <a:defRPr sz="1200"/>
            </a:lvl2pPr>
            <a:lvl3pPr marL="685800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3"/>
          <p:cNvSpPr>
            <a:spLocks noGrp="1"/>
          </p:cNvSpPr>
          <p:nvPr>
            <p:ph type="body" sz="half" idx="2"/>
          </p:nvPr>
        </p:nvSpPr>
        <p:spPr>
          <a:xfrm>
            <a:off x="7697687" y="1419226"/>
            <a:ext cx="3891064" cy="47069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i="1">
                <a:solidFill>
                  <a:srgbClr val="666666"/>
                </a:solidFill>
                <a:latin typeface="Times New Roman" pitchFamily="18" charset="0"/>
                <a:cs typeface="Times New Roman" pitchFamily="18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524011BE-5C53-0E48-93A9-5E9857491FB1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9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Taxation of C Corporations</a:t>
            </a:r>
          </a:p>
        </p:txBody>
      </p:sp>
    </p:spTree>
    <p:extLst>
      <p:ext uri="{BB962C8B-B14F-4D97-AF65-F5344CB8AC3E}">
        <p14:creationId xmlns:p14="http://schemas.microsoft.com/office/powerpoint/2010/main" val="891282951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ttorney Bi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Line 22"/>
          <p:cNvSpPr>
            <a:spLocks noChangeShapeType="1"/>
          </p:cNvSpPr>
          <p:nvPr/>
        </p:nvSpPr>
        <p:spPr bwMode="auto">
          <a:xfrm>
            <a:off x="2768600" y="2667000"/>
            <a:ext cx="8839200" cy="0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800"/>
          </a:p>
        </p:txBody>
      </p:sp>
      <p:sp>
        <p:nvSpPr>
          <p:cNvPr id="13" name="TextBox 13"/>
          <p:cNvSpPr txBox="1">
            <a:spLocks noChangeArrowheads="1"/>
          </p:cNvSpPr>
          <p:nvPr userDrawn="1"/>
        </p:nvSpPr>
        <p:spPr bwMode="auto">
          <a:xfrm>
            <a:off x="2755900" y="1108076"/>
            <a:ext cx="4267200" cy="246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>
            <a:spAutoFit/>
          </a:bodyPr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>
              <a:defRPr/>
            </a:pPr>
            <a:r>
              <a:rPr lang="en-US" sz="1000" b="1">
                <a:solidFill>
                  <a:srgbClr val="B01C2E"/>
                </a:solidFill>
                <a:latin typeface="Arial" charset="0"/>
                <a:ea typeface="+mn-ea"/>
              </a:rPr>
              <a:t>Specialization</a:t>
            </a:r>
          </a:p>
        </p:txBody>
      </p:sp>
      <p:sp>
        <p:nvSpPr>
          <p:cNvPr id="14" name="TextBox 14"/>
          <p:cNvSpPr txBox="1">
            <a:spLocks noChangeArrowheads="1"/>
          </p:cNvSpPr>
          <p:nvPr userDrawn="1"/>
        </p:nvSpPr>
        <p:spPr bwMode="auto">
          <a:xfrm>
            <a:off x="7340600" y="1108076"/>
            <a:ext cx="4267200" cy="246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>
            <a:spAutoFit/>
          </a:bodyPr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>
              <a:defRPr/>
            </a:pPr>
            <a:r>
              <a:rPr lang="en-US" sz="1000" b="1">
                <a:solidFill>
                  <a:srgbClr val="B01C2E"/>
                </a:solidFill>
                <a:latin typeface="Arial" charset="0"/>
                <a:ea typeface="+mn-ea"/>
              </a:rPr>
              <a:t>Education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7"/>
          </p:nvPr>
        </p:nvSpPr>
        <p:spPr>
          <a:xfrm>
            <a:off x="2756408" y="2743200"/>
            <a:ext cx="8851392" cy="3429000"/>
          </a:xfrm>
          <a:prstGeom prst="rect">
            <a:avLst/>
          </a:prstGeom>
          <a:ln>
            <a:noFill/>
          </a:ln>
        </p:spPr>
        <p:txBody>
          <a:bodyPr lIns="27432" anchor="t"/>
          <a:lstStyle>
            <a:lvl1pPr marL="0" indent="0" algn="l">
              <a:lnSpc>
                <a:spcPts val="1200"/>
              </a:lnSpc>
              <a:spcBef>
                <a:spcPts val="0"/>
              </a:spcBef>
              <a:spcAft>
                <a:spcPts val="600"/>
              </a:spcAft>
              <a:buFont typeface="Arial" pitchFamily="34" charset="0"/>
              <a:buChar char=" "/>
              <a:defRPr sz="1000" b="0" baseline="0">
                <a:latin typeface="+mn-lt"/>
              </a:defRPr>
            </a:lvl1pPr>
            <a:lvl2pPr marL="0" indent="0">
              <a:lnSpc>
                <a:spcPts val="1200"/>
              </a:lnSpc>
              <a:spcBef>
                <a:spcPts val="0"/>
              </a:spcBef>
              <a:spcAft>
                <a:spcPts val="1200"/>
              </a:spcAft>
              <a:buFont typeface="Arial" pitchFamily="34" charset="0"/>
              <a:buChar char=" "/>
              <a:defRPr sz="1000" b="1" baseline="0">
                <a:solidFill>
                  <a:srgbClr val="666666"/>
                </a:solidFill>
                <a:latin typeface="Arial" pitchFamily="34" charset="0"/>
              </a:defRPr>
            </a:lvl2pPr>
            <a:lvl3pPr marL="228600" indent="-228600">
              <a:buClr>
                <a:srgbClr val="B01C2E"/>
              </a:buClr>
              <a:buFont typeface="Wingdings 2" pitchFamily="18" charset="2"/>
              <a:buChar char="¡"/>
              <a:defRPr sz="1000" baseline="0">
                <a:latin typeface="Arial" pitchFamily="34" charset="0"/>
              </a:defRPr>
            </a:lvl3pPr>
            <a:lvl4pPr marL="457200" indent="-228600">
              <a:buClr>
                <a:srgbClr val="B01C2E"/>
              </a:buClr>
              <a:buFont typeface="Arial" pitchFamily="34" charset="0"/>
              <a:buChar char="–"/>
              <a:defRPr sz="1000" baseline="0">
                <a:latin typeface="Arial" pitchFamily="34" charset="0"/>
              </a:defRPr>
            </a:lvl4pPr>
            <a:lvl5pPr marL="685800" indent="-228600">
              <a:buClr>
                <a:srgbClr val="B01C2E"/>
              </a:buClr>
              <a:buFont typeface="Arial" pitchFamily="34" charset="0"/>
              <a:buChar char="–"/>
              <a:defRPr sz="10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 baseline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Picture Placeholder 9"/>
          <p:cNvSpPr>
            <a:spLocks noGrp="1"/>
          </p:cNvSpPr>
          <p:nvPr>
            <p:ph type="pic" sz="quarter" idx="13"/>
          </p:nvPr>
        </p:nvSpPr>
        <p:spPr>
          <a:xfrm>
            <a:off x="607483" y="1108074"/>
            <a:ext cx="1560576" cy="1563624"/>
          </a:xfrm>
          <a:prstGeom prst="rect">
            <a:avLst/>
          </a:prstGeom>
        </p:spPr>
        <p:txBody>
          <a:bodyPr/>
          <a:lstStyle>
            <a:lvl1pPr>
              <a:buFont typeface="Wingdings 2" pitchFamily="18" charset="2"/>
              <a:buChar char=""/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22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607487" y="2722996"/>
            <a:ext cx="2034116" cy="553604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ts val="1000"/>
              </a:lnSpc>
              <a:buNone/>
              <a:defRPr sz="1000" b="0" baseline="0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2"/>
          <p:cNvSpPr>
            <a:spLocks noGrp="1"/>
          </p:cNvSpPr>
          <p:nvPr>
            <p:ph type="body" sz="quarter" idx="37"/>
          </p:nvPr>
        </p:nvSpPr>
        <p:spPr>
          <a:xfrm>
            <a:off x="7340600" y="2144554"/>
            <a:ext cx="4267200" cy="246888"/>
          </a:xfrm>
          <a:prstGeom prst="rect">
            <a:avLst/>
          </a:prstGeom>
          <a:ln w="6350">
            <a:noFill/>
          </a:ln>
        </p:spPr>
        <p:txBody>
          <a:bodyPr lIns="27432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None/>
              <a:defRPr sz="1000" b="1" baseline="0">
                <a:solidFill>
                  <a:srgbClr val="B01C2E"/>
                </a:solidFill>
              </a:defRPr>
            </a:lvl1pPr>
            <a:lvl2pPr marL="118872" indent="-118872">
              <a:buClr>
                <a:srgbClr val="B01C2E"/>
              </a:buClr>
              <a:buFont typeface="Wingdings 2" pitchFamily="18" charset="2"/>
              <a:buNone/>
              <a:defRPr sz="1000" b="1" baseline="0">
                <a:solidFill>
                  <a:srgbClr val="B01C2E"/>
                </a:solidFill>
              </a:defRPr>
            </a:lvl2pPr>
            <a:lvl3pPr marL="0" indent="-118872" algn="l" defTabSz="914400" rtl="0" eaLnBrk="1" latinLnBrk="0" hangingPunct="1">
              <a:lnSpc>
                <a:spcPct val="95000"/>
              </a:lnSpc>
              <a:spcBef>
                <a:spcPts val="0"/>
              </a:spcBef>
              <a:spcAft>
                <a:spcPts val="240"/>
              </a:spcAft>
              <a:buClr>
                <a:srgbClr val="B01C2E"/>
              </a:buClr>
              <a:buFont typeface="Wingdings 2" pitchFamily="18" charset="2"/>
              <a:buNone/>
              <a:defRPr lang="en-US" sz="1000" b="1" kern="1200" baseline="0" dirty="0" smtClean="0">
                <a:solidFill>
                  <a:srgbClr val="B01C2E"/>
                </a:solidFill>
                <a:latin typeface="+mn-lt"/>
                <a:ea typeface="+mn-ea"/>
                <a:cs typeface="+mn-cs"/>
              </a:defRPr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12"/>
          <p:cNvSpPr>
            <a:spLocks noGrp="1"/>
          </p:cNvSpPr>
          <p:nvPr>
            <p:ph type="body" sz="quarter" idx="39"/>
          </p:nvPr>
        </p:nvSpPr>
        <p:spPr>
          <a:xfrm>
            <a:off x="2756408" y="2144554"/>
            <a:ext cx="4267200" cy="246888"/>
          </a:xfrm>
          <a:prstGeom prst="rect">
            <a:avLst/>
          </a:prstGeom>
          <a:ln w="6350">
            <a:noFill/>
          </a:ln>
        </p:spPr>
        <p:txBody>
          <a:bodyPr lIns="27432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None/>
              <a:defRPr sz="1000" b="1" baseline="0">
                <a:solidFill>
                  <a:srgbClr val="B01C2E"/>
                </a:solidFill>
              </a:defRPr>
            </a:lvl1pPr>
            <a:lvl2pPr marL="118872" indent="-118872">
              <a:buClr>
                <a:srgbClr val="B01C2E"/>
              </a:buClr>
              <a:buFont typeface="Wingdings 2" pitchFamily="18" charset="2"/>
              <a:buNone/>
              <a:defRPr sz="1000" b="1" baseline="0">
                <a:solidFill>
                  <a:srgbClr val="B01C2E"/>
                </a:solidFill>
              </a:defRPr>
            </a:lvl2pPr>
            <a:lvl3pPr marL="0" indent="-118872" algn="l" defTabSz="914400" rtl="0" eaLnBrk="1" latinLnBrk="0" hangingPunct="1">
              <a:lnSpc>
                <a:spcPct val="95000"/>
              </a:lnSpc>
              <a:spcBef>
                <a:spcPts val="0"/>
              </a:spcBef>
              <a:spcAft>
                <a:spcPts val="240"/>
              </a:spcAft>
              <a:buClr>
                <a:srgbClr val="B01C2E"/>
              </a:buClr>
              <a:buFont typeface="Wingdings 2" pitchFamily="18" charset="2"/>
              <a:buNone/>
              <a:defRPr lang="en-US" sz="1000" b="1" kern="1200" baseline="0" dirty="0" smtClean="0">
                <a:solidFill>
                  <a:srgbClr val="B01C2E"/>
                </a:solidFill>
                <a:latin typeface="+mn-lt"/>
                <a:ea typeface="+mn-ea"/>
                <a:cs typeface="+mn-cs"/>
              </a:defRPr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16"/>
          <p:cNvSpPr>
            <a:spLocks noGrp="1"/>
          </p:cNvSpPr>
          <p:nvPr>
            <p:ph type="body" sz="quarter" idx="41"/>
          </p:nvPr>
        </p:nvSpPr>
        <p:spPr>
          <a:xfrm>
            <a:off x="2756408" y="2308860"/>
            <a:ext cx="4267200" cy="347472"/>
          </a:xfrm>
          <a:prstGeom prst="rect">
            <a:avLst/>
          </a:prstGeom>
          <a:ln>
            <a:noFill/>
          </a:ln>
        </p:spPr>
        <p:txBody>
          <a:bodyPr lIns="27432" anchor="t"/>
          <a:lstStyle>
            <a:lvl1pPr marL="0" indent="0" algn="l">
              <a:lnSpc>
                <a:spcPct val="95000"/>
              </a:lnSpc>
              <a:spcBef>
                <a:spcPts val="0"/>
              </a:spcBef>
              <a:spcAft>
                <a:spcPts val="240"/>
              </a:spcAft>
              <a:buNone/>
              <a:defRPr sz="1000" b="0" baseline="0">
                <a:latin typeface="+mn-lt"/>
              </a:defRPr>
            </a:lvl1pPr>
            <a:lvl2pPr>
              <a:defRPr sz="1200" baseline="0">
                <a:latin typeface="Arial" pitchFamily="34" charset="0"/>
              </a:defRPr>
            </a:lvl2pPr>
            <a:lvl3pPr>
              <a:defRPr sz="1200" baseline="0">
                <a:latin typeface="Arial" pitchFamily="34" charset="0"/>
              </a:defRPr>
            </a:lvl3pPr>
            <a:lvl4pPr>
              <a:defRPr sz="1200" baseline="0">
                <a:latin typeface="Arial" pitchFamily="34" charset="0"/>
              </a:defRPr>
            </a:lvl4pPr>
            <a:lvl5pPr>
              <a:defRPr sz="12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16"/>
          <p:cNvSpPr>
            <a:spLocks noGrp="1"/>
          </p:cNvSpPr>
          <p:nvPr>
            <p:ph type="body" sz="quarter" idx="42"/>
          </p:nvPr>
        </p:nvSpPr>
        <p:spPr>
          <a:xfrm>
            <a:off x="7340600" y="2308860"/>
            <a:ext cx="4267200" cy="347472"/>
          </a:xfrm>
          <a:prstGeom prst="rect">
            <a:avLst/>
          </a:prstGeom>
          <a:ln>
            <a:noFill/>
          </a:ln>
        </p:spPr>
        <p:txBody>
          <a:bodyPr lIns="27432" anchor="t"/>
          <a:lstStyle>
            <a:lvl1pPr marL="0" indent="0" algn="l">
              <a:lnSpc>
                <a:spcPct val="95000"/>
              </a:lnSpc>
              <a:spcBef>
                <a:spcPts val="0"/>
              </a:spcBef>
              <a:spcAft>
                <a:spcPts val="240"/>
              </a:spcAft>
              <a:buNone/>
              <a:defRPr sz="1000" b="0" baseline="0">
                <a:latin typeface="+mn-lt"/>
              </a:defRPr>
            </a:lvl1pPr>
            <a:lvl2pPr>
              <a:defRPr sz="1200" baseline="0">
                <a:latin typeface="Arial" pitchFamily="34" charset="0"/>
              </a:defRPr>
            </a:lvl2pPr>
            <a:lvl3pPr>
              <a:defRPr sz="1200" baseline="0">
                <a:latin typeface="Arial" pitchFamily="34" charset="0"/>
              </a:defRPr>
            </a:lvl3pPr>
            <a:lvl4pPr>
              <a:defRPr sz="1200" baseline="0">
                <a:latin typeface="Arial" pitchFamily="34" charset="0"/>
              </a:defRPr>
            </a:lvl4pPr>
            <a:lvl5pPr>
              <a:defRPr sz="12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7" name="Text Placeholder 19"/>
          <p:cNvSpPr>
            <a:spLocks noGrp="1"/>
          </p:cNvSpPr>
          <p:nvPr>
            <p:ph type="body" sz="quarter" idx="29"/>
          </p:nvPr>
        </p:nvSpPr>
        <p:spPr>
          <a:xfrm>
            <a:off x="2756408" y="1295400"/>
            <a:ext cx="4267200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27432" tIns="45720" rIns="45720" bIns="45720" anchor="t">
            <a:noAutofit/>
          </a:bodyPr>
          <a:lstStyle>
            <a:lvl1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chemeClr val="accent1"/>
              </a:buClr>
              <a:buFont typeface="Wingdings 2" pitchFamily="18" charset="2"/>
              <a:buChar char=""/>
              <a:defRPr sz="1000" baseline="0">
                <a:solidFill>
                  <a:schemeClr val="tx1"/>
                </a:solidFill>
              </a:defRPr>
            </a:lvl1pPr>
            <a:lvl2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rgbClr val="B01C2E"/>
              </a:buClr>
              <a:buFont typeface="NSimSun" pitchFamily="49" charset="-122"/>
              <a:buChar char=" "/>
              <a:defRPr sz="1000" baseline="0"/>
            </a:lvl2pPr>
            <a:lvl3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rgbClr val="B01C2E"/>
              </a:buClr>
              <a:buFont typeface="Wingdings 2" pitchFamily="18" charset="2"/>
              <a:buChar char="¡"/>
              <a:defRPr sz="10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19"/>
          <p:cNvSpPr>
            <a:spLocks noGrp="1"/>
          </p:cNvSpPr>
          <p:nvPr>
            <p:ph type="body" sz="quarter" idx="43"/>
          </p:nvPr>
        </p:nvSpPr>
        <p:spPr>
          <a:xfrm>
            <a:off x="7340600" y="1295400"/>
            <a:ext cx="4267200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27432" tIns="45720" rIns="45720" bIns="45720" anchor="t">
            <a:noAutofit/>
          </a:bodyPr>
          <a:lstStyle>
            <a:lvl1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chemeClr val="accent1"/>
              </a:buClr>
              <a:buFont typeface="Wingdings 2" pitchFamily="18" charset="2"/>
              <a:buChar char=""/>
              <a:defRPr sz="1000" baseline="0">
                <a:solidFill>
                  <a:schemeClr val="tx1"/>
                </a:solidFill>
              </a:defRPr>
            </a:lvl1pPr>
            <a:lvl2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rgbClr val="B01C2E"/>
              </a:buClr>
              <a:buFont typeface="Arial" pitchFamily="34" charset="0"/>
              <a:buChar char=" "/>
              <a:defRPr sz="1000" baseline="0"/>
            </a:lvl2pPr>
            <a:lvl3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rgbClr val="B01C2E"/>
              </a:buClr>
              <a:buFont typeface="Wingdings 2" pitchFamily="18" charset="2"/>
              <a:buChar char="¡"/>
              <a:defRPr sz="10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44"/>
          </p:nvPr>
        </p:nvSpPr>
        <p:spPr/>
        <p:txBody>
          <a:bodyPr/>
          <a:lstStyle>
            <a:lvl1pPr>
              <a:defRPr/>
            </a:lvl1pPr>
          </a:lstStyle>
          <a:p>
            <a:fld id="{3D17329F-BDC0-3444-A6CB-5CFB4AFF00F8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5"/>
          <p:cNvSpPr>
            <a:spLocks noGrp="1"/>
          </p:cNvSpPr>
          <p:nvPr>
            <p:ph type="ftr" sz="quarter" idx="45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Taxation of C Corporations</a:t>
            </a:r>
          </a:p>
        </p:txBody>
      </p:sp>
    </p:spTree>
    <p:extLst>
      <p:ext uri="{BB962C8B-B14F-4D97-AF65-F5344CB8AC3E}">
        <p14:creationId xmlns:p14="http://schemas.microsoft.com/office/powerpoint/2010/main" val="2113669410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e Team with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769315" y="2982769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 baseline="0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Picture Placeholder 9"/>
          <p:cNvSpPr>
            <a:spLocks noGrp="1"/>
          </p:cNvSpPr>
          <p:nvPr>
            <p:ph type="pic" sz="quarter" idx="13"/>
          </p:nvPr>
        </p:nvSpPr>
        <p:spPr>
          <a:xfrm>
            <a:off x="769313" y="1589234"/>
            <a:ext cx="1426633" cy="1330325"/>
          </a:xfrm>
          <a:prstGeom prst="rect">
            <a:avLst/>
          </a:prstGeom>
        </p:spPr>
        <p:txBody>
          <a:bodyPr/>
          <a:lstStyle>
            <a:lvl1pPr>
              <a:buFont typeface="Wingdings 2" pitchFamily="18" charset="2"/>
              <a:buChar char=""/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7" name="Text Placeholder 11"/>
          <p:cNvSpPr>
            <a:spLocks noGrp="1"/>
          </p:cNvSpPr>
          <p:nvPr>
            <p:ph type="body" sz="quarter" idx="14"/>
          </p:nvPr>
        </p:nvSpPr>
        <p:spPr>
          <a:xfrm>
            <a:off x="623842" y="1246188"/>
            <a:ext cx="10917767" cy="228600"/>
          </a:xfrm>
          <a:prstGeom prst="rect">
            <a:avLst/>
          </a:prstGeom>
        </p:spPr>
        <p:txBody>
          <a:bodyPr/>
          <a:lstStyle>
            <a:lvl1pPr>
              <a:buFontTx/>
              <a:buNone/>
              <a:defRPr sz="1200" b="1" cap="all" baseline="0">
                <a:solidFill>
                  <a:srgbClr val="C00000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5"/>
          </p:nvPr>
        </p:nvSpPr>
        <p:spPr>
          <a:xfrm>
            <a:off x="2930625" y="2982769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spcBef>
                <a:spcPts val="0"/>
              </a:spcBef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Picture Placeholder 9"/>
          <p:cNvSpPr>
            <a:spLocks noGrp="1"/>
          </p:cNvSpPr>
          <p:nvPr>
            <p:ph type="pic" sz="quarter" idx="16"/>
          </p:nvPr>
        </p:nvSpPr>
        <p:spPr>
          <a:xfrm>
            <a:off x="2930622" y="1589234"/>
            <a:ext cx="1426633" cy="1330325"/>
          </a:xfrm>
          <a:prstGeom prst="rect">
            <a:avLst/>
          </a:prstGeom>
        </p:spPr>
        <p:txBody>
          <a:bodyPr/>
          <a:lstStyle>
            <a:lvl1pPr>
              <a:buFont typeface="Wingdings 2" pitchFamily="18" charset="2"/>
              <a:buChar char=""/>
              <a:defRPr lang="en-US" sz="1600" kern="1200" noProof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10" name="Text Placeholder 7"/>
          <p:cNvSpPr>
            <a:spLocks noGrp="1"/>
          </p:cNvSpPr>
          <p:nvPr>
            <p:ph type="body" sz="quarter" idx="17"/>
          </p:nvPr>
        </p:nvSpPr>
        <p:spPr>
          <a:xfrm>
            <a:off x="5133498" y="2982769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Picture Placeholder 9"/>
          <p:cNvSpPr>
            <a:spLocks noGrp="1"/>
          </p:cNvSpPr>
          <p:nvPr>
            <p:ph type="pic" sz="quarter" idx="18"/>
          </p:nvPr>
        </p:nvSpPr>
        <p:spPr>
          <a:xfrm>
            <a:off x="5133498" y="1589234"/>
            <a:ext cx="1426633" cy="1330325"/>
          </a:xfrm>
          <a:prstGeom prst="rect">
            <a:avLst/>
          </a:prstGeom>
        </p:spPr>
        <p:txBody>
          <a:bodyPr/>
          <a:lstStyle>
            <a:lvl1pPr>
              <a:buFont typeface="Wingdings 2" pitchFamily="18" charset="2"/>
              <a:buChar char=""/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12" name="Text Placeholder 7"/>
          <p:cNvSpPr>
            <a:spLocks noGrp="1"/>
          </p:cNvSpPr>
          <p:nvPr>
            <p:ph type="body" sz="quarter" idx="19"/>
          </p:nvPr>
        </p:nvSpPr>
        <p:spPr>
          <a:xfrm>
            <a:off x="7322517" y="2982769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Picture Placeholder 9"/>
          <p:cNvSpPr>
            <a:spLocks noGrp="1"/>
          </p:cNvSpPr>
          <p:nvPr>
            <p:ph type="pic" sz="quarter" idx="21"/>
          </p:nvPr>
        </p:nvSpPr>
        <p:spPr>
          <a:xfrm>
            <a:off x="7322514" y="1589234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14" name="Text Placeholder 7"/>
          <p:cNvSpPr>
            <a:spLocks noGrp="1"/>
          </p:cNvSpPr>
          <p:nvPr>
            <p:ph type="body" sz="quarter" idx="22"/>
          </p:nvPr>
        </p:nvSpPr>
        <p:spPr>
          <a:xfrm>
            <a:off x="9525389" y="2982769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5" name="Picture Placeholder 9"/>
          <p:cNvSpPr>
            <a:spLocks noGrp="1"/>
          </p:cNvSpPr>
          <p:nvPr>
            <p:ph type="pic" sz="quarter" idx="23"/>
          </p:nvPr>
        </p:nvSpPr>
        <p:spPr>
          <a:xfrm>
            <a:off x="9525389" y="1589234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16" name="Text Placeholder 7"/>
          <p:cNvSpPr>
            <a:spLocks noGrp="1"/>
          </p:cNvSpPr>
          <p:nvPr>
            <p:ph type="body" sz="quarter" idx="24"/>
          </p:nvPr>
        </p:nvSpPr>
        <p:spPr>
          <a:xfrm>
            <a:off x="769315" y="5320723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7" name="Picture Placeholder 9"/>
          <p:cNvSpPr>
            <a:spLocks noGrp="1"/>
          </p:cNvSpPr>
          <p:nvPr>
            <p:ph type="pic" sz="quarter" idx="25"/>
          </p:nvPr>
        </p:nvSpPr>
        <p:spPr>
          <a:xfrm>
            <a:off x="769313" y="3927187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18" name="Text Placeholder 7"/>
          <p:cNvSpPr>
            <a:spLocks noGrp="1"/>
          </p:cNvSpPr>
          <p:nvPr>
            <p:ph type="body" sz="quarter" idx="26"/>
          </p:nvPr>
        </p:nvSpPr>
        <p:spPr>
          <a:xfrm>
            <a:off x="2930625" y="5320723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spcBef>
                <a:spcPts val="0"/>
              </a:spcBef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9" name="Picture Placeholder 9"/>
          <p:cNvSpPr>
            <a:spLocks noGrp="1"/>
          </p:cNvSpPr>
          <p:nvPr>
            <p:ph type="pic" sz="quarter" idx="27"/>
          </p:nvPr>
        </p:nvSpPr>
        <p:spPr>
          <a:xfrm>
            <a:off x="2930622" y="3927187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20" name="Text Placeholder 7"/>
          <p:cNvSpPr>
            <a:spLocks noGrp="1"/>
          </p:cNvSpPr>
          <p:nvPr>
            <p:ph type="body" sz="quarter" idx="28"/>
          </p:nvPr>
        </p:nvSpPr>
        <p:spPr>
          <a:xfrm>
            <a:off x="5133498" y="5320723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1" name="Picture Placeholder 9"/>
          <p:cNvSpPr>
            <a:spLocks noGrp="1"/>
          </p:cNvSpPr>
          <p:nvPr>
            <p:ph type="pic" sz="quarter" idx="29"/>
          </p:nvPr>
        </p:nvSpPr>
        <p:spPr>
          <a:xfrm>
            <a:off x="5133498" y="3927187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22" name="Text Placeholder 7"/>
          <p:cNvSpPr>
            <a:spLocks noGrp="1"/>
          </p:cNvSpPr>
          <p:nvPr>
            <p:ph type="body" sz="quarter" idx="30"/>
          </p:nvPr>
        </p:nvSpPr>
        <p:spPr>
          <a:xfrm>
            <a:off x="7322517" y="5320723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3" name="Picture Placeholder 9"/>
          <p:cNvSpPr>
            <a:spLocks noGrp="1"/>
          </p:cNvSpPr>
          <p:nvPr>
            <p:ph type="pic" sz="quarter" idx="31"/>
          </p:nvPr>
        </p:nvSpPr>
        <p:spPr>
          <a:xfrm>
            <a:off x="7322514" y="3927187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24" name="Text Placeholder 7"/>
          <p:cNvSpPr>
            <a:spLocks noGrp="1"/>
          </p:cNvSpPr>
          <p:nvPr>
            <p:ph type="body" sz="quarter" idx="32"/>
          </p:nvPr>
        </p:nvSpPr>
        <p:spPr>
          <a:xfrm>
            <a:off x="9525389" y="5320723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5" name="Picture Placeholder 9"/>
          <p:cNvSpPr>
            <a:spLocks noGrp="1"/>
          </p:cNvSpPr>
          <p:nvPr>
            <p:ph type="pic" sz="quarter" idx="33"/>
          </p:nvPr>
        </p:nvSpPr>
        <p:spPr>
          <a:xfrm>
            <a:off x="9525389" y="3962401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2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7" name="Slide Number Placeholder 9"/>
          <p:cNvSpPr>
            <a:spLocks noGrp="1"/>
          </p:cNvSpPr>
          <p:nvPr>
            <p:ph type="sldNum" sz="quarter" idx="34"/>
          </p:nvPr>
        </p:nvSpPr>
        <p:spPr/>
        <p:txBody>
          <a:bodyPr/>
          <a:lstStyle>
            <a:lvl1pPr>
              <a:defRPr/>
            </a:lvl1pPr>
          </a:lstStyle>
          <a:p>
            <a:fld id="{516D5A61-1BB2-3C40-A809-0A00CE29D5F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8" name="Footer Placeholder 12"/>
          <p:cNvSpPr>
            <a:spLocks noGrp="1"/>
          </p:cNvSpPr>
          <p:nvPr>
            <p:ph type="ftr" sz="quarter" idx="3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Taxation of C Corporations</a:t>
            </a:r>
          </a:p>
        </p:txBody>
      </p:sp>
    </p:spTree>
    <p:extLst>
      <p:ext uri="{BB962C8B-B14F-4D97-AF65-F5344CB8AC3E}">
        <p14:creationId xmlns:p14="http://schemas.microsoft.com/office/powerpoint/2010/main" val="122988937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e Team - Full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Box 12"/>
          <p:cNvSpPr txBox="1">
            <a:spLocks noChangeArrowheads="1"/>
          </p:cNvSpPr>
          <p:nvPr/>
        </p:nvSpPr>
        <p:spPr bwMode="auto">
          <a:xfrm>
            <a:off x="588433" y="1439863"/>
            <a:ext cx="11133667" cy="381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anchor="b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050" b="1" dirty="0">
                <a:solidFill>
                  <a:srgbClr val="C00000"/>
                </a:solidFill>
                <a:latin typeface="Arial" charset="0"/>
                <a:ea typeface="+mn-ea"/>
                <a:cs typeface="+mn-cs"/>
              </a:rPr>
              <a:t>PARTNERS</a:t>
            </a:r>
          </a:p>
        </p:txBody>
      </p:sp>
      <p:sp>
        <p:nvSpPr>
          <p:cNvPr id="11" name="Line 22"/>
          <p:cNvSpPr>
            <a:spLocks noChangeShapeType="1"/>
          </p:cNvSpPr>
          <p:nvPr/>
        </p:nvSpPr>
        <p:spPr bwMode="auto">
          <a:xfrm>
            <a:off x="584201" y="1897063"/>
            <a:ext cx="11137900" cy="0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800"/>
          </a:p>
        </p:txBody>
      </p:sp>
      <p:sp>
        <p:nvSpPr>
          <p:cNvPr id="12" name="Text Box 23"/>
          <p:cNvSpPr txBox="1">
            <a:spLocks noChangeArrowheads="1"/>
          </p:cNvSpPr>
          <p:nvPr/>
        </p:nvSpPr>
        <p:spPr bwMode="auto">
          <a:xfrm>
            <a:off x="588433" y="3268663"/>
            <a:ext cx="11133667" cy="381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anchor="b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050" b="1" dirty="0">
                <a:solidFill>
                  <a:srgbClr val="C00000"/>
                </a:solidFill>
                <a:latin typeface="Arial" charset="0"/>
                <a:ea typeface="+mn-ea"/>
                <a:cs typeface="+mn-cs"/>
              </a:rPr>
              <a:t>ASSOCIATES</a:t>
            </a:r>
          </a:p>
        </p:txBody>
      </p:sp>
      <p:sp>
        <p:nvSpPr>
          <p:cNvPr id="13" name="Line 24"/>
          <p:cNvSpPr>
            <a:spLocks noChangeShapeType="1"/>
          </p:cNvSpPr>
          <p:nvPr/>
        </p:nvSpPr>
        <p:spPr bwMode="auto">
          <a:xfrm>
            <a:off x="584201" y="3725863"/>
            <a:ext cx="11137900" cy="0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800"/>
          </a:p>
        </p:txBody>
      </p:sp>
      <p:sp>
        <p:nvSpPr>
          <p:cNvPr id="28" name="Text Placeholder 27"/>
          <p:cNvSpPr>
            <a:spLocks noGrp="1"/>
          </p:cNvSpPr>
          <p:nvPr>
            <p:ph type="body" sz="quarter" idx="10"/>
          </p:nvPr>
        </p:nvSpPr>
        <p:spPr>
          <a:xfrm>
            <a:off x="3478108" y="2019300"/>
            <a:ext cx="24384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31"/>
          <p:cNvSpPr>
            <a:spLocks noGrp="1"/>
          </p:cNvSpPr>
          <p:nvPr>
            <p:ph type="body" sz="quarter" idx="11"/>
          </p:nvPr>
        </p:nvSpPr>
        <p:spPr>
          <a:xfrm>
            <a:off x="6372015" y="2019300"/>
            <a:ext cx="24384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33"/>
          <p:cNvSpPr>
            <a:spLocks noGrp="1"/>
          </p:cNvSpPr>
          <p:nvPr>
            <p:ph type="body" sz="quarter" idx="12"/>
          </p:nvPr>
        </p:nvSpPr>
        <p:spPr>
          <a:xfrm>
            <a:off x="9265920" y="2019300"/>
            <a:ext cx="24384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7"/>
          </p:nvPr>
        </p:nvSpPr>
        <p:spPr>
          <a:xfrm>
            <a:off x="1975104" y="3886200"/>
            <a:ext cx="39624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 baseline="0">
                <a:latin typeface="+mn-lt"/>
              </a:defRPr>
            </a:lvl1pPr>
            <a:lvl2pPr>
              <a:defRPr sz="1200" baseline="0">
                <a:latin typeface="Arial" pitchFamily="34" charset="0"/>
              </a:defRPr>
            </a:lvl2pPr>
            <a:lvl3pPr>
              <a:defRPr sz="1200" baseline="0">
                <a:latin typeface="Arial" pitchFamily="34" charset="0"/>
              </a:defRPr>
            </a:lvl3pPr>
            <a:lvl4pPr>
              <a:defRPr sz="1200" baseline="0">
                <a:latin typeface="Arial" pitchFamily="34" charset="0"/>
              </a:defRPr>
            </a:lvl4pPr>
            <a:lvl5pPr>
              <a:defRPr sz="12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sz="quarter" idx="18"/>
          </p:nvPr>
        </p:nvSpPr>
        <p:spPr>
          <a:xfrm>
            <a:off x="6299200" y="3886200"/>
            <a:ext cx="39624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 baseline="0">
                <a:latin typeface="+mn-lt"/>
              </a:defRPr>
            </a:lvl1pPr>
            <a:lvl2pPr>
              <a:defRPr sz="1200" baseline="0">
                <a:latin typeface="Arial" pitchFamily="34" charset="0"/>
              </a:defRPr>
            </a:lvl2pPr>
            <a:lvl3pPr>
              <a:defRPr sz="1200" baseline="0">
                <a:latin typeface="Arial" pitchFamily="34" charset="0"/>
              </a:defRPr>
            </a:lvl3pPr>
            <a:lvl4pPr>
              <a:defRPr sz="1200" baseline="0">
                <a:latin typeface="Arial" pitchFamily="34" charset="0"/>
              </a:defRPr>
            </a:lvl4pPr>
            <a:lvl5pPr>
              <a:defRPr sz="12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0" name="Text Placeholder 14"/>
          <p:cNvSpPr>
            <a:spLocks noGrp="1"/>
          </p:cNvSpPr>
          <p:nvPr>
            <p:ph type="body" sz="quarter" idx="19"/>
          </p:nvPr>
        </p:nvSpPr>
        <p:spPr>
          <a:xfrm>
            <a:off x="1975104" y="4800600"/>
            <a:ext cx="8290560" cy="54864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 baseline="0">
                <a:latin typeface="+mn-lt"/>
              </a:defRPr>
            </a:lvl1pPr>
            <a:lvl2pPr>
              <a:defRPr sz="1200" baseline="0">
                <a:latin typeface="Arial" pitchFamily="34" charset="0"/>
              </a:defRPr>
            </a:lvl2pPr>
            <a:lvl3pPr>
              <a:defRPr sz="1200" baseline="0">
                <a:latin typeface="Arial" pitchFamily="34" charset="0"/>
              </a:defRPr>
            </a:lvl3pPr>
            <a:lvl4pPr>
              <a:defRPr sz="1200" baseline="0">
                <a:latin typeface="Arial" pitchFamily="34" charset="0"/>
              </a:defRPr>
            </a:lvl4pPr>
            <a:lvl5pPr>
              <a:defRPr sz="12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27"/>
          <p:cNvSpPr>
            <a:spLocks noGrp="1"/>
          </p:cNvSpPr>
          <p:nvPr>
            <p:ph type="body" sz="quarter" idx="20"/>
          </p:nvPr>
        </p:nvSpPr>
        <p:spPr>
          <a:xfrm>
            <a:off x="584201" y="2019300"/>
            <a:ext cx="24384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Slide Number Placeholder 9"/>
          <p:cNvSpPr>
            <a:spLocks noGrp="1"/>
          </p:cNvSpPr>
          <p:nvPr>
            <p:ph type="sldNum" sz="quarter" idx="21"/>
          </p:nvPr>
        </p:nvSpPr>
        <p:spPr/>
        <p:txBody>
          <a:bodyPr/>
          <a:lstStyle>
            <a:lvl1pPr>
              <a:defRPr/>
            </a:lvl1pPr>
          </a:lstStyle>
          <a:p>
            <a:fld id="{B0AC1651-679E-F444-9932-326657929C56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5"/>
          <p:cNvSpPr>
            <a:spLocks noGrp="1"/>
          </p:cNvSpPr>
          <p:nvPr>
            <p:ph type="ftr" sz="quarter" idx="2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Taxation of C Corporations</a:t>
            </a:r>
          </a:p>
        </p:txBody>
      </p:sp>
    </p:spTree>
    <p:extLst>
      <p:ext uri="{BB962C8B-B14F-4D97-AF65-F5344CB8AC3E}">
        <p14:creationId xmlns:p14="http://schemas.microsoft.com/office/powerpoint/2010/main" val="1587117589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HIGHLIGHTS V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36"/>
          <p:cNvSpPr>
            <a:spLocks noGrp="1"/>
          </p:cNvSpPr>
          <p:nvPr>
            <p:ph type="body" sz="quarter" idx="102"/>
          </p:nvPr>
        </p:nvSpPr>
        <p:spPr>
          <a:xfrm>
            <a:off x="601133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6"/>
          <p:cNvSpPr>
            <a:spLocks noGrp="1"/>
          </p:cNvSpPr>
          <p:nvPr>
            <p:ph type="body" sz="quarter" idx="103"/>
          </p:nvPr>
        </p:nvSpPr>
        <p:spPr>
          <a:xfrm>
            <a:off x="601133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6"/>
          <p:cNvSpPr>
            <a:spLocks noGrp="1"/>
          </p:cNvSpPr>
          <p:nvPr>
            <p:ph type="body" sz="quarter" idx="104"/>
          </p:nvPr>
        </p:nvSpPr>
        <p:spPr>
          <a:xfrm>
            <a:off x="2815275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36"/>
          <p:cNvSpPr>
            <a:spLocks noGrp="1"/>
          </p:cNvSpPr>
          <p:nvPr>
            <p:ph type="body" sz="quarter" idx="105"/>
          </p:nvPr>
        </p:nvSpPr>
        <p:spPr>
          <a:xfrm>
            <a:off x="2815275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6"/>
          <p:cNvSpPr>
            <a:spLocks noGrp="1"/>
          </p:cNvSpPr>
          <p:nvPr>
            <p:ph type="body" sz="quarter" idx="106"/>
          </p:nvPr>
        </p:nvSpPr>
        <p:spPr>
          <a:xfrm>
            <a:off x="5029416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36"/>
          <p:cNvSpPr>
            <a:spLocks noGrp="1"/>
          </p:cNvSpPr>
          <p:nvPr>
            <p:ph type="body" sz="quarter" idx="107"/>
          </p:nvPr>
        </p:nvSpPr>
        <p:spPr>
          <a:xfrm>
            <a:off x="5029416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6"/>
          <p:cNvSpPr>
            <a:spLocks noGrp="1"/>
          </p:cNvSpPr>
          <p:nvPr>
            <p:ph type="body" sz="quarter" idx="108"/>
          </p:nvPr>
        </p:nvSpPr>
        <p:spPr>
          <a:xfrm>
            <a:off x="7243557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36"/>
          <p:cNvSpPr>
            <a:spLocks noGrp="1"/>
          </p:cNvSpPr>
          <p:nvPr>
            <p:ph type="body" sz="quarter" idx="109"/>
          </p:nvPr>
        </p:nvSpPr>
        <p:spPr>
          <a:xfrm>
            <a:off x="7243557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36"/>
          <p:cNvSpPr>
            <a:spLocks noGrp="1"/>
          </p:cNvSpPr>
          <p:nvPr>
            <p:ph type="body" sz="quarter" idx="110"/>
          </p:nvPr>
        </p:nvSpPr>
        <p:spPr>
          <a:xfrm>
            <a:off x="9474200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ext Placeholder 36"/>
          <p:cNvSpPr>
            <a:spLocks noGrp="1"/>
          </p:cNvSpPr>
          <p:nvPr>
            <p:ph type="body" sz="quarter" idx="111"/>
          </p:nvPr>
        </p:nvSpPr>
        <p:spPr>
          <a:xfrm>
            <a:off x="9474200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36"/>
          <p:cNvSpPr>
            <a:spLocks noGrp="1"/>
          </p:cNvSpPr>
          <p:nvPr>
            <p:ph type="body" sz="quarter" idx="112"/>
          </p:nvPr>
        </p:nvSpPr>
        <p:spPr>
          <a:xfrm>
            <a:off x="601133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1" name="Text Placeholder 36"/>
          <p:cNvSpPr>
            <a:spLocks noGrp="1"/>
          </p:cNvSpPr>
          <p:nvPr>
            <p:ph type="body" sz="quarter" idx="113"/>
          </p:nvPr>
        </p:nvSpPr>
        <p:spPr>
          <a:xfrm>
            <a:off x="601133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36"/>
          <p:cNvSpPr>
            <a:spLocks noGrp="1"/>
          </p:cNvSpPr>
          <p:nvPr>
            <p:ph type="body" sz="quarter" idx="114"/>
          </p:nvPr>
        </p:nvSpPr>
        <p:spPr>
          <a:xfrm>
            <a:off x="2815275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3" name="Text Placeholder 36"/>
          <p:cNvSpPr>
            <a:spLocks noGrp="1"/>
          </p:cNvSpPr>
          <p:nvPr>
            <p:ph type="body" sz="quarter" idx="115"/>
          </p:nvPr>
        </p:nvSpPr>
        <p:spPr>
          <a:xfrm>
            <a:off x="2815275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36"/>
          <p:cNvSpPr>
            <a:spLocks noGrp="1"/>
          </p:cNvSpPr>
          <p:nvPr>
            <p:ph type="body" sz="quarter" idx="116"/>
          </p:nvPr>
        </p:nvSpPr>
        <p:spPr>
          <a:xfrm>
            <a:off x="5029416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5" name="Text Placeholder 36"/>
          <p:cNvSpPr>
            <a:spLocks noGrp="1"/>
          </p:cNvSpPr>
          <p:nvPr>
            <p:ph type="body" sz="quarter" idx="117"/>
          </p:nvPr>
        </p:nvSpPr>
        <p:spPr>
          <a:xfrm>
            <a:off x="5029416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36"/>
          <p:cNvSpPr>
            <a:spLocks noGrp="1"/>
          </p:cNvSpPr>
          <p:nvPr>
            <p:ph type="body" sz="quarter" idx="118"/>
          </p:nvPr>
        </p:nvSpPr>
        <p:spPr>
          <a:xfrm>
            <a:off x="7243557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7" name="Text Placeholder 36"/>
          <p:cNvSpPr>
            <a:spLocks noGrp="1"/>
          </p:cNvSpPr>
          <p:nvPr>
            <p:ph type="body" sz="quarter" idx="119"/>
          </p:nvPr>
        </p:nvSpPr>
        <p:spPr>
          <a:xfrm>
            <a:off x="7243557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36"/>
          <p:cNvSpPr>
            <a:spLocks noGrp="1"/>
          </p:cNvSpPr>
          <p:nvPr>
            <p:ph type="body" sz="quarter" idx="120"/>
          </p:nvPr>
        </p:nvSpPr>
        <p:spPr>
          <a:xfrm>
            <a:off x="9474200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9" name="Text Placeholder 36"/>
          <p:cNvSpPr>
            <a:spLocks noGrp="1"/>
          </p:cNvSpPr>
          <p:nvPr>
            <p:ph type="body" sz="quarter" idx="121"/>
          </p:nvPr>
        </p:nvSpPr>
        <p:spPr>
          <a:xfrm>
            <a:off x="9474200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0" name="Text Placeholder 36"/>
          <p:cNvSpPr>
            <a:spLocks noGrp="1"/>
          </p:cNvSpPr>
          <p:nvPr>
            <p:ph type="body" sz="quarter" idx="122"/>
          </p:nvPr>
        </p:nvSpPr>
        <p:spPr>
          <a:xfrm>
            <a:off x="601133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1" name="Text Placeholder 36"/>
          <p:cNvSpPr>
            <a:spLocks noGrp="1"/>
          </p:cNvSpPr>
          <p:nvPr>
            <p:ph type="body" sz="quarter" idx="123"/>
          </p:nvPr>
        </p:nvSpPr>
        <p:spPr>
          <a:xfrm>
            <a:off x="601133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2" name="Text Placeholder 36"/>
          <p:cNvSpPr>
            <a:spLocks noGrp="1"/>
          </p:cNvSpPr>
          <p:nvPr>
            <p:ph type="body" sz="quarter" idx="124"/>
          </p:nvPr>
        </p:nvSpPr>
        <p:spPr>
          <a:xfrm>
            <a:off x="2815275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3" name="Text Placeholder 36"/>
          <p:cNvSpPr>
            <a:spLocks noGrp="1"/>
          </p:cNvSpPr>
          <p:nvPr>
            <p:ph type="body" sz="quarter" idx="125"/>
          </p:nvPr>
        </p:nvSpPr>
        <p:spPr>
          <a:xfrm>
            <a:off x="2815275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4" name="Text Placeholder 36"/>
          <p:cNvSpPr>
            <a:spLocks noGrp="1"/>
          </p:cNvSpPr>
          <p:nvPr>
            <p:ph type="body" sz="quarter" idx="126"/>
          </p:nvPr>
        </p:nvSpPr>
        <p:spPr>
          <a:xfrm>
            <a:off x="5029416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5" name="Text Placeholder 36"/>
          <p:cNvSpPr>
            <a:spLocks noGrp="1"/>
          </p:cNvSpPr>
          <p:nvPr>
            <p:ph type="body" sz="quarter" idx="127"/>
          </p:nvPr>
        </p:nvSpPr>
        <p:spPr>
          <a:xfrm>
            <a:off x="5029416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6" name="Text Placeholder 36"/>
          <p:cNvSpPr>
            <a:spLocks noGrp="1"/>
          </p:cNvSpPr>
          <p:nvPr>
            <p:ph type="body" sz="quarter" idx="128"/>
          </p:nvPr>
        </p:nvSpPr>
        <p:spPr>
          <a:xfrm>
            <a:off x="7243557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7" name="Text Placeholder 36"/>
          <p:cNvSpPr>
            <a:spLocks noGrp="1"/>
          </p:cNvSpPr>
          <p:nvPr>
            <p:ph type="body" sz="quarter" idx="129"/>
          </p:nvPr>
        </p:nvSpPr>
        <p:spPr>
          <a:xfrm>
            <a:off x="7243557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8" name="Text Placeholder 36"/>
          <p:cNvSpPr>
            <a:spLocks noGrp="1"/>
          </p:cNvSpPr>
          <p:nvPr>
            <p:ph type="body" sz="quarter" idx="130"/>
          </p:nvPr>
        </p:nvSpPr>
        <p:spPr>
          <a:xfrm>
            <a:off x="9474200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9" name="Text Placeholder 36"/>
          <p:cNvSpPr>
            <a:spLocks noGrp="1"/>
          </p:cNvSpPr>
          <p:nvPr>
            <p:ph type="body" sz="quarter" idx="131"/>
          </p:nvPr>
        </p:nvSpPr>
        <p:spPr>
          <a:xfrm>
            <a:off x="9474200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96901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3" name="Slide Number Placeholder 9"/>
          <p:cNvSpPr>
            <a:spLocks noGrp="1"/>
          </p:cNvSpPr>
          <p:nvPr>
            <p:ph type="sldNum" sz="quarter" idx="132"/>
          </p:nvPr>
        </p:nvSpPr>
        <p:spPr/>
        <p:txBody>
          <a:bodyPr/>
          <a:lstStyle>
            <a:lvl1pPr>
              <a:defRPr/>
            </a:lvl1pPr>
          </a:lstStyle>
          <a:p>
            <a:fld id="{77461BCF-BBA5-5E4A-ABD5-3E5D9382F9DD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4" name="Footer Placeholder 12"/>
          <p:cNvSpPr>
            <a:spLocks noGrp="1"/>
          </p:cNvSpPr>
          <p:nvPr>
            <p:ph type="ftr" sz="quarter" idx="133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Taxation of C Corporations</a:t>
            </a:r>
          </a:p>
        </p:txBody>
      </p:sp>
    </p:spTree>
    <p:extLst>
      <p:ext uri="{BB962C8B-B14F-4D97-AF65-F5344CB8AC3E}">
        <p14:creationId xmlns:p14="http://schemas.microsoft.com/office/powerpoint/2010/main" val="386922422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HIGHLIGHTS V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36"/>
          <p:cNvSpPr>
            <a:spLocks noGrp="1"/>
          </p:cNvSpPr>
          <p:nvPr>
            <p:ph type="body" sz="quarter" idx="102"/>
          </p:nvPr>
        </p:nvSpPr>
        <p:spPr>
          <a:xfrm>
            <a:off x="601133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6"/>
          <p:cNvSpPr>
            <a:spLocks noGrp="1"/>
          </p:cNvSpPr>
          <p:nvPr>
            <p:ph type="body" sz="quarter" idx="103"/>
          </p:nvPr>
        </p:nvSpPr>
        <p:spPr>
          <a:xfrm>
            <a:off x="601133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6"/>
          <p:cNvSpPr>
            <a:spLocks noGrp="1"/>
          </p:cNvSpPr>
          <p:nvPr>
            <p:ph type="body" sz="quarter" idx="104"/>
          </p:nvPr>
        </p:nvSpPr>
        <p:spPr>
          <a:xfrm>
            <a:off x="2815275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36"/>
          <p:cNvSpPr>
            <a:spLocks noGrp="1"/>
          </p:cNvSpPr>
          <p:nvPr>
            <p:ph type="body" sz="quarter" idx="105"/>
          </p:nvPr>
        </p:nvSpPr>
        <p:spPr>
          <a:xfrm>
            <a:off x="2815275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6"/>
          <p:cNvSpPr>
            <a:spLocks noGrp="1"/>
          </p:cNvSpPr>
          <p:nvPr>
            <p:ph type="body" sz="quarter" idx="106"/>
          </p:nvPr>
        </p:nvSpPr>
        <p:spPr>
          <a:xfrm>
            <a:off x="5029416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36"/>
          <p:cNvSpPr>
            <a:spLocks noGrp="1"/>
          </p:cNvSpPr>
          <p:nvPr>
            <p:ph type="body" sz="quarter" idx="107"/>
          </p:nvPr>
        </p:nvSpPr>
        <p:spPr>
          <a:xfrm>
            <a:off x="5029416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6"/>
          <p:cNvSpPr>
            <a:spLocks noGrp="1"/>
          </p:cNvSpPr>
          <p:nvPr>
            <p:ph type="body" sz="quarter" idx="108"/>
          </p:nvPr>
        </p:nvSpPr>
        <p:spPr>
          <a:xfrm>
            <a:off x="7243557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36"/>
          <p:cNvSpPr>
            <a:spLocks noGrp="1"/>
          </p:cNvSpPr>
          <p:nvPr>
            <p:ph type="body" sz="quarter" idx="109"/>
          </p:nvPr>
        </p:nvSpPr>
        <p:spPr>
          <a:xfrm>
            <a:off x="7243557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36"/>
          <p:cNvSpPr>
            <a:spLocks noGrp="1"/>
          </p:cNvSpPr>
          <p:nvPr>
            <p:ph type="body" sz="quarter" idx="110"/>
          </p:nvPr>
        </p:nvSpPr>
        <p:spPr>
          <a:xfrm>
            <a:off x="9474200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ext Placeholder 36"/>
          <p:cNvSpPr>
            <a:spLocks noGrp="1"/>
          </p:cNvSpPr>
          <p:nvPr>
            <p:ph type="body" sz="quarter" idx="111"/>
          </p:nvPr>
        </p:nvSpPr>
        <p:spPr>
          <a:xfrm>
            <a:off x="9474200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6"/>
          <p:cNvSpPr>
            <a:spLocks noGrp="1"/>
          </p:cNvSpPr>
          <p:nvPr>
            <p:ph type="body" sz="quarter" idx="112"/>
          </p:nvPr>
        </p:nvSpPr>
        <p:spPr>
          <a:xfrm>
            <a:off x="601133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7" name="Text Placeholder 36"/>
          <p:cNvSpPr>
            <a:spLocks noGrp="1"/>
          </p:cNvSpPr>
          <p:nvPr>
            <p:ph type="body" sz="quarter" idx="113"/>
          </p:nvPr>
        </p:nvSpPr>
        <p:spPr>
          <a:xfrm>
            <a:off x="601133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36"/>
          <p:cNvSpPr>
            <a:spLocks noGrp="1"/>
          </p:cNvSpPr>
          <p:nvPr>
            <p:ph type="body" sz="quarter" idx="114"/>
          </p:nvPr>
        </p:nvSpPr>
        <p:spPr>
          <a:xfrm>
            <a:off x="601133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Text Placeholder 36"/>
          <p:cNvSpPr>
            <a:spLocks noGrp="1"/>
          </p:cNvSpPr>
          <p:nvPr>
            <p:ph type="body" sz="quarter" idx="115"/>
          </p:nvPr>
        </p:nvSpPr>
        <p:spPr>
          <a:xfrm>
            <a:off x="601133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6"/>
          <p:cNvSpPr>
            <a:spLocks noGrp="1"/>
          </p:cNvSpPr>
          <p:nvPr>
            <p:ph type="body" sz="quarter" idx="116"/>
          </p:nvPr>
        </p:nvSpPr>
        <p:spPr>
          <a:xfrm>
            <a:off x="2815275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1" name="Text Placeholder 36"/>
          <p:cNvSpPr>
            <a:spLocks noGrp="1"/>
          </p:cNvSpPr>
          <p:nvPr>
            <p:ph type="body" sz="quarter" idx="117"/>
          </p:nvPr>
        </p:nvSpPr>
        <p:spPr>
          <a:xfrm>
            <a:off x="2815275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36"/>
          <p:cNvSpPr>
            <a:spLocks noGrp="1"/>
          </p:cNvSpPr>
          <p:nvPr>
            <p:ph type="body" sz="quarter" idx="118"/>
          </p:nvPr>
        </p:nvSpPr>
        <p:spPr>
          <a:xfrm>
            <a:off x="2815275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3" name="Text Placeholder 36"/>
          <p:cNvSpPr>
            <a:spLocks noGrp="1"/>
          </p:cNvSpPr>
          <p:nvPr>
            <p:ph type="body" sz="quarter" idx="119"/>
          </p:nvPr>
        </p:nvSpPr>
        <p:spPr>
          <a:xfrm>
            <a:off x="2815275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36"/>
          <p:cNvSpPr>
            <a:spLocks noGrp="1"/>
          </p:cNvSpPr>
          <p:nvPr>
            <p:ph type="body" sz="quarter" idx="120"/>
          </p:nvPr>
        </p:nvSpPr>
        <p:spPr>
          <a:xfrm>
            <a:off x="5029416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5" name="Text Placeholder 36"/>
          <p:cNvSpPr>
            <a:spLocks noGrp="1"/>
          </p:cNvSpPr>
          <p:nvPr>
            <p:ph type="body" sz="quarter" idx="121"/>
          </p:nvPr>
        </p:nvSpPr>
        <p:spPr>
          <a:xfrm>
            <a:off x="5029416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36"/>
          <p:cNvSpPr>
            <a:spLocks noGrp="1"/>
          </p:cNvSpPr>
          <p:nvPr>
            <p:ph type="body" sz="quarter" idx="122"/>
          </p:nvPr>
        </p:nvSpPr>
        <p:spPr>
          <a:xfrm>
            <a:off x="5029416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7" name="Text Placeholder 36"/>
          <p:cNvSpPr>
            <a:spLocks noGrp="1"/>
          </p:cNvSpPr>
          <p:nvPr>
            <p:ph type="body" sz="quarter" idx="123"/>
          </p:nvPr>
        </p:nvSpPr>
        <p:spPr>
          <a:xfrm>
            <a:off x="5029416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36"/>
          <p:cNvSpPr>
            <a:spLocks noGrp="1"/>
          </p:cNvSpPr>
          <p:nvPr>
            <p:ph type="body" sz="quarter" idx="124"/>
          </p:nvPr>
        </p:nvSpPr>
        <p:spPr>
          <a:xfrm>
            <a:off x="7243557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9" name="Text Placeholder 36"/>
          <p:cNvSpPr>
            <a:spLocks noGrp="1"/>
          </p:cNvSpPr>
          <p:nvPr>
            <p:ph type="body" sz="quarter" idx="125"/>
          </p:nvPr>
        </p:nvSpPr>
        <p:spPr>
          <a:xfrm>
            <a:off x="7243557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36"/>
          <p:cNvSpPr>
            <a:spLocks noGrp="1"/>
          </p:cNvSpPr>
          <p:nvPr>
            <p:ph type="body" sz="quarter" idx="126"/>
          </p:nvPr>
        </p:nvSpPr>
        <p:spPr>
          <a:xfrm>
            <a:off x="7243557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1" name="Text Placeholder 36"/>
          <p:cNvSpPr>
            <a:spLocks noGrp="1"/>
          </p:cNvSpPr>
          <p:nvPr>
            <p:ph type="body" sz="quarter" idx="127"/>
          </p:nvPr>
        </p:nvSpPr>
        <p:spPr>
          <a:xfrm>
            <a:off x="7243557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36"/>
          <p:cNvSpPr>
            <a:spLocks noGrp="1"/>
          </p:cNvSpPr>
          <p:nvPr>
            <p:ph type="body" sz="quarter" idx="128"/>
          </p:nvPr>
        </p:nvSpPr>
        <p:spPr>
          <a:xfrm>
            <a:off x="9474200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3" name="Text Placeholder 36"/>
          <p:cNvSpPr>
            <a:spLocks noGrp="1"/>
          </p:cNvSpPr>
          <p:nvPr>
            <p:ph type="body" sz="quarter" idx="129"/>
          </p:nvPr>
        </p:nvSpPr>
        <p:spPr>
          <a:xfrm>
            <a:off x="9474200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36"/>
          <p:cNvSpPr>
            <a:spLocks noGrp="1"/>
          </p:cNvSpPr>
          <p:nvPr>
            <p:ph type="body" sz="quarter" idx="130"/>
          </p:nvPr>
        </p:nvSpPr>
        <p:spPr>
          <a:xfrm>
            <a:off x="9474200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5" name="Text Placeholder 36"/>
          <p:cNvSpPr>
            <a:spLocks noGrp="1"/>
          </p:cNvSpPr>
          <p:nvPr>
            <p:ph type="body" sz="quarter" idx="131"/>
          </p:nvPr>
        </p:nvSpPr>
        <p:spPr>
          <a:xfrm>
            <a:off x="9474200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96901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6" name="Slide Number Placeholder 9"/>
          <p:cNvSpPr>
            <a:spLocks noGrp="1"/>
          </p:cNvSpPr>
          <p:nvPr>
            <p:ph type="sldNum" sz="quarter" idx="132"/>
          </p:nvPr>
        </p:nvSpPr>
        <p:spPr/>
        <p:txBody>
          <a:bodyPr/>
          <a:lstStyle>
            <a:lvl1pPr>
              <a:defRPr/>
            </a:lvl1pPr>
          </a:lstStyle>
          <a:p>
            <a:fld id="{31BEBA66-216E-7243-B012-B44CAA5F986C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8" name="Footer Placeholder 12"/>
          <p:cNvSpPr>
            <a:spLocks noGrp="1"/>
          </p:cNvSpPr>
          <p:nvPr>
            <p:ph type="ftr" sz="quarter" idx="133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Taxation of C Corporations</a:t>
            </a:r>
          </a:p>
        </p:txBody>
      </p:sp>
    </p:spTree>
    <p:extLst>
      <p:ext uri="{BB962C8B-B14F-4D97-AF65-F5344CB8AC3E}">
        <p14:creationId xmlns:p14="http://schemas.microsoft.com/office/powerpoint/2010/main" val="1230243485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Awards V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Text Placeholder 21"/>
          <p:cNvSpPr>
            <a:spLocks noGrp="1"/>
          </p:cNvSpPr>
          <p:nvPr>
            <p:ph type="body" sz="quarter" idx="106"/>
          </p:nvPr>
        </p:nvSpPr>
        <p:spPr>
          <a:xfrm>
            <a:off x="601133" y="291465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8" name="Text Placeholder 21"/>
          <p:cNvSpPr>
            <a:spLocks noGrp="1"/>
          </p:cNvSpPr>
          <p:nvPr>
            <p:ph type="body" sz="quarter" idx="107"/>
          </p:nvPr>
        </p:nvSpPr>
        <p:spPr>
          <a:xfrm>
            <a:off x="601133" y="462280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9" name="Text Placeholder 21"/>
          <p:cNvSpPr>
            <a:spLocks noGrp="1"/>
          </p:cNvSpPr>
          <p:nvPr>
            <p:ph type="body" sz="quarter" idx="101"/>
          </p:nvPr>
        </p:nvSpPr>
        <p:spPr>
          <a:xfrm>
            <a:off x="601133" y="121920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0" name="Text Placeholder 21"/>
          <p:cNvSpPr>
            <a:spLocks noGrp="1"/>
          </p:cNvSpPr>
          <p:nvPr>
            <p:ph type="body" sz="quarter" idx="102"/>
          </p:nvPr>
        </p:nvSpPr>
        <p:spPr>
          <a:xfrm>
            <a:off x="2818451" y="121920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1" name="Text Placeholder 21"/>
          <p:cNvSpPr>
            <a:spLocks noGrp="1"/>
          </p:cNvSpPr>
          <p:nvPr>
            <p:ph type="body" sz="quarter" idx="103"/>
          </p:nvPr>
        </p:nvSpPr>
        <p:spPr>
          <a:xfrm>
            <a:off x="5035768" y="121920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2" name="Text Placeholder 21"/>
          <p:cNvSpPr>
            <a:spLocks noGrp="1"/>
          </p:cNvSpPr>
          <p:nvPr>
            <p:ph type="body" sz="quarter" idx="104"/>
          </p:nvPr>
        </p:nvSpPr>
        <p:spPr>
          <a:xfrm>
            <a:off x="7253085" y="121920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3" name="Text Placeholder 21"/>
          <p:cNvSpPr>
            <a:spLocks noGrp="1"/>
          </p:cNvSpPr>
          <p:nvPr>
            <p:ph type="body" sz="quarter" idx="105"/>
          </p:nvPr>
        </p:nvSpPr>
        <p:spPr>
          <a:xfrm>
            <a:off x="9470400" y="121920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4" name="Text Placeholder 21"/>
          <p:cNvSpPr>
            <a:spLocks noGrp="1"/>
          </p:cNvSpPr>
          <p:nvPr>
            <p:ph type="body" sz="quarter" idx="108"/>
          </p:nvPr>
        </p:nvSpPr>
        <p:spPr>
          <a:xfrm>
            <a:off x="2818451" y="291465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5" name="Text Placeholder 21"/>
          <p:cNvSpPr>
            <a:spLocks noGrp="1"/>
          </p:cNvSpPr>
          <p:nvPr>
            <p:ph type="body" sz="quarter" idx="109"/>
          </p:nvPr>
        </p:nvSpPr>
        <p:spPr>
          <a:xfrm>
            <a:off x="2818451" y="4626864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 u="none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 u="none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 u="none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 u="none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 u="none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6" name="Text Placeholder 21"/>
          <p:cNvSpPr>
            <a:spLocks noGrp="1"/>
          </p:cNvSpPr>
          <p:nvPr>
            <p:ph type="body" sz="quarter" idx="110"/>
          </p:nvPr>
        </p:nvSpPr>
        <p:spPr>
          <a:xfrm>
            <a:off x="5035768" y="291465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7" name="Text Placeholder 21"/>
          <p:cNvSpPr>
            <a:spLocks noGrp="1"/>
          </p:cNvSpPr>
          <p:nvPr>
            <p:ph type="body" sz="quarter" idx="111"/>
          </p:nvPr>
        </p:nvSpPr>
        <p:spPr>
          <a:xfrm>
            <a:off x="5035768" y="4626864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8" name="Text Placeholder 21"/>
          <p:cNvSpPr>
            <a:spLocks noGrp="1"/>
          </p:cNvSpPr>
          <p:nvPr>
            <p:ph type="body" sz="quarter" idx="112"/>
          </p:nvPr>
        </p:nvSpPr>
        <p:spPr>
          <a:xfrm>
            <a:off x="7253085" y="291465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9" name="Text Placeholder 21"/>
          <p:cNvSpPr>
            <a:spLocks noGrp="1"/>
          </p:cNvSpPr>
          <p:nvPr>
            <p:ph type="body" sz="quarter" idx="113"/>
          </p:nvPr>
        </p:nvSpPr>
        <p:spPr>
          <a:xfrm>
            <a:off x="7253085" y="4626864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0" name="Text Placeholder 21"/>
          <p:cNvSpPr>
            <a:spLocks noGrp="1"/>
          </p:cNvSpPr>
          <p:nvPr>
            <p:ph type="body" sz="quarter" idx="114"/>
          </p:nvPr>
        </p:nvSpPr>
        <p:spPr>
          <a:xfrm>
            <a:off x="9470400" y="291465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1" name="Text Placeholder 21"/>
          <p:cNvSpPr>
            <a:spLocks noGrp="1"/>
          </p:cNvSpPr>
          <p:nvPr>
            <p:ph type="body" sz="quarter" idx="115"/>
          </p:nvPr>
        </p:nvSpPr>
        <p:spPr>
          <a:xfrm>
            <a:off x="9470400" y="4626864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8" name="Text Placeholder 21"/>
          <p:cNvSpPr>
            <a:spLocks noGrp="1"/>
          </p:cNvSpPr>
          <p:nvPr>
            <p:ph type="body" sz="quarter" idx="116"/>
          </p:nvPr>
        </p:nvSpPr>
        <p:spPr>
          <a:xfrm>
            <a:off x="601133" y="431368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9" name="Text Placeholder 21"/>
          <p:cNvSpPr>
            <a:spLocks noGrp="1"/>
          </p:cNvSpPr>
          <p:nvPr>
            <p:ph type="body" sz="quarter" idx="117"/>
          </p:nvPr>
        </p:nvSpPr>
        <p:spPr>
          <a:xfrm>
            <a:off x="601133" y="6020181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0" name="Text Placeholder 21"/>
          <p:cNvSpPr>
            <a:spLocks noGrp="1"/>
          </p:cNvSpPr>
          <p:nvPr>
            <p:ph type="body" sz="quarter" idx="118"/>
          </p:nvPr>
        </p:nvSpPr>
        <p:spPr>
          <a:xfrm>
            <a:off x="601133" y="261823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700" b="1" i="1"/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1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1" name="Text Placeholder 21"/>
          <p:cNvSpPr>
            <a:spLocks noGrp="1"/>
          </p:cNvSpPr>
          <p:nvPr>
            <p:ph type="body" sz="quarter" idx="119"/>
          </p:nvPr>
        </p:nvSpPr>
        <p:spPr>
          <a:xfrm>
            <a:off x="2818451" y="261823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chemeClr val="tx1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2" name="Text Placeholder 21"/>
          <p:cNvSpPr>
            <a:spLocks noGrp="1"/>
          </p:cNvSpPr>
          <p:nvPr>
            <p:ph type="body" sz="quarter" idx="120"/>
          </p:nvPr>
        </p:nvSpPr>
        <p:spPr>
          <a:xfrm>
            <a:off x="5035768" y="261823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3" name="Text Placeholder 21"/>
          <p:cNvSpPr>
            <a:spLocks noGrp="1"/>
          </p:cNvSpPr>
          <p:nvPr>
            <p:ph type="body" sz="quarter" idx="121"/>
          </p:nvPr>
        </p:nvSpPr>
        <p:spPr>
          <a:xfrm>
            <a:off x="7253085" y="261823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4" name="Text Placeholder 21"/>
          <p:cNvSpPr>
            <a:spLocks noGrp="1"/>
          </p:cNvSpPr>
          <p:nvPr>
            <p:ph type="body" sz="quarter" idx="122"/>
          </p:nvPr>
        </p:nvSpPr>
        <p:spPr>
          <a:xfrm>
            <a:off x="9470400" y="261823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5" name="Text Placeholder 21"/>
          <p:cNvSpPr>
            <a:spLocks noGrp="1"/>
          </p:cNvSpPr>
          <p:nvPr>
            <p:ph type="body" sz="quarter" idx="123"/>
          </p:nvPr>
        </p:nvSpPr>
        <p:spPr>
          <a:xfrm>
            <a:off x="2818451" y="431368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6" name="Text Placeholder 21"/>
          <p:cNvSpPr>
            <a:spLocks noGrp="1"/>
          </p:cNvSpPr>
          <p:nvPr>
            <p:ph type="body" sz="quarter" idx="124"/>
          </p:nvPr>
        </p:nvSpPr>
        <p:spPr>
          <a:xfrm>
            <a:off x="2818451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7" name="Text Placeholder 21"/>
          <p:cNvSpPr>
            <a:spLocks noGrp="1"/>
          </p:cNvSpPr>
          <p:nvPr>
            <p:ph type="body" sz="quarter" idx="125"/>
          </p:nvPr>
        </p:nvSpPr>
        <p:spPr>
          <a:xfrm>
            <a:off x="5035768" y="431368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8" name="Text Placeholder 21"/>
          <p:cNvSpPr>
            <a:spLocks noGrp="1"/>
          </p:cNvSpPr>
          <p:nvPr>
            <p:ph type="body" sz="quarter" idx="126"/>
          </p:nvPr>
        </p:nvSpPr>
        <p:spPr>
          <a:xfrm>
            <a:off x="5035768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9" name="Text Placeholder 21"/>
          <p:cNvSpPr>
            <a:spLocks noGrp="1"/>
          </p:cNvSpPr>
          <p:nvPr>
            <p:ph type="body" sz="quarter" idx="127"/>
          </p:nvPr>
        </p:nvSpPr>
        <p:spPr>
          <a:xfrm>
            <a:off x="7253085" y="431368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0" name="Text Placeholder 21"/>
          <p:cNvSpPr>
            <a:spLocks noGrp="1"/>
          </p:cNvSpPr>
          <p:nvPr>
            <p:ph type="body" sz="quarter" idx="128"/>
          </p:nvPr>
        </p:nvSpPr>
        <p:spPr>
          <a:xfrm>
            <a:off x="7253085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1" name="Text Placeholder 21"/>
          <p:cNvSpPr>
            <a:spLocks noGrp="1"/>
          </p:cNvSpPr>
          <p:nvPr>
            <p:ph type="body" sz="quarter" idx="129"/>
          </p:nvPr>
        </p:nvSpPr>
        <p:spPr>
          <a:xfrm>
            <a:off x="9470400" y="431368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2" name="Text Placeholder 21"/>
          <p:cNvSpPr>
            <a:spLocks noGrp="1"/>
          </p:cNvSpPr>
          <p:nvPr>
            <p:ph type="body" sz="quarter" idx="130"/>
          </p:nvPr>
        </p:nvSpPr>
        <p:spPr>
          <a:xfrm>
            <a:off x="9470400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96901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3" name="Slide Number Placeholder 9"/>
          <p:cNvSpPr>
            <a:spLocks noGrp="1"/>
          </p:cNvSpPr>
          <p:nvPr>
            <p:ph type="sldNum" sz="quarter" idx="131"/>
          </p:nvPr>
        </p:nvSpPr>
        <p:spPr/>
        <p:txBody>
          <a:bodyPr/>
          <a:lstStyle>
            <a:lvl1pPr>
              <a:defRPr/>
            </a:lvl1pPr>
          </a:lstStyle>
          <a:p>
            <a:fld id="{44A3DAED-98CA-ED44-BD8D-010557C4E8AD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4" name="Footer Placeholder 12"/>
          <p:cNvSpPr>
            <a:spLocks noGrp="1"/>
          </p:cNvSpPr>
          <p:nvPr>
            <p:ph type="ftr" sz="quarter" idx="13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Taxation of C Corporations</a:t>
            </a:r>
          </a:p>
        </p:txBody>
      </p:sp>
    </p:spTree>
    <p:extLst>
      <p:ext uri="{BB962C8B-B14F-4D97-AF65-F5344CB8AC3E}">
        <p14:creationId xmlns:p14="http://schemas.microsoft.com/office/powerpoint/2010/main" val="1920796383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AWARDS V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1"/>
          <p:cNvSpPr>
            <a:spLocks noGrp="1"/>
          </p:cNvSpPr>
          <p:nvPr>
            <p:ph type="body" sz="quarter" idx="106"/>
          </p:nvPr>
        </p:nvSpPr>
        <p:spPr>
          <a:xfrm>
            <a:off x="601133" y="2914650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1"/>
          <p:cNvSpPr>
            <a:spLocks noGrp="1"/>
          </p:cNvSpPr>
          <p:nvPr>
            <p:ph type="body" sz="quarter" idx="107"/>
          </p:nvPr>
        </p:nvSpPr>
        <p:spPr>
          <a:xfrm>
            <a:off x="601133" y="4622800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21"/>
          <p:cNvSpPr>
            <a:spLocks noGrp="1"/>
          </p:cNvSpPr>
          <p:nvPr>
            <p:ph type="body" sz="quarter" idx="101"/>
          </p:nvPr>
        </p:nvSpPr>
        <p:spPr>
          <a:xfrm>
            <a:off x="601133" y="1219200"/>
            <a:ext cx="2112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21"/>
          <p:cNvSpPr>
            <a:spLocks noGrp="1"/>
          </p:cNvSpPr>
          <p:nvPr>
            <p:ph type="body" sz="quarter" idx="102"/>
          </p:nvPr>
        </p:nvSpPr>
        <p:spPr>
          <a:xfrm>
            <a:off x="2818451" y="1219200"/>
            <a:ext cx="2112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21"/>
          <p:cNvSpPr>
            <a:spLocks noGrp="1"/>
          </p:cNvSpPr>
          <p:nvPr>
            <p:ph type="body" sz="quarter" idx="103"/>
          </p:nvPr>
        </p:nvSpPr>
        <p:spPr>
          <a:xfrm>
            <a:off x="5035768" y="1219200"/>
            <a:ext cx="2112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21"/>
          <p:cNvSpPr>
            <a:spLocks noGrp="1"/>
          </p:cNvSpPr>
          <p:nvPr>
            <p:ph type="body" sz="quarter" idx="104"/>
          </p:nvPr>
        </p:nvSpPr>
        <p:spPr>
          <a:xfrm>
            <a:off x="7253085" y="1219200"/>
            <a:ext cx="2112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ext Placeholder 21"/>
          <p:cNvSpPr>
            <a:spLocks noGrp="1"/>
          </p:cNvSpPr>
          <p:nvPr>
            <p:ph type="body" sz="quarter" idx="105"/>
          </p:nvPr>
        </p:nvSpPr>
        <p:spPr>
          <a:xfrm>
            <a:off x="9470400" y="1219200"/>
            <a:ext cx="2112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21"/>
          <p:cNvSpPr>
            <a:spLocks noGrp="1"/>
          </p:cNvSpPr>
          <p:nvPr>
            <p:ph type="body" sz="quarter" idx="108"/>
          </p:nvPr>
        </p:nvSpPr>
        <p:spPr>
          <a:xfrm>
            <a:off x="2818451" y="2914650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Text Placeholder 21"/>
          <p:cNvSpPr>
            <a:spLocks noGrp="1"/>
          </p:cNvSpPr>
          <p:nvPr>
            <p:ph type="body" sz="quarter" idx="109"/>
          </p:nvPr>
        </p:nvSpPr>
        <p:spPr>
          <a:xfrm>
            <a:off x="2818451" y="4626864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ext Placeholder 21"/>
          <p:cNvSpPr>
            <a:spLocks noGrp="1"/>
          </p:cNvSpPr>
          <p:nvPr>
            <p:ph type="body" sz="quarter" idx="110"/>
          </p:nvPr>
        </p:nvSpPr>
        <p:spPr>
          <a:xfrm>
            <a:off x="5035768" y="2914650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ext Placeholder 21"/>
          <p:cNvSpPr>
            <a:spLocks noGrp="1"/>
          </p:cNvSpPr>
          <p:nvPr>
            <p:ph type="body" sz="quarter" idx="111"/>
          </p:nvPr>
        </p:nvSpPr>
        <p:spPr>
          <a:xfrm>
            <a:off x="5035768" y="4626864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7" name="Text Placeholder 21"/>
          <p:cNvSpPr>
            <a:spLocks noGrp="1"/>
          </p:cNvSpPr>
          <p:nvPr>
            <p:ph type="body" sz="quarter" idx="112"/>
          </p:nvPr>
        </p:nvSpPr>
        <p:spPr>
          <a:xfrm>
            <a:off x="7253085" y="2914650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Text Placeholder 21"/>
          <p:cNvSpPr>
            <a:spLocks noGrp="1"/>
          </p:cNvSpPr>
          <p:nvPr>
            <p:ph type="body" sz="quarter" idx="113"/>
          </p:nvPr>
        </p:nvSpPr>
        <p:spPr>
          <a:xfrm>
            <a:off x="7253085" y="4626864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Text Placeholder 21"/>
          <p:cNvSpPr>
            <a:spLocks noGrp="1"/>
          </p:cNvSpPr>
          <p:nvPr>
            <p:ph type="body" sz="quarter" idx="114"/>
          </p:nvPr>
        </p:nvSpPr>
        <p:spPr>
          <a:xfrm>
            <a:off x="9470400" y="2914650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0" name="Text Placeholder 21"/>
          <p:cNvSpPr>
            <a:spLocks noGrp="1"/>
          </p:cNvSpPr>
          <p:nvPr>
            <p:ph type="body" sz="quarter" idx="115"/>
          </p:nvPr>
        </p:nvSpPr>
        <p:spPr>
          <a:xfrm>
            <a:off x="9470400" y="4626864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1" name="Text Placeholder 21"/>
          <p:cNvSpPr>
            <a:spLocks noGrp="1"/>
          </p:cNvSpPr>
          <p:nvPr>
            <p:ph type="body" sz="quarter" idx="116"/>
          </p:nvPr>
        </p:nvSpPr>
        <p:spPr>
          <a:xfrm>
            <a:off x="601133" y="251235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21"/>
          <p:cNvSpPr>
            <a:spLocks noGrp="1"/>
          </p:cNvSpPr>
          <p:nvPr>
            <p:ph type="body" sz="quarter" idx="117"/>
          </p:nvPr>
        </p:nvSpPr>
        <p:spPr>
          <a:xfrm>
            <a:off x="2818449" y="251460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1"/>
          <p:cNvSpPr>
            <a:spLocks noGrp="1"/>
          </p:cNvSpPr>
          <p:nvPr>
            <p:ph type="body" sz="quarter" idx="118"/>
          </p:nvPr>
        </p:nvSpPr>
        <p:spPr>
          <a:xfrm>
            <a:off x="5035765" y="251460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1"/>
          <p:cNvSpPr>
            <a:spLocks noGrp="1"/>
          </p:cNvSpPr>
          <p:nvPr>
            <p:ph type="body" sz="quarter" idx="119"/>
          </p:nvPr>
        </p:nvSpPr>
        <p:spPr>
          <a:xfrm>
            <a:off x="7253081" y="251460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1"/>
          <p:cNvSpPr>
            <a:spLocks noGrp="1"/>
          </p:cNvSpPr>
          <p:nvPr>
            <p:ph type="body" sz="quarter" idx="120"/>
          </p:nvPr>
        </p:nvSpPr>
        <p:spPr>
          <a:xfrm>
            <a:off x="9470400" y="251460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1"/>
          <p:cNvSpPr>
            <a:spLocks noGrp="1"/>
          </p:cNvSpPr>
          <p:nvPr>
            <p:ph type="body" sz="quarter" idx="121"/>
          </p:nvPr>
        </p:nvSpPr>
        <p:spPr>
          <a:xfrm>
            <a:off x="601133" y="421005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1"/>
          <p:cNvSpPr>
            <a:spLocks noGrp="1"/>
          </p:cNvSpPr>
          <p:nvPr>
            <p:ph type="body" sz="quarter" idx="122"/>
          </p:nvPr>
        </p:nvSpPr>
        <p:spPr>
          <a:xfrm>
            <a:off x="2818449" y="421005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21"/>
          <p:cNvSpPr>
            <a:spLocks noGrp="1"/>
          </p:cNvSpPr>
          <p:nvPr>
            <p:ph type="body" sz="quarter" idx="123"/>
          </p:nvPr>
        </p:nvSpPr>
        <p:spPr>
          <a:xfrm>
            <a:off x="5035765" y="421005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1"/>
          <p:cNvSpPr>
            <a:spLocks noGrp="1"/>
          </p:cNvSpPr>
          <p:nvPr>
            <p:ph type="body" sz="quarter" idx="124"/>
          </p:nvPr>
        </p:nvSpPr>
        <p:spPr>
          <a:xfrm>
            <a:off x="7253081" y="421005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1"/>
          <p:cNvSpPr>
            <a:spLocks noGrp="1"/>
          </p:cNvSpPr>
          <p:nvPr>
            <p:ph type="body" sz="quarter" idx="125"/>
          </p:nvPr>
        </p:nvSpPr>
        <p:spPr>
          <a:xfrm>
            <a:off x="9470400" y="421005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1"/>
          <p:cNvSpPr>
            <a:spLocks noGrp="1"/>
          </p:cNvSpPr>
          <p:nvPr>
            <p:ph type="body" sz="quarter" idx="126"/>
          </p:nvPr>
        </p:nvSpPr>
        <p:spPr>
          <a:xfrm>
            <a:off x="601133" y="5919125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1"/>
          <p:cNvSpPr>
            <a:spLocks noGrp="1"/>
          </p:cNvSpPr>
          <p:nvPr>
            <p:ph type="body" sz="quarter" idx="127"/>
          </p:nvPr>
        </p:nvSpPr>
        <p:spPr>
          <a:xfrm>
            <a:off x="2818449" y="5919125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1"/>
          <p:cNvSpPr>
            <a:spLocks noGrp="1"/>
          </p:cNvSpPr>
          <p:nvPr>
            <p:ph type="body" sz="quarter" idx="128"/>
          </p:nvPr>
        </p:nvSpPr>
        <p:spPr>
          <a:xfrm>
            <a:off x="5035765" y="5919125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1"/>
          <p:cNvSpPr>
            <a:spLocks noGrp="1"/>
          </p:cNvSpPr>
          <p:nvPr>
            <p:ph type="body" sz="quarter" idx="129"/>
          </p:nvPr>
        </p:nvSpPr>
        <p:spPr>
          <a:xfrm>
            <a:off x="7253081" y="5919125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21"/>
          <p:cNvSpPr>
            <a:spLocks noGrp="1"/>
          </p:cNvSpPr>
          <p:nvPr>
            <p:ph type="body" sz="quarter" idx="130"/>
          </p:nvPr>
        </p:nvSpPr>
        <p:spPr>
          <a:xfrm>
            <a:off x="9470400" y="5919125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96901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6" name="Slide Number Placeholder 9"/>
          <p:cNvSpPr>
            <a:spLocks noGrp="1"/>
          </p:cNvSpPr>
          <p:nvPr>
            <p:ph type="sldNum" sz="quarter" idx="131"/>
          </p:nvPr>
        </p:nvSpPr>
        <p:spPr/>
        <p:txBody>
          <a:bodyPr/>
          <a:lstStyle>
            <a:lvl1pPr>
              <a:defRPr/>
            </a:lvl1pPr>
          </a:lstStyle>
          <a:p>
            <a:fld id="{465CD288-24B3-4B48-8EA0-67784588A8A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8" name="Footer Placeholder 12"/>
          <p:cNvSpPr>
            <a:spLocks noGrp="1"/>
          </p:cNvSpPr>
          <p:nvPr>
            <p:ph type="ftr" sz="quarter" idx="13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Taxation of C Corporations</a:t>
            </a:r>
          </a:p>
        </p:txBody>
      </p:sp>
    </p:spTree>
    <p:extLst>
      <p:ext uri="{BB962C8B-B14F-4D97-AF65-F5344CB8AC3E}">
        <p14:creationId xmlns:p14="http://schemas.microsoft.com/office/powerpoint/2010/main" val="1488665738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AWARDS V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1"/>
          <p:cNvSpPr>
            <a:spLocks noGrp="1"/>
          </p:cNvSpPr>
          <p:nvPr>
            <p:ph type="body" sz="quarter" idx="106"/>
          </p:nvPr>
        </p:nvSpPr>
        <p:spPr>
          <a:xfrm>
            <a:off x="601133" y="291465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1"/>
          <p:cNvSpPr>
            <a:spLocks noGrp="1"/>
          </p:cNvSpPr>
          <p:nvPr>
            <p:ph type="body" sz="quarter" idx="107"/>
          </p:nvPr>
        </p:nvSpPr>
        <p:spPr>
          <a:xfrm>
            <a:off x="601133" y="4626864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21"/>
          <p:cNvSpPr>
            <a:spLocks noGrp="1"/>
          </p:cNvSpPr>
          <p:nvPr>
            <p:ph type="body" sz="quarter" idx="101"/>
          </p:nvPr>
        </p:nvSpPr>
        <p:spPr>
          <a:xfrm>
            <a:off x="601133" y="121920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21"/>
          <p:cNvSpPr>
            <a:spLocks noGrp="1"/>
          </p:cNvSpPr>
          <p:nvPr>
            <p:ph type="body" sz="quarter" idx="102"/>
          </p:nvPr>
        </p:nvSpPr>
        <p:spPr>
          <a:xfrm>
            <a:off x="2818451" y="121920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21"/>
          <p:cNvSpPr>
            <a:spLocks noGrp="1"/>
          </p:cNvSpPr>
          <p:nvPr>
            <p:ph type="body" sz="quarter" idx="103"/>
          </p:nvPr>
        </p:nvSpPr>
        <p:spPr>
          <a:xfrm>
            <a:off x="5035768" y="121920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21"/>
          <p:cNvSpPr>
            <a:spLocks noGrp="1"/>
          </p:cNvSpPr>
          <p:nvPr>
            <p:ph type="body" sz="quarter" idx="104"/>
          </p:nvPr>
        </p:nvSpPr>
        <p:spPr>
          <a:xfrm>
            <a:off x="7253085" y="121920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ext Placeholder 21"/>
          <p:cNvSpPr>
            <a:spLocks noGrp="1"/>
          </p:cNvSpPr>
          <p:nvPr>
            <p:ph type="body" sz="quarter" idx="105"/>
          </p:nvPr>
        </p:nvSpPr>
        <p:spPr>
          <a:xfrm>
            <a:off x="9470400" y="121920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21"/>
          <p:cNvSpPr>
            <a:spLocks noGrp="1"/>
          </p:cNvSpPr>
          <p:nvPr>
            <p:ph type="body" sz="quarter" idx="108"/>
          </p:nvPr>
        </p:nvSpPr>
        <p:spPr>
          <a:xfrm>
            <a:off x="2818451" y="291465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Text Placeholder 21"/>
          <p:cNvSpPr>
            <a:spLocks noGrp="1"/>
          </p:cNvSpPr>
          <p:nvPr>
            <p:ph type="body" sz="quarter" idx="109"/>
          </p:nvPr>
        </p:nvSpPr>
        <p:spPr>
          <a:xfrm>
            <a:off x="2818451" y="4626864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ext Placeholder 21"/>
          <p:cNvSpPr>
            <a:spLocks noGrp="1"/>
          </p:cNvSpPr>
          <p:nvPr>
            <p:ph type="body" sz="quarter" idx="110"/>
          </p:nvPr>
        </p:nvSpPr>
        <p:spPr>
          <a:xfrm>
            <a:off x="5035768" y="291465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ext Placeholder 21"/>
          <p:cNvSpPr>
            <a:spLocks noGrp="1"/>
          </p:cNvSpPr>
          <p:nvPr>
            <p:ph type="body" sz="quarter" idx="111"/>
          </p:nvPr>
        </p:nvSpPr>
        <p:spPr>
          <a:xfrm>
            <a:off x="5035768" y="4626864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7" name="Text Placeholder 21"/>
          <p:cNvSpPr>
            <a:spLocks noGrp="1"/>
          </p:cNvSpPr>
          <p:nvPr>
            <p:ph type="body" sz="quarter" idx="112"/>
          </p:nvPr>
        </p:nvSpPr>
        <p:spPr>
          <a:xfrm>
            <a:off x="7253085" y="291465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Text Placeholder 21"/>
          <p:cNvSpPr>
            <a:spLocks noGrp="1"/>
          </p:cNvSpPr>
          <p:nvPr>
            <p:ph type="body" sz="quarter" idx="113"/>
          </p:nvPr>
        </p:nvSpPr>
        <p:spPr>
          <a:xfrm>
            <a:off x="7253085" y="4626864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Text Placeholder 21"/>
          <p:cNvSpPr>
            <a:spLocks noGrp="1"/>
          </p:cNvSpPr>
          <p:nvPr>
            <p:ph type="body" sz="quarter" idx="114"/>
          </p:nvPr>
        </p:nvSpPr>
        <p:spPr>
          <a:xfrm>
            <a:off x="9470400" y="291465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0" name="Text Placeholder 21"/>
          <p:cNvSpPr>
            <a:spLocks noGrp="1"/>
          </p:cNvSpPr>
          <p:nvPr>
            <p:ph type="body" sz="quarter" idx="115"/>
          </p:nvPr>
        </p:nvSpPr>
        <p:spPr>
          <a:xfrm>
            <a:off x="9470400" y="4626864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1" name="Text Placeholder 21"/>
          <p:cNvSpPr>
            <a:spLocks noGrp="1"/>
          </p:cNvSpPr>
          <p:nvPr>
            <p:ph type="body" sz="quarter" idx="116"/>
          </p:nvPr>
        </p:nvSpPr>
        <p:spPr>
          <a:xfrm>
            <a:off x="601133" y="2432304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21"/>
          <p:cNvSpPr>
            <a:spLocks noGrp="1"/>
          </p:cNvSpPr>
          <p:nvPr>
            <p:ph type="body" sz="quarter" idx="117"/>
          </p:nvPr>
        </p:nvSpPr>
        <p:spPr>
          <a:xfrm>
            <a:off x="2818449" y="2432304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1"/>
          <p:cNvSpPr>
            <a:spLocks noGrp="1"/>
          </p:cNvSpPr>
          <p:nvPr>
            <p:ph type="body" sz="quarter" idx="118"/>
          </p:nvPr>
        </p:nvSpPr>
        <p:spPr>
          <a:xfrm>
            <a:off x="5035765" y="2432304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1"/>
          <p:cNvSpPr>
            <a:spLocks noGrp="1"/>
          </p:cNvSpPr>
          <p:nvPr>
            <p:ph type="body" sz="quarter" idx="119"/>
          </p:nvPr>
        </p:nvSpPr>
        <p:spPr>
          <a:xfrm>
            <a:off x="7253081" y="2432304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1"/>
          <p:cNvSpPr>
            <a:spLocks noGrp="1"/>
          </p:cNvSpPr>
          <p:nvPr>
            <p:ph type="body" sz="quarter" idx="120"/>
          </p:nvPr>
        </p:nvSpPr>
        <p:spPr>
          <a:xfrm>
            <a:off x="9470400" y="2432304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1"/>
          <p:cNvSpPr>
            <a:spLocks noGrp="1"/>
          </p:cNvSpPr>
          <p:nvPr>
            <p:ph type="body" sz="quarter" idx="121"/>
          </p:nvPr>
        </p:nvSpPr>
        <p:spPr>
          <a:xfrm>
            <a:off x="601133" y="4133088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1"/>
          <p:cNvSpPr>
            <a:spLocks noGrp="1"/>
          </p:cNvSpPr>
          <p:nvPr>
            <p:ph type="body" sz="quarter" idx="122"/>
          </p:nvPr>
        </p:nvSpPr>
        <p:spPr>
          <a:xfrm>
            <a:off x="2818449" y="4133088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21"/>
          <p:cNvSpPr>
            <a:spLocks noGrp="1"/>
          </p:cNvSpPr>
          <p:nvPr>
            <p:ph type="body" sz="quarter" idx="123"/>
          </p:nvPr>
        </p:nvSpPr>
        <p:spPr>
          <a:xfrm>
            <a:off x="5035765" y="4133088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1"/>
          <p:cNvSpPr>
            <a:spLocks noGrp="1"/>
          </p:cNvSpPr>
          <p:nvPr>
            <p:ph type="body" sz="quarter" idx="124"/>
          </p:nvPr>
        </p:nvSpPr>
        <p:spPr>
          <a:xfrm>
            <a:off x="7253081" y="4133088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1"/>
          <p:cNvSpPr>
            <a:spLocks noGrp="1"/>
          </p:cNvSpPr>
          <p:nvPr>
            <p:ph type="body" sz="quarter" idx="125"/>
          </p:nvPr>
        </p:nvSpPr>
        <p:spPr>
          <a:xfrm>
            <a:off x="9470400" y="4133088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1"/>
          <p:cNvSpPr>
            <a:spLocks noGrp="1"/>
          </p:cNvSpPr>
          <p:nvPr>
            <p:ph type="body" sz="quarter" idx="126"/>
          </p:nvPr>
        </p:nvSpPr>
        <p:spPr>
          <a:xfrm>
            <a:off x="601133" y="5843016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1"/>
          <p:cNvSpPr>
            <a:spLocks noGrp="1"/>
          </p:cNvSpPr>
          <p:nvPr>
            <p:ph type="body" sz="quarter" idx="127"/>
          </p:nvPr>
        </p:nvSpPr>
        <p:spPr>
          <a:xfrm>
            <a:off x="2818449" y="5843016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1"/>
          <p:cNvSpPr>
            <a:spLocks noGrp="1"/>
          </p:cNvSpPr>
          <p:nvPr>
            <p:ph type="body" sz="quarter" idx="128"/>
          </p:nvPr>
        </p:nvSpPr>
        <p:spPr>
          <a:xfrm>
            <a:off x="5035765" y="5843016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1"/>
          <p:cNvSpPr>
            <a:spLocks noGrp="1"/>
          </p:cNvSpPr>
          <p:nvPr>
            <p:ph type="body" sz="quarter" idx="129"/>
          </p:nvPr>
        </p:nvSpPr>
        <p:spPr>
          <a:xfrm>
            <a:off x="7253081" y="5843016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21"/>
          <p:cNvSpPr>
            <a:spLocks noGrp="1"/>
          </p:cNvSpPr>
          <p:nvPr>
            <p:ph type="body" sz="quarter" idx="130"/>
          </p:nvPr>
        </p:nvSpPr>
        <p:spPr>
          <a:xfrm>
            <a:off x="9470400" y="5843016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96901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6" name="Slide Number Placeholder 9"/>
          <p:cNvSpPr>
            <a:spLocks noGrp="1"/>
          </p:cNvSpPr>
          <p:nvPr>
            <p:ph type="sldNum" sz="quarter" idx="131"/>
          </p:nvPr>
        </p:nvSpPr>
        <p:spPr/>
        <p:txBody>
          <a:bodyPr/>
          <a:lstStyle>
            <a:lvl1pPr>
              <a:defRPr/>
            </a:lvl1pPr>
          </a:lstStyle>
          <a:p>
            <a:fld id="{90FE7E78-F63E-6945-90BC-87516667A72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8" name="Footer Placeholder 12"/>
          <p:cNvSpPr>
            <a:spLocks noGrp="1"/>
          </p:cNvSpPr>
          <p:nvPr>
            <p:ph type="ftr" sz="quarter" idx="13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Taxation of C Corporations</a:t>
            </a:r>
          </a:p>
        </p:txBody>
      </p:sp>
    </p:spTree>
    <p:extLst>
      <p:ext uri="{BB962C8B-B14F-4D97-AF65-F5344CB8AC3E}">
        <p14:creationId xmlns:p14="http://schemas.microsoft.com/office/powerpoint/2010/main" val="990063456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152400"/>
            <a:ext cx="10363200" cy="6096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14400" y="914400"/>
            <a:ext cx="10363200" cy="54102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Rectangle 3"/>
          <p:cNvSpPr>
            <a:spLocks noGrp="1" noChangeArrowheads="1"/>
          </p:cNvSpPr>
          <p:nvPr>
            <p:ph type="ftr" sz="quarter" idx="10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en-US"/>
              <a:t>Taxation of C Corporations</a:t>
            </a:r>
            <a:endParaRPr lang="en-US" dirty="0"/>
          </a:p>
        </p:txBody>
      </p:sp>
      <p:sp>
        <p:nvSpPr>
          <p:cNvPr id="5" name="Rectangle 4"/>
          <p:cNvSpPr>
            <a:spLocks noGrp="1" noChangeArrowheads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dirty="0">
              <a:latin typeface="Calibri"/>
            </a:endParaRPr>
          </a:p>
          <a:p>
            <a:fld id="{32A47CA8-1D40-3C49-82CF-CF2201A41E4F}" type="slidenum">
              <a:rPr lang="en-US" smtClean="0">
                <a:latin typeface="Calibri"/>
              </a:rPr>
              <a:pPr/>
              <a:t>‹#›</a:t>
            </a:fld>
            <a:endParaRPr lang="en-US" dirty="0"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654697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56" Type="http://schemas.openxmlformats.org/officeDocument/2006/relationships/theme" Target="../theme/theme1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8" name="Line 88"/>
          <p:cNvSpPr>
            <a:spLocks noChangeShapeType="1"/>
          </p:cNvSpPr>
          <p:nvPr/>
        </p:nvSpPr>
        <p:spPr bwMode="gray">
          <a:xfrm>
            <a:off x="0" y="6423027"/>
            <a:ext cx="12192000" cy="0"/>
          </a:xfrm>
          <a:prstGeom prst="line">
            <a:avLst/>
          </a:prstGeom>
          <a:noFill/>
          <a:ln w="15875">
            <a:solidFill>
              <a:schemeClr val="accent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80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4"/>
          </p:nvPr>
        </p:nvSpPr>
        <p:spPr>
          <a:xfrm>
            <a:off x="11480800" y="6436634"/>
            <a:ext cx="609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800" b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</a:defRPr>
            </a:lvl1pPr>
          </a:lstStyle>
          <a:p>
            <a:pPr algn="r"/>
            <a:fld id="{D9D5F7EB-196B-A148-8812-2A4F7A2FBBD6}" type="slidenum">
              <a:rPr lang="en-US" altLang="en-US" smtClean="0"/>
              <a:pPr algn="r"/>
              <a:t>‹#›</a:t>
            </a:fld>
            <a:endParaRPr lang="en-US" altLang="en-US" dirty="0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3"/>
          </p:nvPr>
        </p:nvSpPr>
        <p:spPr>
          <a:xfrm>
            <a:off x="4165600" y="6442487"/>
            <a:ext cx="3860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>
              <a:defRPr sz="1000" b="1" smtClean="0">
                <a:solidFill>
                  <a:srgbClr val="898989"/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r>
              <a:rPr lang="en-US" dirty="0"/>
              <a:t>Ordinary Distributions</a:t>
            </a:r>
          </a:p>
        </p:txBody>
      </p:sp>
      <p:sp>
        <p:nvSpPr>
          <p:cNvPr id="9" name="Footer Placeholder 3"/>
          <p:cNvSpPr txBox="1">
            <a:spLocks/>
          </p:cNvSpPr>
          <p:nvPr userDrawn="1"/>
        </p:nvSpPr>
        <p:spPr>
          <a:xfrm>
            <a:off x="96545" y="6423028"/>
            <a:ext cx="3149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ctr" rtl="0" fontAlgn="base">
              <a:spcBef>
                <a:spcPct val="0"/>
              </a:spcBef>
              <a:spcAft>
                <a:spcPct val="0"/>
              </a:spcAft>
              <a:defRPr sz="1200" kern="1200" smtClean="0">
                <a:solidFill>
                  <a:srgbClr val="898989"/>
                </a:solidFill>
                <a:latin typeface="Arial" charset="0"/>
                <a:ea typeface="+mn-ea"/>
                <a:cs typeface="Arial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algn="l">
              <a:defRPr/>
            </a:pPr>
            <a:r>
              <a:rPr lang="en-US" sz="800" dirty="0">
                <a:latin typeface="+mn-lt"/>
              </a:rPr>
              <a:t>CT</a:t>
            </a:r>
            <a:r>
              <a:rPr lang="en-US" sz="800" baseline="0" dirty="0">
                <a:latin typeface="+mn-lt"/>
              </a:rPr>
              <a:t>_OrdDistributions_2026S</a:t>
            </a:r>
            <a:endParaRPr lang="en-US" sz="800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717763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715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73" r:id="rId14"/>
    <p:sldLayoutId id="2147483674" r:id="rId15"/>
    <p:sldLayoutId id="2147483675" r:id="rId16"/>
    <p:sldLayoutId id="2147483676" r:id="rId17"/>
    <p:sldLayoutId id="2147483677" r:id="rId18"/>
    <p:sldLayoutId id="2147483678" r:id="rId19"/>
    <p:sldLayoutId id="2147483679" r:id="rId20"/>
    <p:sldLayoutId id="2147483680" r:id="rId21"/>
    <p:sldLayoutId id="2147483681" r:id="rId22"/>
    <p:sldLayoutId id="2147483682" r:id="rId23"/>
    <p:sldLayoutId id="2147483683" r:id="rId24"/>
    <p:sldLayoutId id="2147483684" r:id="rId25"/>
    <p:sldLayoutId id="2147483685" r:id="rId26"/>
    <p:sldLayoutId id="2147483686" r:id="rId27"/>
    <p:sldLayoutId id="2147483687" r:id="rId28"/>
    <p:sldLayoutId id="2147483688" r:id="rId29"/>
    <p:sldLayoutId id="2147483689" r:id="rId30"/>
    <p:sldLayoutId id="2147483690" r:id="rId31"/>
    <p:sldLayoutId id="2147483691" r:id="rId32"/>
    <p:sldLayoutId id="2147483692" r:id="rId33"/>
    <p:sldLayoutId id="2147483693" r:id="rId34"/>
    <p:sldLayoutId id="2147483694" r:id="rId35"/>
    <p:sldLayoutId id="2147483695" r:id="rId36"/>
    <p:sldLayoutId id="2147483696" r:id="rId37"/>
    <p:sldLayoutId id="2147483697" r:id="rId38"/>
    <p:sldLayoutId id="2147483698" r:id="rId39"/>
    <p:sldLayoutId id="2147483699" r:id="rId40"/>
    <p:sldLayoutId id="2147483700" r:id="rId41"/>
    <p:sldLayoutId id="2147483701" r:id="rId42"/>
    <p:sldLayoutId id="2147483702" r:id="rId43"/>
    <p:sldLayoutId id="2147483703" r:id="rId44"/>
    <p:sldLayoutId id="2147483704" r:id="rId45"/>
    <p:sldLayoutId id="2147483705" r:id="rId46"/>
    <p:sldLayoutId id="2147483706" r:id="rId47"/>
    <p:sldLayoutId id="2147483707" r:id="rId48"/>
    <p:sldLayoutId id="2147483708" r:id="rId49"/>
    <p:sldLayoutId id="2147483709" r:id="rId50"/>
    <p:sldLayoutId id="2147483710" r:id="rId51"/>
    <p:sldLayoutId id="2147483711" r:id="rId52"/>
    <p:sldLayoutId id="2147483712" r:id="rId53"/>
    <p:sldLayoutId id="2147483713" r:id="rId54"/>
    <p:sldLayoutId id="2147483714" r:id="rId55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Ordinary distributions of property (§301)</a:t>
            </a:r>
          </a:p>
          <a:p>
            <a:pPr lvl="1"/>
            <a:r>
              <a:rPr lang="en-US" dirty="0"/>
              <a:t>Dividend</a:t>
            </a:r>
          </a:p>
          <a:p>
            <a:pPr lvl="1"/>
            <a:r>
              <a:rPr lang="en-US" dirty="0"/>
              <a:t>ROC</a:t>
            </a:r>
          </a:p>
          <a:p>
            <a:pPr lvl="1"/>
            <a:r>
              <a:rPr lang="en-US" dirty="0"/>
              <a:t>S/X</a:t>
            </a:r>
          </a:p>
          <a:p>
            <a:endParaRPr lang="en-US" dirty="0"/>
          </a:p>
          <a:p>
            <a:r>
              <a:rPr lang="en-US" dirty="0"/>
              <a:t>Redemptions (§302)</a:t>
            </a:r>
          </a:p>
          <a:p>
            <a:pPr lvl="1"/>
            <a:r>
              <a:rPr lang="en-US" dirty="0"/>
              <a:t>Ordinary distribution</a:t>
            </a:r>
          </a:p>
          <a:p>
            <a:pPr lvl="1"/>
            <a:r>
              <a:rPr lang="en-US" dirty="0"/>
              <a:t>S/X</a:t>
            </a:r>
          </a:p>
          <a:p>
            <a:pPr lvl="1"/>
            <a:r>
              <a:rPr lang="en-US" dirty="0"/>
              <a:t>S/X treated as redemptions (§304)</a:t>
            </a:r>
          </a:p>
          <a:p>
            <a:endParaRPr lang="en-US" dirty="0"/>
          </a:p>
          <a:p>
            <a:r>
              <a:rPr lang="en-US" dirty="0"/>
              <a:t>Liquidating distributions (§§331 and 332)</a:t>
            </a:r>
          </a:p>
          <a:p>
            <a:pPr lvl="1"/>
            <a:r>
              <a:rPr lang="en-US" dirty="0"/>
              <a:t>S/X </a:t>
            </a:r>
          </a:p>
          <a:p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Ordinary Distributions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</a:t>
            </a:fld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Ordinary Distributions</a:t>
            </a:r>
          </a:p>
        </p:txBody>
      </p:sp>
    </p:spTree>
    <p:extLst>
      <p:ext uri="{BB962C8B-B14F-4D97-AF65-F5344CB8AC3E}">
        <p14:creationId xmlns:p14="http://schemas.microsoft.com/office/powerpoint/2010/main" val="12678345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/>
              <a:t>Ordinary distributions of property:</a:t>
            </a:r>
          </a:p>
          <a:p>
            <a:pPr lvl="1"/>
            <a:r>
              <a:rPr lang="en-US" sz="2400" dirty="0"/>
              <a:t>(a) </a:t>
            </a:r>
            <a:r>
              <a:rPr lang="en-US" sz="2400" b="1" i="1" dirty="0"/>
              <a:t>Dividend</a:t>
            </a:r>
            <a:r>
              <a:rPr lang="en-US" sz="2400" dirty="0"/>
              <a:t> to the extent of accumulated </a:t>
            </a:r>
            <a:r>
              <a:rPr lang="en-US" sz="2400" b="1" u="sng" dirty="0"/>
              <a:t>or</a:t>
            </a:r>
            <a:r>
              <a:rPr lang="en-US" sz="2400" dirty="0"/>
              <a:t> current earnings &amp; profits (E&amp;Ps), then</a:t>
            </a:r>
          </a:p>
          <a:p>
            <a:pPr lvl="1"/>
            <a:r>
              <a:rPr lang="en-US" sz="2400" dirty="0"/>
              <a:t>(b) Recovery of basis, and then</a:t>
            </a:r>
          </a:p>
          <a:p>
            <a:pPr lvl="1"/>
            <a:r>
              <a:rPr lang="en-US" sz="2400" dirty="0"/>
              <a:t>(c) Capital gain. §301(c).</a:t>
            </a:r>
          </a:p>
          <a:p>
            <a:pPr lvl="1"/>
            <a:endParaRPr lang="en-US" sz="2400" dirty="0"/>
          </a:p>
          <a:p>
            <a:r>
              <a:rPr lang="en-US" sz="2600" dirty="0"/>
              <a:t>SH receives FMV basis in property received. §301(d).</a:t>
            </a:r>
          </a:p>
          <a:p>
            <a:endParaRPr lang="en-US" sz="2800" dirty="0"/>
          </a:p>
          <a:p>
            <a:r>
              <a:rPr lang="en-US" sz="2800" dirty="0"/>
              <a:t>Property</a:t>
            </a:r>
          </a:p>
          <a:p>
            <a:pPr lvl="1"/>
            <a:r>
              <a:rPr lang="en-US" sz="2400" dirty="0"/>
              <a:t>Money, securities, other property </a:t>
            </a:r>
            <a:r>
              <a:rPr lang="en-US" sz="2400" b="1" i="1" dirty="0"/>
              <a:t>except </a:t>
            </a:r>
            <a:r>
              <a:rPr lang="en-US" sz="2400" b="1" dirty="0"/>
              <a:t>stock (or warrants) </a:t>
            </a:r>
            <a:r>
              <a:rPr lang="en-US" sz="2400" dirty="0"/>
              <a:t>of the distributing corporation. §317(a).</a:t>
            </a:r>
          </a:p>
          <a:p>
            <a:pPr lvl="1"/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Ordinary Distributions: Shareholder Consequences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2</a:t>
            </a:fld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Ordinary Distributions</a:t>
            </a:r>
          </a:p>
        </p:txBody>
      </p:sp>
    </p:spTree>
    <p:extLst>
      <p:ext uri="{BB962C8B-B14F-4D97-AF65-F5344CB8AC3E}">
        <p14:creationId xmlns:p14="http://schemas.microsoft.com/office/powerpoint/2010/main" val="7398875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altLang="en-US" sz="2800" dirty="0"/>
              <a:t>E&amp;Ps</a:t>
            </a:r>
          </a:p>
          <a:p>
            <a:pPr lvl="1"/>
            <a:r>
              <a:rPr lang="en-US" altLang="en-US" sz="2400" b="1" dirty="0">
                <a:solidFill>
                  <a:srgbClr val="00B050"/>
                </a:solidFill>
              </a:rPr>
              <a:t>Start</a:t>
            </a:r>
            <a:r>
              <a:rPr lang="en-US" altLang="en-US" sz="2400" dirty="0"/>
              <a:t> w/ </a:t>
            </a:r>
            <a:r>
              <a:rPr lang="en-US" altLang="en-US" sz="2400" u="sng" dirty="0"/>
              <a:t>taxable income</a:t>
            </a:r>
          </a:p>
          <a:p>
            <a:pPr lvl="1"/>
            <a:r>
              <a:rPr lang="en-US" altLang="en-US" sz="2400" b="1" dirty="0"/>
              <a:t>Add</a:t>
            </a:r>
            <a:r>
              <a:rPr lang="en-US" altLang="en-US" sz="2400" dirty="0"/>
              <a:t> </a:t>
            </a:r>
            <a:r>
              <a:rPr lang="en-US" altLang="en-US" sz="2400" b="1" dirty="0"/>
              <a:t>back</a:t>
            </a:r>
            <a:r>
              <a:rPr lang="en-US" altLang="en-US" sz="2400" dirty="0"/>
              <a:t> tax-free income, such as municipal bond interest, life insurance proceeds</a:t>
            </a:r>
          </a:p>
          <a:p>
            <a:pPr lvl="1"/>
            <a:r>
              <a:rPr lang="en-US" altLang="en-US" sz="2400" b="1" dirty="0"/>
              <a:t>Add</a:t>
            </a:r>
            <a:r>
              <a:rPr lang="en-US" altLang="en-US" sz="2400" dirty="0"/>
              <a:t> </a:t>
            </a:r>
            <a:r>
              <a:rPr lang="en-US" altLang="en-US" sz="2400" b="1" dirty="0"/>
              <a:t>back </a:t>
            </a:r>
            <a:r>
              <a:rPr lang="en-US" altLang="en-US" sz="2400" dirty="0"/>
              <a:t>certain deductions that reduce TI, </a:t>
            </a:r>
            <a:r>
              <a:rPr lang="en-US" altLang="en-US" sz="2400" i="1" dirty="0"/>
              <a:t>e.g.,</a:t>
            </a:r>
            <a:r>
              <a:rPr lang="en-US" altLang="en-US" sz="2400" dirty="0"/>
              <a:t> DRD and NOL</a:t>
            </a:r>
          </a:p>
          <a:p>
            <a:pPr lvl="1"/>
            <a:r>
              <a:rPr lang="en-US" altLang="en-US" sz="2400" b="1" dirty="0">
                <a:solidFill>
                  <a:srgbClr val="FF0000"/>
                </a:solidFill>
              </a:rPr>
              <a:t>Subtract</a:t>
            </a:r>
            <a:r>
              <a:rPr lang="en-US" altLang="en-US" sz="2400" dirty="0"/>
              <a:t> certain disallowed losses, </a:t>
            </a:r>
            <a:r>
              <a:rPr lang="en-US" altLang="en-US" sz="2400" i="1" dirty="0"/>
              <a:t>e.g</a:t>
            </a:r>
            <a:r>
              <a:rPr lang="en-US" altLang="en-US" sz="2400" dirty="0"/>
              <a:t>., §1211 CLs </a:t>
            </a:r>
          </a:p>
          <a:p>
            <a:pPr lvl="1"/>
            <a:r>
              <a:rPr lang="en-US" altLang="en-US" sz="2400" b="1" dirty="0">
                <a:solidFill>
                  <a:srgbClr val="FF0000"/>
                </a:solidFill>
              </a:rPr>
              <a:t>Subtract</a:t>
            </a:r>
            <a:r>
              <a:rPr lang="en-US" altLang="en-US" sz="2400" dirty="0"/>
              <a:t> certain nondeductible payments, </a:t>
            </a:r>
            <a:r>
              <a:rPr lang="en-US" altLang="en-US" sz="2400" i="1" dirty="0"/>
              <a:t>e.g.,</a:t>
            </a:r>
            <a:r>
              <a:rPr lang="en-US" altLang="en-US" sz="2400" dirty="0"/>
              <a:t> income taxes</a:t>
            </a:r>
          </a:p>
          <a:p>
            <a:pPr lvl="1"/>
            <a:r>
              <a:rPr lang="en-US" altLang="en-US" sz="2400" b="1" dirty="0">
                <a:solidFill>
                  <a:srgbClr val="FF0000"/>
                </a:solidFill>
              </a:rPr>
              <a:t>Subtract</a:t>
            </a:r>
            <a:r>
              <a:rPr lang="en-US" altLang="en-US" sz="2400" dirty="0"/>
              <a:t> distributions ($, face value of debt, adjusted basis of property).  </a:t>
            </a:r>
          </a:p>
          <a:p>
            <a:pPr lvl="2"/>
            <a:r>
              <a:rPr lang="en-US" altLang="en-US" sz="2400" i="1" dirty="0"/>
              <a:t>Note</a:t>
            </a:r>
            <a:r>
              <a:rPr lang="en-US" altLang="en-US" sz="2400" dirty="0"/>
              <a:t>:  When an appreciated asset is distributed, E&amp;Ps are first increased by amount of gain and then decreased by the amount of the distribution</a:t>
            </a:r>
          </a:p>
          <a:p>
            <a:pPr lvl="3"/>
            <a:r>
              <a:rPr lang="en-US" altLang="en-US" sz="2200" dirty="0"/>
              <a:t>Ex: Corp distributes property (FMV=100; AB=75): E&amp;Ps increased by 25 and then decreased by 100</a:t>
            </a:r>
          </a:p>
          <a:p>
            <a:pPr lvl="1"/>
            <a:r>
              <a:rPr lang="en-US" altLang="en-US" sz="2400" i="1" dirty="0"/>
              <a:t>Realized</a:t>
            </a:r>
            <a:r>
              <a:rPr lang="en-US" altLang="en-US" sz="2400" dirty="0"/>
              <a:t> gain/losses affect E&amp;Ps only to the extent they are </a:t>
            </a:r>
            <a:r>
              <a:rPr lang="en-US" altLang="en-US" sz="2400" i="1" dirty="0"/>
              <a:t>recognized </a:t>
            </a:r>
            <a:r>
              <a:rPr lang="en-US" altLang="en-US" sz="2400" dirty="0"/>
              <a:t>(§312(a), (f); Reg. §1.312-7(b)(1)).  </a:t>
            </a:r>
          </a:p>
          <a:p>
            <a:pPr lvl="2"/>
            <a:r>
              <a:rPr lang="en-US" altLang="en-US" sz="2400" dirty="0"/>
              <a:t>Ex: Losses </a:t>
            </a:r>
            <a:r>
              <a:rPr lang="en-US" altLang="en-US" sz="2400" i="1" dirty="0"/>
              <a:t>realized</a:t>
            </a:r>
            <a:r>
              <a:rPr lang="en-US" altLang="en-US" sz="2400" dirty="0"/>
              <a:t> but not recognized because of the wash sales rules don’t affect E&amp;Ps</a:t>
            </a:r>
          </a:p>
          <a:p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Ordinary Distributions: E&amp;Ps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3</a:t>
            </a:fld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Ordinary Distributions</a:t>
            </a:r>
          </a:p>
        </p:txBody>
      </p:sp>
    </p:spTree>
    <p:extLst>
      <p:ext uri="{BB962C8B-B14F-4D97-AF65-F5344CB8AC3E}">
        <p14:creationId xmlns:p14="http://schemas.microsoft.com/office/powerpoint/2010/main" val="9021590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 descr="A close-up of a document&#10;&#10;AI-generated content may be incorrect.">
            <a:extLst>
              <a:ext uri="{FF2B5EF4-FFF2-40B4-BE49-F238E27FC236}">
                <a16:creationId xmlns:a16="http://schemas.microsoft.com/office/drawing/2014/main" id="{2143BD94-AF61-99CD-91F3-3571CB2C116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93454" y="855827"/>
            <a:ext cx="8991600" cy="4872944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70D30399-54E6-60CA-A29C-F519D88D60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Dividend: </a:t>
            </a:r>
            <a:r>
              <a:rPr lang="en-US" altLang="en-US" sz="2000" dirty="0"/>
              <a:t>§316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C30033-DA98-9FFD-8818-505C2628302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4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1ED6E9-9816-6B1E-3FDD-C2459BDFF1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Taxation of C Corporations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503205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/>
              <a:t>Accumulated and Current E&amp;Ps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9"/>
          </p:nvPr>
        </p:nvSpPr>
        <p:spPr/>
        <p:txBody>
          <a:bodyPr/>
          <a:lstStyle/>
          <a:p>
            <a:r>
              <a:rPr lang="en-US" sz="1800"/>
              <a:t>Distribution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856F0A94-AD2E-974D-AF6B-04AF335E854A}" type="slidenum">
              <a:rPr lang="en-US" altLang="en-US" smtClean="0"/>
              <a:pPr/>
              <a:t>5</a:t>
            </a:fld>
            <a:endParaRPr lang="en-US" altLang="en-US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23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Ordinary Distributions</a:t>
            </a:r>
          </a:p>
        </p:txBody>
      </p:sp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Ordinary Distributions: Rev. Rul. 74-164</a:t>
            </a:r>
          </a:p>
        </p:txBody>
      </p:sp>
      <p:sp>
        <p:nvSpPr>
          <p:cNvPr id="30" name="Oval 29"/>
          <p:cNvSpPr/>
          <p:nvPr/>
        </p:nvSpPr>
        <p:spPr>
          <a:xfrm>
            <a:off x="8121811" y="2342388"/>
            <a:ext cx="968614" cy="66791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>
                <a:solidFill>
                  <a:schemeClr val="tx1"/>
                </a:solidFill>
              </a:rPr>
              <a:t>SH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121810" y="3558525"/>
            <a:ext cx="968615" cy="66791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chemeClr val="tx1"/>
                </a:solidFill>
              </a:rPr>
              <a:t>X &amp; 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852529" y="3074560"/>
            <a:ext cx="16282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/>
              <a:t>15k on 7/1/71</a:t>
            </a:r>
          </a:p>
        </p:txBody>
      </p:sp>
      <p:cxnSp>
        <p:nvCxnSpPr>
          <p:cNvPr id="41" name="Straight Connector 40"/>
          <p:cNvCxnSpPr/>
          <p:nvPr/>
        </p:nvCxnSpPr>
        <p:spPr>
          <a:xfrm>
            <a:off x="6100477" y="814835"/>
            <a:ext cx="0" cy="533609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Content Placeholder 3"/>
          <p:cNvSpPr>
            <a:spLocks noGrp="1"/>
          </p:cNvSpPr>
          <p:nvPr>
            <p:ph sz="quarter" idx="20"/>
          </p:nvPr>
        </p:nvSpPr>
        <p:spPr>
          <a:xfrm>
            <a:off x="505883" y="1195227"/>
            <a:ext cx="5388864" cy="5129373"/>
          </a:xfrm>
        </p:spPr>
        <p:txBody>
          <a:bodyPr>
            <a:normAutofit lnSpcReduction="10000"/>
          </a:bodyPr>
          <a:lstStyle/>
          <a:p>
            <a:pPr>
              <a:lnSpc>
                <a:spcPct val="90000"/>
              </a:lnSpc>
            </a:pPr>
            <a:r>
              <a:rPr lang="en-US" altLang="en-US" sz="2000" b="1" dirty="0"/>
              <a:t>Sit. 1</a:t>
            </a:r>
            <a:r>
              <a:rPr lang="en-US" altLang="en-US" sz="2000" dirty="0"/>
              <a:t> </a:t>
            </a:r>
            <a:r>
              <a:rPr lang="en-US" altLang="en-US" sz="2000" b="1" dirty="0"/>
              <a:t>(X)</a:t>
            </a:r>
            <a:endParaRPr lang="en-US" altLang="en-US" sz="2000" dirty="0"/>
          </a:p>
          <a:p>
            <a:pPr lvl="1">
              <a:lnSpc>
                <a:spcPct val="90000"/>
              </a:lnSpc>
            </a:pPr>
            <a:r>
              <a:rPr lang="en-US" altLang="en-US" sz="2000" dirty="0" err="1"/>
              <a:t>Accum</a:t>
            </a:r>
            <a:r>
              <a:rPr lang="en-US" altLang="en-US" sz="2000" dirty="0"/>
              <a:t>. E&amp;Ps ‘71:  	40K</a:t>
            </a:r>
          </a:p>
          <a:p>
            <a:pPr lvl="1">
              <a:lnSpc>
                <a:spcPct val="90000"/>
              </a:lnSpc>
            </a:pPr>
            <a:r>
              <a:rPr lang="en-US" altLang="en-US" sz="2000" dirty="0"/>
              <a:t>Oper. loss 1/1–6/30:	&lt;50K&gt;</a:t>
            </a:r>
          </a:p>
          <a:p>
            <a:pPr lvl="1">
              <a:lnSpc>
                <a:spcPct val="90000"/>
              </a:lnSpc>
            </a:pPr>
            <a:r>
              <a:rPr lang="en-US" altLang="en-US" sz="2000" dirty="0"/>
              <a:t>‘71 E&amp;Ps:  		5K</a:t>
            </a:r>
          </a:p>
          <a:p>
            <a:pPr>
              <a:lnSpc>
                <a:spcPct val="90000"/>
              </a:lnSpc>
            </a:pPr>
            <a:r>
              <a:rPr lang="en-US" altLang="en-US" sz="2000" b="1" dirty="0"/>
              <a:t>Sit. 2</a:t>
            </a:r>
            <a:r>
              <a:rPr lang="en-US" altLang="en-US" sz="2000" dirty="0"/>
              <a:t> </a:t>
            </a:r>
            <a:r>
              <a:rPr lang="en-US" altLang="en-US" sz="2000" b="1" dirty="0"/>
              <a:t>(Y)</a:t>
            </a:r>
            <a:endParaRPr lang="en-US" altLang="en-US" sz="2000" dirty="0"/>
          </a:p>
          <a:p>
            <a:pPr lvl="1">
              <a:lnSpc>
                <a:spcPct val="90000"/>
              </a:lnSpc>
            </a:pPr>
            <a:r>
              <a:rPr lang="en-US" altLang="en-US" sz="2000" dirty="0" err="1"/>
              <a:t>Accum</a:t>
            </a:r>
            <a:r>
              <a:rPr lang="en-US" altLang="en-US" sz="2000" dirty="0"/>
              <a:t>. E&amp;Ps ‘71:  	&lt;60K&gt;</a:t>
            </a:r>
          </a:p>
          <a:p>
            <a:pPr lvl="1">
              <a:lnSpc>
                <a:spcPct val="90000"/>
              </a:lnSpc>
            </a:pPr>
            <a:r>
              <a:rPr lang="en-US" altLang="en-US" sz="2000" dirty="0"/>
              <a:t>Profits 1/1-6/30: 	75K</a:t>
            </a:r>
          </a:p>
          <a:p>
            <a:pPr lvl="1">
              <a:lnSpc>
                <a:spcPct val="90000"/>
              </a:lnSpc>
            </a:pPr>
            <a:r>
              <a:rPr lang="en-US" altLang="en-US" sz="2000" dirty="0"/>
              <a:t>‘71 E&amp;Ps:  		5K</a:t>
            </a:r>
          </a:p>
          <a:p>
            <a:pPr>
              <a:lnSpc>
                <a:spcPct val="90000"/>
              </a:lnSpc>
            </a:pPr>
            <a:r>
              <a:rPr lang="en-US" altLang="en-US" sz="2000" b="1" dirty="0"/>
              <a:t>Sit. 3</a:t>
            </a:r>
            <a:r>
              <a:rPr lang="en-US" altLang="en-US" sz="2000" dirty="0"/>
              <a:t> </a:t>
            </a:r>
            <a:r>
              <a:rPr lang="en-US" altLang="en-US" sz="2000" b="1" dirty="0"/>
              <a:t>(X)</a:t>
            </a:r>
            <a:endParaRPr lang="en-US" altLang="en-US" sz="2000" dirty="0"/>
          </a:p>
          <a:p>
            <a:pPr lvl="1">
              <a:lnSpc>
                <a:spcPct val="90000"/>
              </a:lnSpc>
            </a:pPr>
            <a:r>
              <a:rPr lang="en-US" altLang="en-US" sz="2000" dirty="0" err="1"/>
              <a:t>Accum</a:t>
            </a:r>
            <a:r>
              <a:rPr lang="en-US" altLang="en-US" sz="2000" dirty="0"/>
              <a:t>. E&amp;Ps ’71: 	40k </a:t>
            </a:r>
          </a:p>
          <a:p>
            <a:pPr lvl="1">
              <a:lnSpc>
                <a:spcPct val="90000"/>
              </a:lnSpc>
            </a:pPr>
            <a:r>
              <a:rPr lang="en-US" altLang="en-US" sz="2000" dirty="0"/>
              <a:t>Oper. loss 1/1-6/30: 	&lt;50K&gt;</a:t>
            </a:r>
          </a:p>
          <a:p>
            <a:pPr lvl="1">
              <a:lnSpc>
                <a:spcPct val="90000"/>
              </a:lnSpc>
            </a:pPr>
            <a:r>
              <a:rPr lang="en-US" altLang="en-US" sz="2000" dirty="0"/>
              <a:t>‘71 E&amp;Ps:  		</a:t>
            </a:r>
            <a:r>
              <a:rPr lang="en-US" altLang="en-US" sz="2000" b="1" dirty="0">
                <a:solidFill>
                  <a:schemeClr val="accent1"/>
                </a:solidFill>
              </a:rPr>
              <a:t>&lt;5K&gt;</a:t>
            </a:r>
          </a:p>
          <a:p>
            <a:pPr>
              <a:lnSpc>
                <a:spcPct val="90000"/>
              </a:lnSpc>
            </a:pPr>
            <a:r>
              <a:rPr lang="en-US" altLang="en-US" sz="2000" b="1" dirty="0"/>
              <a:t>Sit. 4 (X)</a:t>
            </a:r>
          </a:p>
          <a:p>
            <a:pPr lvl="1">
              <a:lnSpc>
                <a:spcPct val="90000"/>
              </a:lnSpc>
            </a:pPr>
            <a:r>
              <a:rPr lang="en-US" altLang="en-US" sz="2000" dirty="0" err="1"/>
              <a:t>Accum</a:t>
            </a:r>
            <a:r>
              <a:rPr lang="en-US" altLang="en-US" sz="2000" dirty="0"/>
              <a:t>. E&amp;Ps ’71: 	40k </a:t>
            </a:r>
          </a:p>
          <a:p>
            <a:pPr lvl="1">
              <a:lnSpc>
                <a:spcPct val="90000"/>
              </a:lnSpc>
            </a:pPr>
            <a:r>
              <a:rPr lang="en-US" altLang="en-US" sz="2000" dirty="0"/>
              <a:t>Oper. loss 1/1-6/30: 	&lt;50K&gt;</a:t>
            </a:r>
          </a:p>
          <a:p>
            <a:pPr lvl="1">
              <a:lnSpc>
                <a:spcPct val="90000"/>
              </a:lnSpc>
            </a:pPr>
            <a:r>
              <a:rPr lang="en-US" altLang="en-US" sz="2000" dirty="0"/>
              <a:t>‘71 E&amp;Ps:  		</a:t>
            </a:r>
            <a:r>
              <a:rPr lang="en-US" altLang="en-US" sz="2000" b="1" dirty="0">
                <a:solidFill>
                  <a:schemeClr val="accent1"/>
                </a:solidFill>
              </a:rPr>
              <a:t>&lt;55K&gt;</a:t>
            </a:r>
          </a:p>
          <a:p>
            <a:pPr lvl="1">
              <a:lnSpc>
                <a:spcPct val="90000"/>
              </a:lnSpc>
            </a:pPr>
            <a:endParaRPr lang="en-US" altLang="en-US" sz="2000" dirty="0"/>
          </a:p>
          <a:p>
            <a:pPr lvl="1">
              <a:lnSpc>
                <a:spcPct val="90000"/>
              </a:lnSpc>
            </a:pPr>
            <a:endParaRPr lang="en-US" altLang="en-US" sz="2000" b="1" dirty="0"/>
          </a:p>
          <a:p>
            <a:pPr marL="342900" indent="-114300">
              <a:lnSpc>
                <a:spcPct val="90000"/>
              </a:lnSpc>
            </a:pPr>
            <a:endParaRPr lang="en-US" altLang="en-US" sz="2000" dirty="0"/>
          </a:p>
          <a:p>
            <a:endParaRPr lang="en-US" dirty="0"/>
          </a:p>
        </p:txBody>
      </p:sp>
      <p:cxnSp>
        <p:nvCxnSpPr>
          <p:cNvPr id="229" name="AutoShape 12"/>
          <p:cNvCxnSpPr>
            <a:cxnSpLocks noChangeShapeType="1"/>
          </p:cNvCxnSpPr>
          <p:nvPr/>
        </p:nvCxnSpPr>
        <p:spPr bwMode="auto">
          <a:xfrm flipV="1">
            <a:off x="9227752" y="2787230"/>
            <a:ext cx="152400" cy="1028700"/>
          </a:xfrm>
          <a:prstGeom prst="curvedConnector3">
            <a:avLst>
              <a:gd name="adj1" fmla="val 350000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239" name="Straight Connector 238"/>
          <p:cNvCxnSpPr>
            <a:stCxn id="30" idx="4"/>
            <a:endCxn id="32" idx="0"/>
          </p:cNvCxnSpPr>
          <p:nvPr/>
        </p:nvCxnSpPr>
        <p:spPr>
          <a:xfrm>
            <a:off x="8606118" y="3010298"/>
            <a:ext cx="0" cy="54822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93878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 animBg="1"/>
      <p:bldP spid="3" grpId="0" build="p" animBg="1"/>
      <p:bldP spid="30" grpId="0" animBg="1"/>
      <p:bldP spid="32" grpId="0" animBg="1"/>
      <p:bldP spid="39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If the total distributions exceed current year E&amp;Ps, each distribution takes with it a proportionate amount of current year E&amp;Ps.</a:t>
            </a:r>
          </a:p>
          <a:p>
            <a:pPr lvl="1"/>
            <a:r>
              <a:rPr lang="en-US" dirty="0"/>
              <a:t>Assume Corp has current E&amp;Ps of 20k and accumulated E&amp;Ps of 5k. Corp makes four distributions of 10k each.</a:t>
            </a:r>
          </a:p>
          <a:p>
            <a:pPr lvl="2"/>
            <a:r>
              <a:rPr lang="en-US" dirty="0"/>
              <a:t>5k (10k/40k * 20k) of each distribution will come from current E&amp;Ps (and hence be a dividend).</a:t>
            </a:r>
          </a:p>
          <a:p>
            <a:pPr lvl="2"/>
            <a:r>
              <a:rPr lang="en-US" altLang="en-US" sz="2400" dirty="0"/>
              <a:t>The 5k of accumulated E&amp;Ps will also make an additional 5k of the first distribution a dividend.  </a:t>
            </a:r>
          </a:p>
          <a:p>
            <a:pPr lvl="2"/>
            <a:r>
              <a:rPr lang="en-US" altLang="en-US" sz="2400" dirty="0"/>
              <a:t>The remaining amounts of each distribution (5k * 3) will not be dividends.  Reg. §1.316-2(b).</a:t>
            </a:r>
          </a:p>
          <a:p>
            <a:r>
              <a:rPr lang="en-US" dirty="0"/>
              <a:t>In case of distributions on different classes of shares, the E&amp;Ps go first to the distributions to the most senior, e.g., preferred shares, and then to junior shares, e.g., common shares.  Rev. Rul. 69-440.</a:t>
            </a:r>
          </a:p>
          <a:p>
            <a:pPr lvl="1"/>
            <a:r>
              <a:rPr lang="en-US" dirty="0"/>
              <a:t>Corp has current E&amp;Ps of 10k and distributes 8k to the preferred and 4k to the common.  </a:t>
            </a:r>
          </a:p>
          <a:p>
            <a:pPr lvl="1"/>
            <a:r>
              <a:rPr lang="en-US" dirty="0"/>
              <a:t>All distributions to preferred are from current E&amp;Ps, but only 2k of distributions to common are from current E&amp;Ps. 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Ordinary Distributions: Additional Rules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6</a:t>
            </a:fld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Ordinary Distributions</a:t>
            </a:r>
          </a:p>
        </p:txBody>
      </p:sp>
    </p:spTree>
    <p:extLst>
      <p:ext uri="{BB962C8B-B14F-4D97-AF65-F5344CB8AC3E}">
        <p14:creationId xmlns:p14="http://schemas.microsoft.com/office/powerpoint/2010/main" val="2307545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Dividends: </a:t>
            </a:r>
            <a:r>
              <a:rPr lang="en-US" i="1" dirty="0"/>
              <a:t>Ordinary</a:t>
            </a:r>
            <a:r>
              <a:rPr lang="en-US" dirty="0"/>
              <a:t> and </a:t>
            </a:r>
            <a:r>
              <a:rPr lang="en-US" i="1" dirty="0"/>
              <a:t>Qualified</a:t>
            </a:r>
          </a:p>
          <a:p>
            <a:pPr lvl="1"/>
            <a:r>
              <a:rPr lang="en-US" i="1" dirty="0"/>
              <a:t>Ordinary dividends </a:t>
            </a:r>
            <a:r>
              <a:rPr lang="en-US" dirty="0"/>
              <a:t>are taxed as ordinary income.</a:t>
            </a:r>
          </a:p>
          <a:p>
            <a:pPr lvl="1"/>
            <a:r>
              <a:rPr lang="en-US" i="1" dirty="0"/>
              <a:t>Qualified </a:t>
            </a:r>
            <a:r>
              <a:rPr lang="en-US" dirty="0"/>
              <a:t>dividends are taxed at the same rates as LTCGs (for TY 2026):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r>
              <a:rPr lang="en-US" dirty="0"/>
              <a:t>Both are subject to the NII tax of 3.8% (AGI &gt; $200,000(S); $250,000 (MFJ))</a:t>
            </a:r>
          </a:p>
          <a:p>
            <a:r>
              <a:rPr lang="en-US" i="1" dirty="0"/>
              <a:t>Qualified dividends </a:t>
            </a:r>
            <a:r>
              <a:rPr lang="en-US" dirty="0"/>
              <a:t>are dividends from a:</a:t>
            </a:r>
          </a:p>
          <a:p>
            <a:pPr lvl="1"/>
            <a:r>
              <a:rPr lang="en-US" b="1" dirty="0"/>
              <a:t>US Corporation</a:t>
            </a:r>
          </a:p>
          <a:p>
            <a:pPr lvl="1"/>
            <a:r>
              <a:rPr lang="en-US" b="1" dirty="0"/>
              <a:t>Foreign corporation </a:t>
            </a:r>
            <a:r>
              <a:rPr lang="en-US" dirty="0"/>
              <a:t>if incorporated in a possession, </a:t>
            </a:r>
            <a:r>
              <a:rPr lang="en-US" b="1" dirty="0"/>
              <a:t>tax treaty eligible</a:t>
            </a:r>
            <a:r>
              <a:rPr lang="en-US" dirty="0"/>
              <a:t>, or publicly traded in the US. </a:t>
            </a:r>
            <a:r>
              <a:rPr lang="en-US" altLang="en-US" dirty="0"/>
              <a:t>§1(h)(11)(B) &amp; (C).</a:t>
            </a:r>
          </a:p>
          <a:p>
            <a:pPr lvl="1"/>
            <a:r>
              <a:rPr lang="en-US" altLang="en-US" dirty="0"/>
              <a:t>Holding Period Requirement: </a:t>
            </a:r>
          </a:p>
          <a:p>
            <a:pPr lvl="2"/>
            <a:r>
              <a:rPr lang="en-US" altLang="en-US" dirty="0"/>
              <a:t>&gt;60 days for common and &gt;90 days for preferred. </a:t>
            </a:r>
            <a:r>
              <a:rPr lang="en-US" altLang="en-US" sz="2000" dirty="0"/>
              <a:t>§§1(h)(11); 246(c). </a:t>
            </a:r>
            <a:endParaRPr lang="en-US" alt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Ordinary Distributions to Individuals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7</a:t>
            </a:fld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Ordinary Distributions</a:t>
            </a:r>
          </a:p>
        </p:txBody>
      </p:sp>
      <p:pic>
        <p:nvPicPr>
          <p:cNvPr id="7" name="Picture 6" descr="A screenshot of a white table with black text&#10;&#10;AI-generated content may be incorrect.">
            <a:extLst>
              <a:ext uri="{FF2B5EF4-FFF2-40B4-BE49-F238E27FC236}">
                <a16:creationId xmlns:a16="http://schemas.microsoft.com/office/drawing/2014/main" id="{0168DD2E-4F46-79DA-A6D2-B5E357B4BF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0015" y="1906620"/>
            <a:ext cx="7340600" cy="1361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9437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corporation can distribute $ or other property, both of which are treated as dividends to the extent of current or accumulated E&amp;Ps. §301(a) and (c).</a:t>
            </a:r>
          </a:p>
          <a:p>
            <a:r>
              <a:rPr lang="en-US" dirty="0"/>
              <a:t>In the case of property, the amount distributed is the </a:t>
            </a:r>
            <a:r>
              <a:rPr lang="en-US" b="1" dirty="0"/>
              <a:t>property’s FMV</a:t>
            </a:r>
            <a:r>
              <a:rPr lang="en-US" dirty="0"/>
              <a:t>, not its book value. §301(b)(1).</a:t>
            </a:r>
          </a:p>
          <a:p>
            <a:r>
              <a:rPr lang="en-US" dirty="0"/>
              <a:t>The FMV of property distributed is </a:t>
            </a:r>
            <a:r>
              <a:rPr lang="en-US" b="1" i="1" dirty="0"/>
              <a:t>reduced</a:t>
            </a:r>
            <a:r>
              <a:rPr lang="en-US" dirty="0"/>
              <a:t> (but not below 0) </a:t>
            </a:r>
            <a:r>
              <a:rPr lang="en-US" b="1" i="1" dirty="0"/>
              <a:t>by liabilities</a:t>
            </a:r>
            <a:r>
              <a:rPr lang="en-US" dirty="0"/>
              <a:t>:</a:t>
            </a:r>
          </a:p>
          <a:p>
            <a:pPr lvl="1"/>
            <a:r>
              <a:rPr lang="en-US" b="1" dirty="0"/>
              <a:t>Assumed by a shareholder </a:t>
            </a:r>
            <a:r>
              <a:rPr lang="en-US" dirty="0"/>
              <a:t>in connection with the distribution, and</a:t>
            </a:r>
          </a:p>
          <a:p>
            <a:pPr lvl="1"/>
            <a:r>
              <a:rPr lang="en-US" b="1" dirty="0"/>
              <a:t>To which the property is subject </a:t>
            </a:r>
            <a:r>
              <a:rPr lang="en-US" dirty="0"/>
              <a:t>to both before and after the distribution. §301(b)(2).</a:t>
            </a:r>
          </a:p>
          <a:p>
            <a:r>
              <a:rPr lang="en-US" dirty="0"/>
              <a:t>For distribution in excess of E&amp;Ps, basis is recovered on a </a:t>
            </a:r>
            <a:r>
              <a:rPr lang="en-US" b="1" dirty="0"/>
              <a:t>share-by-share basis </a:t>
            </a:r>
            <a:r>
              <a:rPr lang="en-US" dirty="0"/>
              <a:t>within the same class of shares.</a:t>
            </a:r>
          </a:p>
          <a:p>
            <a:pPr lvl="1"/>
            <a:r>
              <a:rPr lang="en-US" dirty="0"/>
              <a:t>SH owns 2 shares of Corp X, one with a basis of $25 and the other with a basis of $100.  Corp X has E&amp;Ps of $100 and distributes $100 per share (or $200 total).</a:t>
            </a:r>
          </a:p>
          <a:p>
            <a:pPr lvl="2"/>
            <a:r>
              <a:rPr lang="en-US" dirty="0"/>
              <a:t>Share with basis of $25:  $50 dividend; $25 ROC; and $25 CG</a:t>
            </a:r>
          </a:p>
          <a:p>
            <a:pPr lvl="2"/>
            <a:r>
              <a:rPr lang="en-US" dirty="0"/>
              <a:t>Share with basis of $100: $50 dividend; $50 ROC. Prop. Reg. §1.301-2, </a:t>
            </a:r>
            <a:r>
              <a:rPr lang="en-US" b="1" dirty="0"/>
              <a:t>withdrawn on 3/28/19 </a:t>
            </a:r>
            <a:r>
              <a:rPr lang="en-US" dirty="0"/>
              <a:t>and </a:t>
            </a:r>
            <a:r>
              <a:rPr lang="en-US" i="1" dirty="0"/>
              <a:t>Johnson v. US </a:t>
            </a:r>
            <a:r>
              <a:rPr lang="en-US" dirty="0"/>
              <a:t>(4</a:t>
            </a:r>
            <a:r>
              <a:rPr lang="en-US" baseline="30000" dirty="0"/>
              <a:t>th</a:t>
            </a:r>
            <a:r>
              <a:rPr lang="en-US" dirty="0"/>
              <a:t> Cir. 1971)</a:t>
            </a:r>
            <a:endParaRPr lang="en-US" b="1" dirty="0"/>
          </a:p>
          <a:p>
            <a:pPr lvl="1"/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Ordinary Distributions: Liabilities and Different Blocks of Shares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8</a:t>
            </a:fld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Ordinary Distributions</a:t>
            </a:r>
          </a:p>
        </p:txBody>
      </p:sp>
    </p:spTree>
    <p:extLst>
      <p:ext uri="{BB962C8B-B14F-4D97-AF65-F5344CB8AC3E}">
        <p14:creationId xmlns:p14="http://schemas.microsoft.com/office/powerpoint/2010/main" val="16257747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Ordinary Distributions: Corporate Shareholders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9</a:t>
            </a:fld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Ordinary Distributions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1416112" y="1089324"/>
            <a:ext cx="1041621" cy="66791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Corp X</a:t>
            </a:r>
          </a:p>
        </p:txBody>
      </p:sp>
      <p:sp>
        <p:nvSpPr>
          <p:cNvPr id="7" name="Rectangle 6"/>
          <p:cNvSpPr/>
          <p:nvPr/>
        </p:nvSpPr>
        <p:spPr>
          <a:xfrm>
            <a:off x="1416111" y="2464974"/>
            <a:ext cx="1041622" cy="66791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Corp Y</a:t>
            </a:r>
          </a:p>
        </p:txBody>
      </p:sp>
      <p:cxnSp>
        <p:nvCxnSpPr>
          <p:cNvPr id="8" name="Straight Connector 7"/>
          <p:cNvCxnSpPr>
            <a:stCxn id="8" idx="2"/>
          </p:cNvCxnSpPr>
          <p:nvPr/>
        </p:nvCxnSpPr>
        <p:spPr>
          <a:xfrm flipH="1">
            <a:off x="1936922" y="1757234"/>
            <a:ext cx="1" cy="70774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5638534" y="1045780"/>
            <a:ext cx="1041621" cy="66791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Corp 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38533" y="2421430"/>
            <a:ext cx="1041622" cy="66791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Corp Y</a:t>
            </a:r>
          </a:p>
        </p:txBody>
      </p:sp>
      <p:cxnSp>
        <p:nvCxnSpPr>
          <p:cNvPr id="12" name="Straight Connector 11"/>
          <p:cNvCxnSpPr/>
          <p:nvPr/>
        </p:nvCxnSpPr>
        <p:spPr>
          <a:xfrm flipH="1">
            <a:off x="6159344" y="1713690"/>
            <a:ext cx="1" cy="70774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329738" y="1882894"/>
            <a:ext cx="11224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&gt; or =20%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813440" y="1043749"/>
            <a:ext cx="1041621" cy="66791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Corp X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813440" y="2421430"/>
            <a:ext cx="1041622" cy="66791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Corp Y</a:t>
            </a:r>
          </a:p>
        </p:txBody>
      </p:sp>
      <p:cxnSp>
        <p:nvCxnSpPr>
          <p:cNvPr id="16" name="Straight Connector 15"/>
          <p:cNvCxnSpPr/>
          <p:nvPr/>
        </p:nvCxnSpPr>
        <p:spPr>
          <a:xfrm flipH="1">
            <a:off x="10334251" y="1713690"/>
            <a:ext cx="1" cy="70774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0504645" y="1882894"/>
            <a:ext cx="6992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&lt;20%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96837" y="1962386"/>
            <a:ext cx="11224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&gt; or =80%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6111" y="3297960"/>
            <a:ext cx="117852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/>
              <a:t>100% </a:t>
            </a:r>
            <a:r>
              <a:rPr lang="en-US" b="1" err="1"/>
              <a:t>DRD</a:t>
            </a:r>
            <a:endParaRPr lang="en-US" b="1"/>
          </a:p>
          <a:p>
            <a:pPr algn="ctr"/>
            <a:r>
              <a:rPr lang="en-US" altLang="en-US"/>
              <a:t>§243(b)</a:t>
            </a:r>
            <a:endParaRPr lang="en-US" b="1"/>
          </a:p>
        </p:txBody>
      </p:sp>
      <p:sp>
        <p:nvSpPr>
          <p:cNvPr id="20" name="TextBox 19"/>
          <p:cNvSpPr txBox="1"/>
          <p:nvPr/>
        </p:nvSpPr>
        <p:spPr>
          <a:xfrm>
            <a:off x="5501627" y="3254416"/>
            <a:ext cx="106150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/>
              <a:t>65% </a:t>
            </a:r>
            <a:r>
              <a:rPr lang="en-US" b="1" err="1"/>
              <a:t>DRD</a:t>
            </a:r>
            <a:endParaRPr lang="en-US" b="1"/>
          </a:p>
          <a:p>
            <a:pPr algn="ctr"/>
            <a:r>
              <a:rPr lang="en-US" altLang="en-US"/>
              <a:t>§243(c)</a:t>
            </a:r>
            <a:endParaRPr lang="en-US" b="1"/>
          </a:p>
        </p:txBody>
      </p:sp>
      <p:sp>
        <p:nvSpPr>
          <p:cNvPr id="21" name="TextBox 20"/>
          <p:cNvSpPr txBox="1"/>
          <p:nvPr/>
        </p:nvSpPr>
        <p:spPr>
          <a:xfrm>
            <a:off x="9792751" y="3204175"/>
            <a:ext cx="116089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/>
              <a:t>50% </a:t>
            </a:r>
            <a:r>
              <a:rPr lang="en-US" b="1" err="1"/>
              <a:t>DRD</a:t>
            </a:r>
            <a:endParaRPr lang="en-US" b="1"/>
          </a:p>
          <a:p>
            <a:r>
              <a:rPr lang="en-US" altLang="en-US"/>
              <a:t>§243(a)(1)</a:t>
            </a:r>
            <a:endParaRPr lang="en-US" b="1"/>
          </a:p>
        </p:txBody>
      </p:sp>
      <p:cxnSp>
        <p:nvCxnSpPr>
          <p:cNvPr id="22" name="Straight Connector 21"/>
          <p:cNvCxnSpPr/>
          <p:nvPr/>
        </p:nvCxnSpPr>
        <p:spPr>
          <a:xfrm flipH="1">
            <a:off x="4114787" y="946373"/>
            <a:ext cx="2257" cy="2950114"/>
          </a:xfrm>
          <a:prstGeom prst="line">
            <a:avLst/>
          </a:prstGeom>
          <a:ln w="19050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H="1">
            <a:off x="8849498" y="946373"/>
            <a:ext cx="2257" cy="2950114"/>
          </a:xfrm>
          <a:prstGeom prst="line">
            <a:avLst/>
          </a:prstGeom>
          <a:ln w="19050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AutoShape 12"/>
          <p:cNvCxnSpPr>
            <a:cxnSpLocks noChangeShapeType="1"/>
          </p:cNvCxnSpPr>
          <p:nvPr/>
        </p:nvCxnSpPr>
        <p:spPr bwMode="auto">
          <a:xfrm flipV="1">
            <a:off x="9586123" y="1433436"/>
            <a:ext cx="152400" cy="1028700"/>
          </a:xfrm>
          <a:prstGeom prst="curvedConnector3">
            <a:avLst>
              <a:gd name="adj1" fmla="val -221428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27" name="AutoShape 12"/>
          <p:cNvCxnSpPr>
            <a:cxnSpLocks noChangeShapeType="1"/>
          </p:cNvCxnSpPr>
          <p:nvPr/>
        </p:nvCxnSpPr>
        <p:spPr bwMode="auto">
          <a:xfrm flipV="1">
            <a:off x="5391940" y="1460646"/>
            <a:ext cx="152400" cy="1028700"/>
          </a:xfrm>
          <a:prstGeom prst="curvedConnector3">
            <a:avLst>
              <a:gd name="adj1" fmla="val -221428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28" name="AutoShape 12"/>
          <p:cNvCxnSpPr>
            <a:cxnSpLocks noChangeShapeType="1"/>
          </p:cNvCxnSpPr>
          <p:nvPr/>
        </p:nvCxnSpPr>
        <p:spPr bwMode="auto">
          <a:xfrm flipV="1">
            <a:off x="1189253" y="1448036"/>
            <a:ext cx="152400" cy="1028700"/>
          </a:xfrm>
          <a:prstGeom prst="curvedConnector3">
            <a:avLst>
              <a:gd name="adj1" fmla="val -221428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30" name="TextBox 29"/>
          <p:cNvSpPr txBox="1"/>
          <p:nvPr/>
        </p:nvSpPr>
        <p:spPr>
          <a:xfrm>
            <a:off x="1810353" y="4295191"/>
            <a:ext cx="9044708" cy="190821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b="1" u="sng"/>
              <a:t>Tax Benefit of the 50% </a:t>
            </a:r>
            <a:r>
              <a:rPr lang="en-US" sz="2000" b="1" u="sng" err="1"/>
              <a:t>DRD</a:t>
            </a:r>
            <a:endParaRPr lang="en-US" sz="2000" b="1" u="sng"/>
          </a:p>
          <a:p>
            <a:endParaRPr lang="en-US"/>
          </a:p>
          <a:p>
            <a:pPr algn="just"/>
            <a:r>
              <a:rPr lang="en-US" sz="2000"/>
              <a:t>Corp X, which is subject to TR of 21%, receives $100 dividend from Corp Y.  If the dividend is eligible for the 50% </a:t>
            </a:r>
            <a:r>
              <a:rPr lang="en-US" sz="2000" err="1"/>
              <a:t>DRD</a:t>
            </a:r>
            <a:r>
              <a:rPr lang="en-US" sz="2000"/>
              <a:t>, Corp X will pay a $10.5 tax on dividend [21%* ($100-$50)].  This represents a tax rate of 10.5% ($10.5/$100).  Double tax is reduced but not eliminated.</a:t>
            </a:r>
          </a:p>
        </p:txBody>
      </p:sp>
    </p:spTree>
    <p:extLst>
      <p:ext uri="{BB962C8B-B14F-4D97-AF65-F5344CB8AC3E}">
        <p14:creationId xmlns:p14="http://schemas.microsoft.com/office/powerpoint/2010/main" val="7652629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10" grpId="0" animBg="1"/>
      <p:bldP spid="11" grpId="0" animBg="1"/>
      <p:bldP spid="13" grpId="0"/>
      <p:bldP spid="14" grpId="0" animBg="1"/>
      <p:bldP spid="15" grpId="0" animBg="1"/>
      <p:bldP spid="17" grpId="0"/>
      <p:bldP spid="18" grpId="0"/>
      <p:bldP spid="19" grpId="0"/>
      <p:bldP spid="20" grpId="0"/>
      <p:bldP spid="21" grpId="0"/>
      <p:bldP spid="30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512064" y="533400"/>
            <a:ext cx="3355398" cy="5812064"/>
          </a:xfrm>
        </p:spPr>
        <p:txBody>
          <a:bodyPr/>
          <a:lstStyle/>
          <a:p>
            <a:pPr algn="l"/>
            <a:r>
              <a:rPr lang="en-US" altLang="en-US" b="1" u="sng" dirty="0">
                <a:ea typeface="ＭＳ Ｐゴシック" charset="-128"/>
              </a:rPr>
              <a:t>Payor Corporation</a:t>
            </a:r>
          </a:p>
          <a:p>
            <a:pPr lvl="1" algn="l"/>
            <a:r>
              <a:rPr lang="en-US" altLang="en-US" dirty="0">
                <a:ea typeface="ＭＳ Ｐゴシック" charset="-128"/>
              </a:rPr>
              <a:t>Declaration Date</a:t>
            </a:r>
          </a:p>
          <a:p>
            <a:pPr lvl="1" algn="l"/>
            <a:r>
              <a:rPr lang="en-US" altLang="en-US" dirty="0">
                <a:ea typeface="ＭＳ Ｐゴシック" charset="-128"/>
              </a:rPr>
              <a:t>Record Date</a:t>
            </a:r>
          </a:p>
          <a:p>
            <a:pPr lvl="1" algn="l"/>
            <a:r>
              <a:rPr lang="en-US" altLang="en-US" dirty="0">
                <a:ea typeface="ＭＳ Ｐゴシック" charset="-128"/>
              </a:rPr>
              <a:t>Payment Date</a:t>
            </a:r>
          </a:p>
          <a:p>
            <a:pPr algn="l"/>
            <a:endParaRPr lang="en-US" altLang="en-US" u="sng" dirty="0">
              <a:ea typeface="ＭＳ Ｐゴシック" charset="-128"/>
            </a:endParaRPr>
          </a:p>
          <a:p>
            <a:pPr algn="l"/>
            <a:r>
              <a:rPr lang="en-US" altLang="en-US" b="1" u="sng" dirty="0">
                <a:ea typeface="ＭＳ Ｐゴシック" charset="-128"/>
              </a:rPr>
              <a:t>Trading Terminology</a:t>
            </a:r>
            <a:endParaRPr lang="en-US" altLang="en-US" dirty="0">
              <a:ea typeface="ＭＳ Ｐゴシック" charset="-128"/>
            </a:endParaRPr>
          </a:p>
          <a:p>
            <a:pPr lvl="1" algn="l"/>
            <a:r>
              <a:rPr lang="en-US" altLang="en-US" dirty="0">
                <a:ea typeface="ＭＳ Ｐゴシック" charset="-128"/>
              </a:rPr>
              <a:t>Ex-dividend</a:t>
            </a:r>
          </a:p>
          <a:p>
            <a:pPr lvl="1" algn="l"/>
            <a:r>
              <a:rPr lang="en-US" altLang="en-US" dirty="0">
                <a:ea typeface="ＭＳ Ｐゴシック" charset="-128"/>
              </a:rPr>
              <a:t>Cum-dividend</a:t>
            </a:r>
          </a:p>
          <a:p>
            <a:pPr lvl="1" algn="l"/>
            <a:r>
              <a:rPr lang="en-US" altLang="en-US" dirty="0">
                <a:ea typeface="ＭＳ Ｐゴシック" charset="-128"/>
              </a:rPr>
              <a:t>Record Date</a:t>
            </a:r>
          </a:p>
          <a:p>
            <a:pPr lvl="1" algn="l"/>
            <a:r>
              <a:rPr lang="en-US" altLang="en-US" dirty="0">
                <a:ea typeface="ＭＳ Ｐゴシック" charset="-128"/>
              </a:rPr>
              <a:t>Trade Date</a:t>
            </a:r>
          </a:p>
          <a:p>
            <a:pPr lvl="1" algn="l"/>
            <a:r>
              <a:rPr lang="en-US" altLang="en-US" dirty="0">
                <a:ea typeface="ＭＳ Ｐゴシック" charset="-128"/>
              </a:rPr>
              <a:t>Settlement Date</a:t>
            </a:r>
          </a:p>
          <a:p>
            <a:pPr lvl="1" algn="l"/>
            <a:r>
              <a:rPr lang="en-US" altLang="en-US" dirty="0">
                <a:ea typeface="ＭＳ Ｐゴシック" charset="-128"/>
              </a:rPr>
              <a:t>Payment Date</a:t>
            </a:r>
          </a:p>
          <a:p>
            <a:pPr algn="l"/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Ordinary Distributions: Dividend Terminology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10</a:t>
            </a:fld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Ordinary Distributions</a:t>
            </a:r>
          </a:p>
        </p:txBody>
      </p:sp>
      <p:pic>
        <p:nvPicPr>
          <p:cNvPr id="7" name="Picture 6" descr="A picture containing text&#10;&#10;Description automatically generated">
            <a:extLst>
              <a:ext uri="{FF2B5EF4-FFF2-40B4-BE49-F238E27FC236}">
                <a16:creationId xmlns:a16="http://schemas.microsoft.com/office/drawing/2014/main" id="{A0D330DF-63F9-A9EC-B67D-F76A7808FD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2464" y="3698444"/>
            <a:ext cx="7772400" cy="161979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2A6365E-9BEA-9F8D-4FC4-743B29227295}"/>
              </a:ext>
            </a:extLst>
          </p:cNvPr>
          <p:cNvSpPr txBox="1"/>
          <p:nvPr/>
        </p:nvSpPr>
        <p:spPr>
          <a:xfrm>
            <a:off x="3867462" y="785335"/>
            <a:ext cx="7772400" cy="1477328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Costco Wholesale Corporation (“Costco” or the “Company”) (Nasdaq: COST) announced that its Board of Directors has declared on </a:t>
            </a:r>
            <a:r>
              <a:rPr lang="en-US" b="1" dirty="0"/>
              <a:t>Jan 15, 2026</a:t>
            </a:r>
            <a:r>
              <a:rPr lang="en-US" dirty="0"/>
              <a:t>, a quarterly cash dividend on Costco common stock of $1.30 per share. The quarterly dividend is </a:t>
            </a:r>
            <a:r>
              <a:rPr lang="en-US" b="1" dirty="0"/>
              <a:t>payable February 13, 2026</a:t>
            </a:r>
            <a:r>
              <a:rPr lang="en-US" dirty="0"/>
              <a:t>, to shareholders of </a:t>
            </a:r>
            <a:r>
              <a:rPr lang="en-US" b="1" dirty="0"/>
              <a:t>record at the close of business on January 30, 2026</a:t>
            </a:r>
            <a:r>
              <a:rPr lang="en-US" dirty="0"/>
              <a:t>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319C0EA-6CEE-30D4-7B88-A3D40C2A0BDB}"/>
              </a:ext>
            </a:extLst>
          </p:cNvPr>
          <p:cNvSpPr txBox="1"/>
          <p:nvPr/>
        </p:nvSpPr>
        <p:spPr>
          <a:xfrm>
            <a:off x="4328655" y="3509237"/>
            <a:ext cx="94769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1" dirty="0"/>
              <a:t>Jan. 15, 2026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4A697E5-1D31-8EC2-F0DD-78B4075C50F9}"/>
              </a:ext>
            </a:extLst>
          </p:cNvPr>
          <p:cNvSpPr txBox="1"/>
          <p:nvPr/>
        </p:nvSpPr>
        <p:spPr>
          <a:xfrm>
            <a:off x="6266398" y="3509237"/>
            <a:ext cx="90922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1" dirty="0"/>
              <a:t>Jan 30, 2026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73D8293-07A9-350D-2DB5-65EF7DC537F1}"/>
              </a:ext>
            </a:extLst>
          </p:cNvPr>
          <p:cNvSpPr txBox="1"/>
          <p:nvPr/>
        </p:nvSpPr>
        <p:spPr>
          <a:xfrm>
            <a:off x="7982419" y="3509464"/>
            <a:ext cx="90922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1" dirty="0"/>
              <a:t>Jan 30, 2026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344CC1E-B920-893D-FF83-8B97AA65F0D7}"/>
              </a:ext>
            </a:extLst>
          </p:cNvPr>
          <p:cNvSpPr txBox="1"/>
          <p:nvPr/>
        </p:nvSpPr>
        <p:spPr>
          <a:xfrm>
            <a:off x="9816006" y="3501838"/>
            <a:ext cx="96051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1" dirty="0"/>
              <a:t>Feb. 13, 2026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C469B69-EA32-2778-4D75-6A837E5DB624}"/>
              </a:ext>
            </a:extLst>
          </p:cNvPr>
          <p:cNvSpPr txBox="1"/>
          <p:nvPr/>
        </p:nvSpPr>
        <p:spPr>
          <a:xfrm>
            <a:off x="7435451" y="2730886"/>
            <a:ext cx="6142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Cum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9988441F-A5D3-CDF3-766D-D33AC826A446}"/>
              </a:ext>
            </a:extLst>
          </p:cNvPr>
          <p:cNvCxnSpPr>
            <a:cxnSpLocks/>
          </p:cNvCxnSpPr>
          <p:nvPr/>
        </p:nvCxnSpPr>
        <p:spPr>
          <a:xfrm>
            <a:off x="7153811" y="3073207"/>
            <a:ext cx="131843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F19DB18F-D158-4B2B-C8D5-6A4E45D688E2}"/>
              </a:ext>
            </a:extLst>
          </p:cNvPr>
          <p:cNvCxnSpPr>
            <a:cxnSpLocks/>
          </p:cNvCxnSpPr>
          <p:nvPr/>
        </p:nvCxnSpPr>
        <p:spPr>
          <a:xfrm>
            <a:off x="8460815" y="2798548"/>
            <a:ext cx="0" cy="62864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82E0FB60-0E43-CF62-0EAE-A2042825B2CA}"/>
              </a:ext>
            </a:extLst>
          </p:cNvPr>
          <p:cNvCxnSpPr>
            <a:cxnSpLocks/>
          </p:cNvCxnSpPr>
          <p:nvPr/>
        </p:nvCxnSpPr>
        <p:spPr>
          <a:xfrm flipH="1">
            <a:off x="8442046" y="3073207"/>
            <a:ext cx="131843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09237E88-6E8B-A3CC-D696-6CDEA246F5D9}"/>
              </a:ext>
            </a:extLst>
          </p:cNvPr>
          <p:cNvSpPr txBox="1"/>
          <p:nvPr/>
        </p:nvSpPr>
        <p:spPr>
          <a:xfrm>
            <a:off x="8811107" y="2783437"/>
            <a:ext cx="3962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1F17BEE-1324-810C-1AA8-B8B50032607F}"/>
              </a:ext>
            </a:extLst>
          </p:cNvPr>
          <p:cNvSpPr txBox="1"/>
          <p:nvPr/>
        </p:nvSpPr>
        <p:spPr>
          <a:xfrm>
            <a:off x="5421559" y="5331514"/>
            <a:ext cx="11977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Trade Date: </a:t>
            </a:r>
          </a:p>
          <a:p>
            <a:r>
              <a:rPr lang="en-US" sz="1600" dirty="0"/>
              <a:t>Buy on 1/29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B890F38-47B7-1AA1-40C7-7A4250AA3F26}"/>
              </a:ext>
            </a:extLst>
          </p:cNvPr>
          <p:cNvSpPr txBox="1"/>
          <p:nvPr/>
        </p:nvSpPr>
        <p:spPr>
          <a:xfrm>
            <a:off x="7734663" y="5365549"/>
            <a:ext cx="164461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Settlement Date: </a:t>
            </a:r>
          </a:p>
          <a:p>
            <a:r>
              <a:rPr lang="en-US" sz="1600" dirty="0"/>
              <a:t>Receive on 1/30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056477E-643C-38B1-BDBB-557307C62EDF}"/>
              </a:ext>
            </a:extLst>
          </p:cNvPr>
          <p:cNvSpPr txBox="1"/>
          <p:nvPr/>
        </p:nvSpPr>
        <p:spPr>
          <a:xfrm>
            <a:off x="6879910" y="5441029"/>
            <a:ext cx="58381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T + 1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2628A1CC-D4B9-9471-D5E9-7FECE7102F23}"/>
              </a:ext>
            </a:extLst>
          </p:cNvPr>
          <p:cNvCxnSpPr>
            <a:cxnSpLocks/>
          </p:cNvCxnSpPr>
          <p:nvPr/>
        </p:nvCxnSpPr>
        <p:spPr>
          <a:xfrm>
            <a:off x="6507291" y="5610306"/>
            <a:ext cx="36175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69AEBA46-6BF9-59D7-9D5E-F8EB1444571E}"/>
              </a:ext>
            </a:extLst>
          </p:cNvPr>
          <p:cNvCxnSpPr>
            <a:cxnSpLocks/>
          </p:cNvCxnSpPr>
          <p:nvPr/>
        </p:nvCxnSpPr>
        <p:spPr>
          <a:xfrm>
            <a:off x="7410486" y="5610306"/>
            <a:ext cx="36175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83E71572-C3A1-635D-AF9C-98C8706D1B8C}"/>
              </a:ext>
            </a:extLst>
          </p:cNvPr>
          <p:cNvSpPr/>
          <p:nvPr/>
        </p:nvSpPr>
        <p:spPr>
          <a:xfrm>
            <a:off x="5939161" y="3386915"/>
            <a:ext cx="3187084" cy="883243"/>
          </a:xfrm>
          <a:prstGeom prst="rect">
            <a:avLst/>
          </a:prstGeom>
          <a:noFill/>
          <a:ln w="2222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79989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0" grpId="0"/>
      <p:bldP spid="11" grpId="0"/>
      <p:bldP spid="12" grpId="0"/>
      <p:bldP spid="13" grpId="0"/>
      <p:bldP spid="14" grpId="0"/>
      <p:bldP spid="23" grpId="0"/>
      <p:bldP spid="24" grpId="0"/>
      <p:bldP spid="25" grpId="0"/>
      <p:bldP spid="26" grpId="0"/>
      <p:bldP spid="6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Corporations can use the DRD to generate tax refunds in </a:t>
            </a:r>
            <a:r>
              <a:rPr lang="en-US" u="sng" dirty="0"/>
              <a:t>the absence of economic income</a:t>
            </a:r>
          </a:p>
          <a:p>
            <a:pPr marL="0" indent="0" algn="ctr">
              <a:buNone/>
            </a:pPr>
            <a:r>
              <a:rPr lang="en-US" altLang="en-US" b="1" u="sng" dirty="0">
                <a:ea typeface="ＭＳ Ｐゴシック" charset="-128"/>
              </a:rPr>
              <a:t>Example</a:t>
            </a:r>
          </a:p>
          <a:p>
            <a:r>
              <a:rPr lang="en-US" altLang="en-US" dirty="0">
                <a:ea typeface="ＭＳ Ｐゴシック" charset="-128"/>
              </a:rPr>
              <a:t>Corp A, which has 100 of CGs, purchases a stock cum-dividend just prior to the ex-dividend date for 1,000 that will pay a dividend of 100.  On the ex-date, the stock is sold for 900, generating a loss of 100</a:t>
            </a:r>
            <a:r>
              <a:rPr lang="en-US" altLang="en-US" sz="2000" dirty="0">
                <a:ea typeface="ＭＳ Ｐゴシック" charset="-128"/>
              </a:rPr>
              <a:t>.</a:t>
            </a:r>
            <a:r>
              <a:rPr lang="en-US" altLang="en-US" sz="2800" dirty="0">
                <a:ea typeface="ＭＳ Ｐゴシック" charset="-128"/>
              </a:rPr>
              <a:t> </a:t>
            </a:r>
          </a:p>
          <a:p>
            <a:pPr lvl="1"/>
            <a:r>
              <a:rPr lang="en-US" altLang="en-US" sz="2400" b="1" dirty="0">
                <a:ea typeface="ＭＳ Ｐゴシック" charset="-128"/>
              </a:rPr>
              <a:t>Economic Income</a:t>
            </a:r>
            <a:r>
              <a:rPr lang="en-US" altLang="en-US" sz="2400" dirty="0">
                <a:ea typeface="ＭＳ Ｐゴシック" charset="-128"/>
              </a:rPr>
              <a:t>: Buy stock for &lt;1,000&gt; + sell for 900 + receive 100 dividend = 0</a:t>
            </a:r>
          </a:p>
          <a:p>
            <a:pPr lvl="1"/>
            <a:r>
              <a:rPr lang="en-US" altLang="en-US" sz="2400" b="1" dirty="0">
                <a:ea typeface="ＭＳ Ｐゴシック" charset="-128"/>
              </a:rPr>
              <a:t>Tax Consequences</a:t>
            </a:r>
          </a:p>
          <a:p>
            <a:pPr lvl="2"/>
            <a:r>
              <a:rPr lang="en-US" altLang="en-US" dirty="0">
                <a:ea typeface="ＭＳ Ｐゴシック" charset="-128"/>
              </a:rPr>
              <a:t>CG 		100 	(from other property on which 21 of taxes are owed)</a:t>
            </a:r>
          </a:p>
          <a:p>
            <a:pPr lvl="2"/>
            <a:r>
              <a:rPr lang="en-US" altLang="en-US" dirty="0">
                <a:ea typeface="ＭＳ Ｐゴシック" charset="-128"/>
              </a:rPr>
              <a:t>CL	             &lt;100&gt;  	(on sale of share)</a:t>
            </a:r>
          </a:p>
          <a:p>
            <a:pPr lvl="2"/>
            <a:r>
              <a:rPr lang="en-US" altLang="en-US" u="sng" dirty="0">
                <a:ea typeface="ＭＳ Ｐゴシック" charset="-128"/>
              </a:rPr>
              <a:t>Tax </a:t>
            </a:r>
            <a:r>
              <a:rPr lang="en-US" altLang="en-US" u="sng" dirty="0" err="1">
                <a:ea typeface="ＭＳ Ｐゴシック" charset="-128"/>
              </a:rPr>
              <a:t>Div</a:t>
            </a:r>
            <a:r>
              <a:rPr lang="en-US" altLang="en-US" u="sng" dirty="0">
                <a:ea typeface="ＭＳ Ｐゴシック" charset="-128"/>
              </a:rPr>
              <a:t>	      	50	(100 -50 DRD)</a:t>
            </a:r>
          </a:p>
          <a:p>
            <a:pPr lvl="2"/>
            <a:r>
              <a:rPr lang="en-US" altLang="en-US" dirty="0">
                <a:ea typeface="ＭＳ Ｐゴシック" charset="-128"/>
              </a:rPr>
              <a:t>Tax Inc 	      	50</a:t>
            </a:r>
          </a:p>
          <a:p>
            <a:pPr lvl="2"/>
            <a:r>
              <a:rPr lang="en-US" altLang="en-US" dirty="0">
                <a:ea typeface="ＭＳ Ｐゴシック" charset="-128"/>
              </a:rPr>
              <a:t>Taxes 	      	10.5  	(21% * 50)</a:t>
            </a:r>
          </a:p>
          <a:p>
            <a:pPr lvl="2"/>
            <a:r>
              <a:rPr lang="en-US" altLang="en-US" b="1" dirty="0">
                <a:solidFill>
                  <a:srgbClr val="FF0000"/>
                </a:solidFill>
                <a:ea typeface="ＭＳ Ｐゴシック" charset="-128"/>
              </a:rPr>
              <a:t>Tax Savings   	10.5</a:t>
            </a:r>
            <a:r>
              <a:rPr lang="en-US" altLang="en-US" dirty="0">
                <a:ea typeface="ＭＳ Ｐゴシック" charset="-128"/>
              </a:rPr>
              <a:t> 	(21 taxes on CGs saved  – 10.5 on dividends paid) 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Ordinary Distributions: Corporate Shareholders and Dividend Stripping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11</a:t>
            </a:fld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Ordinary Distributions</a:t>
            </a:r>
          </a:p>
        </p:txBody>
      </p:sp>
    </p:spTree>
    <p:extLst>
      <p:ext uri="{BB962C8B-B14F-4D97-AF65-F5344CB8AC3E}">
        <p14:creationId xmlns:p14="http://schemas.microsoft.com/office/powerpoint/2010/main" val="13766177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lvl="2">
              <a:buFont typeface="Wingdings 2" pitchFamily="18" charset="2"/>
              <a:buChar char=""/>
            </a:pPr>
            <a:r>
              <a:rPr lang="en-US" altLang="en-US" sz="2400" dirty="0">
                <a:ea typeface="ＭＳ Ｐゴシック" charset="-128"/>
              </a:rPr>
              <a:t>To claim the DRD, </a:t>
            </a:r>
            <a:r>
              <a:rPr lang="en-US" altLang="en-US" sz="2400" b="1" dirty="0">
                <a:ea typeface="ＭＳ Ｐゴシック" charset="-128"/>
              </a:rPr>
              <a:t>a corporation </a:t>
            </a:r>
            <a:r>
              <a:rPr lang="en-US" altLang="en-US" sz="2400" dirty="0">
                <a:ea typeface="ＭＳ Ｐゴシック" charset="-128"/>
              </a:rPr>
              <a:t>must hold the stock for at least 46 days during 91-day period beginning 45 days before ex-dividend date (&gt;90 days/181-day period for certain preferred dividends).  §246(c)(1)(A), (c)(2). </a:t>
            </a:r>
          </a:p>
          <a:p>
            <a:pPr marL="228600" lvl="2">
              <a:buFont typeface="Wingdings 2" pitchFamily="18" charset="2"/>
              <a:buChar char=""/>
            </a:pPr>
            <a:endParaRPr lang="en-US" altLang="en-US" dirty="0">
              <a:ea typeface="ＭＳ Ｐゴシック" charset="-128"/>
            </a:endParaRPr>
          </a:p>
          <a:p>
            <a:r>
              <a:rPr lang="en-US" altLang="en-US" dirty="0">
                <a:ea typeface="ＭＳ Ｐゴシック" charset="-128"/>
              </a:rPr>
              <a:t>If a corporation engages in certain types of hedging with respect to the stock to reduce its </a:t>
            </a:r>
            <a:r>
              <a:rPr lang="en-US" altLang="en-US" b="1" dirty="0">
                <a:ea typeface="ＭＳ Ｐゴシック" charset="-128"/>
              </a:rPr>
              <a:t>risk of loss</a:t>
            </a:r>
            <a:r>
              <a:rPr lang="en-US" altLang="en-US" dirty="0">
                <a:ea typeface="ＭＳ Ｐゴシック" charset="-128"/>
              </a:rPr>
              <a:t>, either the DRD is disallowed or the days are not counted for purposes of calculating the 46-day holding period. </a:t>
            </a:r>
            <a:r>
              <a:rPr lang="en-US" altLang="en-US" dirty="0"/>
              <a:t>§246(c)(1)(B), (c)(4).</a:t>
            </a:r>
          </a:p>
          <a:p>
            <a:pPr lvl="1"/>
            <a:r>
              <a:rPr lang="en-US" altLang="en-US" dirty="0">
                <a:ea typeface="ＭＳ Ｐゴシック" charset="-128"/>
              </a:rPr>
              <a:t>Buys a put</a:t>
            </a:r>
          </a:p>
          <a:p>
            <a:pPr lvl="1"/>
            <a:r>
              <a:rPr lang="en-US" altLang="en-US" dirty="0">
                <a:ea typeface="ＭＳ Ｐゴシック" charset="-128"/>
              </a:rPr>
              <a:t>Enters into a short forward contract</a:t>
            </a:r>
          </a:p>
          <a:p>
            <a:pPr lvl="1"/>
            <a:r>
              <a:rPr lang="en-US" altLang="en-US" dirty="0">
                <a:ea typeface="ＭＳ Ｐゴシック" charset="-128"/>
              </a:rPr>
              <a:t>Sells a call, except a qualified covered call (</a:t>
            </a:r>
            <a:r>
              <a:rPr lang="en-US" altLang="en-US" dirty="0"/>
              <a:t>§</a:t>
            </a:r>
            <a:r>
              <a:rPr lang="en-US" altLang="en-US" dirty="0">
                <a:ea typeface="ＭＳ Ｐゴシック" charset="-128"/>
              </a:rPr>
              <a:t>1092(c)(4))</a:t>
            </a:r>
          </a:p>
          <a:p>
            <a:pPr lvl="1"/>
            <a:r>
              <a:rPr lang="en-US" altLang="en-US" dirty="0">
                <a:ea typeface="ＭＳ Ｐゴシック" charset="-128"/>
              </a:rPr>
              <a:t>Shorts the underlying stock </a:t>
            </a:r>
          </a:p>
          <a:p>
            <a:pPr lvl="1"/>
            <a:r>
              <a:rPr lang="en-US" dirty="0">
                <a:ea typeface="ＭＳ Ｐゴシック" charset="-128"/>
              </a:rPr>
              <a:t>Risk of loss is diminished by holding 1 or position with respect to </a:t>
            </a:r>
            <a:r>
              <a:rPr lang="en-US" i="1" dirty="0">
                <a:ea typeface="ＭＳ Ｐゴシック" charset="-128"/>
              </a:rPr>
              <a:t>substantially similar or related property</a:t>
            </a:r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Ordinary Distributions and Dividend Stripping: Corporate Shareholders and Limits on the </a:t>
            </a:r>
            <a:r>
              <a:rPr lang="en-US" err="1"/>
              <a:t>DRD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12</a:t>
            </a:fld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Ordinary Distributions</a:t>
            </a:r>
          </a:p>
        </p:txBody>
      </p:sp>
    </p:spTree>
    <p:extLst>
      <p:ext uri="{BB962C8B-B14F-4D97-AF65-F5344CB8AC3E}">
        <p14:creationId xmlns:p14="http://schemas.microsoft.com/office/powerpoint/2010/main" val="4271470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The DRD is generally only available for dividends paid by US corporations. §243(a).</a:t>
            </a:r>
          </a:p>
          <a:p>
            <a:r>
              <a:rPr lang="en-US" dirty="0"/>
              <a:t>Certain dividends from foreign corporations are eligible for the DRD:</a:t>
            </a:r>
          </a:p>
          <a:p>
            <a:pPr lvl="1"/>
            <a:r>
              <a:rPr lang="en-US" dirty="0"/>
              <a:t>Dividends from 10%-owned foreign corporations to the extent that the E&amp;Ps were subject to US tax. §245(a)(1).</a:t>
            </a:r>
          </a:p>
          <a:p>
            <a:pPr lvl="1"/>
            <a:r>
              <a:rPr lang="en-US" dirty="0"/>
              <a:t>Dividends from a wholly owned foreign subsidiary if all of the subsidiary’s gross income was effectively connected with a US trade/business. §245(b)(2). </a:t>
            </a:r>
          </a:p>
          <a:p>
            <a:pPr lvl="1"/>
            <a:r>
              <a:rPr lang="en-US" dirty="0"/>
              <a:t>Dividends from a foreign corporation that succeeds to E&amp;Ps accumulated by a US corporation.  §243(e).</a:t>
            </a:r>
          </a:p>
          <a:p>
            <a:pPr lvl="1"/>
            <a:r>
              <a:rPr lang="en-US" b="1" dirty="0"/>
              <a:t>New for ‘18:  100% DRD for dividends (E&amp;Ps that haven’t yet been taxed to US owners) received from a foreign corporation if the US </a:t>
            </a:r>
            <a:r>
              <a:rPr lang="en-US" b="1" i="1" dirty="0"/>
              <a:t>corporate recipient </a:t>
            </a:r>
            <a:r>
              <a:rPr lang="en-US" b="1" dirty="0"/>
              <a:t>owns 10% or more of the vote or value of the foreign corporation. §245A.</a:t>
            </a:r>
          </a:p>
          <a:p>
            <a:r>
              <a:rPr lang="en-US" dirty="0"/>
              <a:t>For a 20% corporate shareholder, E&amp;Ps of the </a:t>
            </a:r>
            <a:r>
              <a:rPr lang="en-US" i="1" dirty="0"/>
              <a:t>payor</a:t>
            </a:r>
            <a:r>
              <a:rPr lang="en-US" dirty="0"/>
              <a:t> corporation have to be computed as if </a:t>
            </a:r>
            <a:r>
              <a:rPr lang="en-US" altLang="en-US" dirty="0"/>
              <a:t>§</a:t>
            </a:r>
            <a:r>
              <a:rPr lang="en-US" dirty="0"/>
              <a:t>312(k) and (n) didn’t apply:</a:t>
            </a:r>
          </a:p>
          <a:p>
            <a:pPr lvl="1"/>
            <a:r>
              <a:rPr lang="en-US" dirty="0"/>
              <a:t>Accelerated depreciation applies</a:t>
            </a:r>
          </a:p>
          <a:p>
            <a:pPr lvl="1"/>
            <a:r>
              <a:rPr lang="en-US" dirty="0"/>
              <a:t>Installment sales rules apply. </a:t>
            </a:r>
            <a:r>
              <a:rPr lang="en-US" altLang="en-US" dirty="0"/>
              <a:t>§301(e)(1).</a:t>
            </a:r>
          </a:p>
          <a:p>
            <a:pPr lvl="1"/>
            <a:r>
              <a:rPr lang="en-US" dirty="0"/>
              <a:t>Result: More likely or less likely that the distribution will be a dividend?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Ordinary Distributions: Special Rules for Corporate Shareholders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13</a:t>
            </a:fld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Ordinary Distributions</a:t>
            </a:r>
          </a:p>
        </p:txBody>
      </p:sp>
    </p:spTree>
    <p:extLst>
      <p:ext uri="{BB962C8B-B14F-4D97-AF65-F5344CB8AC3E}">
        <p14:creationId xmlns:p14="http://schemas.microsoft.com/office/powerpoint/2010/main" val="18570896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A </a:t>
            </a:r>
            <a:r>
              <a:rPr lang="en-US" b="1" dirty="0"/>
              <a:t>corporation</a:t>
            </a:r>
            <a:r>
              <a:rPr lang="en-US" dirty="0"/>
              <a:t> that receives an </a:t>
            </a:r>
            <a:r>
              <a:rPr lang="en-US" i="1" dirty="0"/>
              <a:t>extraordinary dividend</a:t>
            </a:r>
            <a:r>
              <a:rPr lang="en-US" dirty="0"/>
              <a:t> and </a:t>
            </a:r>
            <a:r>
              <a:rPr lang="en-US" dirty="0" err="1"/>
              <a:t>hasn</a:t>
            </a:r>
            <a:r>
              <a:rPr lang="uk-UA" dirty="0"/>
              <a:t>’</a:t>
            </a:r>
            <a:r>
              <a:rPr lang="en-US" dirty="0"/>
              <a:t>t held the stock for </a:t>
            </a:r>
            <a:r>
              <a:rPr lang="en-US" i="1" dirty="0"/>
              <a:t>more than </a:t>
            </a:r>
            <a:r>
              <a:rPr lang="en-US" dirty="0"/>
              <a:t>2 years before </a:t>
            </a:r>
            <a:r>
              <a:rPr lang="en-US" i="1" dirty="0"/>
              <a:t>the dividend announcement date:</a:t>
            </a:r>
          </a:p>
          <a:p>
            <a:pPr lvl="1"/>
            <a:r>
              <a:rPr lang="en-US" dirty="0"/>
              <a:t>Must reduce its basis in the shares by the </a:t>
            </a:r>
            <a:r>
              <a:rPr lang="en-US" i="1" dirty="0"/>
              <a:t>nontaxed</a:t>
            </a:r>
            <a:r>
              <a:rPr lang="en-US" dirty="0"/>
              <a:t> portion of the dividend</a:t>
            </a:r>
          </a:p>
          <a:p>
            <a:pPr lvl="1"/>
            <a:r>
              <a:rPr lang="en-US" dirty="0"/>
              <a:t>Must recognize gain if the nontaxed portion exceeds the basis. §1059(a) and (b).</a:t>
            </a:r>
          </a:p>
          <a:p>
            <a:r>
              <a:rPr lang="en-US" i="1" dirty="0"/>
              <a:t>Extraordinary dividend</a:t>
            </a:r>
          </a:p>
          <a:p>
            <a:pPr lvl="1"/>
            <a:r>
              <a:rPr lang="en-US" dirty="0"/>
              <a:t>Dividend equals or exceeds </a:t>
            </a:r>
            <a:r>
              <a:rPr lang="en-US" i="1" dirty="0"/>
              <a:t>10%</a:t>
            </a:r>
            <a:r>
              <a:rPr lang="en-US" dirty="0"/>
              <a:t> (5% for preferred stock dividends) of the recipient’s basis in the shares. §1059(c)(1) and (2).  SH can use FMV instead of AB. §1059(c)(4).</a:t>
            </a:r>
          </a:p>
          <a:p>
            <a:pPr lvl="1"/>
            <a:r>
              <a:rPr lang="en-US" dirty="0"/>
              <a:t>Can be distributions in kind as well. §1059(d)(2).</a:t>
            </a:r>
          </a:p>
          <a:p>
            <a:pPr lvl="1"/>
            <a:r>
              <a:rPr lang="en-US" dirty="0"/>
              <a:t>Qualifying dividends excluded (received from member of same affiliated group). §1059(e)(2).</a:t>
            </a:r>
          </a:p>
          <a:p>
            <a:pPr lvl="1"/>
            <a:r>
              <a:rPr lang="en-US" dirty="0"/>
              <a:t>Aggregation rules</a:t>
            </a:r>
          </a:p>
          <a:p>
            <a:pPr lvl="2"/>
            <a:r>
              <a:rPr lang="en-US" dirty="0"/>
              <a:t>All dividends received that have ex-dividend dates within 85 days</a:t>
            </a:r>
          </a:p>
          <a:p>
            <a:pPr lvl="2"/>
            <a:r>
              <a:rPr lang="en-US" dirty="0"/>
              <a:t>All dividends received within 1 year if dividend exceeds 20% of adjusted basis. §1059(c)(3).</a:t>
            </a:r>
          </a:p>
          <a:p>
            <a:pPr lvl="2"/>
            <a:r>
              <a:rPr lang="en-US" dirty="0"/>
              <a:t>Dividends from a corporation that the SH has owned since the paying corporation’s inception are excluded. §1059(d)(6). </a:t>
            </a:r>
          </a:p>
          <a:p>
            <a:r>
              <a:rPr lang="en-US" b="1" dirty="0"/>
              <a:t>Individuals</a:t>
            </a:r>
            <a:r>
              <a:rPr lang="en-US" dirty="0"/>
              <a:t>: Losses from the sale of shares are LTCLs if SH receives extraordinary dividend. §1(h)(11)(D)(ii).  Enforcement?</a:t>
            </a:r>
          </a:p>
          <a:p>
            <a:pPr lvl="1"/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Ordinary Distributions: Dividend Stripping and Extraordinary Dividends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14</a:t>
            </a:fld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Ordinary Distributions</a:t>
            </a:r>
          </a:p>
        </p:txBody>
      </p:sp>
    </p:spTree>
    <p:extLst>
      <p:ext uri="{BB962C8B-B14F-4D97-AF65-F5344CB8AC3E}">
        <p14:creationId xmlns:p14="http://schemas.microsoft.com/office/powerpoint/2010/main" val="14866897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512064" y="533400"/>
            <a:ext cx="11277600" cy="5494867"/>
          </a:xfrm>
          <a:ln>
            <a:solidFill>
              <a:schemeClr val="accent1"/>
            </a:solidFill>
          </a:ln>
        </p:spPr>
        <p:txBody>
          <a:bodyPr/>
          <a:lstStyle/>
          <a:p>
            <a:r>
              <a:rPr lang="en-US" sz="2800"/>
              <a:t>In the case of </a:t>
            </a:r>
            <a:r>
              <a:rPr lang="en-US" sz="2800" i="1"/>
              <a:t>debt-financed portfolio stock</a:t>
            </a:r>
            <a:r>
              <a:rPr lang="en-US" sz="2800"/>
              <a:t>, the </a:t>
            </a:r>
            <a:r>
              <a:rPr lang="en-US" sz="2800" err="1"/>
              <a:t>DRD</a:t>
            </a:r>
            <a:r>
              <a:rPr lang="en-US" sz="2800"/>
              <a:t> percentage is the product of:</a:t>
            </a:r>
          </a:p>
          <a:p>
            <a:pPr lvl="1"/>
            <a:r>
              <a:rPr lang="en-US" sz="2800"/>
              <a:t>50% (65% from 20% owned corporation), and </a:t>
            </a:r>
          </a:p>
          <a:p>
            <a:pPr lvl="1"/>
            <a:r>
              <a:rPr lang="en-US" sz="2800"/>
              <a:t>100% - the average indebtedness percentage. §246A(a).</a:t>
            </a:r>
          </a:p>
          <a:p>
            <a:pPr marL="228600" lvl="1">
              <a:buFont typeface="Wingdings 2" pitchFamily="18" charset="2"/>
              <a:buChar char=""/>
            </a:pPr>
            <a:endParaRPr lang="en-US" sz="2800"/>
          </a:p>
          <a:p>
            <a:pPr marL="228600" lvl="1">
              <a:buFont typeface="Wingdings 2" pitchFamily="18" charset="2"/>
              <a:buChar char=""/>
            </a:pPr>
            <a:r>
              <a:rPr lang="en-US" sz="2800"/>
              <a:t>Debt-financed portfolio stock: </a:t>
            </a:r>
            <a:r>
              <a:rPr lang="en-US" sz="2800" i="1"/>
              <a:t>portfolio stock </a:t>
            </a:r>
            <a:r>
              <a:rPr lang="en-US" sz="2800"/>
              <a:t>subject to portfolio indebtedness, which is indebtedness </a:t>
            </a:r>
            <a:r>
              <a:rPr lang="en-US" sz="2800" i="1" u="sng"/>
              <a:t>directly attributable </a:t>
            </a:r>
            <a:r>
              <a:rPr lang="en-US" sz="2800"/>
              <a:t>to investment in the stock. §246A(c)(1), (2), and (d)(3)(A).  </a:t>
            </a:r>
          </a:p>
          <a:p>
            <a:pPr marL="457200" lvl="2">
              <a:buFont typeface="Wingdings 2" pitchFamily="18" charset="2"/>
              <a:buChar char=""/>
            </a:pPr>
            <a:r>
              <a:rPr lang="en-US" sz="2800"/>
              <a:t> </a:t>
            </a:r>
            <a:r>
              <a:rPr lang="en-US" sz="2800" i="1"/>
              <a:t>Portfolio Stock</a:t>
            </a:r>
            <a:r>
              <a:rPr lang="en-US" sz="2800"/>
              <a:t>:  any stock unless SH owns &gt;=50% of vote &amp; value or &gt; = 20% if owned by 5 or fewer corporate shareholders. §246A(c)(2) </a:t>
            </a:r>
          </a:p>
          <a:p>
            <a:pPr marL="0" lvl="1" indent="0">
              <a:buNone/>
            </a:pPr>
            <a:endParaRPr lang="en-US" sz="240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Ordinary Distributions: Dividend Stripping and Debt Financed Stock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15</a:t>
            </a:fld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Ordinary Distributions</a:t>
            </a:r>
          </a:p>
        </p:txBody>
      </p:sp>
    </p:spTree>
    <p:extLst>
      <p:ext uri="{BB962C8B-B14F-4D97-AF65-F5344CB8AC3E}">
        <p14:creationId xmlns:p14="http://schemas.microsoft.com/office/powerpoint/2010/main" val="7339839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F568BCA-FC62-984C-864D-BDB2503B74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sz="3200" b="1" u="sng" dirty="0"/>
              <a:t>Example</a:t>
            </a:r>
            <a:endParaRPr lang="en-US" sz="2800" b="1" u="sng" dirty="0"/>
          </a:p>
          <a:p>
            <a:r>
              <a:rPr lang="en-US" sz="3200" dirty="0"/>
              <a:t>C Corp borrows $1,000X @ 5% to purchase a dividend paying stock yielding 4.75%.</a:t>
            </a:r>
          </a:p>
          <a:p>
            <a:pPr lvl="1"/>
            <a:r>
              <a:rPr lang="en-US" sz="2800" dirty="0"/>
              <a:t>Is this generally a wise investment without consideration of taxes?  </a:t>
            </a:r>
          </a:p>
          <a:p>
            <a:pPr lvl="1"/>
            <a:r>
              <a:rPr lang="en-US" sz="2800" dirty="0"/>
              <a:t>After taxes?</a:t>
            </a:r>
          </a:p>
          <a:p>
            <a:pPr marL="228600" lvl="1" indent="0">
              <a:buNone/>
            </a:pPr>
            <a:endParaRPr lang="en-US" sz="240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FD6BFE4-7437-9B44-AE40-81D2A3F970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Ordinary Distributions: Dividend Stripping and Debt Financed Stock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DDFA7B-0218-6C42-96C0-693A2F38947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16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A1A690-A45E-824C-8DBB-BEA54BC7C4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Ordinary Distributions</a:t>
            </a:r>
          </a:p>
        </p:txBody>
      </p:sp>
      <p:graphicFrame>
        <p:nvGraphicFramePr>
          <p:cNvPr id="7" name="Object 6">
            <a:extLst>
              <a:ext uri="{FF2B5EF4-FFF2-40B4-BE49-F238E27FC236}">
                <a16:creationId xmlns:a16="http://schemas.microsoft.com/office/drawing/2014/main" id="{BFBEB5EC-7C4A-5A42-8836-0AB7595D56AE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975584103"/>
              </p:ext>
            </p:extLst>
          </p:nvPr>
        </p:nvGraphicFramePr>
        <p:xfrm>
          <a:off x="2619935" y="3268663"/>
          <a:ext cx="6952129" cy="29067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8496300" imgH="5524500" progId="Excel.Sheet.8">
                  <p:embed/>
                </p:oleObj>
              </mc:Choice>
              <mc:Fallback>
                <p:oleObj name="Worksheet" r:id="rId2" imgW="8496300" imgH="5524500" progId="Excel.Sheet.8">
                  <p:embed/>
                  <p:pic>
                    <p:nvPicPr>
                      <p:cNvPr id="7" name="Object 6">
                        <a:extLst>
                          <a:ext uri="{FF2B5EF4-FFF2-40B4-BE49-F238E27FC236}">
                            <a16:creationId xmlns:a16="http://schemas.microsoft.com/office/drawing/2014/main" id="{BFBEB5EC-7C4A-5A42-8836-0AB7595D56A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2619935" y="3268663"/>
                        <a:ext cx="6952129" cy="29067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3220230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4915C86-66ED-E347-A685-2C9D311400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Ordinary Distributions: Dividend Stripping and Debt Financed Stock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D5BE60-0D27-4541-985C-784D1EF5AF5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17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D8729F-E825-D047-A323-30053AB064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Ordinary Distributions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82A205C-3EF3-2F4C-9199-FF0E512EF8A6}"/>
              </a:ext>
            </a:extLst>
          </p:cNvPr>
          <p:cNvCxnSpPr>
            <a:cxnSpLocks/>
          </p:cNvCxnSpPr>
          <p:nvPr/>
        </p:nvCxnSpPr>
        <p:spPr>
          <a:xfrm>
            <a:off x="4165600" y="1239649"/>
            <a:ext cx="0" cy="3004727"/>
          </a:xfrm>
          <a:prstGeom prst="line">
            <a:avLst/>
          </a:prstGeom>
          <a:ln w="19050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1945C5DD-A61A-5843-BFC8-CB631CF356BD}"/>
              </a:ext>
            </a:extLst>
          </p:cNvPr>
          <p:cNvSpPr txBox="1"/>
          <p:nvPr/>
        </p:nvSpPr>
        <p:spPr>
          <a:xfrm>
            <a:off x="4318424" y="1239649"/>
            <a:ext cx="3664880" cy="2308324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/>
              <a:t>Sit. 2</a:t>
            </a:r>
            <a:endParaRPr lang="en-US" sz="2000"/>
          </a:p>
          <a:p>
            <a:pPr algn="just"/>
            <a:r>
              <a:rPr lang="en-US" sz="2400"/>
              <a:t>Corp X borrows money to construct plant within 18 months and temporarily invests the loan proceeds in portfolio stock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8F84D19-3EA4-F140-AA19-9D2C6B4425C4}"/>
              </a:ext>
            </a:extLst>
          </p:cNvPr>
          <p:cNvSpPr txBox="1"/>
          <p:nvPr/>
        </p:nvSpPr>
        <p:spPr>
          <a:xfrm>
            <a:off x="8193594" y="1239649"/>
            <a:ext cx="3664880" cy="2677656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/>
              <a:t>Sit. 3</a:t>
            </a:r>
            <a:endParaRPr lang="en-US" sz="2000"/>
          </a:p>
          <a:p>
            <a:pPr algn="just"/>
            <a:r>
              <a:rPr lang="en-US" sz="2400"/>
              <a:t>Z bank, which can’t purchase stock, receives deposits from customers.  Z bank loans $ to Parent, which invests in portfolio stock.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2C0DC51-6B92-694D-A74F-F85BAC66F354}"/>
              </a:ext>
            </a:extLst>
          </p:cNvPr>
          <p:cNvSpPr txBox="1"/>
          <p:nvPr/>
        </p:nvSpPr>
        <p:spPr>
          <a:xfrm>
            <a:off x="5064211" y="623003"/>
            <a:ext cx="20635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u="sng"/>
              <a:t>Rev. Rul. 88-66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657EFF3-6977-FB48-A01E-1CB95C1567F4}"/>
              </a:ext>
            </a:extLst>
          </p:cNvPr>
          <p:cNvSpPr txBox="1"/>
          <p:nvPr/>
        </p:nvSpPr>
        <p:spPr>
          <a:xfrm>
            <a:off x="348075" y="1240045"/>
            <a:ext cx="3664880" cy="452431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/>
              <a:t>Sit. 1</a:t>
            </a:r>
            <a:endParaRPr lang="en-US" sz="2000"/>
          </a:p>
          <a:p>
            <a:pPr algn="just"/>
            <a:r>
              <a:rPr lang="en-US" sz="2400"/>
              <a:t>Corp X owns portfolio stock (sec. §246A(c)(2)) and has cash to meet business needs.  X borrows to buy new facility as was customary but doesn’t liquidate the portfolio stock. No other factors indicating loan obtained to facilitate the carrying of portfolio.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1A8D29B-CBFC-FA44-B64C-BD2B10265246}"/>
              </a:ext>
            </a:extLst>
          </p:cNvPr>
          <p:cNvCxnSpPr>
            <a:cxnSpLocks/>
          </p:cNvCxnSpPr>
          <p:nvPr/>
        </p:nvCxnSpPr>
        <p:spPr>
          <a:xfrm>
            <a:off x="8085222" y="1239648"/>
            <a:ext cx="0" cy="3004727"/>
          </a:xfrm>
          <a:prstGeom prst="line">
            <a:avLst/>
          </a:prstGeom>
          <a:ln w="19050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29592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/>
      <p:bldP spid="10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Ordinary Distributions: General Utilities Operating Co. v. </a:t>
            </a:r>
            <a:r>
              <a:rPr lang="en-US" err="1"/>
              <a:t>Helvering</a:t>
            </a:r>
            <a:r>
              <a:rPr lang="en-US"/>
              <a:t> (1935)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18</a:t>
            </a:fld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Ordinary Distributions</a:t>
            </a:r>
          </a:p>
        </p:txBody>
      </p:sp>
      <p:sp>
        <p:nvSpPr>
          <p:cNvPr id="6" name="Oval 4"/>
          <p:cNvSpPr>
            <a:spLocks noChangeArrowheads="1"/>
          </p:cNvSpPr>
          <p:nvPr/>
        </p:nvSpPr>
        <p:spPr bwMode="auto">
          <a:xfrm>
            <a:off x="4699000" y="1333500"/>
            <a:ext cx="1600200" cy="838200"/>
          </a:xfrm>
          <a:prstGeom prst="ellipse">
            <a:avLst/>
          </a:prstGeom>
          <a:solidFill>
            <a:schemeClr val="accent3">
              <a:lumMod val="25000"/>
              <a:lumOff val="75000"/>
            </a:schemeClr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 algn="ctr"/>
            <a:r>
              <a:rPr lang="en-US" altLang="en-US" sz="2500" b="1" i="1"/>
              <a:t>SH</a:t>
            </a:r>
          </a:p>
        </p:txBody>
      </p:sp>
      <p:sp>
        <p:nvSpPr>
          <p:cNvPr id="7" name="Rectangle 5"/>
          <p:cNvSpPr>
            <a:spLocks noChangeArrowheads="1"/>
          </p:cNvSpPr>
          <p:nvPr/>
        </p:nvSpPr>
        <p:spPr bwMode="auto">
          <a:xfrm>
            <a:off x="4711700" y="2963862"/>
            <a:ext cx="1600200" cy="914400"/>
          </a:xfrm>
          <a:prstGeom prst="rect">
            <a:avLst/>
          </a:prstGeom>
          <a:solidFill>
            <a:srgbClr val="FFFFCC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altLang="en-US" sz="2900" b="1"/>
              <a:t>GU</a:t>
            </a:r>
            <a:endParaRPr lang="en-US" altLang="en-US" sz="3700" b="1"/>
          </a:p>
        </p:txBody>
      </p:sp>
      <p:cxnSp>
        <p:nvCxnSpPr>
          <p:cNvPr id="8" name="AutoShape 6"/>
          <p:cNvCxnSpPr>
            <a:cxnSpLocks noChangeShapeType="1"/>
            <a:stCxn id="6" idx="4"/>
          </p:cNvCxnSpPr>
          <p:nvPr/>
        </p:nvCxnSpPr>
        <p:spPr bwMode="auto">
          <a:xfrm>
            <a:off x="5499100" y="2171700"/>
            <a:ext cx="1588" cy="792162"/>
          </a:xfrm>
          <a:prstGeom prst="straightConnector1">
            <a:avLst/>
          </a:prstGeom>
          <a:noFill/>
          <a:ln w="254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9" name="Line 7"/>
          <p:cNvSpPr>
            <a:spLocks noChangeShapeType="1"/>
          </p:cNvSpPr>
          <p:nvPr/>
        </p:nvSpPr>
        <p:spPr bwMode="auto">
          <a:xfrm flipH="1">
            <a:off x="5549900" y="3878262"/>
            <a:ext cx="0" cy="9144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0" name="Line 8"/>
          <p:cNvSpPr>
            <a:spLocks noChangeShapeType="1"/>
          </p:cNvSpPr>
          <p:nvPr/>
        </p:nvSpPr>
        <p:spPr bwMode="auto">
          <a:xfrm flipV="1">
            <a:off x="6311900" y="1638300"/>
            <a:ext cx="1295400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1" name="Text Box 9"/>
          <p:cNvSpPr txBox="1">
            <a:spLocks noChangeArrowheads="1"/>
          </p:cNvSpPr>
          <p:nvPr/>
        </p:nvSpPr>
        <p:spPr bwMode="auto">
          <a:xfrm>
            <a:off x="1562100" y="1862515"/>
            <a:ext cx="1408847" cy="67710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r>
              <a:rPr lang="en-US" altLang="en-US" sz="1700" b="1"/>
              <a:t>Dividend of </a:t>
            </a:r>
          </a:p>
          <a:p>
            <a:r>
              <a:rPr lang="en-US" altLang="en-US" sz="1700" b="1"/>
              <a:t>Islands Stock</a:t>
            </a:r>
            <a:r>
              <a:rPr lang="en-US" altLang="en-US" sz="2100"/>
              <a:t> </a:t>
            </a:r>
          </a:p>
        </p:txBody>
      </p:sp>
      <p:sp>
        <p:nvSpPr>
          <p:cNvPr id="12" name="Rectangle 10"/>
          <p:cNvSpPr>
            <a:spLocks noChangeArrowheads="1"/>
          </p:cNvSpPr>
          <p:nvPr/>
        </p:nvSpPr>
        <p:spPr bwMode="auto">
          <a:xfrm>
            <a:off x="4762500" y="4792662"/>
            <a:ext cx="1600200" cy="9144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/>
            <a:r>
              <a:rPr lang="en-US" altLang="en-US" sz="2900" b="1"/>
              <a:t>Islands</a:t>
            </a:r>
          </a:p>
        </p:txBody>
      </p:sp>
      <p:sp>
        <p:nvSpPr>
          <p:cNvPr id="13" name="Freeform 11"/>
          <p:cNvSpPr>
            <a:spLocks/>
          </p:cNvSpPr>
          <p:nvPr/>
        </p:nvSpPr>
        <p:spPr bwMode="auto">
          <a:xfrm>
            <a:off x="2425700" y="1943100"/>
            <a:ext cx="2324100" cy="2971800"/>
          </a:xfrm>
          <a:custGeom>
            <a:avLst/>
            <a:gdLst>
              <a:gd name="T0" fmla="*/ 1320 w 1464"/>
              <a:gd name="T1" fmla="*/ 1872 h 1872"/>
              <a:gd name="T2" fmla="*/ 24 w 1464"/>
              <a:gd name="T3" fmla="*/ 960 h 1872"/>
              <a:gd name="T4" fmla="*/ 1464 w 1464"/>
              <a:gd name="T5" fmla="*/ 0 h 187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1464" h="1872">
                <a:moveTo>
                  <a:pt x="1320" y="1872"/>
                </a:moveTo>
                <a:cubicBezTo>
                  <a:pt x="660" y="1572"/>
                  <a:pt x="0" y="1272"/>
                  <a:pt x="24" y="960"/>
                </a:cubicBezTo>
                <a:cubicBezTo>
                  <a:pt x="48" y="648"/>
                  <a:pt x="756" y="324"/>
                  <a:pt x="1464" y="0"/>
                </a:cubicBezTo>
              </a:path>
            </a:pathLst>
          </a:custGeom>
          <a:noFill/>
          <a:ln w="19050" cap="flat" cmpd="sng">
            <a:solidFill>
              <a:schemeClr val="tx1"/>
            </a:solidFill>
            <a:prstDash val="solid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4" name="Rectangle 12"/>
          <p:cNvSpPr>
            <a:spLocks noChangeArrowheads="1"/>
          </p:cNvSpPr>
          <p:nvPr/>
        </p:nvSpPr>
        <p:spPr bwMode="auto">
          <a:xfrm>
            <a:off x="7581900" y="1135062"/>
            <a:ext cx="1600200" cy="9144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/>
            <a:r>
              <a:rPr lang="en-US" altLang="en-US" sz="2100" b="1"/>
              <a:t>Southern</a:t>
            </a:r>
          </a:p>
        </p:txBody>
      </p:sp>
      <p:sp>
        <p:nvSpPr>
          <p:cNvPr id="15" name="Text Box 13"/>
          <p:cNvSpPr txBox="1">
            <a:spLocks noChangeArrowheads="1"/>
          </p:cNvSpPr>
          <p:nvPr/>
        </p:nvSpPr>
        <p:spPr bwMode="auto">
          <a:xfrm>
            <a:off x="6029081" y="828516"/>
            <a:ext cx="1330813" cy="4924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pPr algn="ctr"/>
            <a:r>
              <a:rPr lang="en-US" altLang="en-US" sz="1300" b="1"/>
              <a:t>Sale to Southern</a:t>
            </a:r>
          </a:p>
          <a:p>
            <a:pPr algn="ctr"/>
            <a:r>
              <a:rPr lang="en-US" altLang="en-US" sz="1300" b="1"/>
              <a:t>of Islands Stock</a:t>
            </a:r>
            <a:endParaRPr lang="en-US" altLang="en-US" sz="1500"/>
          </a:p>
        </p:txBody>
      </p:sp>
      <p:sp>
        <p:nvSpPr>
          <p:cNvPr id="16" name="Text Box 14"/>
          <p:cNvSpPr txBox="1">
            <a:spLocks noChangeArrowheads="1"/>
          </p:cNvSpPr>
          <p:nvPr/>
        </p:nvSpPr>
        <p:spPr bwMode="auto">
          <a:xfrm>
            <a:off x="5829300" y="3954462"/>
            <a:ext cx="1495538" cy="73866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 altLang="en-US" sz="1400" b="1"/>
              <a:t>20K shares</a:t>
            </a:r>
          </a:p>
          <a:p>
            <a:r>
              <a:rPr lang="en-US" altLang="en-US" sz="1400" b="1"/>
              <a:t>Basis= $.10/share</a:t>
            </a:r>
          </a:p>
          <a:p>
            <a:r>
              <a:rPr lang="en-US" altLang="en-US" sz="1400" b="1"/>
              <a:t>FMV = $56/share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38033" y="2963862"/>
            <a:ext cx="3446072" cy="369332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What were the IRS’s 2 arguments?</a:t>
            </a:r>
          </a:p>
        </p:txBody>
      </p:sp>
    </p:spTree>
    <p:extLst>
      <p:ext uri="{BB962C8B-B14F-4D97-AF65-F5344CB8AC3E}">
        <p14:creationId xmlns:p14="http://schemas.microsoft.com/office/powerpoint/2010/main" val="9824810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9" grpId="0" animBg="1"/>
      <p:bldP spid="10" grpId="0" animBg="1"/>
      <p:bldP spid="11" grpId="0"/>
      <p:bldP spid="12" grpId="0" animBg="1"/>
      <p:bldP spid="13" grpId="0" animBg="1"/>
      <p:bldP spid="14" grpId="0" animBg="1"/>
      <p:bldP spid="15" grpId="0"/>
      <p:bldP spid="16" grpId="0"/>
      <p:bldP spid="18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en-US" b="1" dirty="0"/>
              <a:t>General Rule</a:t>
            </a:r>
            <a:r>
              <a:rPr lang="en-US" dirty="0"/>
              <a:t> </a:t>
            </a:r>
            <a:r>
              <a:rPr lang="en-US" b="1" dirty="0"/>
              <a:t>(GU): </a:t>
            </a:r>
            <a:r>
              <a:rPr lang="en-US" dirty="0"/>
              <a:t>No G/L recognized by the corporation on the current  distribution of stock or property. §311(a).</a:t>
            </a:r>
          </a:p>
          <a:p>
            <a:pPr lvl="1">
              <a:defRPr/>
            </a:pPr>
            <a:r>
              <a:rPr lang="en-US" dirty="0"/>
              <a:t>Liquidations and reorganizations are </a:t>
            </a:r>
            <a:r>
              <a:rPr lang="en-US" b="1" dirty="0"/>
              <a:t>not</a:t>
            </a:r>
            <a:r>
              <a:rPr lang="en-US" dirty="0"/>
              <a:t> covered by this rule (“distributions to which </a:t>
            </a:r>
            <a:r>
              <a:rPr lang="en-US" u="sng" dirty="0"/>
              <a:t>subpart A </a:t>
            </a:r>
            <a:r>
              <a:rPr lang="en-US" dirty="0"/>
              <a:t>applies”), but redemptions and §304 distributions are covered.</a:t>
            </a:r>
          </a:p>
          <a:p>
            <a:pPr>
              <a:defRPr/>
            </a:pPr>
            <a:r>
              <a:rPr lang="en-US" b="1" dirty="0"/>
              <a:t>Special Rule for Appreciated Property (GU Repeal): </a:t>
            </a:r>
            <a:r>
              <a:rPr lang="en-US" dirty="0"/>
              <a:t>Distributing corporation recognizes </a:t>
            </a:r>
            <a:r>
              <a:rPr lang="en-US" b="1" dirty="0"/>
              <a:t>gain (</a:t>
            </a:r>
            <a:r>
              <a:rPr lang="en-US" b="1" i="1" dirty="0"/>
              <a:t>but not loss</a:t>
            </a:r>
            <a:r>
              <a:rPr lang="en-US" b="1" dirty="0"/>
              <a:t>) </a:t>
            </a:r>
            <a:r>
              <a:rPr lang="en-US" dirty="0"/>
              <a:t>on current distributions of </a:t>
            </a:r>
            <a:r>
              <a:rPr lang="en-US" i="1" dirty="0"/>
              <a:t>appreciated property </a:t>
            </a:r>
            <a:r>
              <a:rPr lang="en-US" dirty="0"/>
              <a:t>(other than obligations). §311(b).  </a:t>
            </a:r>
            <a:r>
              <a:rPr lang="en-US" b="1" dirty="0"/>
              <a:t>Why didn’t Congress allow losses to be recognized?</a:t>
            </a:r>
            <a:endParaRPr lang="en-US" dirty="0"/>
          </a:p>
          <a:p>
            <a:pPr>
              <a:defRPr/>
            </a:pPr>
            <a:r>
              <a:rPr lang="en-US" b="1" dirty="0"/>
              <a:t>Liabilities</a:t>
            </a:r>
            <a:r>
              <a:rPr lang="en-US" dirty="0"/>
              <a:t>:  </a:t>
            </a:r>
          </a:p>
          <a:p>
            <a:pPr lvl="1">
              <a:defRPr/>
            </a:pPr>
            <a:r>
              <a:rPr lang="en-US" b="1" dirty="0"/>
              <a:t>General Rule: </a:t>
            </a:r>
            <a:r>
              <a:rPr lang="en-US" dirty="0"/>
              <a:t>In deemed sale under §311(b), liabilities are generally treated as part of amount realized if the property distributed is subject to a liability or the SH assumes a corporate liability in connection with the distribution.  Reg. §1.1001-2(a)(1) and (4)(ii).   </a:t>
            </a:r>
          </a:p>
          <a:p>
            <a:pPr lvl="1">
              <a:defRPr/>
            </a:pPr>
            <a:r>
              <a:rPr lang="en-US" b="1" dirty="0"/>
              <a:t>Special Rule: </a:t>
            </a:r>
            <a:r>
              <a:rPr lang="en-US" dirty="0"/>
              <a:t>In a distribution of appreciated property subject to a liability, the FMV of the property is not treated as less than the amount of the liability (or in other words, Corp must recognize gain to the extent that the liability &gt; the AB of the property). §§311(b)(2); 336(b); 7701(g).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Ordinary Distribution:  Corporate-Level Consequences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19</a:t>
            </a:fld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Ordinary Distributions</a:t>
            </a:r>
          </a:p>
        </p:txBody>
      </p:sp>
    </p:spTree>
    <p:extLst>
      <p:ext uri="{BB962C8B-B14F-4D97-AF65-F5344CB8AC3E}">
        <p14:creationId xmlns:p14="http://schemas.microsoft.com/office/powerpoint/2010/main" val="34260511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en-US" sz="2800" dirty="0"/>
              <a:t>E&amp;Ps generally decreased (</a:t>
            </a:r>
            <a:r>
              <a:rPr lang="en-US" sz="2800" b="1" i="1" dirty="0"/>
              <a:t>to the extent thereof</a:t>
            </a:r>
            <a:r>
              <a:rPr lang="en-US" sz="2800" dirty="0"/>
              <a:t>) by:</a:t>
            </a:r>
          </a:p>
          <a:p>
            <a:pPr lvl="1">
              <a:defRPr/>
            </a:pPr>
            <a:r>
              <a:rPr lang="en-US" sz="2400" dirty="0"/>
              <a:t>amount of money;</a:t>
            </a:r>
          </a:p>
          <a:p>
            <a:pPr lvl="1">
              <a:defRPr/>
            </a:pPr>
            <a:r>
              <a:rPr lang="en-US" sz="2400" dirty="0"/>
              <a:t>principal amount of obligation;</a:t>
            </a:r>
          </a:p>
          <a:p>
            <a:pPr lvl="1">
              <a:defRPr/>
            </a:pPr>
            <a:r>
              <a:rPr lang="en-US" sz="2400" dirty="0"/>
              <a:t>AB of other distributed property. §312(a)(3).</a:t>
            </a:r>
          </a:p>
          <a:p>
            <a:pPr lvl="1">
              <a:defRPr/>
            </a:pPr>
            <a:endParaRPr lang="en-US" sz="2400" dirty="0"/>
          </a:p>
          <a:p>
            <a:pPr>
              <a:defRPr/>
            </a:pPr>
            <a:r>
              <a:rPr lang="en-US" sz="2800" dirty="0"/>
              <a:t>If gain recognized under §311(b), E&amp;Ps are first increased by gain and then decreased by FMV of property (instead of the AB of the property) and any associated income taxes. §312(b).</a:t>
            </a:r>
          </a:p>
          <a:p>
            <a:pPr>
              <a:defRPr/>
            </a:pPr>
            <a:endParaRPr lang="en-US" sz="2800" dirty="0"/>
          </a:p>
          <a:p>
            <a:pPr>
              <a:defRPr/>
            </a:pPr>
            <a:r>
              <a:rPr lang="en-US" sz="2800" dirty="0"/>
              <a:t>If distributed property is subject to liabilities, E&amp;Ps are </a:t>
            </a:r>
            <a:r>
              <a:rPr lang="en-US" sz="2800" b="1" u="sng" dirty="0"/>
              <a:t>increased</a:t>
            </a:r>
            <a:r>
              <a:rPr lang="en-US" sz="2800" dirty="0"/>
              <a:t> by liabilities assumed. Reg. §1.312-3.</a:t>
            </a:r>
          </a:p>
          <a:p>
            <a:pPr lvl="1">
              <a:defRPr/>
            </a:pPr>
            <a:r>
              <a:rPr lang="en-US" sz="2600" dirty="0"/>
              <a:t>Why?</a:t>
            </a:r>
          </a:p>
          <a:p>
            <a:pPr marL="0" indent="0">
              <a:buNone/>
            </a:pPr>
            <a:endParaRPr lang="en-US" sz="2800" dirty="0"/>
          </a:p>
          <a:p>
            <a:endParaRPr lang="en-US" sz="2800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Ordinary Distribution:  Corporate-Level Consequences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20</a:t>
            </a:fld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Ordinary Distributions</a:t>
            </a:r>
          </a:p>
        </p:txBody>
      </p:sp>
    </p:spTree>
    <p:extLst>
      <p:ext uri="{BB962C8B-B14F-4D97-AF65-F5344CB8AC3E}">
        <p14:creationId xmlns:p14="http://schemas.microsoft.com/office/powerpoint/2010/main" val="15646577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7F35FD3-50DE-754A-A966-5737688BD9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/>
              <a:t>Non-market transactions between shareholders and corporations can be reclassified as disguised dividends</a:t>
            </a:r>
          </a:p>
          <a:p>
            <a:pPr lvl="1"/>
            <a:r>
              <a:rPr lang="en-US" sz="2400" dirty="0"/>
              <a:t>Unreasonable compensation (</a:t>
            </a:r>
            <a:r>
              <a:rPr lang="en-US" sz="2400" i="1" dirty="0"/>
              <a:t>Aspro v. CIR, </a:t>
            </a:r>
            <a:r>
              <a:rPr lang="en-US" sz="2400" dirty="0"/>
              <a:t>TC 2021; 8</a:t>
            </a:r>
            <a:r>
              <a:rPr lang="en-US" sz="2400" baseline="30000" dirty="0"/>
              <a:t>th</a:t>
            </a:r>
            <a:r>
              <a:rPr lang="en-US" sz="2400" dirty="0"/>
              <a:t> Cir 2022)</a:t>
            </a:r>
          </a:p>
          <a:p>
            <a:pPr lvl="1"/>
            <a:r>
              <a:rPr lang="en-US" sz="2400" dirty="0"/>
              <a:t>Non-arm’s length sales/leases between corporation and shareholders</a:t>
            </a:r>
          </a:p>
          <a:p>
            <a:pPr lvl="1"/>
            <a:r>
              <a:rPr lang="en-US" sz="2400" dirty="0"/>
              <a:t>Personal use of corporate property by shareholders</a:t>
            </a:r>
          </a:p>
          <a:p>
            <a:pPr marL="228600" lvl="1" indent="0">
              <a:buNone/>
            </a:pPr>
            <a:endParaRPr lang="en-US" sz="2400" dirty="0"/>
          </a:p>
          <a:p>
            <a:r>
              <a:rPr lang="en-US" sz="2600" dirty="0"/>
              <a:t>C Corp owns 90% of Sub Corp (SC) and has received an offer to sell its shares for $100MM.  C Corp has a very low basis in its SC stock, and </a:t>
            </a:r>
            <a:r>
              <a:rPr lang="en-US" sz="2600"/>
              <a:t>SC has </a:t>
            </a:r>
            <a:r>
              <a:rPr lang="en-US" sz="2600" dirty="0"/>
              <a:t>significant E&amp;Ps.  In negotiating the sale, C Corp’s tax advisors have suggested distributing SC’s excess cash, let’s say, $30MM ($27MM to C Corp), before selling the stock for $70MM.  </a:t>
            </a:r>
          </a:p>
          <a:p>
            <a:pPr lvl="1"/>
            <a:r>
              <a:rPr lang="en-US" sz="2400" dirty="0"/>
              <a:t>What’s the benefit to C Corp of the proposed structure?</a:t>
            </a:r>
          </a:p>
          <a:p>
            <a:pPr lvl="1"/>
            <a:r>
              <a:rPr lang="en-US" sz="2400" dirty="0"/>
              <a:t>What are the risks?  </a:t>
            </a:r>
            <a:r>
              <a:rPr lang="en-US" sz="2400" i="1" dirty="0"/>
              <a:t>See TSN Liquidating Corp </a:t>
            </a:r>
            <a:r>
              <a:rPr lang="en-US" sz="2400" dirty="0"/>
              <a:t>(5th Cir. 1980).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43B5F3A-A9EA-5444-986E-160D1F00CE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Disguised Dividends and Dividend Strips	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188C3E-E18F-C341-81F4-A8C1CAC000C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21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A9B624-7E4A-4F4F-A495-186DED6119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Ordinary Distributions</a:t>
            </a:r>
          </a:p>
        </p:txBody>
      </p:sp>
    </p:spTree>
    <p:extLst>
      <p:ext uri="{BB962C8B-B14F-4D97-AF65-F5344CB8AC3E}">
        <p14:creationId xmlns:p14="http://schemas.microsoft.com/office/powerpoint/2010/main" val="38251006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29BF5ED-AEEA-29D4-1029-619BB0AF46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The rules for C Corps generally otherwise apply to S Corps, </a:t>
            </a:r>
            <a:r>
              <a:rPr lang="en-US" i="1" dirty="0"/>
              <a:t>e.g</a:t>
            </a:r>
            <a:r>
              <a:rPr lang="en-US" dirty="0"/>
              <a:t>., contributions, certain </a:t>
            </a:r>
            <a:r>
              <a:rPr lang="en-US" u="sng" dirty="0"/>
              <a:t>distributions</a:t>
            </a:r>
            <a:r>
              <a:rPr lang="en-US" dirty="0"/>
              <a:t>, acquisitions, and reorganizations. §1371(a). </a:t>
            </a:r>
          </a:p>
          <a:p>
            <a:endParaRPr lang="en-US" dirty="0"/>
          </a:p>
          <a:p>
            <a:r>
              <a:rPr lang="en-US" dirty="0"/>
              <a:t>For an S Corp with </a:t>
            </a:r>
            <a:r>
              <a:rPr lang="en-US" b="1" dirty="0"/>
              <a:t>no E&amp;Ps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Distribution of $ first reduces basis of stock, </a:t>
            </a:r>
            <a:r>
              <a:rPr lang="en-US" i="1" dirty="0"/>
              <a:t>i.e</a:t>
            </a:r>
            <a:r>
              <a:rPr lang="en-US" dirty="0"/>
              <a:t>., no income inclusion</a:t>
            </a:r>
          </a:p>
          <a:p>
            <a:pPr lvl="1"/>
            <a:r>
              <a:rPr lang="en-US" dirty="0"/>
              <a:t>Amounts in excess of basis are treated as gain from the sale/exchange of property. §1368(b).</a:t>
            </a:r>
          </a:p>
          <a:p>
            <a:pPr lvl="1"/>
            <a:r>
              <a:rPr lang="en-US" dirty="0"/>
              <a:t>Distributions of appreciated property:</a:t>
            </a:r>
          </a:p>
          <a:p>
            <a:pPr lvl="2"/>
            <a:r>
              <a:rPr lang="en-US" dirty="0"/>
              <a:t>gain recognized at S Corp level, which is included in the SH’s income and increases basis, and</a:t>
            </a:r>
          </a:p>
          <a:p>
            <a:pPr lvl="2"/>
            <a:r>
              <a:rPr lang="en-US" dirty="0"/>
              <a:t>basis then lowered by value of distributed property</a:t>
            </a:r>
          </a:p>
          <a:p>
            <a:pPr lvl="1"/>
            <a:endParaRPr lang="en-US" dirty="0"/>
          </a:p>
          <a:p>
            <a:r>
              <a:rPr lang="en-US" dirty="0"/>
              <a:t>Effect on SH’s basis:</a:t>
            </a:r>
          </a:p>
          <a:p>
            <a:pPr lvl="1"/>
            <a:r>
              <a:rPr lang="en-US" dirty="0"/>
              <a:t>Decreases basis. §1367(a)(2)(A)</a:t>
            </a:r>
          </a:p>
          <a:p>
            <a:pPr lvl="1"/>
            <a:endParaRPr lang="en-US" dirty="0"/>
          </a:p>
          <a:p>
            <a:r>
              <a:rPr lang="en-US" dirty="0"/>
              <a:t>Priority rule in the case of distributions and losses--why do we need such a rule?</a:t>
            </a:r>
          </a:p>
          <a:p>
            <a:pPr lvl="1"/>
            <a:r>
              <a:rPr lang="en-US" dirty="0"/>
              <a:t>Basis increased by income/gain. §1367(a)(1).</a:t>
            </a:r>
          </a:p>
          <a:p>
            <a:pPr lvl="1"/>
            <a:r>
              <a:rPr lang="en-US" dirty="0"/>
              <a:t>Basis decreased by distributions. §§1367(a)(2)(A); 1368(d)</a:t>
            </a:r>
          </a:p>
          <a:p>
            <a:pPr lvl="1"/>
            <a:r>
              <a:rPr lang="en-US" dirty="0"/>
              <a:t>Basis decreased by nondeductible expenses.</a:t>
            </a:r>
          </a:p>
          <a:p>
            <a:pPr lvl="1"/>
            <a:r>
              <a:rPr lang="en-US" dirty="0"/>
              <a:t>Basis decreased by losses/deduction.  Reg. §1.1367-1(f).  The last two can be switched.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A42A6DB-A14C-B645-B04D-BB6B374B43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 Corp Distributions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70C516-BC22-4A59-7C1F-4A5D5DCF3DB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22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E4741A-06F2-61A6-CB71-52995E1863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Taxation of C Corporations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5354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7AA56FF-D746-BCCB-A1C3-5AE1EC09FE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sz="2600" dirty="0"/>
              <a:t>If an S Corp was formally a C Corp and had accumulated E&amp;Ps, distributions will generally come </a:t>
            </a:r>
            <a:r>
              <a:rPr lang="en-US" sz="2600" b="1" dirty="0"/>
              <a:t>first</a:t>
            </a:r>
            <a:r>
              <a:rPr lang="en-US" sz="2600" dirty="0"/>
              <a:t> from:</a:t>
            </a:r>
          </a:p>
          <a:p>
            <a:pPr lvl="1"/>
            <a:r>
              <a:rPr lang="en-US" sz="2600" dirty="0"/>
              <a:t>S Corp earnings (AAA), and then from</a:t>
            </a:r>
          </a:p>
          <a:p>
            <a:pPr lvl="1"/>
            <a:r>
              <a:rPr lang="en-US" sz="2600" dirty="0"/>
              <a:t>C Corp E&amp;Ps.  </a:t>
            </a:r>
          </a:p>
          <a:p>
            <a:pPr lvl="1"/>
            <a:endParaRPr lang="en-US" sz="2600" dirty="0"/>
          </a:p>
          <a:p>
            <a:r>
              <a:rPr lang="en-US" sz="2600" i="1" dirty="0"/>
              <a:t>Accumulated Adjustments Account </a:t>
            </a:r>
          </a:p>
          <a:p>
            <a:pPr lvl="1"/>
            <a:r>
              <a:rPr lang="en-US" sz="2600" dirty="0"/>
              <a:t>The S Corp’s earnings computed following the basis adjustment rules in §1367(a)—increase for income and gains, and decrease for losses, deductions and distributions.  </a:t>
            </a:r>
          </a:p>
          <a:p>
            <a:pPr lvl="1"/>
            <a:endParaRPr lang="en-US" sz="2600" dirty="0"/>
          </a:p>
          <a:p>
            <a:r>
              <a:rPr lang="en-US" sz="2600" dirty="0"/>
              <a:t>If a distribution comes from AAA, the S Corp rules apply (tax-free to SH and reduction of basis). §1368(c)(1).</a:t>
            </a:r>
          </a:p>
          <a:p>
            <a:endParaRPr lang="en-US" sz="2600" dirty="0"/>
          </a:p>
          <a:p>
            <a:r>
              <a:rPr lang="en-US" sz="2600" dirty="0"/>
              <a:t>If a distribution comes from C Corp E&amp;Ps, the C Corp rules apply (dividend to the extent of E&amp;Ps; and any excess is treated under the S Corp rules). §1368(c)(2) and (3).</a:t>
            </a:r>
          </a:p>
          <a:p>
            <a:endParaRPr lang="en-US" sz="2600" dirty="0"/>
          </a:p>
          <a:p>
            <a:r>
              <a:rPr lang="en-US" sz="2600" dirty="0"/>
              <a:t>An annual election can be made to distribute C Corp E&amp;Ps first. §1368(e)(3).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9C4495A-9886-3B05-0CA6-8DD2893A5B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 Corps with E&amp;Ps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C9032E-7E00-4175-C9D6-47E69705E44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23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B256E9-8702-744D-A289-2440711A64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Taxation of C Corporations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653519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CG Body - Standard">
  <a:themeElements>
    <a:clrScheme name="CGSH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B01C2E"/>
      </a:accent1>
      <a:accent2>
        <a:srgbClr val="4B2942"/>
      </a:accent2>
      <a:accent3>
        <a:srgbClr val="002F5F"/>
      </a:accent3>
      <a:accent4>
        <a:srgbClr val="495B25"/>
      </a:accent4>
      <a:accent5>
        <a:srgbClr val="E66402"/>
      </a:accent5>
      <a:accent6>
        <a:srgbClr val="FF9933"/>
      </a:accent6>
      <a:hlink>
        <a:srgbClr val="0000FF"/>
      </a:hlink>
      <a:folHlink>
        <a:srgbClr val="800080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T_COE_16" id="{671586AA-9BBF-BE44-880F-D824A4D8FE5E}" vid="{5A5CEC7A-9E78-BE40-8F14-2D245F9926E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20856</TotalTime>
  <Words>3411</Words>
  <Application>Microsoft Macintosh PowerPoint</Application>
  <PresentationFormat>Widescreen</PresentationFormat>
  <Paragraphs>323</Paragraphs>
  <Slides>23</Slides>
  <Notes>3</Notes>
  <HiddenSlides>0</HiddenSlides>
  <MMClips>0</MMClips>
  <ScaleCrop>false</ScaleCrop>
  <HeadingPairs>
    <vt:vector size="8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33" baseType="lpstr">
      <vt:lpstr>ＭＳ Ｐゴシック</vt:lpstr>
      <vt:lpstr>NSimSun</vt:lpstr>
      <vt:lpstr>Arial</vt:lpstr>
      <vt:lpstr>Calibri</vt:lpstr>
      <vt:lpstr>Courier New</vt:lpstr>
      <vt:lpstr>Times New Roman</vt:lpstr>
      <vt:lpstr>Wingdings</vt:lpstr>
      <vt:lpstr>Wingdings 2</vt:lpstr>
      <vt:lpstr>CG Body - Standard</vt:lpstr>
      <vt:lpstr>Worksheet</vt:lpstr>
      <vt:lpstr>Ordinary Distributions</vt:lpstr>
      <vt:lpstr>Ordinary Distributions: Shareholder Consequences</vt:lpstr>
      <vt:lpstr>Ordinary Distributions: E&amp;Ps</vt:lpstr>
      <vt:lpstr>Dividend: §316</vt:lpstr>
      <vt:lpstr>Ordinary Distributions: Rev. Rul. 74-164</vt:lpstr>
      <vt:lpstr>Ordinary Distributions: Additional Rules</vt:lpstr>
      <vt:lpstr>Ordinary Distributions to Individuals</vt:lpstr>
      <vt:lpstr>Ordinary Distributions: Liabilities and Different Blocks of Shares</vt:lpstr>
      <vt:lpstr>Ordinary Distributions: Corporate Shareholders</vt:lpstr>
      <vt:lpstr>Ordinary Distributions: Dividend Terminology</vt:lpstr>
      <vt:lpstr>Ordinary Distributions: Corporate Shareholders and Dividend Stripping</vt:lpstr>
      <vt:lpstr>Ordinary Distributions and Dividend Stripping: Corporate Shareholders and Limits on the DRD</vt:lpstr>
      <vt:lpstr>Ordinary Distributions: Special Rules for Corporate Shareholders </vt:lpstr>
      <vt:lpstr>Ordinary Distributions: Dividend Stripping and Extraordinary Dividends</vt:lpstr>
      <vt:lpstr>Ordinary Distributions: Dividend Stripping and Debt Financed Stock</vt:lpstr>
      <vt:lpstr>Ordinary Distributions: Dividend Stripping and Debt Financed Stock</vt:lpstr>
      <vt:lpstr>Ordinary Distributions: Dividend Stripping and Debt Financed Stock</vt:lpstr>
      <vt:lpstr>Ordinary Distributions: General Utilities Operating Co. v. Helvering (1935)</vt:lpstr>
      <vt:lpstr>Ordinary Distribution:  Corporate-Level Consequences</vt:lpstr>
      <vt:lpstr>Ordinary Distribution:  Corporate-Level Consequences</vt:lpstr>
      <vt:lpstr>Disguised Dividends and Dividend Strips </vt:lpstr>
      <vt:lpstr>S Corp Distributions</vt:lpstr>
      <vt:lpstr>S Corps with E&amp;Ps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 Corporations:  Commissioner v. Bollinger</dc:title>
  <dc:creator>J Colon</dc:creator>
  <cp:lastModifiedBy>Colon, Jeffrey M.</cp:lastModifiedBy>
  <cp:revision>255</cp:revision>
  <cp:lastPrinted>2023-01-25T20:40:12Z</cp:lastPrinted>
  <dcterms:created xsi:type="dcterms:W3CDTF">2016-08-01T04:04:31Z</dcterms:created>
  <dcterms:modified xsi:type="dcterms:W3CDTF">2026-02-24T14:18:14Z</dcterms:modified>
</cp:coreProperties>
</file>