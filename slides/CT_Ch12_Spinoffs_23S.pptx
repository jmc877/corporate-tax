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2" r:id="rId1"/>
  </p:sldMasterIdLst>
  <p:notesMasterIdLst>
    <p:notesMasterId r:id="rId25"/>
  </p:notesMasterIdLst>
  <p:handoutMasterIdLst>
    <p:handoutMasterId r:id="rId26"/>
  </p:handoutMasterIdLst>
  <p:sldIdLst>
    <p:sldId id="485" r:id="rId2"/>
    <p:sldId id="450" r:id="rId3"/>
    <p:sldId id="486" r:id="rId4"/>
    <p:sldId id="413" r:id="rId5"/>
    <p:sldId id="502" r:id="rId6"/>
    <p:sldId id="487" r:id="rId7"/>
    <p:sldId id="414" r:id="rId8"/>
    <p:sldId id="488" r:id="rId9"/>
    <p:sldId id="489" r:id="rId10"/>
    <p:sldId id="415" r:id="rId11"/>
    <p:sldId id="503" r:id="rId12"/>
    <p:sldId id="491" r:id="rId13"/>
    <p:sldId id="490" r:id="rId14"/>
    <p:sldId id="500" r:id="rId15"/>
    <p:sldId id="492" r:id="rId16"/>
    <p:sldId id="494" r:id="rId17"/>
    <p:sldId id="501" r:id="rId18"/>
    <p:sldId id="493" r:id="rId19"/>
    <p:sldId id="495" r:id="rId20"/>
    <p:sldId id="497" r:id="rId21"/>
    <p:sldId id="496" r:id="rId22"/>
    <p:sldId id="499" r:id="rId23"/>
    <p:sldId id="498" r:id="rId24"/>
  </p:sldIdLst>
  <p:sldSz cx="9144000" cy="6858000" type="screen4x3"/>
  <p:notesSz cx="7010400" cy="9236075"/>
  <p:defaultTextStyle>
    <a:defPPr>
      <a:defRPr lang="en-US"/>
    </a:defPPr>
    <a:lvl1pPr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1pPr>
    <a:lvl2pPr marL="4572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2pPr>
    <a:lvl3pPr marL="9144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3pPr>
    <a:lvl4pPr marL="13716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4pPr>
    <a:lvl5pPr marL="18288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5pPr>
    <a:lvl6pPr marL="2286000" algn="l" defTabSz="457200" rtl="0" eaLnBrk="1" latinLnBrk="0" hangingPunct="1">
      <a:defRPr sz="2400" kern="1200">
        <a:solidFill>
          <a:schemeClr val="tx1"/>
        </a:solidFill>
        <a:latin typeface="Arial" charset="0"/>
        <a:ea typeface="ＭＳ Ｐゴシック" charset="0"/>
        <a:cs typeface="ＭＳ Ｐゴシック" charset="0"/>
      </a:defRPr>
    </a:lvl6pPr>
    <a:lvl7pPr marL="2743200" algn="l" defTabSz="457200" rtl="0" eaLnBrk="1" latinLnBrk="0" hangingPunct="1">
      <a:defRPr sz="2400" kern="1200">
        <a:solidFill>
          <a:schemeClr val="tx1"/>
        </a:solidFill>
        <a:latin typeface="Arial" charset="0"/>
        <a:ea typeface="ＭＳ Ｐゴシック" charset="0"/>
        <a:cs typeface="ＭＳ Ｐゴシック" charset="0"/>
      </a:defRPr>
    </a:lvl7pPr>
    <a:lvl8pPr marL="3200400" algn="l" defTabSz="457200" rtl="0" eaLnBrk="1" latinLnBrk="0" hangingPunct="1">
      <a:defRPr sz="2400" kern="1200">
        <a:solidFill>
          <a:schemeClr val="tx1"/>
        </a:solidFill>
        <a:latin typeface="Arial" charset="0"/>
        <a:ea typeface="ＭＳ Ｐゴシック" charset="0"/>
        <a:cs typeface="ＭＳ Ｐゴシック" charset="0"/>
      </a:defRPr>
    </a:lvl8pPr>
    <a:lvl9pPr marL="3657600" algn="l" defTabSz="457200" rtl="0" eaLnBrk="1" latinLnBrk="0" hangingPunct="1">
      <a:defRPr sz="2400" kern="1200">
        <a:solidFill>
          <a:schemeClr val="tx1"/>
        </a:solidFill>
        <a:latin typeface="Arial"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6FFCC"/>
    <a:srgbClr val="FF7081"/>
    <a:srgbClr val="E3C988"/>
    <a:srgbClr val="FFFFCA"/>
    <a:srgbClr val="FF0510"/>
    <a:srgbClr val="E3B276"/>
    <a:srgbClr val="FFFFCC"/>
    <a:srgbClr val="1444F3"/>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382"/>
    <p:restoredTop sz="94366"/>
  </p:normalViewPr>
  <p:slideViewPr>
    <p:cSldViewPr>
      <p:cViewPr varScale="1">
        <p:scale>
          <a:sx n="141" d="100"/>
          <a:sy n="141" d="100"/>
        </p:scale>
        <p:origin x="184" y="1160"/>
      </p:cViewPr>
      <p:guideLst>
        <p:guide orient="horz" pos="2160"/>
        <p:guide pos="2880"/>
      </p:guideLst>
    </p:cSldViewPr>
  </p:slideViewPr>
  <p:outlineViewPr>
    <p:cViewPr>
      <p:scale>
        <a:sx n="33" d="100"/>
        <a:sy n="33" d="100"/>
      </p:scale>
      <p:origin x="0" y="0"/>
    </p:cViewPr>
  </p:outlineViewPr>
  <p:notesTextViewPr>
    <p:cViewPr>
      <p:scale>
        <a:sx n="60" d="100"/>
        <a:sy n="60" d="100"/>
      </p:scale>
      <p:origin x="0" y="0"/>
    </p:cViewPr>
  </p:notesTextViewPr>
  <p:sorterViewPr>
    <p:cViewPr>
      <p:scale>
        <a:sx n="171" d="100"/>
        <a:sy n="171" d="100"/>
      </p:scale>
      <p:origin x="0" y="7336"/>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DC1DB158-BAB1-5930-B714-AEF472873853}"/>
    <pc:docChg chg="modSld">
      <pc:chgData name="Colon, Jeffrey M." userId="615143b1-cdee-493d-9a9d-1565ce8666d9" providerId="ADAL" clId="{DC1DB158-BAB1-5930-B714-AEF472873853}" dt="2026-04-20T10:38:03.152" v="5" actId="20577"/>
      <pc:docMkLst>
        <pc:docMk/>
      </pc:docMkLst>
      <pc:sldChg chg="modSp mod">
        <pc:chgData name="Colon, Jeffrey M." userId="615143b1-cdee-493d-9a9d-1565ce8666d9" providerId="ADAL" clId="{DC1DB158-BAB1-5930-B714-AEF472873853}" dt="2026-04-20T10:38:03.152" v="5" actId="20577"/>
        <pc:sldMkLst>
          <pc:docMk/>
          <pc:sldMk cId="571971566" sldId="487"/>
        </pc:sldMkLst>
        <pc:spChg chg="mod">
          <ac:chgData name="Colon, Jeffrey M." userId="615143b1-cdee-493d-9a9d-1565ce8666d9" providerId="ADAL" clId="{DC1DB158-BAB1-5930-B714-AEF472873853}" dt="2026-04-20T10:38:03.152" v="5" actId="20577"/>
          <ac:spMkLst>
            <pc:docMk/>
            <pc:sldMk cId="571971566" sldId="487"/>
            <ac:spMk id="2"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362" name="Rectangle 2"/>
          <p:cNvSpPr>
            <a:spLocks noGrp="1" noChangeArrowheads="1"/>
          </p:cNvSpPr>
          <p:nvPr>
            <p:ph type="hdr" sz="quarter"/>
          </p:nvPr>
        </p:nvSpPr>
        <p:spPr bwMode="auto">
          <a:xfrm>
            <a:off x="0" y="4"/>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ctr" anchorCtr="0" compatLnSpc="1">
            <a:prstTxWarp prst="textNoShape">
              <a:avLst/>
            </a:prstTxWarp>
          </a:bodyPr>
          <a:lstStyle>
            <a:lvl1pPr>
              <a:defRPr sz="1200" smtClean="0">
                <a:latin typeface="Gill Sans" charset="0"/>
                <a:cs typeface="+mn-cs"/>
              </a:defRPr>
            </a:lvl1pPr>
          </a:lstStyle>
          <a:p>
            <a:pPr>
              <a:defRPr/>
            </a:pPr>
            <a:endParaRPr lang="en-US"/>
          </a:p>
        </p:txBody>
      </p:sp>
      <p:sp>
        <p:nvSpPr>
          <p:cNvPr id="15363" name="Rectangle 3"/>
          <p:cNvSpPr>
            <a:spLocks noGrp="1" noChangeArrowheads="1"/>
          </p:cNvSpPr>
          <p:nvPr>
            <p:ph type="dt" sz="quarter" idx="1"/>
          </p:nvPr>
        </p:nvSpPr>
        <p:spPr bwMode="auto">
          <a:xfrm>
            <a:off x="3972560" y="4"/>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ctr" anchorCtr="0" compatLnSpc="1">
            <a:prstTxWarp prst="textNoShape">
              <a:avLst/>
            </a:prstTxWarp>
          </a:bodyPr>
          <a:lstStyle>
            <a:lvl1pPr algn="r">
              <a:defRPr sz="1200" smtClean="0">
                <a:latin typeface="Gill Sans" charset="0"/>
                <a:cs typeface="+mn-cs"/>
              </a:defRPr>
            </a:lvl1pPr>
          </a:lstStyle>
          <a:p>
            <a:pPr>
              <a:defRPr/>
            </a:pPr>
            <a:endParaRPr lang="en-US"/>
          </a:p>
        </p:txBody>
      </p:sp>
      <p:sp>
        <p:nvSpPr>
          <p:cNvPr id="15364" name="Rectangle 4"/>
          <p:cNvSpPr>
            <a:spLocks noGrp="1" noChangeArrowheads="1"/>
          </p:cNvSpPr>
          <p:nvPr>
            <p:ph type="ftr" sz="quarter" idx="2"/>
          </p:nvPr>
        </p:nvSpPr>
        <p:spPr bwMode="auto">
          <a:xfrm>
            <a:off x="0" y="8774511"/>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b" anchorCtr="0" compatLnSpc="1">
            <a:prstTxWarp prst="textNoShape">
              <a:avLst/>
            </a:prstTxWarp>
          </a:bodyPr>
          <a:lstStyle>
            <a:lvl1pPr>
              <a:defRPr sz="1200" smtClean="0">
                <a:latin typeface="Gill Sans" charset="0"/>
                <a:cs typeface="+mn-cs"/>
              </a:defRPr>
            </a:lvl1pPr>
          </a:lstStyle>
          <a:p>
            <a:pPr>
              <a:defRPr/>
            </a:pPr>
            <a:endParaRPr lang="en-US"/>
          </a:p>
        </p:txBody>
      </p:sp>
      <p:sp>
        <p:nvSpPr>
          <p:cNvPr id="15365" name="Rectangle 5"/>
          <p:cNvSpPr>
            <a:spLocks noGrp="1" noChangeArrowheads="1"/>
          </p:cNvSpPr>
          <p:nvPr>
            <p:ph type="sldNum" sz="quarter" idx="3"/>
          </p:nvPr>
        </p:nvSpPr>
        <p:spPr bwMode="auto">
          <a:xfrm>
            <a:off x="3972560" y="8774511"/>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b" anchorCtr="0" compatLnSpc="1">
            <a:prstTxWarp prst="textNoShape">
              <a:avLst/>
            </a:prstTxWarp>
          </a:bodyPr>
          <a:lstStyle>
            <a:lvl1pPr algn="r">
              <a:defRPr sz="1200" smtClean="0">
                <a:latin typeface="Gill Sans" charset="0"/>
                <a:cs typeface="+mn-cs"/>
              </a:defRPr>
            </a:lvl1pPr>
          </a:lstStyle>
          <a:p>
            <a:pPr>
              <a:defRPr/>
            </a:pPr>
            <a:fld id="{1A1EF63E-B03F-7C4F-B588-BCD8B15882C4}" type="slidenum">
              <a:rPr lang="en-US"/>
              <a:pPr>
                <a:defRPr/>
              </a:pPr>
              <a:t>‹#›</a:t>
            </a:fld>
            <a:endParaRPr lang="en-US"/>
          </a:p>
        </p:txBody>
      </p:sp>
    </p:spTree>
    <p:extLst>
      <p:ext uri="{BB962C8B-B14F-4D97-AF65-F5344CB8AC3E}">
        <p14:creationId xmlns:p14="http://schemas.microsoft.com/office/powerpoint/2010/main" val="35359194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4"/>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t" anchorCtr="0" compatLnSpc="1">
            <a:prstTxWarp prst="textNoShape">
              <a:avLst/>
            </a:prstTxWarp>
          </a:bodyPr>
          <a:lstStyle>
            <a:lvl1pPr>
              <a:defRPr sz="1200" smtClean="0">
                <a:latin typeface="Times" charset="0"/>
                <a:cs typeface="+mn-cs"/>
              </a:defRPr>
            </a:lvl1pPr>
          </a:lstStyle>
          <a:p>
            <a:pPr>
              <a:defRPr/>
            </a:pPr>
            <a:endParaRPr lang="en-US"/>
          </a:p>
        </p:txBody>
      </p:sp>
      <p:sp>
        <p:nvSpPr>
          <p:cNvPr id="4099" name="Rectangle 3"/>
          <p:cNvSpPr>
            <a:spLocks noGrp="1" noChangeArrowheads="1"/>
          </p:cNvSpPr>
          <p:nvPr>
            <p:ph type="dt" idx="1"/>
          </p:nvPr>
        </p:nvSpPr>
        <p:spPr bwMode="auto">
          <a:xfrm>
            <a:off x="3972560" y="4"/>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t" anchorCtr="0" compatLnSpc="1">
            <a:prstTxWarp prst="textNoShape">
              <a:avLst/>
            </a:prstTxWarp>
          </a:bodyPr>
          <a:lstStyle>
            <a:lvl1pPr algn="r">
              <a:defRPr sz="1200" smtClean="0">
                <a:latin typeface="Times" charset="0"/>
                <a:cs typeface="+mn-cs"/>
              </a:defRPr>
            </a:lvl1pPr>
          </a:lstStyle>
          <a:p>
            <a:pPr>
              <a:defRPr/>
            </a:pPr>
            <a:endParaRPr lang="en-US"/>
          </a:p>
        </p:txBody>
      </p:sp>
      <p:sp>
        <p:nvSpPr>
          <p:cNvPr id="4100" name="Rectangle 4"/>
          <p:cNvSpPr>
            <a:spLocks noGrp="1" noRot="1" noChangeAspect="1" noChangeArrowheads="1" noTextEdit="1"/>
          </p:cNvSpPr>
          <p:nvPr>
            <p:ph type="sldImg" idx="2"/>
          </p:nvPr>
        </p:nvSpPr>
        <p:spPr bwMode="auto">
          <a:xfrm>
            <a:off x="1196975" y="692150"/>
            <a:ext cx="4618038" cy="3463925"/>
          </a:xfrm>
          <a:prstGeom prst="rect">
            <a:avLst/>
          </a:prstGeom>
          <a:noFill/>
          <a:ln w="9525">
            <a:solidFill>
              <a:srgbClr val="000000"/>
            </a:solidFill>
            <a:miter lim="800000"/>
            <a:headEnd/>
            <a:tailEnd/>
          </a:ln>
          <a:effectLst/>
          <a:extLs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 uri="{53640926-AAD7-44d8-BBD7-CCE9431645EC}">
              <a14:shadowObscured xmlns:a14="http://schemas.microsoft.com/office/drawing/2010/main" xmlns="" val="1"/>
            </a:ext>
          </a:extLst>
        </p:spPr>
      </p:sp>
      <p:sp>
        <p:nvSpPr>
          <p:cNvPr id="4101" name="Rectangle 5"/>
          <p:cNvSpPr>
            <a:spLocks noGrp="1" noChangeArrowheads="1"/>
          </p:cNvSpPr>
          <p:nvPr>
            <p:ph type="body" sz="quarter" idx="3"/>
          </p:nvPr>
        </p:nvSpPr>
        <p:spPr bwMode="auto">
          <a:xfrm>
            <a:off x="934720" y="4387260"/>
            <a:ext cx="5140960" cy="415567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102" name="Rectangle 6"/>
          <p:cNvSpPr>
            <a:spLocks noGrp="1" noChangeArrowheads="1"/>
          </p:cNvSpPr>
          <p:nvPr>
            <p:ph type="ftr" sz="quarter" idx="4"/>
          </p:nvPr>
        </p:nvSpPr>
        <p:spPr bwMode="auto">
          <a:xfrm>
            <a:off x="0" y="8774511"/>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b" anchorCtr="0" compatLnSpc="1">
            <a:prstTxWarp prst="textNoShape">
              <a:avLst/>
            </a:prstTxWarp>
          </a:bodyPr>
          <a:lstStyle>
            <a:lvl1pPr>
              <a:defRPr sz="1200" smtClean="0">
                <a:latin typeface="Times" charset="0"/>
                <a:cs typeface="+mn-cs"/>
              </a:defRPr>
            </a:lvl1pPr>
          </a:lstStyle>
          <a:p>
            <a:pPr>
              <a:defRPr/>
            </a:pPr>
            <a:endParaRPr lang="en-US"/>
          </a:p>
        </p:txBody>
      </p:sp>
      <p:sp>
        <p:nvSpPr>
          <p:cNvPr id="4103" name="Rectangle 7"/>
          <p:cNvSpPr>
            <a:spLocks noGrp="1" noChangeArrowheads="1"/>
          </p:cNvSpPr>
          <p:nvPr>
            <p:ph type="sldNum" sz="quarter" idx="5"/>
          </p:nvPr>
        </p:nvSpPr>
        <p:spPr bwMode="auto">
          <a:xfrm>
            <a:off x="3972560" y="8774511"/>
            <a:ext cx="3037840" cy="461564"/>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29" tIns="45714" rIns="91429" bIns="45714" numCol="1" anchor="b" anchorCtr="0" compatLnSpc="1">
            <a:prstTxWarp prst="textNoShape">
              <a:avLst/>
            </a:prstTxWarp>
          </a:bodyPr>
          <a:lstStyle>
            <a:lvl1pPr algn="r">
              <a:defRPr sz="1200" smtClean="0">
                <a:latin typeface="Times" charset="0"/>
                <a:cs typeface="+mn-cs"/>
              </a:defRPr>
            </a:lvl1pPr>
          </a:lstStyle>
          <a:p>
            <a:pPr>
              <a:defRPr/>
            </a:pPr>
            <a:fld id="{18491121-1D40-FD47-8461-61050498F7BC}" type="slidenum">
              <a:rPr lang="en-US"/>
              <a:pPr>
                <a:defRPr/>
              </a:pPr>
              <a:t>‹#›</a:t>
            </a:fld>
            <a:endParaRPr lang="en-US"/>
          </a:p>
        </p:txBody>
      </p:sp>
    </p:spTree>
    <p:extLst>
      <p:ext uri="{BB962C8B-B14F-4D97-AF65-F5344CB8AC3E}">
        <p14:creationId xmlns:p14="http://schemas.microsoft.com/office/powerpoint/2010/main" val="1680494256"/>
      </p:ext>
    </p:extLst>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Times" charset="0"/>
        <a:ea typeface="ＭＳ Ｐゴシック" charset="0"/>
        <a:cs typeface="ＭＳ Ｐゴシック" charset="0"/>
      </a:defRPr>
    </a:lvl1pPr>
    <a:lvl2pPr marL="457200" algn="l" rtl="0" eaLnBrk="0" fontAlgn="base" hangingPunct="0">
      <a:spcBef>
        <a:spcPct val="30000"/>
      </a:spcBef>
      <a:spcAft>
        <a:spcPct val="0"/>
      </a:spcAft>
      <a:defRPr sz="1200" kern="1200">
        <a:solidFill>
          <a:schemeClr val="tx1"/>
        </a:solidFill>
        <a:latin typeface="Times" charset="0"/>
        <a:ea typeface="ＭＳ Ｐゴシック" charset="0"/>
        <a:cs typeface="+mn-cs"/>
      </a:defRPr>
    </a:lvl2pPr>
    <a:lvl3pPr marL="914400" algn="l" rtl="0" eaLnBrk="0" fontAlgn="base" hangingPunct="0">
      <a:spcBef>
        <a:spcPct val="30000"/>
      </a:spcBef>
      <a:spcAft>
        <a:spcPct val="0"/>
      </a:spcAft>
      <a:defRPr sz="1200" kern="1200">
        <a:solidFill>
          <a:schemeClr val="tx1"/>
        </a:solidFill>
        <a:latin typeface="Times" charset="0"/>
        <a:ea typeface="ＭＳ Ｐゴシック" charset="0"/>
        <a:cs typeface="+mn-cs"/>
      </a:defRPr>
    </a:lvl3pPr>
    <a:lvl4pPr marL="1371600" algn="l" rtl="0" eaLnBrk="0" fontAlgn="base" hangingPunct="0">
      <a:spcBef>
        <a:spcPct val="30000"/>
      </a:spcBef>
      <a:spcAft>
        <a:spcPct val="0"/>
      </a:spcAft>
      <a:defRPr sz="1200" kern="1200">
        <a:solidFill>
          <a:schemeClr val="tx1"/>
        </a:solidFill>
        <a:latin typeface="Times" charset="0"/>
        <a:ea typeface="ＭＳ Ｐゴシック" charset="0"/>
        <a:cs typeface="+mn-cs"/>
      </a:defRPr>
    </a:lvl4pPr>
    <a:lvl5pPr marL="1828800" algn="l" rtl="0" eaLnBrk="0" fontAlgn="base" hangingPunct="0">
      <a:spcBef>
        <a:spcPct val="30000"/>
      </a:spcBef>
      <a:spcAft>
        <a:spcPct val="0"/>
      </a:spcAft>
      <a:defRPr sz="1200" kern="1200">
        <a:solidFill>
          <a:schemeClr val="tx1"/>
        </a:solidFill>
        <a:latin typeface="Times" charset="0"/>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18491121-1D40-FD47-8461-61050498F7BC}" type="slidenum">
              <a:rPr lang="en-US" smtClean="0"/>
              <a:pPr>
                <a:defRPr/>
              </a:pPr>
              <a:t>1</a:t>
            </a:fld>
            <a:endParaRPr lang="en-US"/>
          </a:p>
        </p:txBody>
      </p:sp>
    </p:spTree>
    <p:extLst>
      <p:ext uri="{BB962C8B-B14F-4D97-AF65-F5344CB8AC3E}">
        <p14:creationId xmlns:p14="http://schemas.microsoft.com/office/powerpoint/2010/main" val="20811790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77CC9A-0057-2743-8872-8C9F0C8957E2}" type="slidenum">
              <a:rPr lang="en-US" smtClean="0"/>
              <a:t>2</a:t>
            </a:fld>
            <a:endParaRPr lang="en-US"/>
          </a:p>
        </p:txBody>
      </p:sp>
    </p:spTree>
    <p:extLst>
      <p:ext uri="{BB962C8B-B14F-4D97-AF65-F5344CB8AC3E}">
        <p14:creationId xmlns:p14="http://schemas.microsoft.com/office/powerpoint/2010/main" val="8927985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77CC9A-0057-2743-8872-8C9F0C8957E2}" type="slidenum">
              <a:rPr lang="en-US" smtClean="0"/>
              <a:t>3</a:t>
            </a:fld>
            <a:endParaRPr lang="en-US"/>
          </a:p>
        </p:txBody>
      </p:sp>
    </p:spTree>
    <p:extLst>
      <p:ext uri="{BB962C8B-B14F-4D97-AF65-F5344CB8AC3E}">
        <p14:creationId xmlns:p14="http://schemas.microsoft.com/office/powerpoint/2010/main" val="19998347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50C6B471-B184-7948-9797-5EC634FC54A6}" type="slidenum">
              <a:rPr lang="en-US"/>
              <a:pPr>
                <a:defRPr/>
              </a:pPr>
              <a:t>4</a:t>
            </a:fld>
            <a:endParaRPr lang="en-US"/>
          </a:p>
        </p:txBody>
      </p:sp>
      <p:sp>
        <p:nvSpPr>
          <p:cNvPr id="415746"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415747" name="Rectangle 3"/>
          <p:cNvSpPr>
            <a:spLocks noGrp="1" noChangeArrowheads="1"/>
          </p:cNvSpPr>
          <p:nvPr>
            <p:ph type="body" idx="1"/>
          </p:nvPr>
        </p:nvSpPr>
        <p:spPr/>
        <p:txBody>
          <a:bodyPr/>
          <a:lstStyle/>
          <a:p>
            <a:pPr eaLnBrk="1" hangingPunct="1">
              <a:defRPr/>
            </a:pPr>
            <a:endParaRPr lang="en-US" dirty="0">
              <a:cs typeface="+mn-cs"/>
            </a:endParaRPr>
          </a:p>
        </p:txBody>
      </p:sp>
    </p:spTree>
    <p:extLst>
      <p:ext uri="{BB962C8B-B14F-4D97-AF65-F5344CB8AC3E}">
        <p14:creationId xmlns:p14="http://schemas.microsoft.com/office/powerpoint/2010/main" val="20765921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395820B0-99A9-7B43-98A9-056277843A42}" type="slidenum">
              <a:rPr lang="en-US"/>
              <a:pPr>
                <a:defRPr/>
              </a:pPr>
              <a:t>7</a:t>
            </a:fld>
            <a:endParaRPr lang="en-US"/>
          </a:p>
        </p:txBody>
      </p:sp>
      <p:sp>
        <p:nvSpPr>
          <p:cNvPr id="416770"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416771" name="Rectangle 3"/>
          <p:cNvSpPr>
            <a:spLocks noGrp="1" noChangeArrowheads="1"/>
          </p:cNvSpPr>
          <p:nvPr>
            <p:ph type="body" idx="1"/>
          </p:nvPr>
        </p:nvSpPr>
        <p:spPr/>
        <p:txBody>
          <a:bodyPr/>
          <a:lstStyle/>
          <a:p>
            <a:pPr eaLnBrk="1" hangingPunct="1">
              <a:defRPr/>
            </a:pPr>
            <a:endParaRPr lang="en-US" dirty="0">
              <a:cs typeface="+mn-cs"/>
            </a:endParaRPr>
          </a:p>
        </p:txBody>
      </p:sp>
    </p:spTree>
    <p:extLst>
      <p:ext uri="{BB962C8B-B14F-4D97-AF65-F5344CB8AC3E}">
        <p14:creationId xmlns:p14="http://schemas.microsoft.com/office/powerpoint/2010/main" val="37978190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395820B0-99A9-7B43-98A9-056277843A42}" type="slidenum">
              <a:rPr lang="en-US"/>
              <a:pPr>
                <a:defRPr/>
              </a:pPr>
              <a:t>8</a:t>
            </a:fld>
            <a:endParaRPr lang="en-US"/>
          </a:p>
        </p:txBody>
      </p:sp>
      <p:sp>
        <p:nvSpPr>
          <p:cNvPr id="416770"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416771" name="Rectangle 3"/>
          <p:cNvSpPr>
            <a:spLocks noGrp="1" noChangeArrowheads="1"/>
          </p:cNvSpPr>
          <p:nvPr>
            <p:ph type="body" idx="1"/>
          </p:nvPr>
        </p:nvSpPr>
        <p:spPr/>
        <p:txBody>
          <a:bodyPr/>
          <a:lstStyle/>
          <a:p>
            <a:pPr eaLnBrk="1" hangingPunct="1">
              <a:defRPr/>
            </a:pPr>
            <a:endParaRPr lang="en-US" dirty="0">
              <a:cs typeface="+mn-cs"/>
            </a:endParaRPr>
          </a:p>
        </p:txBody>
      </p:sp>
    </p:spTree>
    <p:extLst>
      <p:ext uri="{BB962C8B-B14F-4D97-AF65-F5344CB8AC3E}">
        <p14:creationId xmlns:p14="http://schemas.microsoft.com/office/powerpoint/2010/main" val="2475800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18491121-1D40-FD47-8461-61050498F7BC}" type="slidenum">
              <a:rPr lang="en-US" smtClean="0"/>
              <a:pPr>
                <a:defRPr/>
              </a:pPr>
              <a:t>9</a:t>
            </a:fld>
            <a:endParaRPr lang="en-US"/>
          </a:p>
        </p:txBody>
      </p:sp>
    </p:spTree>
    <p:extLst>
      <p:ext uri="{BB962C8B-B14F-4D97-AF65-F5344CB8AC3E}">
        <p14:creationId xmlns:p14="http://schemas.microsoft.com/office/powerpoint/2010/main" val="24923753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pPr>
              <a:defRPr/>
            </a:pPr>
            <a:fld id="{BA387923-2AA4-F049-B6BB-D2184DD6A943}" type="slidenum">
              <a:rPr lang="en-US"/>
              <a:pPr>
                <a:defRPr/>
              </a:pPr>
              <a:t>10</a:t>
            </a:fld>
            <a:endParaRPr lang="en-US"/>
          </a:p>
        </p:txBody>
      </p:sp>
      <p:sp>
        <p:nvSpPr>
          <p:cNvPr id="418818" name="Rectangle 2"/>
          <p:cNvSpPr>
            <a:spLocks noGrp="1" noRot="1" noChangeAspect="1" noChangeArrowheads="1" noTextEdit="1"/>
          </p:cNvSpPr>
          <p:nvPr>
            <p:ph type="sldImg"/>
          </p:nvPr>
        </p:nvSpPr>
        <p:spPr>
          <a:ln/>
          <a:extLst>
            <a:ext uri="{FAA26D3D-D897-4be2-8F04-BA451C77F1D7}">
              <ma14:placeholderFlag xmlns="" xmlns:ma14="http://schemas.microsoft.com/office/mac/drawingml/2011/main" val="1"/>
            </a:ext>
          </a:extLst>
        </p:spPr>
      </p:sp>
      <p:sp>
        <p:nvSpPr>
          <p:cNvPr id="418819" name="Rectangle 3"/>
          <p:cNvSpPr>
            <a:spLocks noGrp="1" noChangeArrowheads="1"/>
          </p:cNvSpPr>
          <p:nvPr>
            <p:ph type="body" idx="1"/>
          </p:nvPr>
        </p:nvSpPr>
        <p:spPr/>
        <p:txBody>
          <a:bodyPr/>
          <a:lstStyle/>
          <a:p>
            <a:pPr eaLnBrk="1" hangingPunct="1">
              <a:defRPr/>
            </a:pPr>
            <a:endParaRPr lang="en-US" dirty="0">
              <a:cs typeface="+mn-cs"/>
            </a:endParaRPr>
          </a:p>
        </p:txBody>
      </p:sp>
    </p:spTree>
    <p:extLst>
      <p:ext uri="{BB962C8B-B14F-4D97-AF65-F5344CB8AC3E}">
        <p14:creationId xmlns:p14="http://schemas.microsoft.com/office/powerpoint/2010/main" val="5032562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18491121-1D40-FD47-8461-61050498F7BC}" type="slidenum">
              <a:rPr lang="en-US" smtClean="0"/>
              <a:pPr>
                <a:defRPr/>
              </a:pPr>
              <a:t>12</a:t>
            </a:fld>
            <a:endParaRPr lang="en-US"/>
          </a:p>
        </p:txBody>
      </p:sp>
    </p:spTree>
    <p:extLst>
      <p:ext uri="{BB962C8B-B14F-4D97-AF65-F5344CB8AC3E}">
        <p14:creationId xmlns:p14="http://schemas.microsoft.com/office/powerpoint/2010/main" val="8935343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77CC9A-0057-2743-8872-8C9F0C8957E2}" type="slidenum">
              <a:rPr lang="en-US" smtClean="0"/>
              <a:t>20</a:t>
            </a:fld>
            <a:endParaRPr lang="en-US"/>
          </a:p>
        </p:txBody>
      </p:sp>
    </p:spTree>
    <p:extLst>
      <p:ext uri="{BB962C8B-B14F-4D97-AF65-F5344CB8AC3E}">
        <p14:creationId xmlns:p14="http://schemas.microsoft.com/office/powerpoint/2010/main" val="20166684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18491121-1D40-FD47-8461-61050498F7BC}" type="slidenum">
              <a:rPr lang="en-US" smtClean="0"/>
              <a:pPr>
                <a:defRPr/>
              </a:pPr>
              <a:t>23</a:t>
            </a:fld>
            <a:endParaRPr lang="en-US"/>
          </a:p>
        </p:txBody>
      </p:sp>
    </p:spTree>
    <p:extLst>
      <p:ext uri="{BB962C8B-B14F-4D97-AF65-F5344CB8AC3E}">
        <p14:creationId xmlns:p14="http://schemas.microsoft.com/office/powerpoint/2010/main" val="8400987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9144000" cy="300082"/>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350" b="0" i="0" dirty="0">
              <a:latin typeface="Calibri Regular" charset="0"/>
              <a:ea typeface="+mn-ea"/>
              <a:cs typeface="Calibri Regular" charset="0"/>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3124200" y="6474734"/>
            <a:ext cx="2895600" cy="288925"/>
          </a:xfrm>
        </p:spPr>
        <p:txBody>
          <a:bodyPr/>
          <a:lstStyle>
            <a:lvl1pPr>
              <a:defRPr smtClean="0"/>
            </a:lvl1pPr>
          </a:lstStyle>
          <a:p>
            <a:pPr>
              <a:defRPr/>
            </a:pPr>
            <a:r>
              <a:rPr lang="en-US" dirty="0"/>
              <a:t>Spin Offs</a:t>
            </a:r>
          </a:p>
        </p:txBody>
      </p:sp>
      <p:sp>
        <p:nvSpPr>
          <p:cNvPr id="5" name="TextBox 4">
            <a:extLst>
              <a:ext uri="{FF2B5EF4-FFF2-40B4-BE49-F238E27FC236}">
                <a16:creationId xmlns:a16="http://schemas.microsoft.com/office/drawing/2014/main" id="{BAC9DD7D-4FD2-D3AE-9C17-6E8D256144C5}"/>
              </a:ext>
            </a:extLst>
          </p:cNvPr>
          <p:cNvSpPr txBox="1"/>
          <p:nvPr userDrawn="1"/>
        </p:nvSpPr>
        <p:spPr>
          <a:xfrm>
            <a:off x="568960" y="6593840"/>
            <a:ext cx="184731" cy="461665"/>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804183283"/>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384048" y="533400"/>
            <a:ext cx="8458200" cy="5812064"/>
          </a:xfrm>
          <a:prstGeom prst="rect">
            <a:avLst/>
          </a:prstGeom>
        </p:spPr>
        <p:txBody>
          <a:bodyPr/>
          <a:lstStyle>
            <a:lvl1pPr marL="171450" indent="-171450" algn="just" defTabSz="685800" rtl="0" eaLnBrk="1" latinLnBrk="0" hangingPunct="1">
              <a:spcBef>
                <a:spcPct val="20000"/>
              </a:spcBef>
              <a:buClr>
                <a:srgbClr val="B01C2E"/>
              </a:buClr>
              <a:buSzPct val="60000"/>
              <a:buFont typeface="Wingdings 2" pitchFamily="18" charset="2"/>
              <a:buChar char=""/>
              <a:defRPr lang="en-US" sz="1800" kern="1200" dirty="0">
                <a:solidFill>
                  <a:schemeClr val="tx1"/>
                </a:solidFill>
                <a:latin typeface="Calibri" charset="0"/>
                <a:ea typeface="Calibri" charset="0"/>
                <a:cs typeface="Calibri" charset="0"/>
              </a:defRPr>
            </a:lvl1pPr>
            <a:lvl2pPr marL="342900" indent="-171450" algn="just">
              <a:buClr>
                <a:srgbClr val="B01C2E"/>
              </a:buClr>
              <a:buSzPct val="60000"/>
              <a:buFont typeface="Wingdings" charset="2"/>
              <a:buChar char="Ø"/>
              <a:defRPr lang="en-US" sz="1650" kern="1200" dirty="0" smtClean="0">
                <a:solidFill>
                  <a:schemeClr val="tx1"/>
                </a:solidFill>
                <a:latin typeface="Calibri" charset="0"/>
                <a:ea typeface="Calibri" charset="0"/>
                <a:cs typeface="Calibri" charset="0"/>
              </a:defRPr>
            </a:lvl2pPr>
            <a:lvl3pPr marL="514350" indent="-171450" algn="just">
              <a:buClr>
                <a:srgbClr val="B01C2E"/>
              </a:buClr>
              <a:buSzPct val="60000"/>
              <a:buFont typeface="Courier New" charset="0"/>
              <a:buChar char="o"/>
              <a:defRPr lang="en-US" sz="1650" kern="1200" baseline="0" dirty="0" smtClean="0">
                <a:solidFill>
                  <a:schemeClr val="tx1"/>
                </a:solidFill>
                <a:latin typeface="Calibri" charset="0"/>
                <a:ea typeface="Calibri" charset="0"/>
                <a:cs typeface="Calibri" charset="0"/>
              </a:defRPr>
            </a:lvl3pPr>
            <a:lvl4pPr marL="685800" indent="-171450" algn="just">
              <a:buClr>
                <a:srgbClr val="B01C2E"/>
              </a:buClr>
              <a:buSzPct val="60000"/>
              <a:buFont typeface="Arial" charset="0"/>
              <a:buChar char="•"/>
              <a:defRPr lang="en-US" sz="1500" kern="1200" baseline="0" dirty="0" smtClean="0">
                <a:solidFill>
                  <a:schemeClr val="tx1"/>
                </a:solidFill>
                <a:latin typeface="Calibri" charset="0"/>
                <a:ea typeface="Calibri" charset="0"/>
                <a:cs typeface="Calibri" charset="0"/>
              </a:defRPr>
            </a:lvl4pPr>
            <a:lvl5pPr marL="857250" algn="just">
              <a:buClr>
                <a:srgbClr val="B01C2E"/>
              </a:buClr>
              <a:buSzPct val="60000"/>
              <a:buFont typeface="Calibri" pitchFamily="34" charset="0"/>
              <a:buChar char="–"/>
              <a:defRPr lang="en-US" sz="15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384048" y="41934"/>
            <a:ext cx="84582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296466" algn="l"/>
              </a:tabLst>
              <a:defRPr sz="2000" b="1"/>
            </a:lvl1pPr>
          </a:lstStyle>
          <a:p>
            <a:pPr lvl="0"/>
            <a:r>
              <a:rPr lang="en-US" dirty="0"/>
              <a:t>Click to edit Master title style</a:t>
            </a:r>
          </a:p>
        </p:txBody>
      </p:sp>
      <p:sp>
        <p:nvSpPr>
          <p:cNvPr id="5" name="Slide Number Placeholder 9"/>
          <p:cNvSpPr>
            <a:spLocks noGrp="1"/>
          </p:cNvSpPr>
          <p:nvPr>
            <p:ph type="sldNum" sz="quarter" idx="10"/>
          </p:nvPr>
        </p:nvSpPr>
        <p:spPr>
          <a:xfrm>
            <a:off x="8385048" y="6471106"/>
            <a:ext cx="457200" cy="365125"/>
          </a:xfrm>
        </p:spPr>
        <p:txBody>
          <a:bodyPr/>
          <a:lstStyle>
            <a:lvl1pPr algn="r">
              <a:defRPr/>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mtClean="0"/>
            </a:lvl1pPr>
          </a:lstStyle>
          <a:p>
            <a:pPr>
              <a:defRPr/>
            </a:pPr>
            <a:r>
              <a:rPr lang="en-US"/>
              <a:t>Spin Offs</a:t>
            </a:r>
            <a:endParaRPr lang="en-US" dirty="0"/>
          </a:p>
        </p:txBody>
      </p:sp>
      <p:sp>
        <p:nvSpPr>
          <p:cNvPr id="8" name="Rectangle 7"/>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 name="TextBox 1">
            <a:extLst>
              <a:ext uri="{FF2B5EF4-FFF2-40B4-BE49-F238E27FC236}">
                <a16:creationId xmlns:a16="http://schemas.microsoft.com/office/drawing/2014/main" id="{F5CAFD3F-66F4-2FB1-A36B-489E7E05C23D}"/>
              </a:ext>
            </a:extLst>
          </p:cNvPr>
          <p:cNvSpPr txBox="1"/>
          <p:nvPr userDrawn="1"/>
        </p:nvSpPr>
        <p:spPr>
          <a:xfrm>
            <a:off x="650240" y="6614160"/>
            <a:ext cx="184731" cy="461665"/>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660415437"/>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381000" y="3"/>
            <a:ext cx="8461248" cy="38196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1"/>
            </a:lvl1pPr>
          </a:lstStyle>
          <a:p>
            <a:pPr lvl="0"/>
            <a:r>
              <a:rPr lang="en-US" dirty="0"/>
              <a:t>Click to edit Master title style</a:t>
            </a:r>
          </a:p>
        </p:txBody>
      </p:sp>
      <p:sp>
        <p:nvSpPr>
          <p:cNvPr id="9" name="Content Placeholder 10"/>
          <p:cNvSpPr>
            <a:spLocks noGrp="1"/>
          </p:cNvSpPr>
          <p:nvPr>
            <p:ph sz="quarter" idx="16"/>
          </p:nvPr>
        </p:nvSpPr>
        <p:spPr>
          <a:xfrm>
            <a:off x="381000" y="835132"/>
            <a:ext cx="4114800" cy="5491091"/>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500">
                <a:latin typeface="Calibri" charset="0"/>
                <a:ea typeface="Calibri" charset="0"/>
                <a:cs typeface="Calibri" charset="0"/>
              </a:defRPr>
            </a:lvl1pPr>
            <a:lvl2pPr marL="342900" indent="-171450">
              <a:buClr>
                <a:schemeClr val="accent1"/>
              </a:buClr>
              <a:buSzPct val="60000"/>
              <a:buFont typeface="Wingdings" charset="2"/>
              <a:buChar char="Ø"/>
              <a:defRPr lang="en-US" sz="15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500">
                <a:latin typeface="Calibri" charset="0"/>
                <a:ea typeface="Calibri" charset="0"/>
                <a:cs typeface="Calibri" charset="0"/>
              </a:defRPr>
            </a:lvl3pPr>
            <a:lvl4pPr marL="685800" indent="-171450">
              <a:buClr>
                <a:schemeClr val="accent1"/>
              </a:buClr>
              <a:buSzPct val="60000"/>
              <a:buFont typeface="Arial" charset="0"/>
              <a:buChar char="•"/>
              <a:defRPr sz="1500">
                <a:latin typeface="Calibri" charset="0"/>
                <a:ea typeface="Calibri" charset="0"/>
                <a:cs typeface="Calibri" charset="0"/>
              </a:defRPr>
            </a:lvl4pPr>
            <a:lvl5pPr marL="857250">
              <a:buClr>
                <a:schemeClr val="accent1"/>
              </a:buClr>
              <a:buSzPct val="60000"/>
              <a:buFont typeface="Arial" pitchFamily="34" charset="0"/>
              <a:buChar char="–"/>
              <a:defRPr sz="15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10"/>
          <p:cNvSpPr>
            <a:spLocks noGrp="1"/>
          </p:cNvSpPr>
          <p:nvPr>
            <p:ph sz="quarter" idx="17"/>
          </p:nvPr>
        </p:nvSpPr>
        <p:spPr>
          <a:xfrm>
            <a:off x="4648200" y="835132"/>
            <a:ext cx="4194048" cy="5485238"/>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500">
                <a:latin typeface="Calibri" charset="0"/>
                <a:ea typeface="Calibri" charset="0"/>
                <a:cs typeface="Calibri" charset="0"/>
              </a:defRPr>
            </a:lvl1pPr>
            <a:lvl2pPr marL="342900" indent="-171450">
              <a:buClr>
                <a:schemeClr val="accent1"/>
              </a:buClr>
              <a:buSzPct val="60000"/>
              <a:buFont typeface="Wingdings" charset="2"/>
              <a:buChar char="Ø"/>
              <a:defRPr lang="en-US" sz="15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500">
                <a:latin typeface="Calibri" charset="0"/>
                <a:ea typeface="Calibri" charset="0"/>
                <a:cs typeface="Calibri" charset="0"/>
              </a:defRPr>
            </a:lvl3pPr>
            <a:lvl4pPr marL="685800" indent="-171450">
              <a:buClr>
                <a:schemeClr val="accent1"/>
              </a:buClr>
              <a:buSzPct val="60000"/>
              <a:buFont typeface="Arial" charset="0"/>
              <a:buChar char="•"/>
              <a:defRPr sz="1500">
                <a:latin typeface="Calibri" charset="0"/>
                <a:ea typeface="Calibri" charset="0"/>
                <a:cs typeface="Calibri" charset="0"/>
              </a:defRPr>
            </a:lvl4pPr>
            <a:lvl5pPr marL="857250">
              <a:buClr>
                <a:schemeClr val="accent1"/>
              </a:buClr>
              <a:buSzPct val="60000"/>
              <a:buFont typeface="Arial" pitchFamily="34" charset="0"/>
              <a:buChar char="–"/>
              <a:defRPr sz="15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a:t>Spin Offs</a:t>
            </a:r>
          </a:p>
        </p:txBody>
      </p:sp>
      <p:sp>
        <p:nvSpPr>
          <p:cNvPr id="2" name="TextBox 1"/>
          <p:cNvSpPr txBox="1"/>
          <p:nvPr userDrawn="1"/>
        </p:nvSpPr>
        <p:spPr>
          <a:xfrm>
            <a:off x="2061030" y="537029"/>
            <a:ext cx="184731" cy="300082"/>
          </a:xfrm>
          <a:prstGeom prst="rect">
            <a:avLst/>
          </a:prstGeom>
          <a:noFill/>
        </p:spPr>
        <p:txBody>
          <a:bodyPr wrap="none" rtlCol="0">
            <a:spAutoFit/>
          </a:bodyPr>
          <a:lstStyle/>
          <a:p>
            <a:endParaRPr lang="en-US" sz="1350" b="0" i="0" dirty="0">
              <a:latin typeface="Calibri Regular" charset="0"/>
            </a:endParaRPr>
          </a:p>
        </p:txBody>
      </p:sp>
      <p:sp>
        <p:nvSpPr>
          <p:cNvPr id="8" name="Rectangle 7"/>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18008423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3810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17"/>
          </p:nvPr>
        </p:nvSpPr>
        <p:spPr>
          <a:xfrm>
            <a:off x="46482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10"/>
          <p:cNvSpPr>
            <a:spLocks noGrp="1"/>
          </p:cNvSpPr>
          <p:nvPr>
            <p:ph sz="quarter" idx="18"/>
          </p:nvPr>
        </p:nvSpPr>
        <p:spPr>
          <a:xfrm>
            <a:off x="381000" y="3886200"/>
            <a:ext cx="83820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a:t>Spin Offs</a:t>
            </a:r>
          </a:p>
        </p:txBody>
      </p:sp>
    </p:spTree>
    <p:extLst>
      <p:ext uri="{BB962C8B-B14F-4D97-AF65-F5344CB8AC3E}">
        <p14:creationId xmlns:p14="http://schemas.microsoft.com/office/powerpoint/2010/main" val="6535488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4648200" y="1417320"/>
            <a:ext cx="4114800" cy="48006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12"/>
          <p:cNvSpPr>
            <a:spLocks noGrp="1"/>
          </p:cNvSpPr>
          <p:nvPr>
            <p:ph sz="quarter" idx="18"/>
          </p:nvPr>
        </p:nvSpPr>
        <p:spPr>
          <a:xfrm>
            <a:off x="3810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Content Placeholder 12"/>
          <p:cNvSpPr>
            <a:spLocks noGrp="1"/>
          </p:cNvSpPr>
          <p:nvPr>
            <p:ph sz="quarter" idx="19"/>
          </p:nvPr>
        </p:nvSpPr>
        <p:spPr>
          <a:xfrm>
            <a:off x="381000" y="39319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Spin Offs</a:t>
            </a:r>
          </a:p>
        </p:txBody>
      </p:sp>
    </p:spTree>
    <p:extLst>
      <p:ext uri="{BB962C8B-B14F-4D97-AF65-F5344CB8AC3E}">
        <p14:creationId xmlns:p14="http://schemas.microsoft.com/office/powerpoint/2010/main" val="15548430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Spin Offs</a:t>
            </a:r>
          </a:p>
        </p:txBody>
      </p:sp>
    </p:spTree>
    <p:extLst>
      <p:ext uri="{BB962C8B-B14F-4D97-AF65-F5344CB8AC3E}">
        <p14:creationId xmlns:p14="http://schemas.microsoft.com/office/powerpoint/2010/main" val="14054682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384048" y="805002"/>
            <a:ext cx="4040188"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4724400" y="814835"/>
            <a:ext cx="4040188"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379412" y="1195227"/>
            <a:ext cx="4041648" cy="4955707"/>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4724400" y="1195227"/>
            <a:ext cx="4041648" cy="4955707"/>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Spin Offs</a:t>
            </a:r>
          </a:p>
        </p:txBody>
      </p:sp>
      <p:sp>
        <p:nvSpPr>
          <p:cNvPr id="15" name="Rectangle 14"/>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6" name="Rectangle 2"/>
          <p:cNvSpPr>
            <a:spLocks noGrp="1" noChangeArrowheads="1"/>
          </p:cNvSpPr>
          <p:nvPr>
            <p:ph type="title"/>
          </p:nvPr>
        </p:nvSpPr>
        <p:spPr bwMode="gray">
          <a:xfrm>
            <a:off x="384048" y="3"/>
            <a:ext cx="84582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000" b="1"/>
            </a:lvl1pPr>
          </a:lstStyle>
          <a:p>
            <a:pPr lvl="0"/>
            <a:r>
              <a:rPr lang="en-US" dirty="0"/>
              <a:t>Click to edit Master title style</a:t>
            </a:r>
          </a:p>
        </p:txBody>
      </p:sp>
    </p:spTree>
    <p:extLst>
      <p:ext uri="{BB962C8B-B14F-4D97-AF65-F5344CB8AC3E}">
        <p14:creationId xmlns:p14="http://schemas.microsoft.com/office/powerpoint/2010/main" val="7163086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379413" y="1371600"/>
            <a:ext cx="4040188"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4724400" y="1371600"/>
            <a:ext cx="4040188"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379412" y="1807534"/>
            <a:ext cx="4041648"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4724400" y="1807534"/>
            <a:ext cx="4041648" cy="434340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Spin Offs</a:t>
            </a:r>
          </a:p>
        </p:txBody>
      </p:sp>
    </p:spTree>
    <p:extLst>
      <p:ext uri="{BB962C8B-B14F-4D97-AF65-F5344CB8AC3E}">
        <p14:creationId xmlns:p14="http://schemas.microsoft.com/office/powerpoint/2010/main" val="7391913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4038600" y="3046413"/>
            <a:ext cx="9906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7" name="Text Placeholder 2"/>
          <p:cNvSpPr>
            <a:spLocks noGrp="1"/>
          </p:cNvSpPr>
          <p:nvPr>
            <p:ph type="body" idx="1"/>
          </p:nvPr>
        </p:nvSpPr>
        <p:spPr>
          <a:xfrm>
            <a:off x="379412"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5029200" y="1371600"/>
            <a:ext cx="3657600" cy="380392"/>
          </a:xfrm>
          <a:prstGeom prst="rect">
            <a:avLst/>
          </a:prstGeom>
          <a:solidFill>
            <a:schemeClr val="accent1"/>
          </a:solidFill>
          <a:ln cmpd="sng">
            <a:solidFill>
              <a:srgbClr val="B01C2E"/>
            </a:solidFill>
            <a:prstDash val="solid"/>
          </a:ln>
        </p:spPr>
        <p:txBody>
          <a:bodyPr lIns="91440" rIns="91440" anchor="ctr"/>
          <a:lstStyle>
            <a:lvl1pPr marL="0" marR="0" indent="0" algn="l"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10"/>
          <p:cNvSpPr>
            <a:spLocks noGrp="1"/>
          </p:cNvSpPr>
          <p:nvPr>
            <p:ph sz="quarter" idx="20"/>
          </p:nvPr>
        </p:nvSpPr>
        <p:spPr>
          <a:xfrm>
            <a:off x="379412"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10"/>
          <p:cNvSpPr>
            <a:spLocks noGrp="1"/>
          </p:cNvSpPr>
          <p:nvPr>
            <p:ph sz="quarter" idx="21"/>
          </p:nvPr>
        </p:nvSpPr>
        <p:spPr>
          <a:xfrm>
            <a:off x="5029200" y="1828800"/>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b="0" i="0" kern="1200" dirty="0" smtClean="0">
                <a:solidFill>
                  <a:schemeClr val="tx1"/>
                </a:solidFill>
                <a:latin typeface="+mn-lt"/>
                <a:ea typeface="+mn-ea"/>
                <a:cs typeface="Calibri Regular"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Spin Offs</a:t>
            </a:r>
          </a:p>
        </p:txBody>
      </p:sp>
    </p:spTree>
    <p:extLst>
      <p:ext uri="{BB962C8B-B14F-4D97-AF65-F5344CB8AC3E}">
        <p14:creationId xmlns:p14="http://schemas.microsoft.com/office/powerpoint/2010/main" val="10350994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4019344" y="2692959"/>
            <a:ext cx="994787"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b="0" i="0" dirty="0">
              <a:latin typeface="Calibri Regular" charset="0"/>
              <a:ea typeface="+mn-ea"/>
              <a:cs typeface="Calibri Regular" charset="0"/>
            </a:endParaRPr>
          </a:p>
        </p:txBody>
      </p:sp>
      <p:sp>
        <p:nvSpPr>
          <p:cNvPr id="12" name="Right Arrow 11"/>
          <p:cNvSpPr/>
          <p:nvPr userDrawn="1"/>
        </p:nvSpPr>
        <p:spPr bwMode="auto">
          <a:xfrm rot="10800000">
            <a:off x="4070503" y="3778177"/>
            <a:ext cx="1014887"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b="0" i="0" dirty="0">
              <a:latin typeface="Calibri Regular" charset="0"/>
              <a:ea typeface="+mn-ea"/>
              <a:cs typeface="Calibri Regular" charset="0"/>
            </a:endParaRPr>
          </a:p>
        </p:txBody>
      </p:sp>
      <p:sp>
        <p:nvSpPr>
          <p:cNvPr id="7" name="Text Placeholder 2"/>
          <p:cNvSpPr>
            <a:spLocks noGrp="1"/>
          </p:cNvSpPr>
          <p:nvPr>
            <p:ph type="body" idx="1"/>
          </p:nvPr>
        </p:nvSpPr>
        <p:spPr>
          <a:xfrm>
            <a:off x="379412"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5029200"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Content Placeholder 10"/>
          <p:cNvSpPr>
            <a:spLocks noGrp="1"/>
          </p:cNvSpPr>
          <p:nvPr>
            <p:ph sz="quarter" idx="20"/>
          </p:nvPr>
        </p:nvSpPr>
        <p:spPr>
          <a:xfrm>
            <a:off x="379412"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5029200"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Spin Offs</a:t>
            </a:r>
          </a:p>
        </p:txBody>
      </p:sp>
    </p:spTree>
    <p:extLst>
      <p:ext uri="{BB962C8B-B14F-4D97-AF65-F5344CB8AC3E}">
        <p14:creationId xmlns:p14="http://schemas.microsoft.com/office/powerpoint/2010/main" val="14182537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4244941" y="3276599"/>
            <a:ext cx="654118"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b="0" i="0" dirty="0">
              <a:latin typeface="Calibri Regular" charset="0"/>
              <a:ea typeface="+mn-ea"/>
              <a:cs typeface="Calibri Regular" charset="0"/>
            </a:endParaRPr>
          </a:p>
        </p:txBody>
      </p:sp>
      <p:sp>
        <p:nvSpPr>
          <p:cNvPr id="11" name="Content Placeholder 10"/>
          <p:cNvSpPr>
            <a:spLocks noGrp="1"/>
          </p:cNvSpPr>
          <p:nvPr>
            <p:ph sz="quarter" idx="16"/>
          </p:nvPr>
        </p:nvSpPr>
        <p:spPr>
          <a:xfrm>
            <a:off x="457200" y="4479952"/>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800600" y="4479952"/>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457200" y="1807534"/>
            <a:ext cx="82296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457200" y="1417320"/>
            <a:ext cx="8229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457200" y="4114800"/>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4800600" y="4114800"/>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Spin Offs</a:t>
            </a:r>
          </a:p>
        </p:txBody>
      </p:sp>
    </p:spTree>
    <p:extLst>
      <p:ext uri="{BB962C8B-B14F-4D97-AF65-F5344CB8AC3E}">
        <p14:creationId xmlns:p14="http://schemas.microsoft.com/office/powerpoint/2010/main" val="230689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4244941" y="3276599"/>
            <a:ext cx="654118"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b="0" i="0" dirty="0">
              <a:latin typeface="Calibri Regular" charset="0"/>
              <a:ea typeface="+mn-ea"/>
              <a:cs typeface="Calibri Regular" charset="0"/>
            </a:endParaRPr>
          </a:p>
        </p:txBody>
      </p:sp>
      <p:sp>
        <p:nvSpPr>
          <p:cNvPr id="11" name="Content Placeholder 10"/>
          <p:cNvSpPr>
            <a:spLocks noGrp="1"/>
          </p:cNvSpPr>
          <p:nvPr>
            <p:ph sz="quarter" idx="16"/>
          </p:nvPr>
        </p:nvSpPr>
        <p:spPr>
          <a:xfrm>
            <a:off x="457200" y="1783080"/>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800600" y="1783080"/>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457200" y="4505014"/>
            <a:ext cx="82296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457200" y="4114800"/>
            <a:ext cx="8229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457200" y="1417928"/>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4800600" y="1417928"/>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Spin Offs</a:t>
            </a:r>
          </a:p>
        </p:txBody>
      </p:sp>
    </p:spTree>
    <p:extLst>
      <p:ext uri="{BB962C8B-B14F-4D97-AF65-F5344CB8AC3E}">
        <p14:creationId xmlns:p14="http://schemas.microsoft.com/office/powerpoint/2010/main" val="107562812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4643438" y="4627745"/>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376238" y="4627745"/>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376238" y="3015622"/>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4643438" y="3015622"/>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4643438" y="1403499"/>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376238" y="1403499"/>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376238" y="167640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376238" y="3302419"/>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376238" y="491499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4643438" y="167640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4643438" y="3302418"/>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4643438" y="491499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Spin Offs</a:t>
            </a:r>
            <a:endParaRPr lang="en-US" dirty="0"/>
          </a:p>
        </p:txBody>
      </p:sp>
    </p:spTree>
    <p:extLst>
      <p:ext uri="{BB962C8B-B14F-4D97-AF65-F5344CB8AC3E}">
        <p14:creationId xmlns:p14="http://schemas.microsoft.com/office/powerpoint/2010/main" val="204705075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451174"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133600"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3847770"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5556729"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7310438"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451174"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133600"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3847770"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5556729"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7310438"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Spin Offs</a:t>
            </a:r>
          </a:p>
        </p:txBody>
      </p:sp>
    </p:spTree>
    <p:extLst>
      <p:ext uri="{BB962C8B-B14F-4D97-AF65-F5344CB8AC3E}">
        <p14:creationId xmlns:p14="http://schemas.microsoft.com/office/powerpoint/2010/main" val="57213888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457200" y="1417320"/>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457200" y="3065544"/>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457200" y="4713767"/>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133600" y="1417320"/>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133600" y="3065543"/>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133600" y="4713767"/>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Spin Offs</a:t>
            </a:r>
          </a:p>
        </p:txBody>
      </p:sp>
    </p:spTree>
    <p:extLst>
      <p:ext uri="{BB962C8B-B14F-4D97-AF65-F5344CB8AC3E}">
        <p14:creationId xmlns:p14="http://schemas.microsoft.com/office/powerpoint/2010/main" val="197020071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422276" y="1397000"/>
            <a:ext cx="1738313" cy="1155700"/>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36" name="Text Placeholder 3"/>
          <p:cNvSpPr>
            <a:spLocks noGrp="1"/>
          </p:cNvSpPr>
          <p:nvPr>
            <p:ph type="body" sz="quarter" idx="13"/>
          </p:nvPr>
        </p:nvSpPr>
        <p:spPr>
          <a:xfrm>
            <a:off x="2060576" y="1397000"/>
            <a:ext cx="173672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7" name="Text Placeholder 4"/>
          <p:cNvSpPr>
            <a:spLocks noGrp="1"/>
          </p:cNvSpPr>
          <p:nvPr>
            <p:ph type="body" sz="quarter" idx="15"/>
          </p:nvPr>
        </p:nvSpPr>
        <p:spPr>
          <a:xfrm>
            <a:off x="5335590" y="1397000"/>
            <a:ext cx="1738312"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8" name="Text Placeholder 5"/>
          <p:cNvSpPr>
            <a:spLocks noGrp="1"/>
          </p:cNvSpPr>
          <p:nvPr>
            <p:ph type="body" sz="quarter" idx="16"/>
          </p:nvPr>
        </p:nvSpPr>
        <p:spPr>
          <a:xfrm>
            <a:off x="3698876" y="1397000"/>
            <a:ext cx="1736725" cy="1155700"/>
          </a:xfrm>
          <a:prstGeom prst="chevron">
            <a:avLst>
              <a:gd name="adj" fmla="val 1868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6973891" y="1397000"/>
            <a:ext cx="173672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0" name="Text Placeholder 7"/>
          <p:cNvSpPr>
            <a:spLocks noGrp="1"/>
          </p:cNvSpPr>
          <p:nvPr>
            <p:ph type="body" sz="quarter" idx="18"/>
          </p:nvPr>
        </p:nvSpPr>
        <p:spPr>
          <a:xfrm>
            <a:off x="422275" y="2954338"/>
            <a:ext cx="2147888" cy="1155700"/>
          </a:xfrm>
          <a:prstGeom prst="homePlate">
            <a:avLst>
              <a:gd name="adj" fmla="val 1955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2468564"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2" name="Text Placeholder 9"/>
          <p:cNvSpPr>
            <a:spLocks noGrp="1"/>
          </p:cNvSpPr>
          <p:nvPr>
            <p:ph type="body" sz="quarter" idx="20"/>
          </p:nvPr>
        </p:nvSpPr>
        <p:spPr>
          <a:xfrm>
            <a:off x="6561140"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3" name="Text Placeholder 10"/>
          <p:cNvSpPr>
            <a:spLocks noGrp="1"/>
          </p:cNvSpPr>
          <p:nvPr>
            <p:ph type="body" sz="quarter" idx="21"/>
          </p:nvPr>
        </p:nvSpPr>
        <p:spPr>
          <a:xfrm>
            <a:off x="4514852"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4" name="Text Placeholder 11"/>
          <p:cNvSpPr>
            <a:spLocks noGrp="1"/>
          </p:cNvSpPr>
          <p:nvPr>
            <p:ph type="body" sz="quarter" idx="22"/>
          </p:nvPr>
        </p:nvSpPr>
        <p:spPr>
          <a:xfrm>
            <a:off x="431801" y="4497388"/>
            <a:ext cx="2816225" cy="1154112"/>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45" name="Text Placeholder 12"/>
          <p:cNvSpPr>
            <a:spLocks noGrp="1"/>
          </p:cNvSpPr>
          <p:nvPr>
            <p:ph type="body" sz="quarter" idx="23"/>
          </p:nvPr>
        </p:nvSpPr>
        <p:spPr>
          <a:xfrm>
            <a:off x="3170239" y="4497388"/>
            <a:ext cx="2816225" cy="1154112"/>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6" name="Text Placeholder 13"/>
          <p:cNvSpPr>
            <a:spLocks noGrp="1"/>
          </p:cNvSpPr>
          <p:nvPr>
            <p:ph type="body" sz="quarter" idx="25"/>
          </p:nvPr>
        </p:nvSpPr>
        <p:spPr>
          <a:xfrm>
            <a:off x="5908676" y="4497388"/>
            <a:ext cx="2816225" cy="1154112"/>
          </a:xfrm>
          <a:prstGeom prst="chevron">
            <a:avLst>
              <a:gd name="adj" fmla="val 1871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Spin Offs</a:t>
            </a:r>
          </a:p>
        </p:txBody>
      </p:sp>
    </p:spTree>
    <p:extLst>
      <p:ext uri="{BB962C8B-B14F-4D97-AF65-F5344CB8AC3E}">
        <p14:creationId xmlns:p14="http://schemas.microsoft.com/office/powerpoint/2010/main" val="5351199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133600" y="1344304"/>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6" name="Text Placeholder 5"/>
          <p:cNvSpPr>
            <a:spLocks noGrp="1"/>
          </p:cNvSpPr>
          <p:nvPr>
            <p:ph type="body" sz="quarter" idx="32"/>
          </p:nvPr>
        </p:nvSpPr>
        <p:spPr>
          <a:xfrm>
            <a:off x="2133600" y="2360778"/>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7" name="Text Placeholder 5"/>
          <p:cNvSpPr>
            <a:spLocks noGrp="1"/>
          </p:cNvSpPr>
          <p:nvPr>
            <p:ph type="body" sz="quarter" idx="33"/>
          </p:nvPr>
        </p:nvSpPr>
        <p:spPr>
          <a:xfrm>
            <a:off x="2133600" y="3377252"/>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9" name="Text Placeholder 5"/>
          <p:cNvSpPr>
            <a:spLocks noGrp="1"/>
          </p:cNvSpPr>
          <p:nvPr>
            <p:ph type="body" sz="quarter" idx="34"/>
          </p:nvPr>
        </p:nvSpPr>
        <p:spPr>
          <a:xfrm>
            <a:off x="2133600" y="4393726"/>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0" name="Text Placeholder 5"/>
          <p:cNvSpPr>
            <a:spLocks noGrp="1"/>
          </p:cNvSpPr>
          <p:nvPr>
            <p:ph type="body" sz="quarter" idx="35"/>
          </p:nvPr>
        </p:nvSpPr>
        <p:spPr>
          <a:xfrm>
            <a:off x="2133600" y="5410200"/>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Text Placeholder 19"/>
          <p:cNvSpPr>
            <a:spLocks noGrp="1"/>
          </p:cNvSpPr>
          <p:nvPr>
            <p:ph type="body" sz="quarter" idx="10"/>
          </p:nvPr>
        </p:nvSpPr>
        <p:spPr>
          <a:xfrm>
            <a:off x="457200" y="1344304"/>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457200" y="2357366"/>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457200" y="3370428"/>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457200" y="4383490"/>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457200" y="5396552"/>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Spin Offs</a:t>
            </a:r>
          </a:p>
        </p:txBody>
      </p:sp>
    </p:spTree>
    <p:extLst>
      <p:ext uri="{BB962C8B-B14F-4D97-AF65-F5344CB8AC3E}">
        <p14:creationId xmlns:p14="http://schemas.microsoft.com/office/powerpoint/2010/main" val="182627187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4419600"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16" name="Line 115"/>
          <p:cNvSpPr>
            <a:spLocks noChangeShapeType="1"/>
          </p:cNvSpPr>
          <p:nvPr userDrawn="1"/>
        </p:nvSpPr>
        <p:spPr bwMode="gray">
          <a:xfrm>
            <a:off x="2286000"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17" name="Line 118"/>
          <p:cNvSpPr>
            <a:spLocks noChangeShapeType="1"/>
          </p:cNvSpPr>
          <p:nvPr/>
        </p:nvSpPr>
        <p:spPr bwMode="gray">
          <a:xfrm>
            <a:off x="6753225"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grpSp>
        <p:nvGrpSpPr>
          <p:cNvPr id="18" name="Group 123"/>
          <p:cNvGrpSpPr>
            <a:grpSpLocks/>
          </p:cNvGrpSpPr>
          <p:nvPr userDrawn="1"/>
        </p:nvGrpSpPr>
        <p:grpSpPr bwMode="auto">
          <a:xfrm>
            <a:off x="458789" y="3478213"/>
            <a:ext cx="7769225"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sp>
        <p:nvSpPr>
          <p:cNvPr id="66" name="Line 125"/>
          <p:cNvSpPr>
            <a:spLocks noChangeShapeType="1"/>
          </p:cNvSpPr>
          <p:nvPr userDrawn="1"/>
        </p:nvSpPr>
        <p:spPr bwMode="gray">
          <a:xfrm>
            <a:off x="3429000" y="3651252"/>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67" name="Line 4"/>
          <p:cNvSpPr>
            <a:spLocks noChangeShapeType="1"/>
          </p:cNvSpPr>
          <p:nvPr userDrawn="1"/>
        </p:nvSpPr>
        <p:spPr bwMode="gray">
          <a:xfrm>
            <a:off x="16764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68" name="Line 108"/>
          <p:cNvSpPr>
            <a:spLocks noChangeShapeType="1"/>
          </p:cNvSpPr>
          <p:nvPr userDrawn="1"/>
        </p:nvSpPr>
        <p:spPr bwMode="gray">
          <a:xfrm>
            <a:off x="5562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69" name="Line 111"/>
          <p:cNvSpPr>
            <a:spLocks noChangeShapeType="1"/>
          </p:cNvSpPr>
          <p:nvPr userDrawn="1"/>
        </p:nvSpPr>
        <p:spPr bwMode="gray">
          <a:xfrm>
            <a:off x="7696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70" name="Line 139"/>
          <p:cNvSpPr>
            <a:spLocks noChangeShapeType="1"/>
          </p:cNvSpPr>
          <p:nvPr userDrawn="1"/>
        </p:nvSpPr>
        <p:spPr bwMode="gray">
          <a:xfrm>
            <a:off x="3281363"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b="0" i="0" dirty="0">
              <a:latin typeface="Calibri Regular" charset="0"/>
            </a:endParaRPr>
          </a:p>
        </p:txBody>
      </p:sp>
      <p:sp>
        <p:nvSpPr>
          <p:cNvPr id="71" name="AutoShape 3"/>
          <p:cNvSpPr>
            <a:spLocks noChangeArrowheads="1"/>
          </p:cNvSpPr>
          <p:nvPr userDrawn="1"/>
        </p:nvSpPr>
        <p:spPr bwMode="gray">
          <a:xfrm>
            <a:off x="452438" y="3413125"/>
            <a:ext cx="8239125"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68580" bIns="6858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750" b="0" i="0" dirty="0">
              <a:solidFill>
                <a:srgbClr val="4D4D4D"/>
              </a:solidFill>
              <a:latin typeface="Calibri Regular" charset="0"/>
              <a:ea typeface="Calibri Regular" charset="0"/>
              <a:cs typeface="Calibri Regular" charset="0"/>
            </a:endParaRPr>
          </a:p>
        </p:txBody>
      </p:sp>
      <p:grpSp>
        <p:nvGrpSpPr>
          <p:cNvPr id="72" name="Group 123"/>
          <p:cNvGrpSpPr>
            <a:grpSpLocks/>
          </p:cNvGrpSpPr>
          <p:nvPr userDrawn="1"/>
        </p:nvGrpSpPr>
        <p:grpSpPr bwMode="auto">
          <a:xfrm>
            <a:off x="611189" y="3460752"/>
            <a:ext cx="7769225"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grpSp>
      <p:sp>
        <p:nvSpPr>
          <p:cNvPr id="248" name="Text Placeholder 246"/>
          <p:cNvSpPr>
            <a:spLocks noGrp="1"/>
          </p:cNvSpPr>
          <p:nvPr>
            <p:ph type="body" sz="quarter" idx="11"/>
          </p:nvPr>
        </p:nvSpPr>
        <p:spPr>
          <a:xfrm>
            <a:off x="2535866" y="12954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06680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4" name="Text Placeholder 142"/>
          <p:cNvSpPr>
            <a:spLocks noGrp="1"/>
          </p:cNvSpPr>
          <p:nvPr>
            <p:ph type="body" sz="quarter" idx="20"/>
          </p:nvPr>
        </p:nvSpPr>
        <p:spPr>
          <a:xfrm>
            <a:off x="358140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6" name="Text Placeholder 142"/>
          <p:cNvSpPr>
            <a:spLocks noGrp="1"/>
          </p:cNvSpPr>
          <p:nvPr>
            <p:ph type="body" sz="quarter" idx="21"/>
          </p:nvPr>
        </p:nvSpPr>
        <p:spPr>
          <a:xfrm>
            <a:off x="530352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7" name="Text Placeholder 142"/>
          <p:cNvSpPr>
            <a:spLocks noGrp="1"/>
          </p:cNvSpPr>
          <p:nvPr>
            <p:ph type="body" sz="quarter" idx="22"/>
          </p:nvPr>
        </p:nvSpPr>
        <p:spPr>
          <a:xfrm>
            <a:off x="722376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9144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69342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1524000"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48006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2667000" y="5181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5991225"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3657600"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Spin Offs</a:t>
            </a:r>
          </a:p>
        </p:txBody>
      </p:sp>
    </p:spTree>
    <p:extLst>
      <p:ext uri="{BB962C8B-B14F-4D97-AF65-F5344CB8AC3E}">
        <p14:creationId xmlns:p14="http://schemas.microsoft.com/office/powerpoint/2010/main" val="98660086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914401" y="1295400"/>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0" name="Text Placeholder 27"/>
          <p:cNvSpPr>
            <a:spLocks noGrp="1"/>
          </p:cNvSpPr>
          <p:nvPr>
            <p:ph type="body" sz="quarter" idx="22"/>
          </p:nvPr>
        </p:nvSpPr>
        <p:spPr>
          <a:xfrm>
            <a:off x="914401" y="1800013"/>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1" name="Text Placeholder 27"/>
          <p:cNvSpPr>
            <a:spLocks noGrp="1"/>
          </p:cNvSpPr>
          <p:nvPr>
            <p:ph type="body" sz="quarter" idx="23"/>
          </p:nvPr>
        </p:nvSpPr>
        <p:spPr>
          <a:xfrm>
            <a:off x="914401" y="2304626"/>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2" name="Text Placeholder 27"/>
          <p:cNvSpPr>
            <a:spLocks noGrp="1"/>
          </p:cNvSpPr>
          <p:nvPr>
            <p:ph type="body" sz="quarter" idx="24"/>
          </p:nvPr>
        </p:nvSpPr>
        <p:spPr>
          <a:xfrm>
            <a:off x="914401" y="2809239"/>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3" name="Text Placeholder 27"/>
          <p:cNvSpPr>
            <a:spLocks noGrp="1"/>
          </p:cNvSpPr>
          <p:nvPr>
            <p:ph type="body" sz="quarter" idx="25"/>
          </p:nvPr>
        </p:nvSpPr>
        <p:spPr>
          <a:xfrm>
            <a:off x="914401" y="3313852"/>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4" name="Text Placeholder 27"/>
          <p:cNvSpPr>
            <a:spLocks noGrp="1"/>
          </p:cNvSpPr>
          <p:nvPr>
            <p:ph type="body" sz="quarter" idx="26"/>
          </p:nvPr>
        </p:nvSpPr>
        <p:spPr>
          <a:xfrm>
            <a:off x="914401" y="3818465"/>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5" name="Text Placeholder 27"/>
          <p:cNvSpPr>
            <a:spLocks noGrp="1"/>
          </p:cNvSpPr>
          <p:nvPr>
            <p:ph type="body" sz="quarter" idx="27"/>
          </p:nvPr>
        </p:nvSpPr>
        <p:spPr>
          <a:xfrm>
            <a:off x="914401" y="4323078"/>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6" name="Text Placeholder 27"/>
          <p:cNvSpPr>
            <a:spLocks noGrp="1"/>
          </p:cNvSpPr>
          <p:nvPr>
            <p:ph type="body" sz="quarter" idx="28"/>
          </p:nvPr>
        </p:nvSpPr>
        <p:spPr>
          <a:xfrm>
            <a:off x="914401" y="4827691"/>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23" name="Text Placeholder 22"/>
          <p:cNvSpPr>
            <a:spLocks noGrp="1"/>
          </p:cNvSpPr>
          <p:nvPr>
            <p:ph type="body" sz="quarter" idx="29"/>
          </p:nvPr>
        </p:nvSpPr>
        <p:spPr>
          <a:xfrm>
            <a:off x="457200" y="1295400"/>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457200" y="1800013"/>
            <a:ext cx="457200" cy="411480"/>
          </a:xfrm>
          <a:prstGeom prst="rect">
            <a:avLst/>
          </a:prstGeom>
          <a:solidFill>
            <a:srgbClr val="B01C2E"/>
          </a:solidFill>
          <a:ln>
            <a:solidFill>
              <a:srgbClr val="999999"/>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105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457200" y="2304626"/>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457200" y="2809239"/>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457200" y="3313852"/>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457200" y="3818465"/>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457200" y="4323078"/>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457200" y="4827691"/>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8229600" y="1295400"/>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8229600" y="1800013"/>
            <a:ext cx="457200" cy="411480"/>
          </a:xfrm>
          <a:prstGeom prst="rect">
            <a:avLst/>
          </a:prstGeom>
          <a:noFill/>
          <a:ln>
            <a:solidFill>
              <a:srgbClr val="C0C0C0"/>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9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8229600" y="2304626"/>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8229600" y="2809239"/>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8229600" y="3313852"/>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8229600" y="3818465"/>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8229600" y="4323078"/>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8229600" y="4827691"/>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911777" y="5332304"/>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47" name="Text Placeholder 22"/>
          <p:cNvSpPr>
            <a:spLocks noGrp="1"/>
          </p:cNvSpPr>
          <p:nvPr>
            <p:ph type="body" sz="quarter" idx="46"/>
          </p:nvPr>
        </p:nvSpPr>
        <p:spPr>
          <a:xfrm>
            <a:off x="454575" y="5332304"/>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8226975" y="5332304"/>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911777" y="5836920"/>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50" name="Text Placeholder 22"/>
          <p:cNvSpPr>
            <a:spLocks noGrp="1"/>
          </p:cNvSpPr>
          <p:nvPr>
            <p:ph type="body" sz="quarter" idx="49"/>
          </p:nvPr>
        </p:nvSpPr>
        <p:spPr>
          <a:xfrm>
            <a:off x="454575" y="5836920"/>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8226975" y="5836920"/>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Spin Offs</a:t>
            </a:r>
          </a:p>
        </p:txBody>
      </p:sp>
    </p:spTree>
    <p:extLst>
      <p:ext uri="{BB962C8B-B14F-4D97-AF65-F5344CB8AC3E}">
        <p14:creationId xmlns:p14="http://schemas.microsoft.com/office/powerpoint/2010/main" val="120738952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457200" y="1335024"/>
            <a:ext cx="13716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457200" y="3744363"/>
            <a:ext cx="13716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1905000" y="1348565"/>
            <a:ext cx="9144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1905000" y="3763963"/>
            <a:ext cx="9144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1905000" y="2199167"/>
            <a:ext cx="9144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1905000" y="4619625"/>
            <a:ext cx="9144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19400" y="1348565"/>
            <a:ext cx="5870448"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2" name="Text Placeholder 5"/>
          <p:cNvSpPr>
            <a:spLocks noGrp="1"/>
          </p:cNvSpPr>
          <p:nvPr>
            <p:ph type="body" sz="quarter" idx="32"/>
          </p:nvPr>
        </p:nvSpPr>
        <p:spPr>
          <a:xfrm>
            <a:off x="2819400" y="3763963"/>
            <a:ext cx="5870448"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6" name="Text Placeholder 5"/>
          <p:cNvSpPr>
            <a:spLocks noGrp="1"/>
          </p:cNvSpPr>
          <p:nvPr>
            <p:ph type="body" sz="quarter" idx="33"/>
          </p:nvPr>
        </p:nvSpPr>
        <p:spPr>
          <a:xfrm>
            <a:off x="2819400" y="2199167"/>
            <a:ext cx="5870448"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8" name="Text Placeholder 5"/>
          <p:cNvSpPr>
            <a:spLocks noGrp="1"/>
          </p:cNvSpPr>
          <p:nvPr>
            <p:ph type="body" sz="quarter" idx="34"/>
          </p:nvPr>
        </p:nvSpPr>
        <p:spPr>
          <a:xfrm>
            <a:off x="2819400" y="4619625"/>
            <a:ext cx="5870448"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Spin Offs</a:t>
            </a:r>
          </a:p>
        </p:txBody>
      </p:sp>
    </p:spTree>
    <p:extLst>
      <p:ext uri="{BB962C8B-B14F-4D97-AF65-F5344CB8AC3E}">
        <p14:creationId xmlns:p14="http://schemas.microsoft.com/office/powerpoint/2010/main" val="19070496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4646613" y="1914525"/>
            <a:ext cx="36576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endParaRPr lang="en-US" sz="1350" b="0" i="0" dirty="0">
              <a:latin typeface="Calibri Regular" charset="0"/>
            </a:endParaRPr>
          </a:p>
        </p:txBody>
      </p:sp>
      <p:sp>
        <p:nvSpPr>
          <p:cNvPr id="8" name="Freeform 4"/>
          <p:cNvSpPr>
            <a:spLocks/>
          </p:cNvSpPr>
          <p:nvPr userDrawn="1"/>
        </p:nvSpPr>
        <p:spPr bwMode="auto">
          <a:xfrm>
            <a:off x="752475" y="1914525"/>
            <a:ext cx="36576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endParaRPr lang="en-US" sz="1350" b="0" i="0" dirty="0">
              <a:latin typeface="Calibri Regular" charset="0"/>
            </a:endParaRPr>
          </a:p>
        </p:txBody>
      </p:sp>
      <p:sp>
        <p:nvSpPr>
          <p:cNvPr id="9" name="Text Placeholder 8"/>
          <p:cNvSpPr>
            <a:spLocks noGrp="1"/>
          </p:cNvSpPr>
          <p:nvPr>
            <p:ph type="body" sz="quarter" idx="21"/>
          </p:nvPr>
        </p:nvSpPr>
        <p:spPr>
          <a:xfrm rot="5400000">
            <a:off x="2262459" y="-89846"/>
            <a:ext cx="636898" cy="36576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2" name="Text Placeholder 8"/>
          <p:cNvSpPr>
            <a:spLocks noGrp="1"/>
          </p:cNvSpPr>
          <p:nvPr>
            <p:ph type="body" sz="quarter" idx="25"/>
          </p:nvPr>
        </p:nvSpPr>
        <p:spPr>
          <a:xfrm rot="5400000">
            <a:off x="6157271" y="-89846"/>
            <a:ext cx="636898" cy="36576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752108" y="2282953"/>
            <a:ext cx="36576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4646920" y="2282953"/>
            <a:ext cx="36576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vl6pPr marL="857250">
              <a:buClr>
                <a:srgbClr val="B01C2E"/>
              </a:buClr>
              <a:buFont typeface="Arial" pitchFamily="34" charset="0"/>
              <a:buChar char="–"/>
              <a:defRPr sz="9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Spin Offs</a:t>
            </a:r>
          </a:p>
        </p:txBody>
      </p:sp>
    </p:spTree>
    <p:extLst>
      <p:ext uri="{BB962C8B-B14F-4D97-AF65-F5344CB8AC3E}">
        <p14:creationId xmlns:p14="http://schemas.microsoft.com/office/powerpoint/2010/main" val="135504094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441326"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b="0" i="0" dirty="0">
              <a:latin typeface="Calibri Regular" charset="0"/>
            </a:endParaRPr>
          </a:p>
        </p:txBody>
      </p:sp>
      <p:sp>
        <p:nvSpPr>
          <p:cNvPr id="12" name="Freeform 4"/>
          <p:cNvSpPr>
            <a:spLocks/>
          </p:cNvSpPr>
          <p:nvPr userDrawn="1"/>
        </p:nvSpPr>
        <p:spPr bwMode="auto">
          <a:xfrm>
            <a:off x="2552701" y="1911352"/>
            <a:ext cx="1919288"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b="0" i="0" dirty="0">
              <a:latin typeface="Calibri Regular" charset="0"/>
            </a:endParaRPr>
          </a:p>
        </p:txBody>
      </p:sp>
      <p:sp>
        <p:nvSpPr>
          <p:cNvPr id="13" name="Freeform 4"/>
          <p:cNvSpPr>
            <a:spLocks/>
          </p:cNvSpPr>
          <p:nvPr userDrawn="1"/>
        </p:nvSpPr>
        <p:spPr bwMode="auto">
          <a:xfrm>
            <a:off x="4648201"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b="0" i="0" dirty="0">
              <a:latin typeface="Calibri Regular" charset="0"/>
            </a:endParaRPr>
          </a:p>
        </p:txBody>
      </p:sp>
      <p:sp>
        <p:nvSpPr>
          <p:cNvPr id="14" name="Freeform 4"/>
          <p:cNvSpPr>
            <a:spLocks/>
          </p:cNvSpPr>
          <p:nvPr userDrawn="1"/>
        </p:nvSpPr>
        <p:spPr bwMode="auto">
          <a:xfrm>
            <a:off x="6770689"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b="0" i="0" dirty="0">
              <a:latin typeface="Calibri Regular" charset="0"/>
            </a:endParaRPr>
          </a:p>
        </p:txBody>
      </p:sp>
      <p:sp>
        <p:nvSpPr>
          <p:cNvPr id="17" name="Text Placeholder 8"/>
          <p:cNvSpPr>
            <a:spLocks noGrp="1"/>
          </p:cNvSpPr>
          <p:nvPr>
            <p:ph type="body" sz="quarter" idx="21"/>
          </p:nvPr>
        </p:nvSpPr>
        <p:spPr>
          <a:xfrm rot="5400000">
            <a:off x="1095755"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8"/>
          <p:cNvSpPr>
            <a:spLocks noGrp="1"/>
          </p:cNvSpPr>
          <p:nvPr>
            <p:ph type="body" sz="quarter" idx="27"/>
          </p:nvPr>
        </p:nvSpPr>
        <p:spPr>
          <a:xfrm rot="5400000">
            <a:off x="3206179"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3" name="Text Placeholder 8"/>
          <p:cNvSpPr>
            <a:spLocks noGrp="1"/>
          </p:cNvSpPr>
          <p:nvPr>
            <p:ph type="body" sz="quarter" idx="28"/>
          </p:nvPr>
        </p:nvSpPr>
        <p:spPr>
          <a:xfrm rot="5400000">
            <a:off x="5301996"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4" name="Text Placeholder 8"/>
          <p:cNvSpPr>
            <a:spLocks noGrp="1"/>
          </p:cNvSpPr>
          <p:nvPr>
            <p:ph type="body" sz="quarter" idx="29"/>
          </p:nvPr>
        </p:nvSpPr>
        <p:spPr>
          <a:xfrm rot="5400000">
            <a:off x="7425119"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441959"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2552383"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4648200"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6771323"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Spin Offs</a:t>
            </a:r>
          </a:p>
        </p:txBody>
      </p:sp>
    </p:spTree>
    <p:extLst>
      <p:ext uri="{BB962C8B-B14F-4D97-AF65-F5344CB8AC3E}">
        <p14:creationId xmlns:p14="http://schemas.microsoft.com/office/powerpoint/2010/main" val="18903516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338328" y="1450181"/>
            <a:ext cx="259689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11" name="Text Placeholder 13"/>
          <p:cNvSpPr>
            <a:spLocks noGrp="1"/>
          </p:cNvSpPr>
          <p:nvPr>
            <p:ph type="body" sz="quarter" idx="17"/>
          </p:nvPr>
        </p:nvSpPr>
        <p:spPr>
          <a:xfrm>
            <a:off x="3273554" y="1447806"/>
            <a:ext cx="2651125"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6208779" y="1447806"/>
            <a:ext cx="2651125"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3273552" y="2057400"/>
            <a:ext cx="2523744"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6208776" y="2057400"/>
            <a:ext cx="2523744"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338328" y="2057403"/>
            <a:ext cx="2523744" cy="230832"/>
          </a:xfrm>
          <a:prstGeom prst="rect">
            <a:avLst/>
          </a:prstGeom>
          <a:solidFill>
            <a:srgbClr val="FFFFFF"/>
          </a:solidFill>
          <a:ln>
            <a:solidFill>
              <a:srgbClr val="C0C0C0"/>
            </a:solidFill>
          </a:ln>
        </p:spPr>
        <p:txBody>
          <a:bodyPr lIns="91440" anchor="t" anchorCtr="0">
            <a:spAutoFit/>
          </a:bodyP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Spin Offs</a:t>
            </a:r>
          </a:p>
        </p:txBody>
      </p:sp>
    </p:spTree>
    <p:extLst>
      <p:ext uri="{BB962C8B-B14F-4D97-AF65-F5344CB8AC3E}">
        <p14:creationId xmlns:p14="http://schemas.microsoft.com/office/powerpoint/2010/main" val="138421539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7129272" y="1493520"/>
            <a:ext cx="1481328" cy="4754880"/>
          </a:xfrm>
          <a:prstGeom prst="rect">
            <a:avLst/>
          </a:prstGeom>
          <a:ln>
            <a:solidFill>
              <a:srgbClr val="C0C0C0"/>
            </a:solidFill>
          </a:ln>
        </p:spPr>
        <p:txBody>
          <a:bodyPr lIns="45720" anchor="t"/>
          <a:lstStyle>
            <a:lvl1pPr marL="123444" indent="-123444" algn="l">
              <a:lnSpc>
                <a:spcPts val="1050"/>
              </a:lnSpc>
              <a:spcBef>
                <a:spcPts val="0"/>
              </a:spcBef>
              <a:buClr>
                <a:schemeClr val="accent1"/>
              </a:buClr>
              <a:buFont typeface="Wingdings" pitchFamily="2" charset="2"/>
              <a:buChar char="§"/>
              <a:defRPr sz="900" b="0">
                <a:solidFill>
                  <a:srgbClr val="000000"/>
                </a:solidFill>
              </a:defRPr>
            </a:lvl1pPr>
            <a:lvl2pPr marL="123444" indent="0" algn="l">
              <a:spcBef>
                <a:spcPts val="525"/>
              </a:spcBef>
              <a:buNone/>
              <a:defRPr sz="900" b="0"/>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5"/>
          <p:cNvSpPr>
            <a:spLocks noGrp="1"/>
          </p:cNvSpPr>
          <p:nvPr>
            <p:ph type="body" sz="quarter" idx="21"/>
          </p:nvPr>
        </p:nvSpPr>
        <p:spPr>
          <a:xfrm>
            <a:off x="457200" y="16002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rgbClr val="C0C0C0"/>
              </a:buClr>
              <a:buSzTx/>
              <a:buFont typeface="Wingdings 2" pitchFamily="18" charset="2"/>
              <a:buChar char="¡"/>
              <a:tabLst/>
              <a:defRPr sz="900" b="1" baseline="0">
                <a:solidFill>
                  <a:srgbClr val="FFFFFF"/>
                </a:solidFill>
              </a:defRPr>
            </a:lvl1pPr>
            <a:lvl2pPr marL="88106" indent="0">
              <a:buFontTx/>
              <a:buNone/>
              <a:defRPr sz="750"/>
            </a:lvl2pPr>
          </a:lstStyle>
          <a:p>
            <a:pPr lvl="0"/>
            <a:r>
              <a:rPr lang="en-US"/>
              <a:t>Click to edit Master text styles</a:t>
            </a:r>
          </a:p>
        </p:txBody>
      </p:sp>
      <p:sp>
        <p:nvSpPr>
          <p:cNvPr id="24" name="Text Placeholder 5"/>
          <p:cNvSpPr>
            <a:spLocks noGrp="1"/>
          </p:cNvSpPr>
          <p:nvPr>
            <p:ph type="body" sz="quarter" idx="23"/>
          </p:nvPr>
        </p:nvSpPr>
        <p:spPr>
          <a:xfrm>
            <a:off x="457200" y="48768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25" name="Text Placeholder 5"/>
          <p:cNvSpPr>
            <a:spLocks noGrp="1"/>
          </p:cNvSpPr>
          <p:nvPr>
            <p:ph type="body" sz="quarter" idx="24"/>
          </p:nvPr>
        </p:nvSpPr>
        <p:spPr>
          <a:xfrm>
            <a:off x="457200" y="32385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12" name="Text Placeholder 5"/>
          <p:cNvSpPr>
            <a:spLocks noGrp="1"/>
          </p:cNvSpPr>
          <p:nvPr>
            <p:ph type="body" sz="quarter" idx="30"/>
          </p:nvPr>
        </p:nvSpPr>
        <p:spPr>
          <a:xfrm>
            <a:off x="2191512" y="16002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191512" y="32385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191512" y="48768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Spin Offs</a:t>
            </a:r>
          </a:p>
        </p:txBody>
      </p:sp>
    </p:spTree>
    <p:extLst>
      <p:ext uri="{BB962C8B-B14F-4D97-AF65-F5344CB8AC3E}">
        <p14:creationId xmlns:p14="http://schemas.microsoft.com/office/powerpoint/2010/main" val="209896299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684213" y="2635250"/>
            <a:ext cx="7777162"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68580" bIns="6858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350" b="0" i="0" dirty="0">
              <a:latin typeface="Calibri Regular" charset="0"/>
              <a:ea typeface="Calibri Regular" charset="0"/>
              <a:cs typeface="Calibri Regular" charset="0"/>
            </a:endParaRPr>
          </a:p>
        </p:txBody>
      </p:sp>
      <p:sp>
        <p:nvSpPr>
          <p:cNvPr id="18" name="Text Placeholder 17"/>
          <p:cNvSpPr>
            <a:spLocks noGrp="1"/>
          </p:cNvSpPr>
          <p:nvPr>
            <p:ph type="body" sz="quarter" idx="21"/>
          </p:nvPr>
        </p:nvSpPr>
        <p:spPr>
          <a:xfrm>
            <a:off x="1051560" y="1417320"/>
            <a:ext cx="329184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4572000" y="1417320"/>
            <a:ext cx="329184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4" name="Content Placeholder 10"/>
          <p:cNvSpPr>
            <a:spLocks noGrp="1"/>
          </p:cNvSpPr>
          <p:nvPr>
            <p:ph sz="quarter" idx="20"/>
          </p:nvPr>
        </p:nvSpPr>
        <p:spPr>
          <a:xfrm>
            <a:off x="1051560" y="1874520"/>
            <a:ext cx="329184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4572000" y="1874520"/>
            <a:ext cx="329184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Spin Offs</a:t>
            </a:r>
          </a:p>
        </p:txBody>
      </p:sp>
    </p:spTree>
    <p:extLst>
      <p:ext uri="{BB962C8B-B14F-4D97-AF65-F5344CB8AC3E}">
        <p14:creationId xmlns:p14="http://schemas.microsoft.com/office/powerpoint/2010/main" val="32484785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4384675" y="3341688"/>
            <a:ext cx="376238"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54000" tIns="54000" rIns="54000" bIns="54000" anchor="ctr"/>
          <a:lstStyle/>
          <a:p>
            <a:endParaRPr lang="en-US" sz="1350" b="0" i="0" dirty="0">
              <a:latin typeface="Calibri Regular" charset="0"/>
            </a:endParaRPr>
          </a:p>
        </p:txBody>
      </p:sp>
      <p:sp>
        <p:nvSpPr>
          <p:cNvPr id="18" name="Text Placeholder 17"/>
          <p:cNvSpPr>
            <a:spLocks noGrp="1"/>
          </p:cNvSpPr>
          <p:nvPr>
            <p:ph type="body" sz="quarter" idx="21"/>
          </p:nvPr>
        </p:nvSpPr>
        <p:spPr>
          <a:xfrm>
            <a:off x="835152" y="1417320"/>
            <a:ext cx="3035808" cy="457200"/>
          </a:xfrm>
          <a:prstGeom prst="rect">
            <a:avLst/>
          </a:prstGeom>
          <a:solidFill>
            <a:srgbClr val="B01C2E"/>
          </a:solidFill>
          <a:ln>
            <a:solidFill>
              <a:srgbClr val="C0C0C0"/>
            </a:solidFill>
          </a:ln>
        </p:spPr>
        <p:txBody>
          <a:bodyPr anchor="ctr"/>
          <a:lstStyle>
            <a:lvl1pPr algn="ctr">
              <a:buNone/>
              <a:defRPr sz="9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5266627" y="1417320"/>
            <a:ext cx="3054096"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Content Placeholder 10"/>
          <p:cNvSpPr>
            <a:spLocks noGrp="1"/>
          </p:cNvSpPr>
          <p:nvPr>
            <p:ph sz="quarter" idx="20"/>
          </p:nvPr>
        </p:nvSpPr>
        <p:spPr>
          <a:xfrm>
            <a:off x="835152" y="1874520"/>
            <a:ext cx="3291840" cy="4343400"/>
          </a:xfrm>
          <a:prstGeom prst="homePlate">
            <a:avLst>
              <a:gd name="adj" fmla="val 7684"/>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5028883" y="1874520"/>
            <a:ext cx="3291840" cy="4343400"/>
          </a:xfrm>
          <a:prstGeom prst="homePlate">
            <a:avLst>
              <a:gd name="adj" fmla="val 7343"/>
            </a:avLst>
          </a:prstGeom>
          <a:solidFill>
            <a:srgbClr val="FFFFFF"/>
          </a:solidFill>
          <a:ln>
            <a:solidFill>
              <a:srgbClr val="C0C0C0"/>
            </a:solidFill>
          </a:ln>
        </p:spPr>
        <p:txBody>
          <a:bodyPr lIns="2286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Spin Offs</a:t>
            </a:r>
          </a:p>
        </p:txBody>
      </p:sp>
    </p:spTree>
    <p:extLst>
      <p:ext uri="{BB962C8B-B14F-4D97-AF65-F5344CB8AC3E}">
        <p14:creationId xmlns:p14="http://schemas.microsoft.com/office/powerpoint/2010/main" val="200819489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6181725" y="1577977"/>
            <a:ext cx="2487168" cy="3931920"/>
          </a:xfrm>
          <a:prstGeom prst="rect">
            <a:avLst/>
          </a:prstGeom>
          <a:solidFill>
            <a:srgbClr val="FFFFFF"/>
          </a:solidFill>
          <a:ln>
            <a:solidFill>
              <a:srgbClr val="C0C0C0"/>
            </a:solidFill>
          </a:ln>
        </p:spPr>
        <p:txBody>
          <a:bodyPr lIns="457200" rIns="9144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484632" y="1577977"/>
            <a:ext cx="2487168" cy="393192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2667000" y="182880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1" name="Text Placeholder 23"/>
          <p:cNvSpPr>
            <a:spLocks noGrp="1"/>
          </p:cNvSpPr>
          <p:nvPr>
            <p:ph type="body" sz="quarter" idx="21"/>
          </p:nvPr>
        </p:nvSpPr>
        <p:spPr>
          <a:xfrm>
            <a:off x="2667000" y="242316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2" name="Text Placeholder 23"/>
          <p:cNvSpPr>
            <a:spLocks noGrp="1"/>
          </p:cNvSpPr>
          <p:nvPr>
            <p:ph type="body" sz="quarter" idx="22"/>
          </p:nvPr>
        </p:nvSpPr>
        <p:spPr>
          <a:xfrm>
            <a:off x="2667000" y="301752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3" name="Text Placeholder 23"/>
          <p:cNvSpPr>
            <a:spLocks noGrp="1"/>
          </p:cNvSpPr>
          <p:nvPr>
            <p:ph type="body" sz="quarter" idx="23"/>
          </p:nvPr>
        </p:nvSpPr>
        <p:spPr>
          <a:xfrm>
            <a:off x="2667000" y="361188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4" name="Text Placeholder 23"/>
          <p:cNvSpPr>
            <a:spLocks noGrp="1"/>
          </p:cNvSpPr>
          <p:nvPr>
            <p:ph type="body" sz="quarter" idx="24"/>
          </p:nvPr>
        </p:nvSpPr>
        <p:spPr>
          <a:xfrm>
            <a:off x="2667000" y="420624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5" name="Text Placeholder 23"/>
          <p:cNvSpPr>
            <a:spLocks noGrp="1"/>
          </p:cNvSpPr>
          <p:nvPr>
            <p:ph type="body" sz="quarter" idx="25"/>
          </p:nvPr>
        </p:nvSpPr>
        <p:spPr>
          <a:xfrm>
            <a:off x="2667000" y="480060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6" name="Text Placeholder 22"/>
          <p:cNvSpPr>
            <a:spLocks noGrp="1"/>
          </p:cNvSpPr>
          <p:nvPr>
            <p:ph type="body" sz="quarter" idx="29"/>
          </p:nvPr>
        </p:nvSpPr>
        <p:spPr>
          <a:xfrm>
            <a:off x="2514600" y="1981200"/>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2514600" y="2570074"/>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2514600" y="3158948"/>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2514600" y="3747822"/>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2514600" y="4336696"/>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2514600" y="4925568"/>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Spin Offs</a:t>
            </a:r>
          </a:p>
        </p:txBody>
      </p:sp>
    </p:spTree>
    <p:extLst>
      <p:ext uri="{BB962C8B-B14F-4D97-AF65-F5344CB8AC3E}">
        <p14:creationId xmlns:p14="http://schemas.microsoft.com/office/powerpoint/2010/main" val="37548564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396240" y="1600200"/>
            <a:ext cx="1828800" cy="1051560"/>
          </a:xfrm>
          <a:prstGeom prst="homePlate">
            <a:avLst>
              <a:gd name="adj" fmla="val 24892"/>
            </a:avLst>
          </a:prstGeom>
          <a:solidFill>
            <a:srgbClr val="B01C2E"/>
          </a:solidFill>
          <a:ln>
            <a:solidFill>
              <a:srgbClr val="B01C2E"/>
            </a:solidFill>
          </a:ln>
        </p:spPr>
        <p:txBody>
          <a:bodyPr anchor="ctr"/>
          <a:lstStyle>
            <a:lvl1pPr marL="0" indent="0">
              <a:buNone/>
              <a:defRPr sz="9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2621280" y="160020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396240" y="274828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2621280" y="274828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396240" y="389636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2621280" y="389636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402266" y="504444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2627306" y="504444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Spin Offs</a:t>
            </a:r>
          </a:p>
        </p:txBody>
      </p:sp>
    </p:spTree>
    <p:extLst>
      <p:ext uri="{BB962C8B-B14F-4D97-AF65-F5344CB8AC3E}">
        <p14:creationId xmlns:p14="http://schemas.microsoft.com/office/powerpoint/2010/main" val="76095635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731520" y="1097281"/>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2362200" y="1371600"/>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2362200" y="2474977"/>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2362200" y="3578353"/>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2362200" y="4681728"/>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731520" y="2200657"/>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731520" y="3304033"/>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731520" y="4407408"/>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Spin Offs</a:t>
            </a:r>
          </a:p>
        </p:txBody>
      </p:sp>
    </p:spTree>
    <p:extLst>
      <p:ext uri="{BB962C8B-B14F-4D97-AF65-F5344CB8AC3E}">
        <p14:creationId xmlns:p14="http://schemas.microsoft.com/office/powerpoint/2010/main" val="15732804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5297488" y="3346450"/>
            <a:ext cx="4406900" cy="13716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b="0" i="0" dirty="0">
              <a:latin typeface="Calibri Regular" charset="0"/>
              <a:ea typeface="+mn-ea"/>
            </a:endParaRPr>
          </a:p>
        </p:txBody>
      </p:sp>
      <p:sp>
        <p:nvSpPr>
          <p:cNvPr id="12" name="AutoShape 4"/>
          <p:cNvSpPr>
            <a:spLocks noChangeArrowheads="1"/>
          </p:cNvSpPr>
          <p:nvPr userDrawn="1"/>
        </p:nvSpPr>
        <p:spPr bwMode="auto">
          <a:xfrm rot="5400000">
            <a:off x="-760413"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b="0" i="0" dirty="0">
              <a:latin typeface="Calibri Regular" charset="0"/>
              <a:ea typeface="+mn-ea"/>
            </a:endParaRPr>
          </a:p>
        </p:txBody>
      </p:sp>
      <p:sp>
        <p:nvSpPr>
          <p:cNvPr id="13" name="AutoShape 5"/>
          <p:cNvSpPr>
            <a:spLocks noChangeArrowheads="1"/>
          </p:cNvSpPr>
          <p:nvPr userDrawn="1"/>
        </p:nvSpPr>
        <p:spPr bwMode="auto">
          <a:xfrm rot="5400000">
            <a:off x="754063"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b="0" i="0" dirty="0">
              <a:latin typeface="Calibri Regular" charset="0"/>
              <a:ea typeface="+mn-ea"/>
            </a:endParaRPr>
          </a:p>
        </p:txBody>
      </p:sp>
      <p:sp>
        <p:nvSpPr>
          <p:cNvPr id="14" name="AutoShape 6"/>
          <p:cNvSpPr>
            <a:spLocks noChangeArrowheads="1"/>
          </p:cNvSpPr>
          <p:nvPr userDrawn="1"/>
        </p:nvSpPr>
        <p:spPr bwMode="auto">
          <a:xfrm rot="5400000">
            <a:off x="2266951" y="3351213"/>
            <a:ext cx="4416425" cy="13716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b="0" i="0" dirty="0">
              <a:latin typeface="Calibri Regular" charset="0"/>
              <a:ea typeface="+mn-ea"/>
            </a:endParaRPr>
          </a:p>
        </p:txBody>
      </p:sp>
      <p:sp>
        <p:nvSpPr>
          <p:cNvPr id="15" name="AutoShape 7"/>
          <p:cNvSpPr>
            <a:spLocks noChangeArrowheads="1"/>
          </p:cNvSpPr>
          <p:nvPr userDrawn="1"/>
        </p:nvSpPr>
        <p:spPr bwMode="auto">
          <a:xfrm rot="5400000">
            <a:off x="3781426"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b="0" i="0" dirty="0">
              <a:latin typeface="Calibri Regular" charset="0"/>
              <a:ea typeface="+mn-ea"/>
            </a:endParaRPr>
          </a:p>
        </p:txBody>
      </p:sp>
      <p:sp>
        <p:nvSpPr>
          <p:cNvPr id="17" name="Text Placeholder 16"/>
          <p:cNvSpPr>
            <a:spLocks noGrp="1"/>
          </p:cNvSpPr>
          <p:nvPr>
            <p:ph type="body" sz="quarter" idx="10"/>
          </p:nvPr>
        </p:nvSpPr>
        <p:spPr>
          <a:xfrm>
            <a:off x="762000" y="1417320"/>
            <a:ext cx="1371600" cy="457200"/>
          </a:xfrm>
          <a:prstGeom prst="rect">
            <a:avLst/>
          </a:prstGeom>
          <a:solidFill>
            <a:srgbClr val="4D4D4D"/>
          </a:solidFill>
        </p:spPr>
        <p:txBody>
          <a:bodyPr anchor="ctr"/>
          <a:lstStyle>
            <a:lvl1pPr marL="0" indent="0" algn="ctr">
              <a:spcBef>
                <a:spcPts val="0"/>
              </a:spcBef>
              <a:buNone/>
              <a:defRPr sz="9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2276475"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3789363"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5303838"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6815138"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609600" y="2133601"/>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marL="514350">
              <a:buClr>
                <a:srgbClr val="B01C2E"/>
              </a:buClr>
              <a:buFont typeface="Arial" pitchFamily="34" charset="0"/>
              <a:buChar char="–"/>
              <a:defRPr sz="9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609600" y="3390901"/>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609600" y="4648200"/>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Spin Offs</a:t>
            </a:r>
          </a:p>
        </p:txBody>
      </p:sp>
    </p:spTree>
    <p:extLst>
      <p:ext uri="{BB962C8B-B14F-4D97-AF65-F5344CB8AC3E}">
        <p14:creationId xmlns:p14="http://schemas.microsoft.com/office/powerpoint/2010/main" val="112965665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3273552" y="1444752"/>
            <a:ext cx="2596896" cy="3968496"/>
          </a:xfrm>
          <a:prstGeom prst="rect">
            <a:avLst/>
          </a:prstGeom>
        </p:spPr>
        <p:txBody>
          <a:bodyPr wrap="square" lIns="640080" rIns="640080" anchor="ctr" anchorCtr="1">
            <a:noAutofit/>
          </a:bodyPr>
          <a:lstStyle>
            <a:lvl1pPr marL="0" indent="0" algn="ctr">
              <a:spcBef>
                <a:spcPts val="0"/>
              </a:spcBef>
              <a:spcAft>
                <a:spcPts val="0"/>
              </a:spcAft>
              <a:buNone/>
              <a:defRPr sz="900" b="1"/>
            </a:lvl1pPr>
          </a:lstStyle>
          <a:p>
            <a:pPr lvl="0"/>
            <a:r>
              <a:rPr lang="en-US"/>
              <a:t>Click to edit Master text styles</a:t>
            </a:r>
          </a:p>
        </p:txBody>
      </p:sp>
      <p:sp>
        <p:nvSpPr>
          <p:cNvPr id="14" name="Text Placeholder 19"/>
          <p:cNvSpPr>
            <a:spLocks noGrp="1"/>
          </p:cNvSpPr>
          <p:nvPr>
            <p:ph type="body" sz="quarter" idx="15"/>
          </p:nvPr>
        </p:nvSpPr>
        <p:spPr>
          <a:xfrm>
            <a:off x="5370576" y="152400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609600" y="152400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370576" y="255016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609600" y="255016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5370576" y="357632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609600" y="357632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5370576" y="460248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609600" y="460248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Spin Offs</a:t>
            </a:r>
          </a:p>
        </p:txBody>
      </p:sp>
    </p:spTree>
    <p:extLst>
      <p:ext uri="{BB962C8B-B14F-4D97-AF65-F5344CB8AC3E}">
        <p14:creationId xmlns:p14="http://schemas.microsoft.com/office/powerpoint/2010/main" val="163188965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6248400" y="1420504"/>
            <a:ext cx="2587752" cy="48006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vl6pPr marL="836676">
              <a:buClr>
                <a:srgbClr val="B01C1A"/>
              </a:buClr>
              <a:buFont typeface="Arial" pitchFamily="34" charset="0"/>
              <a:buChar char="–"/>
              <a:defRPr sz="9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502920" y="15544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502920" y="27482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502920" y="39420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502920" y="51358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Spin Offs</a:t>
            </a:r>
          </a:p>
        </p:txBody>
      </p:sp>
    </p:spTree>
    <p:extLst>
      <p:ext uri="{BB962C8B-B14F-4D97-AF65-F5344CB8AC3E}">
        <p14:creationId xmlns:p14="http://schemas.microsoft.com/office/powerpoint/2010/main" val="181237405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304800" y="2362200"/>
            <a:ext cx="6117336"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3" name="Text Placeholder 19"/>
          <p:cNvSpPr>
            <a:spLocks noGrp="1"/>
          </p:cNvSpPr>
          <p:nvPr>
            <p:ph type="body" sz="quarter" idx="33"/>
          </p:nvPr>
        </p:nvSpPr>
        <p:spPr>
          <a:xfrm>
            <a:off x="304800" y="3491484"/>
            <a:ext cx="6096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6" name="Text Placeholder 19"/>
          <p:cNvSpPr>
            <a:spLocks noGrp="1"/>
          </p:cNvSpPr>
          <p:nvPr>
            <p:ph type="body" sz="quarter" idx="34"/>
          </p:nvPr>
        </p:nvSpPr>
        <p:spPr>
          <a:xfrm>
            <a:off x="304800" y="4620768"/>
            <a:ext cx="6096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26" name="Text Placeholder 25"/>
          <p:cNvSpPr>
            <a:spLocks noGrp="1"/>
          </p:cNvSpPr>
          <p:nvPr>
            <p:ph type="body" sz="quarter" idx="21"/>
          </p:nvPr>
        </p:nvSpPr>
        <p:spPr>
          <a:xfrm>
            <a:off x="6411433" y="1417320"/>
            <a:ext cx="2103120" cy="429768"/>
          </a:xfrm>
          <a:prstGeom prst="rect">
            <a:avLst/>
          </a:prstGeom>
          <a:solidFill>
            <a:srgbClr val="B01C2E"/>
          </a:solidFill>
          <a:ln>
            <a:solidFill>
              <a:srgbClr val="B01C2E"/>
            </a:solidFill>
          </a:ln>
        </p:spPr>
        <p:txBody>
          <a:bodyPr anchor="ctr"/>
          <a:lstStyle>
            <a:lvl1pPr algn="ctr">
              <a:buNone/>
              <a:defRPr sz="9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4391025"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2774061"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157097"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157097"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2774061"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4391025"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Content Placeholder 10"/>
          <p:cNvSpPr>
            <a:spLocks noGrp="1"/>
          </p:cNvSpPr>
          <p:nvPr>
            <p:ph sz="quarter" idx="20"/>
          </p:nvPr>
        </p:nvSpPr>
        <p:spPr>
          <a:xfrm>
            <a:off x="6411433" y="1861185"/>
            <a:ext cx="2103120" cy="420624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Spin Offs</a:t>
            </a:r>
          </a:p>
        </p:txBody>
      </p:sp>
    </p:spTree>
    <p:extLst>
      <p:ext uri="{BB962C8B-B14F-4D97-AF65-F5344CB8AC3E}">
        <p14:creationId xmlns:p14="http://schemas.microsoft.com/office/powerpoint/2010/main" val="1913896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3068639" y="1981202"/>
            <a:ext cx="2536825"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b="0" i="0" dirty="0">
              <a:latin typeface="Calibri Regular" charset="0"/>
            </a:endParaRPr>
          </a:p>
        </p:txBody>
      </p:sp>
      <p:sp>
        <p:nvSpPr>
          <p:cNvPr id="17" name="Freeform 13"/>
          <p:cNvSpPr>
            <a:spLocks/>
          </p:cNvSpPr>
          <p:nvPr userDrawn="1"/>
        </p:nvSpPr>
        <p:spPr bwMode="auto">
          <a:xfrm>
            <a:off x="457201" y="1982790"/>
            <a:ext cx="2530475"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b="0" i="0" dirty="0">
              <a:latin typeface="Calibri Regular" charset="0"/>
            </a:endParaRPr>
          </a:p>
        </p:txBody>
      </p:sp>
      <p:sp>
        <p:nvSpPr>
          <p:cNvPr id="21" name="Freeform 14"/>
          <p:cNvSpPr>
            <a:spLocks/>
          </p:cNvSpPr>
          <p:nvPr userDrawn="1"/>
        </p:nvSpPr>
        <p:spPr bwMode="auto">
          <a:xfrm>
            <a:off x="5684839" y="1981202"/>
            <a:ext cx="2871787"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b="0" i="0" dirty="0">
              <a:latin typeface="Calibri Regular" charset="0"/>
            </a:endParaRPr>
          </a:p>
        </p:txBody>
      </p:sp>
      <p:sp>
        <p:nvSpPr>
          <p:cNvPr id="28" name="Text Placeholder 12"/>
          <p:cNvSpPr>
            <a:spLocks noGrp="1"/>
          </p:cNvSpPr>
          <p:nvPr>
            <p:ph type="body" sz="quarter" idx="16"/>
          </p:nvPr>
        </p:nvSpPr>
        <p:spPr bwMode="gray">
          <a:xfrm>
            <a:off x="5680886" y="1983087"/>
            <a:ext cx="287574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28588" indent="-128588">
              <a:buClr>
                <a:srgbClr val="B01C2E"/>
              </a:buClr>
              <a:buFont typeface="Wingdings 2" pitchFamily="18" charset="2"/>
              <a:buChar char=""/>
              <a:defRPr sz="90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3068559" y="1983087"/>
            <a:ext cx="2674468" cy="1903112"/>
          </a:xfrm>
          <a:prstGeom prst="chevron">
            <a:avLst>
              <a:gd name="adj" fmla="val 10431"/>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457200" y="4038600"/>
            <a:ext cx="8077200" cy="310896"/>
          </a:xfrm>
          <a:prstGeom prst="rect">
            <a:avLst/>
          </a:prstGeom>
          <a:solidFill>
            <a:srgbClr val="4D4D4D"/>
          </a:solidFill>
          <a:ln>
            <a:noFill/>
          </a:ln>
        </p:spPr>
        <p:txBody>
          <a:bodyPr anchor="ctr" anchorCtr="1"/>
          <a:lstStyle>
            <a:lvl1pPr marL="0" indent="0" algn="ctr">
              <a:buNone/>
              <a:defRPr sz="9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457200" y="5937504"/>
            <a:ext cx="3950208"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4585778" y="5937504"/>
            <a:ext cx="3950208"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457200" y="1417320"/>
            <a:ext cx="5193792"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27" name="Text Placeholder 13"/>
          <p:cNvSpPr>
            <a:spLocks noGrp="1"/>
          </p:cNvSpPr>
          <p:nvPr>
            <p:ph type="body" sz="quarter" idx="17"/>
          </p:nvPr>
        </p:nvSpPr>
        <p:spPr>
          <a:xfrm>
            <a:off x="5656263" y="1417326"/>
            <a:ext cx="3035808" cy="461963"/>
          </a:xfrm>
          <a:prstGeom prst="chevron">
            <a:avLst>
              <a:gd name="adj" fmla="val 34831"/>
            </a:avLst>
          </a:prstGeom>
          <a:solidFill>
            <a:srgbClr val="B01C2E"/>
          </a:solidFill>
        </p:spPr>
        <p:txBody>
          <a:bodyPr anchor="ctr"/>
          <a:lstStyle>
            <a:lvl1pPr marL="257175" marR="0" indent="-257175" algn="ctr" defTabSz="685800" rtl="0" eaLnBrk="1" fontAlgn="auto" latinLnBrk="0" hangingPunct="1">
              <a:lnSpc>
                <a:spcPct val="100000"/>
              </a:lnSpc>
              <a:spcBef>
                <a:spcPct val="20000"/>
              </a:spcBef>
              <a:spcAft>
                <a:spcPts val="0"/>
              </a:spcAft>
              <a:buClrTx/>
              <a:buSzTx/>
              <a:buFont typeface="Arial" pitchFamily="34" charset="0"/>
              <a:buNone/>
              <a:tabLst/>
              <a:defRPr sz="9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457200" y="1983087"/>
            <a:ext cx="2674468" cy="1903112"/>
          </a:xfrm>
          <a:prstGeom prst="homePlate">
            <a:avLst>
              <a:gd name="adj" fmla="val 11448"/>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457200" y="1981200"/>
            <a:ext cx="2473180"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3144323" y="1988239"/>
            <a:ext cx="2387536"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457200" y="4343400"/>
            <a:ext cx="8077200" cy="1481328"/>
          </a:xfrm>
          <a:prstGeom prst="rect">
            <a:avLst/>
          </a:prstGeom>
          <a:solidFill>
            <a:srgbClr val="FFFFFF"/>
          </a:solidFill>
          <a:ln>
            <a:solidFill>
              <a:srgbClr val="C0C0C0"/>
            </a:solidFill>
          </a:ln>
        </p:spPr>
        <p:txBody>
          <a:bodyPr/>
          <a:lstStyle>
            <a:lvl1pPr marL="130302" indent="-130302">
              <a:lnSpc>
                <a:spcPct val="95000"/>
              </a:lnSpc>
              <a:spcBef>
                <a:spcPts val="540"/>
              </a:spcBef>
              <a:buClr>
                <a:schemeClr val="accent1"/>
              </a:buClr>
              <a:buFont typeface="Wingdings 2" pitchFamily="18" charset="2"/>
              <a:buChar char=""/>
              <a:defRPr sz="900"/>
            </a:lvl1pPr>
            <a:lvl2pPr marL="260604" indent="-130302">
              <a:lnSpc>
                <a:spcPct val="95000"/>
              </a:lnSpc>
              <a:spcBef>
                <a:spcPts val="225"/>
              </a:spcBef>
              <a:buClr>
                <a:schemeClr val="accent1"/>
              </a:buClr>
              <a:buFont typeface="Arial" pitchFamily="34" charset="0"/>
              <a:buChar char="•"/>
              <a:defRPr sz="900"/>
            </a:lvl2pPr>
            <a:lvl3pPr marL="390906" indent="-130302">
              <a:lnSpc>
                <a:spcPct val="95000"/>
              </a:lnSpc>
              <a:spcBef>
                <a:spcPts val="225"/>
              </a:spcBef>
              <a:buClr>
                <a:schemeClr val="accent1"/>
              </a:buClr>
              <a:buFont typeface="Arial" pitchFamily="34" charset="0"/>
              <a:buChar char="–"/>
              <a:defRPr sz="900"/>
            </a:lvl3pPr>
            <a:lvl4pPr marL="514350" indent="-130302">
              <a:lnSpc>
                <a:spcPct val="95000"/>
              </a:lnSpc>
              <a:spcBef>
                <a:spcPts val="225"/>
              </a:spcBef>
              <a:buClr>
                <a:schemeClr val="accent1"/>
              </a:buClr>
              <a:buFont typeface="Arial" pitchFamily="34" charset="0"/>
              <a:buChar char="–"/>
              <a:defRPr sz="900"/>
            </a:lvl4pPr>
            <a:lvl5pPr marL="685800" indent="-130302">
              <a:lnSpc>
                <a:spcPct val="95000"/>
              </a:lnSpc>
              <a:spcBef>
                <a:spcPts val="225"/>
              </a:spcBef>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5762431" y="1987175"/>
            <a:ext cx="2794197"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Spin Offs</a:t>
            </a:r>
          </a:p>
        </p:txBody>
      </p:sp>
    </p:spTree>
    <p:extLst>
      <p:ext uri="{BB962C8B-B14F-4D97-AF65-F5344CB8AC3E}">
        <p14:creationId xmlns:p14="http://schemas.microsoft.com/office/powerpoint/2010/main" val="54758097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5507039" y="1755775"/>
            <a:ext cx="679450"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88106" eaLnBrk="0" hangingPunct="0">
              <a:lnSpc>
                <a:spcPct val="95000"/>
              </a:lnSpc>
              <a:defRPr/>
            </a:pPr>
            <a:endParaRPr lang="en-US" sz="1350" b="0" i="0" dirty="0">
              <a:latin typeface="Calibri Regular" charset="0"/>
              <a:ea typeface="+mn-ea"/>
            </a:endParaRPr>
          </a:p>
        </p:txBody>
      </p:sp>
      <p:sp>
        <p:nvSpPr>
          <p:cNvPr id="6" name="Text Placeholder 2"/>
          <p:cNvSpPr>
            <a:spLocks noGrp="1"/>
          </p:cNvSpPr>
          <p:nvPr>
            <p:ph type="body" idx="38"/>
          </p:nvPr>
        </p:nvSpPr>
        <p:spPr>
          <a:xfrm>
            <a:off x="2993735" y="1290639"/>
            <a:ext cx="237744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7" name="Text Placeholder 2"/>
          <p:cNvSpPr>
            <a:spLocks noGrp="1"/>
          </p:cNvSpPr>
          <p:nvPr>
            <p:ph type="body" idx="39"/>
          </p:nvPr>
        </p:nvSpPr>
        <p:spPr>
          <a:xfrm>
            <a:off x="477838" y="1290639"/>
            <a:ext cx="237744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5"/>
          </p:nvPr>
        </p:nvSpPr>
        <p:spPr>
          <a:xfrm>
            <a:off x="2993735" y="1290638"/>
            <a:ext cx="237744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2"/>
          </p:nvPr>
        </p:nvSpPr>
        <p:spPr>
          <a:xfrm>
            <a:off x="6300383" y="1290638"/>
            <a:ext cx="237744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2"/>
          <p:cNvSpPr>
            <a:spLocks noGrp="1"/>
          </p:cNvSpPr>
          <p:nvPr>
            <p:ph type="body" idx="30"/>
          </p:nvPr>
        </p:nvSpPr>
        <p:spPr>
          <a:xfrm>
            <a:off x="477838" y="1290638"/>
            <a:ext cx="237744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Text Placeholder 19"/>
          <p:cNvSpPr>
            <a:spLocks noGrp="1"/>
          </p:cNvSpPr>
          <p:nvPr>
            <p:ph type="body" sz="quarter" idx="40"/>
          </p:nvPr>
        </p:nvSpPr>
        <p:spPr>
          <a:xfrm>
            <a:off x="569278" y="1731264"/>
            <a:ext cx="2194560" cy="521208"/>
          </a:xfrm>
          <a:prstGeom prst="flowChartAlternateProcess">
            <a:avLst/>
          </a:prstGeom>
          <a:solidFill>
            <a:srgbClr val="FFFFFF"/>
          </a:solidFill>
          <a:ln>
            <a:solidFill>
              <a:srgbClr val="C0C0C0"/>
            </a:solidFill>
          </a:ln>
        </p:spPr>
        <p:txBody>
          <a:bodyPr lIns="45720" tIns="0" rIns="45720" bIns="0" anchor="ctr" anchorCtr="0"/>
          <a:lstStyle>
            <a:lvl1pPr marL="0" indent="-89154">
              <a:lnSpc>
                <a:spcPct val="95000"/>
              </a:lnSpc>
              <a:spcBef>
                <a:spcPts val="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2" name="Text Placeholder 19"/>
          <p:cNvSpPr>
            <a:spLocks noGrp="1"/>
          </p:cNvSpPr>
          <p:nvPr>
            <p:ph type="body" sz="quarter" idx="41"/>
          </p:nvPr>
        </p:nvSpPr>
        <p:spPr>
          <a:xfrm>
            <a:off x="569278" y="2357120"/>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3" name="Text Placeholder 19"/>
          <p:cNvSpPr>
            <a:spLocks noGrp="1"/>
          </p:cNvSpPr>
          <p:nvPr>
            <p:ph type="body" sz="quarter" idx="42"/>
          </p:nvPr>
        </p:nvSpPr>
        <p:spPr>
          <a:xfrm>
            <a:off x="569278" y="2982976"/>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4" name="Text Placeholder 19"/>
          <p:cNvSpPr>
            <a:spLocks noGrp="1"/>
          </p:cNvSpPr>
          <p:nvPr>
            <p:ph type="body" sz="quarter" idx="43"/>
          </p:nvPr>
        </p:nvSpPr>
        <p:spPr>
          <a:xfrm>
            <a:off x="569278" y="3608832"/>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5" name="Text Placeholder 19"/>
          <p:cNvSpPr>
            <a:spLocks noGrp="1"/>
          </p:cNvSpPr>
          <p:nvPr>
            <p:ph type="body" sz="quarter" idx="44"/>
          </p:nvPr>
        </p:nvSpPr>
        <p:spPr>
          <a:xfrm>
            <a:off x="569278" y="4234688"/>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6" name="Text Placeholder 19"/>
          <p:cNvSpPr>
            <a:spLocks noGrp="1"/>
          </p:cNvSpPr>
          <p:nvPr>
            <p:ph type="body" sz="quarter" idx="45"/>
          </p:nvPr>
        </p:nvSpPr>
        <p:spPr>
          <a:xfrm>
            <a:off x="569278" y="5486400"/>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7" name="Text Placeholder 19"/>
          <p:cNvSpPr>
            <a:spLocks noGrp="1"/>
          </p:cNvSpPr>
          <p:nvPr>
            <p:ph type="body" sz="quarter" idx="46"/>
          </p:nvPr>
        </p:nvSpPr>
        <p:spPr>
          <a:xfrm>
            <a:off x="569278" y="4860544"/>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8" name="Text Placeholder 19"/>
          <p:cNvSpPr>
            <a:spLocks noGrp="1"/>
          </p:cNvSpPr>
          <p:nvPr>
            <p:ph type="body" sz="quarter" idx="47"/>
          </p:nvPr>
        </p:nvSpPr>
        <p:spPr>
          <a:xfrm>
            <a:off x="3085175" y="1743456"/>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9" name="Text Placeholder 19"/>
          <p:cNvSpPr>
            <a:spLocks noGrp="1"/>
          </p:cNvSpPr>
          <p:nvPr>
            <p:ph type="body" sz="quarter" idx="48"/>
          </p:nvPr>
        </p:nvSpPr>
        <p:spPr>
          <a:xfrm>
            <a:off x="3085175" y="2369312"/>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0" name="Text Placeholder 19"/>
          <p:cNvSpPr>
            <a:spLocks noGrp="1"/>
          </p:cNvSpPr>
          <p:nvPr>
            <p:ph type="body" sz="quarter" idx="49"/>
          </p:nvPr>
        </p:nvSpPr>
        <p:spPr>
          <a:xfrm>
            <a:off x="3085175" y="2995168"/>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1" name="Text Placeholder 19"/>
          <p:cNvSpPr>
            <a:spLocks noGrp="1"/>
          </p:cNvSpPr>
          <p:nvPr>
            <p:ph type="body" sz="quarter" idx="50"/>
          </p:nvPr>
        </p:nvSpPr>
        <p:spPr>
          <a:xfrm>
            <a:off x="3085175" y="3621024"/>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2" name="Text Placeholder 19"/>
          <p:cNvSpPr>
            <a:spLocks noGrp="1"/>
          </p:cNvSpPr>
          <p:nvPr>
            <p:ph type="body" sz="quarter" idx="51"/>
          </p:nvPr>
        </p:nvSpPr>
        <p:spPr>
          <a:xfrm>
            <a:off x="3085175" y="4246880"/>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3" name="Text Placeholder 19"/>
          <p:cNvSpPr>
            <a:spLocks noGrp="1"/>
          </p:cNvSpPr>
          <p:nvPr>
            <p:ph type="body" sz="quarter" idx="52"/>
          </p:nvPr>
        </p:nvSpPr>
        <p:spPr>
          <a:xfrm>
            <a:off x="3085175" y="5498592"/>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4" name="Text Placeholder 19"/>
          <p:cNvSpPr>
            <a:spLocks noGrp="1"/>
          </p:cNvSpPr>
          <p:nvPr>
            <p:ph type="body" sz="quarter" idx="53"/>
          </p:nvPr>
        </p:nvSpPr>
        <p:spPr>
          <a:xfrm>
            <a:off x="3085175" y="4872736"/>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5" name="Text Placeholder 19"/>
          <p:cNvSpPr>
            <a:spLocks noGrp="1"/>
          </p:cNvSpPr>
          <p:nvPr>
            <p:ph type="body" sz="quarter" idx="54"/>
          </p:nvPr>
        </p:nvSpPr>
        <p:spPr>
          <a:xfrm>
            <a:off x="6300383" y="1743456"/>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6" name="Text Placeholder 19"/>
          <p:cNvSpPr>
            <a:spLocks noGrp="1"/>
          </p:cNvSpPr>
          <p:nvPr>
            <p:ph type="body" sz="quarter" idx="55"/>
          </p:nvPr>
        </p:nvSpPr>
        <p:spPr>
          <a:xfrm>
            <a:off x="6300383" y="2369312"/>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7" name="Text Placeholder 19"/>
          <p:cNvSpPr>
            <a:spLocks noGrp="1"/>
          </p:cNvSpPr>
          <p:nvPr>
            <p:ph type="body" sz="quarter" idx="56"/>
          </p:nvPr>
        </p:nvSpPr>
        <p:spPr>
          <a:xfrm>
            <a:off x="6300383" y="2995168"/>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8" name="Text Placeholder 19"/>
          <p:cNvSpPr>
            <a:spLocks noGrp="1"/>
          </p:cNvSpPr>
          <p:nvPr>
            <p:ph type="body" sz="quarter" idx="57"/>
          </p:nvPr>
        </p:nvSpPr>
        <p:spPr>
          <a:xfrm>
            <a:off x="6300383" y="3621024"/>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9" name="Text Placeholder 19"/>
          <p:cNvSpPr>
            <a:spLocks noGrp="1"/>
          </p:cNvSpPr>
          <p:nvPr>
            <p:ph type="body" sz="quarter" idx="58"/>
          </p:nvPr>
        </p:nvSpPr>
        <p:spPr>
          <a:xfrm>
            <a:off x="6300383" y="4246880"/>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0" name="Text Placeholder 19"/>
          <p:cNvSpPr>
            <a:spLocks noGrp="1"/>
          </p:cNvSpPr>
          <p:nvPr>
            <p:ph type="body" sz="quarter" idx="59"/>
          </p:nvPr>
        </p:nvSpPr>
        <p:spPr>
          <a:xfrm>
            <a:off x="6300383" y="5498592"/>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1" name="Text Placeholder 19"/>
          <p:cNvSpPr>
            <a:spLocks noGrp="1"/>
          </p:cNvSpPr>
          <p:nvPr>
            <p:ph type="body" sz="quarter" idx="60"/>
          </p:nvPr>
        </p:nvSpPr>
        <p:spPr>
          <a:xfrm>
            <a:off x="6300383" y="4872736"/>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Spin Offs</a:t>
            </a:r>
          </a:p>
        </p:txBody>
      </p:sp>
    </p:spTree>
    <p:extLst>
      <p:ext uri="{BB962C8B-B14F-4D97-AF65-F5344CB8AC3E}">
        <p14:creationId xmlns:p14="http://schemas.microsoft.com/office/powerpoint/2010/main" val="60296704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5349876" y="1497015"/>
            <a:ext cx="679450"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7" name="Text Placeholder 8"/>
          <p:cNvSpPr>
            <a:spLocks noGrp="1"/>
          </p:cNvSpPr>
          <p:nvPr>
            <p:ph type="body" sz="quarter" idx="21"/>
          </p:nvPr>
        </p:nvSpPr>
        <p:spPr>
          <a:xfrm rot="5400000">
            <a:off x="7082028" y="330708"/>
            <a:ext cx="640080" cy="2569464"/>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8" name="Text Placeholder 12"/>
          <p:cNvSpPr>
            <a:spLocks noGrp="1"/>
          </p:cNvSpPr>
          <p:nvPr>
            <p:ph type="body" sz="quarter" idx="18"/>
          </p:nvPr>
        </p:nvSpPr>
        <p:spPr>
          <a:xfrm>
            <a:off x="6117336" y="1981200"/>
            <a:ext cx="2569464" cy="41148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pitchFamily="2" charset="2"/>
              <a:buChar char="§"/>
              <a:defRPr sz="900" b="1" baseline="0"/>
            </a:lvl1pPr>
            <a:lvl2pPr marL="253604" indent="-129779">
              <a:spcBef>
                <a:spcPts val="150"/>
              </a:spcBef>
              <a:buClr>
                <a:srgbClr val="B01C2E"/>
              </a:buClr>
              <a:buFont typeface="Arial" pitchFamily="34" charset="0"/>
              <a:buChar char="•"/>
              <a:tabLst/>
              <a:defRPr sz="900" b="1" baseline="0"/>
            </a:lvl2pPr>
            <a:lvl3pPr marL="377190" indent="-129779">
              <a:spcBef>
                <a:spcPts val="150"/>
              </a:spcBef>
              <a:buClr>
                <a:srgbClr val="B01C2E"/>
              </a:buClr>
              <a:buFont typeface="Arial" pitchFamily="34" charset="0"/>
              <a:buChar char="–"/>
              <a:defRPr sz="900" b="1" baseline="0"/>
            </a:lvl3pPr>
            <a:lvl4pPr marL="514350" indent="-130302">
              <a:spcBef>
                <a:spcPts val="150"/>
              </a:spcBef>
              <a:buClr>
                <a:srgbClr val="B01C2E"/>
              </a:buClr>
              <a:buFont typeface="Arial" pitchFamily="34" charset="0"/>
              <a:buChar char="–"/>
              <a:tabLst/>
              <a:defRPr sz="900" b="1"/>
            </a:lvl4pPr>
            <a:lvl5pPr marL="637794" indent="-130302">
              <a:spcBef>
                <a:spcPts val="150"/>
              </a:spcBef>
              <a:buClr>
                <a:srgbClr val="B01C2E"/>
              </a:buClr>
              <a:buFont typeface="Arial" pitchFamily="34" charset="0"/>
              <a:buChar char="–"/>
              <a:defRPr sz="9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3810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3810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3810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0574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0574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0574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37338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37338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37338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Spin Offs</a:t>
            </a:r>
          </a:p>
        </p:txBody>
      </p:sp>
    </p:spTree>
    <p:extLst>
      <p:ext uri="{BB962C8B-B14F-4D97-AF65-F5344CB8AC3E}">
        <p14:creationId xmlns:p14="http://schemas.microsoft.com/office/powerpoint/2010/main" val="90735690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909638" y="2395538"/>
            <a:ext cx="768350" cy="638175"/>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066926" y="3590927"/>
            <a:ext cx="752475" cy="625475"/>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3234532" y="4814095"/>
            <a:ext cx="698500" cy="595313"/>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3881706" y="4986243"/>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479117" y="1441358"/>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1612733" y="2622986"/>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2755736" y="3804614"/>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Spin Offs</a:t>
            </a:r>
          </a:p>
        </p:txBody>
      </p:sp>
    </p:spTree>
    <p:extLst>
      <p:ext uri="{BB962C8B-B14F-4D97-AF65-F5344CB8AC3E}">
        <p14:creationId xmlns:p14="http://schemas.microsoft.com/office/powerpoint/2010/main" val="157784725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712789" y="1782765"/>
            <a:ext cx="7969250"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8" name="Parallelogram 7"/>
          <p:cNvSpPr/>
          <p:nvPr userDrawn="1"/>
        </p:nvSpPr>
        <p:spPr bwMode="auto">
          <a:xfrm>
            <a:off x="712789" y="5300665"/>
            <a:ext cx="7969250"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14" name="Parallelogram 13"/>
          <p:cNvSpPr/>
          <p:nvPr userDrawn="1"/>
        </p:nvSpPr>
        <p:spPr bwMode="auto">
          <a:xfrm>
            <a:off x="712789" y="4129090"/>
            <a:ext cx="7969250"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15" name="Parallelogram 14"/>
          <p:cNvSpPr/>
          <p:nvPr userDrawn="1"/>
        </p:nvSpPr>
        <p:spPr bwMode="auto">
          <a:xfrm>
            <a:off x="712789" y="2955925"/>
            <a:ext cx="7969250"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b="0" i="0" dirty="0">
              <a:latin typeface="Calibri Regular" charset="0"/>
              <a:ea typeface="+mn-ea"/>
            </a:endParaRPr>
          </a:p>
        </p:txBody>
      </p:sp>
      <p:sp>
        <p:nvSpPr>
          <p:cNvPr id="9" name="Content Placeholder 3"/>
          <p:cNvSpPr>
            <a:spLocks noGrp="1"/>
          </p:cNvSpPr>
          <p:nvPr>
            <p:ph sz="half" idx="12"/>
          </p:nvPr>
        </p:nvSpPr>
        <p:spPr>
          <a:xfrm>
            <a:off x="708691" y="1501649"/>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0" name="Content Placeholder 3"/>
          <p:cNvSpPr>
            <a:spLocks noGrp="1"/>
          </p:cNvSpPr>
          <p:nvPr>
            <p:ph sz="half" idx="13"/>
          </p:nvPr>
        </p:nvSpPr>
        <p:spPr>
          <a:xfrm>
            <a:off x="708691" y="5019704"/>
            <a:ext cx="7450574" cy="789371"/>
          </a:xfrm>
          <a:prstGeom prst="parallelogram">
            <a:avLst/>
          </a:prstGeom>
          <a:solidFill>
            <a:schemeClr val="accent1"/>
          </a:solidFill>
          <a:ln w="6350">
            <a:noFill/>
          </a:ln>
        </p:spPr>
        <p:txBody>
          <a:bodyPr lIns="137160" tIns="137160" rIns="137160" bIns="137160" anchor="ctr"/>
          <a:lstStyle>
            <a:lvl1pPr marL="132160" marR="0" indent="-13216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1" name="Content Placeholder 3"/>
          <p:cNvSpPr>
            <a:spLocks noGrp="1"/>
          </p:cNvSpPr>
          <p:nvPr>
            <p:ph sz="half" idx="14"/>
          </p:nvPr>
        </p:nvSpPr>
        <p:spPr>
          <a:xfrm>
            <a:off x="708691" y="3847017"/>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2" name="Content Placeholder 3"/>
          <p:cNvSpPr>
            <a:spLocks noGrp="1"/>
          </p:cNvSpPr>
          <p:nvPr>
            <p:ph sz="half" idx="15"/>
          </p:nvPr>
        </p:nvSpPr>
        <p:spPr>
          <a:xfrm>
            <a:off x="708691" y="2674336"/>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Spin Offs</a:t>
            </a:r>
          </a:p>
        </p:txBody>
      </p:sp>
    </p:spTree>
    <p:extLst>
      <p:ext uri="{BB962C8B-B14F-4D97-AF65-F5344CB8AC3E}">
        <p14:creationId xmlns:p14="http://schemas.microsoft.com/office/powerpoint/2010/main" val="119368530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477838" y="3294065"/>
            <a:ext cx="7988300"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477838" y="4670425"/>
            <a:ext cx="7988300"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477838" y="6046790"/>
            <a:ext cx="7988300"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1582996" y="1290644"/>
            <a:ext cx="1870718"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6" name="Text Placeholder 12"/>
          <p:cNvSpPr>
            <a:spLocks noGrp="1"/>
          </p:cNvSpPr>
          <p:nvPr>
            <p:ph type="body" sz="quarter" idx="15"/>
          </p:nvPr>
        </p:nvSpPr>
        <p:spPr>
          <a:xfrm>
            <a:off x="6896505"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7" name="Text Placeholder 12"/>
          <p:cNvSpPr>
            <a:spLocks noGrp="1"/>
          </p:cNvSpPr>
          <p:nvPr>
            <p:ph type="body" sz="quarter" idx="30"/>
          </p:nvPr>
        </p:nvSpPr>
        <p:spPr>
          <a:xfrm>
            <a:off x="5114285"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8" name="Text Placeholder 12"/>
          <p:cNvSpPr>
            <a:spLocks noGrp="1"/>
          </p:cNvSpPr>
          <p:nvPr>
            <p:ph type="body" sz="quarter" idx="31"/>
          </p:nvPr>
        </p:nvSpPr>
        <p:spPr>
          <a:xfrm>
            <a:off x="3332064"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9" name="Text Placeholder 12"/>
          <p:cNvSpPr>
            <a:spLocks noGrp="1"/>
          </p:cNvSpPr>
          <p:nvPr>
            <p:ph type="body" sz="quarter" idx="11"/>
          </p:nvPr>
        </p:nvSpPr>
        <p:spPr>
          <a:xfrm>
            <a:off x="457200" y="2068960"/>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900"/>
            </a:lvl5pPr>
          </a:lstStyle>
          <a:p>
            <a:pPr lvl="0"/>
            <a:r>
              <a:rPr lang="en-US"/>
              <a:t>Click to edit Master text styles</a:t>
            </a:r>
          </a:p>
        </p:txBody>
      </p:sp>
      <p:sp>
        <p:nvSpPr>
          <p:cNvPr id="10" name="Text Placeholder 12"/>
          <p:cNvSpPr>
            <a:spLocks noGrp="1"/>
          </p:cNvSpPr>
          <p:nvPr>
            <p:ph type="body" sz="quarter" idx="32"/>
          </p:nvPr>
        </p:nvSpPr>
        <p:spPr>
          <a:xfrm>
            <a:off x="457200" y="3436667"/>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1" name="Text Placeholder 12"/>
          <p:cNvSpPr>
            <a:spLocks noGrp="1"/>
          </p:cNvSpPr>
          <p:nvPr>
            <p:ph type="body" sz="quarter" idx="33"/>
          </p:nvPr>
        </p:nvSpPr>
        <p:spPr>
          <a:xfrm>
            <a:off x="457200" y="4802487"/>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2" name="Text Placeholder 12"/>
          <p:cNvSpPr>
            <a:spLocks noGrp="1"/>
          </p:cNvSpPr>
          <p:nvPr>
            <p:ph type="body" sz="quarter" idx="34"/>
          </p:nvPr>
        </p:nvSpPr>
        <p:spPr>
          <a:xfrm>
            <a:off x="1582996" y="2068960"/>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3" name="Text Placeholder 12"/>
          <p:cNvSpPr>
            <a:spLocks noGrp="1"/>
          </p:cNvSpPr>
          <p:nvPr>
            <p:ph type="body" sz="quarter" idx="35"/>
          </p:nvPr>
        </p:nvSpPr>
        <p:spPr>
          <a:xfrm>
            <a:off x="1582996" y="3441508"/>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4" name="Text Placeholder 12"/>
          <p:cNvSpPr>
            <a:spLocks noGrp="1"/>
          </p:cNvSpPr>
          <p:nvPr>
            <p:ph type="body" sz="quarter" idx="36"/>
          </p:nvPr>
        </p:nvSpPr>
        <p:spPr>
          <a:xfrm>
            <a:off x="1582996" y="4807328"/>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3332064"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9" name="Text Placeholder 12"/>
          <p:cNvSpPr>
            <a:spLocks noGrp="1"/>
          </p:cNvSpPr>
          <p:nvPr>
            <p:ph type="body" sz="quarter" idx="38"/>
          </p:nvPr>
        </p:nvSpPr>
        <p:spPr>
          <a:xfrm>
            <a:off x="3332064"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0" name="Text Placeholder 12"/>
          <p:cNvSpPr>
            <a:spLocks noGrp="1"/>
          </p:cNvSpPr>
          <p:nvPr>
            <p:ph type="body" sz="quarter" idx="39"/>
          </p:nvPr>
        </p:nvSpPr>
        <p:spPr>
          <a:xfrm>
            <a:off x="3332064"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1" name="Text Placeholder 12"/>
          <p:cNvSpPr>
            <a:spLocks noGrp="1"/>
          </p:cNvSpPr>
          <p:nvPr>
            <p:ph type="body" sz="quarter" idx="40"/>
          </p:nvPr>
        </p:nvSpPr>
        <p:spPr>
          <a:xfrm>
            <a:off x="5114284"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2" name="Text Placeholder 12"/>
          <p:cNvSpPr>
            <a:spLocks noGrp="1"/>
          </p:cNvSpPr>
          <p:nvPr>
            <p:ph type="body" sz="quarter" idx="41"/>
          </p:nvPr>
        </p:nvSpPr>
        <p:spPr>
          <a:xfrm>
            <a:off x="5114284"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3" name="Text Placeholder 12"/>
          <p:cNvSpPr>
            <a:spLocks noGrp="1"/>
          </p:cNvSpPr>
          <p:nvPr>
            <p:ph type="body" sz="quarter" idx="42"/>
          </p:nvPr>
        </p:nvSpPr>
        <p:spPr>
          <a:xfrm>
            <a:off x="5114284"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4" name="Text Placeholder 12"/>
          <p:cNvSpPr>
            <a:spLocks noGrp="1"/>
          </p:cNvSpPr>
          <p:nvPr>
            <p:ph type="body" sz="quarter" idx="43"/>
          </p:nvPr>
        </p:nvSpPr>
        <p:spPr>
          <a:xfrm>
            <a:off x="6896505"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5" name="Text Placeholder 12"/>
          <p:cNvSpPr>
            <a:spLocks noGrp="1"/>
          </p:cNvSpPr>
          <p:nvPr>
            <p:ph type="body" sz="quarter" idx="44"/>
          </p:nvPr>
        </p:nvSpPr>
        <p:spPr>
          <a:xfrm>
            <a:off x="6896505"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6" name="Text Placeholder 12"/>
          <p:cNvSpPr>
            <a:spLocks noGrp="1"/>
          </p:cNvSpPr>
          <p:nvPr>
            <p:ph type="body" sz="quarter" idx="45"/>
          </p:nvPr>
        </p:nvSpPr>
        <p:spPr>
          <a:xfrm>
            <a:off x="6896505"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Spin Offs</a:t>
            </a:r>
          </a:p>
        </p:txBody>
      </p:sp>
    </p:spTree>
    <p:extLst>
      <p:ext uri="{BB962C8B-B14F-4D97-AF65-F5344CB8AC3E}">
        <p14:creationId xmlns:p14="http://schemas.microsoft.com/office/powerpoint/2010/main" val="61171486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151064" y="1277938"/>
            <a:ext cx="6618287" cy="582612"/>
          </a:xfrm>
          <a:prstGeom prst="homePlate">
            <a:avLst>
              <a:gd name="adj" fmla="val 39286"/>
            </a:avLst>
          </a:prstGeom>
          <a:solidFill>
            <a:schemeClr val="accent1"/>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0" i="0" dirty="0">
              <a:solidFill>
                <a:schemeClr val="bg1"/>
              </a:solidFill>
              <a:latin typeface="Calibri Regular" charset="0"/>
              <a:ea typeface="Calibri Regular" charset="0"/>
              <a:cs typeface="Calibri Regular" charset="0"/>
            </a:endParaRPr>
          </a:p>
        </p:txBody>
      </p:sp>
      <p:cxnSp>
        <p:nvCxnSpPr>
          <p:cNvPr id="23" name="Straight Connector 9"/>
          <p:cNvCxnSpPr>
            <a:cxnSpLocks noChangeShapeType="1"/>
          </p:cNvCxnSpPr>
          <p:nvPr userDrawn="1"/>
        </p:nvCxnSpPr>
        <p:spPr bwMode="auto">
          <a:xfrm>
            <a:off x="2160589" y="1568450"/>
            <a:ext cx="6608762"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167481" y="3604420"/>
            <a:ext cx="4665662" cy="1270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2584450" y="1576388"/>
            <a:ext cx="5530850"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468313" y="1860550"/>
            <a:ext cx="8069262"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0" i="0" dirty="0">
              <a:solidFill>
                <a:schemeClr val="bg1"/>
              </a:solidFill>
              <a:latin typeface="Calibri Regular" charset="0"/>
              <a:ea typeface="Calibri Regular" charset="0"/>
              <a:cs typeface="Calibri Regular" charset="0"/>
            </a:endParaRPr>
          </a:p>
        </p:txBody>
      </p:sp>
      <p:sp>
        <p:nvSpPr>
          <p:cNvPr id="61" name="Rectangle 31"/>
          <p:cNvSpPr>
            <a:spLocks noChangeArrowheads="1"/>
          </p:cNvSpPr>
          <p:nvPr userDrawn="1"/>
        </p:nvSpPr>
        <p:spPr bwMode="auto">
          <a:xfrm>
            <a:off x="468314" y="1277938"/>
            <a:ext cx="1692275" cy="582612"/>
          </a:xfrm>
          <a:prstGeom prst="rect">
            <a:avLst/>
          </a:prstGeom>
          <a:solidFill>
            <a:srgbClr val="4D4D4D"/>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0" i="0" dirty="0">
              <a:solidFill>
                <a:schemeClr val="bg1"/>
              </a:solidFill>
              <a:latin typeface="Calibri Regular" charset="0"/>
              <a:ea typeface="Calibri Regular" charset="0"/>
              <a:cs typeface="Calibri Regular" charset="0"/>
            </a:endParaRPr>
          </a:p>
        </p:txBody>
      </p:sp>
      <p:cxnSp>
        <p:nvCxnSpPr>
          <p:cNvPr id="62" name="Straight Connector 28"/>
          <p:cNvCxnSpPr>
            <a:cxnSpLocks noChangeShapeType="1"/>
          </p:cNvCxnSpPr>
          <p:nvPr userDrawn="1"/>
        </p:nvCxnSpPr>
        <p:spPr bwMode="auto">
          <a:xfrm>
            <a:off x="473075" y="1277938"/>
            <a:ext cx="16764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159965" y="1282931"/>
            <a:ext cx="6372290" cy="294737"/>
          </a:xfrm>
          <a:prstGeom prst="rect">
            <a:avLst/>
          </a:prstGeom>
          <a:ln w="6350">
            <a:noFill/>
          </a:ln>
        </p:spPr>
        <p:txBody>
          <a:bodyPr anchor="ctr"/>
          <a:lstStyle>
            <a:lvl1pPr marL="0" indent="0">
              <a:lnSpc>
                <a:spcPct val="100000"/>
              </a:lnSpc>
              <a:spcBef>
                <a:spcPts val="0"/>
              </a:spcBef>
              <a:buFontTx/>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7" name="Text Placeholder 12"/>
          <p:cNvSpPr>
            <a:spLocks noGrp="1"/>
          </p:cNvSpPr>
          <p:nvPr>
            <p:ph type="body" sz="quarter" idx="31"/>
          </p:nvPr>
        </p:nvSpPr>
        <p:spPr>
          <a:xfrm>
            <a:off x="3016122"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8" name="Text Placeholder 12"/>
          <p:cNvSpPr>
            <a:spLocks noGrp="1"/>
          </p:cNvSpPr>
          <p:nvPr>
            <p:ph type="body" sz="quarter" idx="32"/>
          </p:nvPr>
        </p:nvSpPr>
        <p:spPr>
          <a:xfrm>
            <a:off x="3441598"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9" name="Text Placeholder 12"/>
          <p:cNvSpPr>
            <a:spLocks noGrp="1"/>
          </p:cNvSpPr>
          <p:nvPr>
            <p:ph type="body" sz="quarter" idx="33"/>
          </p:nvPr>
        </p:nvSpPr>
        <p:spPr>
          <a:xfrm>
            <a:off x="2165170"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0" name="Text Placeholder 12"/>
          <p:cNvSpPr>
            <a:spLocks noGrp="1"/>
          </p:cNvSpPr>
          <p:nvPr>
            <p:ph type="body" sz="quarter" idx="34"/>
          </p:nvPr>
        </p:nvSpPr>
        <p:spPr>
          <a:xfrm>
            <a:off x="2590645"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1" name="Text Placeholder 12"/>
          <p:cNvSpPr>
            <a:spLocks noGrp="1"/>
          </p:cNvSpPr>
          <p:nvPr>
            <p:ph type="body" sz="quarter" idx="35"/>
          </p:nvPr>
        </p:nvSpPr>
        <p:spPr>
          <a:xfrm>
            <a:off x="4718026"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2" name="Text Placeholder 12"/>
          <p:cNvSpPr>
            <a:spLocks noGrp="1"/>
          </p:cNvSpPr>
          <p:nvPr>
            <p:ph type="body" sz="quarter" idx="36"/>
          </p:nvPr>
        </p:nvSpPr>
        <p:spPr>
          <a:xfrm>
            <a:off x="5143501"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3" name="Text Placeholder 12"/>
          <p:cNvSpPr>
            <a:spLocks noGrp="1"/>
          </p:cNvSpPr>
          <p:nvPr>
            <p:ph type="body" sz="quarter" idx="37"/>
          </p:nvPr>
        </p:nvSpPr>
        <p:spPr>
          <a:xfrm>
            <a:off x="3867073"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4" name="Text Placeholder 12"/>
          <p:cNvSpPr>
            <a:spLocks noGrp="1"/>
          </p:cNvSpPr>
          <p:nvPr>
            <p:ph type="body" sz="quarter" idx="38"/>
          </p:nvPr>
        </p:nvSpPr>
        <p:spPr>
          <a:xfrm>
            <a:off x="4292550"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5" name="Text Placeholder 12"/>
          <p:cNvSpPr>
            <a:spLocks noGrp="1"/>
          </p:cNvSpPr>
          <p:nvPr>
            <p:ph type="body" sz="quarter" idx="39"/>
          </p:nvPr>
        </p:nvSpPr>
        <p:spPr>
          <a:xfrm>
            <a:off x="6419929"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6" name="Text Placeholder 12"/>
          <p:cNvSpPr>
            <a:spLocks noGrp="1"/>
          </p:cNvSpPr>
          <p:nvPr>
            <p:ph type="body" sz="quarter" idx="40"/>
          </p:nvPr>
        </p:nvSpPr>
        <p:spPr>
          <a:xfrm>
            <a:off x="6845406"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7" name="Text Placeholder 12"/>
          <p:cNvSpPr>
            <a:spLocks noGrp="1"/>
          </p:cNvSpPr>
          <p:nvPr>
            <p:ph type="body" sz="quarter" idx="41"/>
          </p:nvPr>
        </p:nvSpPr>
        <p:spPr>
          <a:xfrm>
            <a:off x="5568978"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8" name="Text Placeholder 12"/>
          <p:cNvSpPr>
            <a:spLocks noGrp="1"/>
          </p:cNvSpPr>
          <p:nvPr>
            <p:ph type="body" sz="quarter" idx="42"/>
          </p:nvPr>
        </p:nvSpPr>
        <p:spPr>
          <a:xfrm>
            <a:off x="5994454"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9" name="Text Placeholder 12"/>
          <p:cNvSpPr>
            <a:spLocks noGrp="1"/>
          </p:cNvSpPr>
          <p:nvPr>
            <p:ph type="body" sz="quarter" idx="43"/>
          </p:nvPr>
        </p:nvSpPr>
        <p:spPr>
          <a:xfrm>
            <a:off x="7270882"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44"/>
          </p:nvPr>
        </p:nvSpPr>
        <p:spPr>
          <a:xfrm>
            <a:off x="7696357"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45"/>
          </p:nvPr>
        </p:nvSpPr>
        <p:spPr>
          <a:xfrm>
            <a:off x="8121834"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46"/>
          </p:nvPr>
        </p:nvSpPr>
        <p:spPr>
          <a:xfrm>
            <a:off x="548056" y="1548247"/>
            <a:ext cx="645582" cy="280554"/>
          </a:xfrm>
          <a:prstGeom prst="rect">
            <a:avLst/>
          </a:prstGeom>
          <a:ln w="6350">
            <a:noFill/>
          </a:ln>
        </p:spPr>
        <p:txBody>
          <a:bodyPr lIns="0" tIns="0" rIns="0" bIns="0" anchor="ctr"/>
          <a:lstStyle>
            <a:lvl1pPr marL="0" indent="0">
              <a:lnSpc>
                <a:spcPct val="100000"/>
              </a:lnSpc>
              <a:spcBef>
                <a:spcPts val="0"/>
              </a:spcBef>
              <a:buNone/>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47"/>
          </p:nvPr>
        </p:nvSpPr>
        <p:spPr>
          <a:xfrm>
            <a:off x="1401427" y="1278089"/>
            <a:ext cx="645582" cy="561107"/>
          </a:xfrm>
          <a:prstGeom prst="rect">
            <a:avLst/>
          </a:prstGeom>
          <a:ln w="6350">
            <a:noFill/>
          </a:ln>
        </p:spPr>
        <p:txBody>
          <a:bodyPr lIns="0" tIns="0" rIns="0" bIns="0" anchor="ctr"/>
          <a:lstStyle>
            <a:lvl1pPr marL="0" marR="0" indent="0" algn="r" defTabSz="685800" rtl="0" eaLnBrk="1" fontAlgn="auto" latinLnBrk="0" hangingPunct="1">
              <a:lnSpc>
                <a:spcPts val="1275"/>
              </a:lnSpc>
              <a:spcBef>
                <a:spcPts val="0"/>
              </a:spcBef>
              <a:spcAft>
                <a:spcPts val="0"/>
              </a:spcAft>
              <a:buClrTx/>
              <a:buSzTx/>
              <a:buFont typeface="Arial" pitchFamily="34" charset="0"/>
              <a:buNone/>
              <a:tabLst/>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533400" y="1905000"/>
            <a:ext cx="1554480" cy="3977640"/>
          </a:xfrm>
          <a:prstGeom prst="rect">
            <a:avLst/>
          </a:prstGeom>
          <a:noFill/>
          <a:ln>
            <a:noFill/>
          </a:ln>
        </p:spPr>
        <p:txBody>
          <a:bodyPr wrap="square" lIns="91440" anchor="t" anchorCtr="0">
            <a:noAutofit/>
          </a:bodyPr>
          <a:lstStyle>
            <a:lvl1pPr marL="130302" indent="-130302" algn="l">
              <a:spcBef>
                <a:spcPts val="150"/>
              </a:spcBef>
              <a:buClr>
                <a:srgbClr val="B01C2E"/>
              </a:buClr>
              <a:buFont typeface="Wingdings" pitchFamily="2"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Spin Offs</a:t>
            </a:r>
          </a:p>
        </p:txBody>
      </p:sp>
    </p:spTree>
    <p:extLst>
      <p:ext uri="{BB962C8B-B14F-4D97-AF65-F5344CB8AC3E}">
        <p14:creationId xmlns:p14="http://schemas.microsoft.com/office/powerpoint/2010/main" val="96192949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1555750" y="1828802"/>
            <a:ext cx="7131050"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350" b="0" i="0" dirty="0">
              <a:latin typeface="Calibri Regular" charset="0"/>
              <a:ea typeface="Calibri Regular" charset="0"/>
              <a:cs typeface="Calibri Regular" charset="0"/>
            </a:endParaRPr>
          </a:p>
        </p:txBody>
      </p:sp>
      <p:sp>
        <p:nvSpPr>
          <p:cNvPr id="71" name="Rectangle 13"/>
          <p:cNvSpPr>
            <a:spLocks noChangeArrowheads="1"/>
          </p:cNvSpPr>
          <p:nvPr userDrawn="1"/>
        </p:nvSpPr>
        <p:spPr bwMode="auto">
          <a:xfrm>
            <a:off x="447675" y="2189163"/>
            <a:ext cx="1098550"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350" b="0" i="0" dirty="0">
              <a:latin typeface="Calibri Regular" charset="0"/>
              <a:ea typeface="Calibri Regular" charset="0"/>
              <a:cs typeface="Calibri Regular" charset="0"/>
            </a:endParaRPr>
          </a:p>
        </p:txBody>
      </p:sp>
      <p:grpSp>
        <p:nvGrpSpPr>
          <p:cNvPr id="72" name="Group 84"/>
          <p:cNvGrpSpPr>
            <a:grpSpLocks/>
          </p:cNvGrpSpPr>
          <p:nvPr userDrawn="1"/>
        </p:nvGrpSpPr>
        <p:grpSpPr bwMode="auto">
          <a:xfrm>
            <a:off x="442914" y="1819275"/>
            <a:ext cx="8234362"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512764" y="1566865"/>
            <a:ext cx="884237"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050"/>
              </a:lnSpc>
              <a:spcBef>
                <a:spcPts val="1125"/>
              </a:spcBef>
              <a:buClr>
                <a:schemeClr val="accent1"/>
              </a:buClr>
              <a:buFont typeface="Wingdings 2" pitchFamily="18" charset="2"/>
              <a:buNone/>
              <a:defRPr/>
            </a:pPr>
            <a:r>
              <a:rPr lang="en-US" sz="600" b="0" i="0" dirty="0">
                <a:solidFill>
                  <a:srgbClr val="000000"/>
                </a:solidFill>
                <a:latin typeface="Calibri Regular" charset="0"/>
                <a:ea typeface="+mn-ea"/>
              </a:rPr>
              <a:t>WEEK NUMBER</a:t>
            </a:r>
          </a:p>
        </p:txBody>
      </p:sp>
      <p:sp>
        <p:nvSpPr>
          <p:cNvPr id="96" name="TextBox 37"/>
          <p:cNvSpPr txBox="1">
            <a:spLocks noChangeArrowheads="1"/>
          </p:cNvSpPr>
          <p:nvPr userDrawn="1"/>
        </p:nvSpPr>
        <p:spPr bwMode="auto">
          <a:xfrm>
            <a:off x="512764" y="1939925"/>
            <a:ext cx="884237"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050"/>
              </a:lnSpc>
              <a:spcBef>
                <a:spcPts val="1125"/>
              </a:spcBef>
              <a:buClr>
                <a:schemeClr val="accent1"/>
              </a:buClr>
              <a:buFont typeface="Wingdings 2" pitchFamily="18" charset="2"/>
              <a:buNone/>
              <a:defRPr/>
            </a:pPr>
            <a:r>
              <a:rPr lang="en-US" sz="600" b="0" i="0" dirty="0">
                <a:solidFill>
                  <a:srgbClr val="000000"/>
                </a:solidFill>
                <a:latin typeface="Calibri Regular" charset="0"/>
                <a:ea typeface="+mn-ea"/>
              </a:rPr>
              <a:t>STARTS ON</a:t>
            </a:r>
          </a:p>
        </p:txBody>
      </p:sp>
      <p:cxnSp>
        <p:nvCxnSpPr>
          <p:cNvPr id="97" name="Straight Connector 39"/>
          <p:cNvCxnSpPr>
            <a:cxnSpLocks noChangeShapeType="1"/>
          </p:cNvCxnSpPr>
          <p:nvPr userDrawn="1"/>
        </p:nvCxnSpPr>
        <p:spPr bwMode="auto">
          <a:xfrm>
            <a:off x="442913" y="2200275"/>
            <a:ext cx="82296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442913" y="5486400"/>
            <a:ext cx="82296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1555751" y="1468440"/>
            <a:ext cx="7102475"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350" b="0" i="0" dirty="0">
              <a:latin typeface="Calibri Regular" charset="0"/>
            </a:endParaRPr>
          </a:p>
        </p:txBody>
      </p:sp>
      <p:cxnSp>
        <p:nvCxnSpPr>
          <p:cNvPr id="100" name="Straight Connector 42"/>
          <p:cNvCxnSpPr>
            <a:cxnSpLocks noChangeShapeType="1"/>
          </p:cNvCxnSpPr>
          <p:nvPr userDrawn="1"/>
        </p:nvCxnSpPr>
        <p:spPr bwMode="auto">
          <a:xfrm>
            <a:off x="1546226" y="1828800"/>
            <a:ext cx="649288"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1546225" y="1835813"/>
            <a:ext cx="64591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34"/>
          </p:nvPr>
        </p:nvSpPr>
        <p:spPr>
          <a:xfrm>
            <a:off x="2203314" y="1835813"/>
            <a:ext cx="64688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35"/>
          </p:nvPr>
        </p:nvSpPr>
        <p:spPr>
          <a:xfrm>
            <a:off x="2850206" y="1835813"/>
            <a:ext cx="65175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2" name="Text Placeholder 12"/>
          <p:cNvSpPr>
            <a:spLocks noGrp="1"/>
          </p:cNvSpPr>
          <p:nvPr>
            <p:ph type="body" sz="quarter" idx="36"/>
          </p:nvPr>
        </p:nvSpPr>
        <p:spPr>
          <a:xfrm>
            <a:off x="3497094" y="1835813"/>
            <a:ext cx="642026"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37"/>
          </p:nvPr>
        </p:nvSpPr>
        <p:spPr>
          <a:xfrm>
            <a:off x="4139118"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38"/>
          </p:nvPr>
        </p:nvSpPr>
        <p:spPr>
          <a:xfrm>
            <a:off x="4795736"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5" name="Text Placeholder 12"/>
          <p:cNvSpPr>
            <a:spLocks noGrp="1"/>
          </p:cNvSpPr>
          <p:nvPr>
            <p:ph type="body" sz="quarter" idx="39"/>
          </p:nvPr>
        </p:nvSpPr>
        <p:spPr>
          <a:xfrm>
            <a:off x="5437760"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6" name="Text Placeholder 12"/>
          <p:cNvSpPr>
            <a:spLocks noGrp="1"/>
          </p:cNvSpPr>
          <p:nvPr>
            <p:ph type="body" sz="quarter" idx="40"/>
          </p:nvPr>
        </p:nvSpPr>
        <p:spPr>
          <a:xfrm>
            <a:off x="6084651" y="1835813"/>
            <a:ext cx="65175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7" name="Text Placeholder 12"/>
          <p:cNvSpPr>
            <a:spLocks noGrp="1"/>
          </p:cNvSpPr>
          <p:nvPr>
            <p:ph type="body" sz="quarter" idx="41"/>
          </p:nvPr>
        </p:nvSpPr>
        <p:spPr>
          <a:xfrm>
            <a:off x="6731540" y="1835813"/>
            <a:ext cx="646890"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8" name="Text Placeholder 12"/>
          <p:cNvSpPr>
            <a:spLocks noGrp="1"/>
          </p:cNvSpPr>
          <p:nvPr>
            <p:ph type="body" sz="quarter" idx="42"/>
          </p:nvPr>
        </p:nvSpPr>
        <p:spPr>
          <a:xfrm>
            <a:off x="7383292"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9" name="Text Placeholder 12"/>
          <p:cNvSpPr>
            <a:spLocks noGrp="1"/>
          </p:cNvSpPr>
          <p:nvPr>
            <p:ph type="body" sz="quarter" idx="43"/>
          </p:nvPr>
        </p:nvSpPr>
        <p:spPr>
          <a:xfrm>
            <a:off x="8025320" y="1835813"/>
            <a:ext cx="65316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0" name="Text Placeholder 12"/>
          <p:cNvSpPr>
            <a:spLocks noGrp="1"/>
          </p:cNvSpPr>
          <p:nvPr>
            <p:ph type="body" sz="quarter" idx="45"/>
          </p:nvPr>
        </p:nvSpPr>
        <p:spPr>
          <a:xfrm>
            <a:off x="469240" y="223026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1" name="Text Placeholder 12"/>
          <p:cNvSpPr>
            <a:spLocks noGrp="1"/>
          </p:cNvSpPr>
          <p:nvPr>
            <p:ph type="body" sz="quarter" idx="46"/>
          </p:nvPr>
        </p:nvSpPr>
        <p:spPr>
          <a:xfrm>
            <a:off x="469240" y="259557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2" name="Text Placeholder 12"/>
          <p:cNvSpPr>
            <a:spLocks noGrp="1"/>
          </p:cNvSpPr>
          <p:nvPr>
            <p:ph type="body" sz="quarter" idx="47"/>
          </p:nvPr>
        </p:nvSpPr>
        <p:spPr>
          <a:xfrm>
            <a:off x="469240" y="296088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3" name="Text Placeholder 12"/>
          <p:cNvSpPr>
            <a:spLocks noGrp="1"/>
          </p:cNvSpPr>
          <p:nvPr>
            <p:ph type="body" sz="quarter" idx="48"/>
          </p:nvPr>
        </p:nvSpPr>
        <p:spPr>
          <a:xfrm>
            <a:off x="469240" y="332619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4" name="Text Placeholder 12"/>
          <p:cNvSpPr>
            <a:spLocks noGrp="1"/>
          </p:cNvSpPr>
          <p:nvPr>
            <p:ph type="body" sz="quarter" idx="49"/>
          </p:nvPr>
        </p:nvSpPr>
        <p:spPr>
          <a:xfrm>
            <a:off x="469240" y="369150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5" name="Text Placeholder 12"/>
          <p:cNvSpPr>
            <a:spLocks noGrp="1"/>
          </p:cNvSpPr>
          <p:nvPr>
            <p:ph type="body" sz="quarter" idx="50"/>
          </p:nvPr>
        </p:nvSpPr>
        <p:spPr>
          <a:xfrm>
            <a:off x="469240" y="405681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6" name="Text Placeholder 12"/>
          <p:cNvSpPr>
            <a:spLocks noGrp="1"/>
          </p:cNvSpPr>
          <p:nvPr>
            <p:ph type="body" sz="quarter" idx="51"/>
          </p:nvPr>
        </p:nvSpPr>
        <p:spPr>
          <a:xfrm>
            <a:off x="469240" y="5152742"/>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7" name="Text Placeholder 12"/>
          <p:cNvSpPr>
            <a:spLocks noGrp="1"/>
          </p:cNvSpPr>
          <p:nvPr>
            <p:ph type="body" sz="quarter" idx="52"/>
          </p:nvPr>
        </p:nvSpPr>
        <p:spPr>
          <a:xfrm>
            <a:off x="469240" y="442212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8" name="Text Placeholder 12"/>
          <p:cNvSpPr>
            <a:spLocks noGrp="1"/>
          </p:cNvSpPr>
          <p:nvPr>
            <p:ph type="body" sz="quarter" idx="53"/>
          </p:nvPr>
        </p:nvSpPr>
        <p:spPr>
          <a:xfrm>
            <a:off x="469240" y="478743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9" name="Text Placeholder 12"/>
          <p:cNvSpPr>
            <a:spLocks noGrp="1"/>
          </p:cNvSpPr>
          <p:nvPr>
            <p:ph type="body" sz="quarter" idx="54"/>
          </p:nvPr>
        </p:nvSpPr>
        <p:spPr>
          <a:xfrm>
            <a:off x="1562267"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94301C"/>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0" name="Text Placeholder 12"/>
          <p:cNvSpPr>
            <a:spLocks noGrp="1"/>
          </p:cNvSpPr>
          <p:nvPr>
            <p:ph type="body" sz="quarter" idx="55"/>
          </p:nvPr>
        </p:nvSpPr>
        <p:spPr>
          <a:xfrm>
            <a:off x="220331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1" name="Text Placeholder 12"/>
          <p:cNvSpPr>
            <a:spLocks noGrp="1"/>
          </p:cNvSpPr>
          <p:nvPr>
            <p:ph type="body" sz="quarter" idx="56"/>
          </p:nvPr>
        </p:nvSpPr>
        <p:spPr>
          <a:xfrm>
            <a:off x="285020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2" name="Text Placeholder 12"/>
          <p:cNvSpPr>
            <a:spLocks noGrp="1"/>
          </p:cNvSpPr>
          <p:nvPr>
            <p:ph type="body" sz="quarter" idx="57"/>
          </p:nvPr>
        </p:nvSpPr>
        <p:spPr>
          <a:xfrm>
            <a:off x="349709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3" name="Text Placeholder 12"/>
          <p:cNvSpPr>
            <a:spLocks noGrp="1"/>
          </p:cNvSpPr>
          <p:nvPr>
            <p:ph type="body" sz="quarter" idx="58"/>
          </p:nvPr>
        </p:nvSpPr>
        <p:spPr>
          <a:xfrm>
            <a:off x="4139118"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4" name="Text Placeholder 12"/>
          <p:cNvSpPr>
            <a:spLocks noGrp="1"/>
          </p:cNvSpPr>
          <p:nvPr>
            <p:ph type="body" sz="quarter" idx="59"/>
          </p:nvPr>
        </p:nvSpPr>
        <p:spPr>
          <a:xfrm>
            <a:off x="4795736"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5" name="Text Placeholder 12"/>
          <p:cNvSpPr>
            <a:spLocks noGrp="1"/>
          </p:cNvSpPr>
          <p:nvPr>
            <p:ph type="body" sz="quarter" idx="60"/>
          </p:nvPr>
        </p:nvSpPr>
        <p:spPr>
          <a:xfrm>
            <a:off x="543776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6" name="Text Placeholder 12"/>
          <p:cNvSpPr>
            <a:spLocks noGrp="1"/>
          </p:cNvSpPr>
          <p:nvPr>
            <p:ph type="body" sz="quarter" idx="61"/>
          </p:nvPr>
        </p:nvSpPr>
        <p:spPr>
          <a:xfrm>
            <a:off x="608465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7" name="Text Placeholder 12"/>
          <p:cNvSpPr>
            <a:spLocks noGrp="1"/>
          </p:cNvSpPr>
          <p:nvPr>
            <p:ph type="body" sz="quarter" idx="62"/>
          </p:nvPr>
        </p:nvSpPr>
        <p:spPr>
          <a:xfrm>
            <a:off x="673154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8" name="Text Placeholder 12"/>
          <p:cNvSpPr>
            <a:spLocks noGrp="1"/>
          </p:cNvSpPr>
          <p:nvPr>
            <p:ph type="body" sz="quarter" idx="63"/>
          </p:nvPr>
        </p:nvSpPr>
        <p:spPr>
          <a:xfrm>
            <a:off x="7383292"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9" name="Text Placeholder 12"/>
          <p:cNvSpPr>
            <a:spLocks noGrp="1"/>
          </p:cNvSpPr>
          <p:nvPr>
            <p:ph type="body" sz="quarter" idx="64"/>
          </p:nvPr>
        </p:nvSpPr>
        <p:spPr>
          <a:xfrm>
            <a:off x="8025318"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79" name="Text Placeholder 178"/>
          <p:cNvSpPr>
            <a:spLocks noGrp="1"/>
          </p:cNvSpPr>
          <p:nvPr>
            <p:ph type="body" sz="quarter" idx="65"/>
          </p:nvPr>
        </p:nvSpPr>
        <p:spPr>
          <a:xfrm>
            <a:off x="1546225" y="2321700"/>
            <a:ext cx="914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1546225" y="2687010"/>
            <a:ext cx="1828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1546225" y="3052320"/>
            <a:ext cx="2743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1546225" y="3417630"/>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1546225" y="3782940"/>
            <a:ext cx="45720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1546225" y="4148250"/>
            <a:ext cx="914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1546225" y="4513560"/>
            <a:ext cx="1828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1546225" y="4878870"/>
            <a:ext cx="2743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1546225" y="5244182"/>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3436620" y="5562600"/>
            <a:ext cx="13716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3048000" y="5817472"/>
            <a:ext cx="9144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91" name="Text Placeholder 178"/>
          <p:cNvSpPr>
            <a:spLocks noGrp="1"/>
          </p:cNvSpPr>
          <p:nvPr>
            <p:ph type="body" sz="quarter" idx="77"/>
          </p:nvPr>
        </p:nvSpPr>
        <p:spPr>
          <a:xfrm>
            <a:off x="5355067" y="5562600"/>
            <a:ext cx="13716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4966447" y="5817472"/>
            <a:ext cx="9144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78"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Spin Offs</a:t>
            </a:r>
          </a:p>
        </p:txBody>
      </p:sp>
    </p:spTree>
    <p:extLst>
      <p:ext uri="{BB962C8B-B14F-4D97-AF65-F5344CB8AC3E}">
        <p14:creationId xmlns:p14="http://schemas.microsoft.com/office/powerpoint/2010/main" val="212694318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1779589" y="5981700"/>
            <a:ext cx="5495925"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1792288" y="5453937"/>
            <a:ext cx="5486400" cy="474325"/>
          </a:xfrm>
          <a:prstGeom prst="rect">
            <a:avLst/>
          </a:prstGeom>
        </p:spPr>
        <p:txBody>
          <a:bodyPr/>
          <a:lstStyle>
            <a:lvl1pPr algn="l">
              <a:defRPr sz="900" b="1"/>
            </a:lvl1pPr>
          </a:lstStyle>
          <a:p>
            <a:r>
              <a:rPr lang="en-US"/>
              <a:t>Click to edit Master title style</a:t>
            </a:r>
            <a:endParaRPr lang="en-US" dirty="0"/>
          </a:p>
        </p:txBody>
      </p:sp>
      <p:sp>
        <p:nvSpPr>
          <p:cNvPr id="7" name="Picture Placeholder 2"/>
          <p:cNvSpPr>
            <a:spLocks noGrp="1"/>
          </p:cNvSpPr>
          <p:nvPr>
            <p:ph type="pic" idx="1"/>
          </p:nvPr>
        </p:nvSpPr>
        <p:spPr>
          <a:xfrm>
            <a:off x="1792288" y="1166756"/>
            <a:ext cx="5486400" cy="4192689"/>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US" noProof="0"/>
              <a:t>Drag picture to placeholder or click icon to add</a:t>
            </a:r>
          </a:p>
        </p:txBody>
      </p:sp>
      <p:sp>
        <p:nvSpPr>
          <p:cNvPr id="8" name="Text Placeholder 3"/>
          <p:cNvSpPr>
            <a:spLocks noGrp="1"/>
          </p:cNvSpPr>
          <p:nvPr>
            <p:ph type="body" sz="half" idx="2"/>
          </p:nvPr>
        </p:nvSpPr>
        <p:spPr>
          <a:xfrm>
            <a:off x="1792288" y="6042020"/>
            <a:ext cx="5486400" cy="311280"/>
          </a:xfrm>
          <a:prstGeom prst="rect">
            <a:avLst/>
          </a:prstGeom>
        </p:spPr>
        <p:txBody>
          <a:bodyPr/>
          <a:lstStyle>
            <a:lvl1pPr marL="0" indent="0">
              <a:buNone/>
              <a:defRPr sz="750" i="1">
                <a:solidFill>
                  <a:srgbClr val="4D4D4D"/>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10"/>
          <p:cNvSpPr>
            <a:spLocks noGrp="1"/>
          </p:cNvSpPr>
          <p:nvPr>
            <p:ph type="body" sz="quarter" idx="10"/>
          </p:nvPr>
        </p:nvSpPr>
        <p:spPr>
          <a:xfrm>
            <a:off x="769503" y="0"/>
            <a:ext cx="7604994" cy="896112"/>
          </a:xfrm>
          <a:prstGeom prst="rect">
            <a:avLst/>
          </a:prstGeom>
        </p:spPr>
        <p:txBody>
          <a:bodyPr anchor="b"/>
          <a:lstStyle>
            <a:lvl1pPr>
              <a:buNone/>
              <a:defRPr sz="165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Spin Offs</a:t>
            </a:r>
          </a:p>
        </p:txBody>
      </p:sp>
    </p:spTree>
    <p:extLst>
      <p:ext uri="{BB962C8B-B14F-4D97-AF65-F5344CB8AC3E}">
        <p14:creationId xmlns:p14="http://schemas.microsoft.com/office/powerpoint/2010/main" val="69612146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452441" y="1447800"/>
            <a:ext cx="1688123" cy="914400"/>
          </a:xfrm>
          <a:prstGeom prst="rect">
            <a:avLst/>
          </a:prstGeom>
        </p:spPr>
        <p:txBody>
          <a:bodyPr/>
          <a:lstStyle>
            <a:lvl1pPr>
              <a:buNone/>
              <a:defRPr sz="750"/>
            </a:lvl1pPr>
          </a:lstStyle>
          <a:p>
            <a:pPr lvl="0"/>
            <a:r>
              <a:rPr lang="en-US"/>
              <a:t>Click to edit Master text styles</a:t>
            </a:r>
          </a:p>
        </p:txBody>
      </p:sp>
      <p:sp>
        <p:nvSpPr>
          <p:cNvPr id="9" name="Text Placeholder 11"/>
          <p:cNvSpPr>
            <a:spLocks noGrp="1"/>
          </p:cNvSpPr>
          <p:nvPr>
            <p:ph type="body" sz="quarter" idx="12"/>
          </p:nvPr>
        </p:nvSpPr>
        <p:spPr>
          <a:xfrm>
            <a:off x="452441" y="2667000"/>
            <a:ext cx="1688123" cy="914400"/>
          </a:xfrm>
          <a:prstGeom prst="rect">
            <a:avLst/>
          </a:prstGeom>
        </p:spPr>
        <p:txBody>
          <a:bodyPr/>
          <a:lstStyle>
            <a:lvl1pPr>
              <a:buNone/>
              <a:defRPr sz="750"/>
            </a:lvl1pPr>
          </a:lstStyle>
          <a:p>
            <a:pPr lvl="0"/>
            <a:r>
              <a:rPr lang="en-US"/>
              <a:t>Click to edit Master text styles</a:t>
            </a:r>
          </a:p>
        </p:txBody>
      </p:sp>
      <p:sp>
        <p:nvSpPr>
          <p:cNvPr id="10" name="Text Placeholder 11"/>
          <p:cNvSpPr>
            <a:spLocks noGrp="1"/>
          </p:cNvSpPr>
          <p:nvPr>
            <p:ph type="body" sz="quarter" idx="13"/>
          </p:nvPr>
        </p:nvSpPr>
        <p:spPr>
          <a:xfrm>
            <a:off x="452441" y="5105400"/>
            <a:ext cx="1688123" cy="914400"/>
          </a:xfrm>
          <a:prstGeom prst="rect">
            <a:avLst/>
          </a:prstGeom>
        </p:spPr>
        <p:txBody>
          <a:bodyPr/>
          <a:lstStyle>
            <a:lvl1pPr>
              <a:buNone/>
              <a:defRPr sz="750"/>
            </a:lvl1pPr>
          </a:lstStyle>
          <a:p>
            <a:pPr lvl="0"/>
            <a:r>
              <a:rPr lang="en-US"/>
              <a:t>Click to edit Master text styles</a:t>
            </a:r>
          </a:p>
        </p:txBody>
      </p:sp>
      <p:sp>
        <p:nvSpPr>
          <p:cNvPr id="11" name="Text Placeholder 11"/>
          <p:cNvSpPr>
            <a:spLocks noGrp="1"/>
          </p:cNvSpPr>
          <p:nvPr>
            <p:ph type="body" sz="quarter" idx="14"/>
          </p:nvPr>
        </p:nvSpPr>
        <p:spPr>
          <a:xfrm>
            <a:off x="7003443" y="1447800"/>
            <a:ext cx="1688123" cy="914400"/>
          </a:xfrm>
          <a:prstGeom prst="rect">
            <a:avLst/>
          </a:prstGeom>
        </p:spPr>
        <p:txBody>
          <a:bodyPr/>
          <a:lstStyle>
            <a:lvl1pPr>
              <a:buNone/>
              <a:defRPr sz="750"/>
            </a:lvl1pPr>
          </a:lstStyle>
          <a:p>
            <a:pPr lvl="0"/>
            <a:r>
              <a:rPr lang="en-US"/>
              <a:t>Click to edit Master text styles</a:t>
            </a:r>
          </a:p>
        </p:txBody>
      </p:sp>
      <p:sp>
        <p:nvSpPr>
          <p:cNvPr id="12" name="Text Placeholder 11"/>
          <p:cNvSpPr>
            <a:spLocks noGrp="1"/>
          </p:cNvSpPr>
          <p:nvPr>
            <p:ph type="body" sz="quarter" idx="15"/>
          </p:nvPr>
        </p:nvSpPr>
        <p:spPr>
          <a:xfrm>
            <a:off x="7003443" y="2667000"/>
            <a:ext cx="1688123" cy="914400"/>
          </a:xfrm>
          <a:prstGeom prst="rect">
            <a:avLst/>
          </a:prstGeom>
        </p:spPr>
        <p:txBody>
          <a:bodyPr/>
          <a:lstStyle>
            <a:lvl1pPr>
              <a:buNone/>
              <a:defRPr sz="750"/>
            </a:lvl1pPr>
          </a:lstStyle>
          <a:p>
            <a:pPr lvl="0"/>
            <a:r>
              <a:rPr lang="en-US"/>
              <a:t>Click to edit Master text styles</a:t>
            </a:r>
          </a:p>
        </p:txBody>
      </p:sp>
      <p:sp>
        <p:nvSpPr>
          <p:cNvPr id="13" name="Text Placeholder 11"/>
          <p:cNvSpPr>
            <a:spLocks noGrp="1"/>
          </p:cNvSpPr>
          <p:nvPr>
            <p:ph type="body" sz="quarter" idx="16"/>
          </p:nvPr>
        </p:nvSpPr>
        <p:spPr>
          <a:xfrm>
            <a:off x="7003443" y="3886200"/>
            <a:ext cx="1688123" cy="914400"/>
          </a:xfrm>
          <a:prstGeom prst="rect">
            <a:avLst/>
          </a:prstGeom>
        </p:spPr>
        <p:txBody>
          <a:bodyPr/>
          <a:lstStyle>
            <a:lvl1pPr>
              <a:buNone/>
              <a:defRPr sz="750"/>
            </a:lvl1pPr>
          </a:lstStyle>
          <a:p>
            <a:pPr lvl="0"/>
            <a:r>
              <a:rPr lang="en-US"/>
              <a:t>Click to edit Master text styles</a:t>
            </a:r>
          </a:p>
        </p:txBody>
      </p:sp>
      <p:sp>
        <p:nvSpPr>
          <p:cNvPr id="14" name="Text Placeholder 11"/>
          <p:cNvSpPr>
            <a:spLocks noGrp="1"/>
          </p:cNvSpPr>
          <p:nvPr>
            <p:ph type="body" sz="quarter" idx="17"/>
          </p:nvPr>
        </p:nvSpPr>
        <p:spPr>
          <a:xfrm>
            <a:off x="7003443" y="5105400"/>
            <a:ext cx="1688123" cy="914400"/>
          </a:xfrm>
          <a:prstGeom prst="rect">
            <a:avLst/>
          </a:prstGeom>
        </p:spPr>
        <p:txBody>
          <a:bodyPr/>
          <a:lstStyle>
            <a:lvl1pPr>
              <a:buNone/>
              <a:defRPr sz="750"/>
            </a:lvl1pPr>
          </a:lstStyle>
          <a:p>
            <a:pPr lvl="0"/>
            <a:r>
              <a:rPr lang="en-US"/>
              <a:t>Click to edit Master text styles</a:t>
            </a:r>
          </a:p>
        </p:txBody>
      </p:sp>
      <p:sp>
        <p:nvSpPr>
          <p:cNvPr id="15" name="Text Placeholder 11"/>
          <p:cNvSpPr>
            <a:spLocks noGrp="1"/>
          </p:cNvSpPr>
          <p:nvPr>
            <p:ph type="body" sz="quarter" idx="18"/>
          </p:nvPr>
        </p:nvSpPr>
        <p:spPr>
          <a:xfrm>
            <a:off x="452441" y="3886200"/>
            <a:ext cx="1688123" cy="914400"/>
          </a:xfrm>
          <a:prstGeom prst="rect">
            <a:avLst/>
          </a:prstGeom>
        </p:spPr>
        <p:txBody>
          <a:bodyPr/>
          <a:lstStyle>
            <a:lvl1pPr>
              <a:buNone/>
              <a:defRPr sz="75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Spin Offs</a:t>
            </a:r>
          </a:p>
        </p:txBody>
      </p:sp>
    </p:spTree>
    <p:extLst>
      <p:ext uri="{BB962C8B-B14F-4D97-AF65-F5344CB8AC3E}">
        <p14:creationId xmlns:p14="http://schemas.microsoft.com/office/powerpoint/2010/main" val="66836491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159380" y="1419225"/>
            <a:ext cx="2532185" cy="4800600"/>
          </a:xfrm>
          <a:prstGeom prst="rect">
            <a:avLst/>
          </a:prstGeom>
        </p:spPr>
        <p:txBody>
          <a:bodyPr/>
          <a:lstStyle>
            <a:lvl1pPr marL="171450" indent="-171450">
              <a:buClr>
                <a:srgbClr val="B01C2E"/>
              </a:buClr>
              <a:buFont typeface="Wingdings 2" pitchFamily="18" charset="2"/>
              <a:buChar char=""/>
              <a:defRPr sz="825"/>
            </a:lvl1pPr>
            <a:lvl2pPr marL="342900" indent="-171450">
              <a:buClr>
                <a:srgbClr val="B01C2E"/>
              </a:buClr>
              <a:buSzPct val="125000"/>
              <a:buFont typeface="Arial" pitchFamily="34" charset="0"/>
              <a:buChar char="•"/>
              <a:defRPr sz="825"/>
            </a:lvl2pPr>
            <a:lvl3pPr marL="514350">
              <a:buClr>
                <a:srgbClr val="B01C2E"/>
              </a:buClr>
              <a:buFont typeface="Arial" pitchFamily="34" charset="0"/>
              <a:buChar char="–"/>
              <a:defRPr sz="825"/>
            </a:lvl3pPr>
            <a:lvl4pPr marL="685800">
              <a:buClr>
                <a:srgbClr val="B01C2E"/>
              </a:buClr>
              <a:buFont typeface="Arial" pitchFamily="34" charset="0"/>
              <a:buChar char="–"/>
              <a:defRPr sz="825"/>
            </a:lvl4pPr>
            <a:lvl5pPr marL="857250">
              <a:buClr>
                <a:srgbClr val="B01C2E"/>
              </a:buClr>
              <a:buFont typeface="Arial" pitchFamily="34" charset="0"/>
              <a:buChar char="–"/>
              <a:defRPr sz="825"/>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Spin Offs</a:t>
            </a:r>
          </a:p>
        </p:txBody>
      </p:sp>
    </p:spTree>
    <p:extLst>
      <p:ext uri="{BB962C8B-B14F-4D97-AF65-F5344CB8AC3E}">
        <p14:creationId xmlns:p14="http://schemas.microsoft.com/office/powerpoint/2010/main" val="127044126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3575052" y="1419225"/>
            <a:ext cx="5111750"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457201" y="1419226"/>
            <a:ext cx="2918298"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Spin Offs</a:t>
            </a:r>
          </a:p>
        </p:txBody>
      </p:sp>
    </p:spTree>
    <p:extLst>
      <p:ext uri="{BB962C8B-B14F-4D97-AF65-F5344CB8AC3E}">
        <p14:creationId xmlns:p14="http://schemas.microsoft.com/office/powerpoint/2010/main" val="94007163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57201" y="1419225"/>
            <a:ext cx="5111750"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5773265" y="1419226"/>
            <a:ext cx="2918298"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Spin Offs</a:t>
            </a:r>
          </a:p>
        </p:txBody>
      </p:sp>
    </p:spTree>
    <p:extLst>
      <p:ext uri="{BB962C8B-B14F-4D97-AF65-F5344CB8AC3E}">
        <p14:creationId xmlns:p14="http://schemas.microsoft.com/office/powerpoint/2010/main" val="205867074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076450" y="2667000"/>
            <a:ext cx="66294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3" name="TextBox 13"/>
          <p:cNvSpPr txBox="1">
            <a:spLocks noChangeArrowheads="1"/>
          </p:cNvSpPr>
          <p:nvPr userDrawn="1"/>
        </p:nvSpPr>
        <p:spPr bwMode="auto">
          <a:xfrm>
            <a:off x="2066925" y="1108077"/>
            <a:ext cx="3200400" cy="207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0" i="0" dirty="0">
                <a:solidFill>
                  <a:srgbClr val="B01C2E"/>
                </a:solidFill>
                <a:latin typeface="Calibri Regular" charset="0"/>
                <a:ea typeface="+mn-ea"/>
              </a:rPr>
              <a:t>Specialization</a:t>
            </a:r>
          </a:p>
        </p:txBody>
      </p:sp>
      <p:sp>
        <p:nvSpPr>
          <p:cNvPr id="14" name="TextBox 14"/>
          <p:cNvSpPr txBox="1">
            <a:spLocks noChangeArrowheads="1"/>
          </p:cNvSpPr>
          <p:nvPr userDrawn="1"/>
        </p:nvSpPr>
        <p:spPr bwMode="auto">
          <a:xfrm>
            <a:off x="5505450" y="1108077"/>
            <a:ext cx="3200400" cy="207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0" i="0" dirty="0">
                <a:solidFill>
                  <a:srgbClr val="B01C2E"/>
                </a:solidFill>
                <a:latin typeface="Calibri Regular" charset="0"/>
                <a:ea typeface="+mn-ea"/>
              </a:rPr>
              <a:t>Education</a:t>
            </a:r>
          </a:p>
        </p:txBody>
      </p:sp>
      <p:sp>
        <p:nvSpPr>
          <p:cNvPr id="17" name="Text Placeholder 16"/>
          <p:cNvSpPr>
            <a:spLocks noGrp="1"/>
          </p:cNvSpPr>
          <p:nvPr>
            <p:ph type="body" sz="quarter" idx="17"/>
          </p:nvPr>
        </p:nvSpPr>
        <p:spPr>
          <a:xfrm>
            <a:off x="2067306" y="2743200"/>
            <a:ext cx="6638544" cy="3429000"/>
          </a:xfrm>
          <a:prstGeom prst="rect">
            <a:avLst/>
          </a:prstGeom>
          <a:ln>
            <a:noFill/>
          </a:ln>
        </p:spPr>
        <p:txBody>
          <a:bodyPr lIns="27432" anchor="t"/>
          <a:lstStyle>
            <a:lvl1pPr marL="0" indent="0" algn="l">
              <a:lnSpc>
                <a:spcPts val="900"/>
              </a:lnSpc>
              <a:spcBef>
                <a:spcPts val="0"/>
              </a:spcBef>
              <a:spcAft>
                <a:spcPts val="450"/>
              </a:spcAft>
              <a:buFont typeface="Arial" pitchFamily="34" charset="0"/>
              <a:buChar char=" "/>
              <a:defRPr sz="750" b="0" baseline="0">
                <a:latin typeface="+mn-lt"/>
              </a:defRPr>
            </a:lvl1pPr>
            <a:lvl2pPr marL="0" indent="0">
              <a:lnSpc>
                <a:spcPts val="900"/>
              </a:lnSpc>
              <a:spcBef>
                <a:spcPts val="0"/>
              </a:spcBef>
              <a:spcAft>
                <a:spcPts val="900"/>
              </a:spcAft>
              <a:buFont typeface="Arial" pitchFamily="34" charset="0"/>
              <a:buChar char=" "/>
              <a:defRPr sz="750" b="0" i="0" baseline="0">
                <a:solidFill>
                  <a:srgbClr val="666666"/>
                </a:solidFill>
                <a:latin typeface="Calibri Regular" charset="0"/>
              </a:defRPr>
            </a:lvl2pPr>
            <a:lvl3pPr marL="171450" indent="-171450">
              <a:buClr>
                <a:srgbClr val="B01C2E"/>
              </a:buClr>
              <a:buFont typeface="Wingdings 2" pitchFamily="18" charset="2"/>
              <a:buChar char="¡"/>
              <a:defRPr sz="750" b="0" i="0" baseline="0">
                <a:latin typeface="Calibri Regular" charset="0"/>
              </a:defRPr>
            </a:lvl3pPr>
            <a:lvl4pPr marL="342900" indent="-171450">
              <a:buClr>
                <a:srgbClr val="B01C2E"/>
              </a:buClr>
              <a:buFont typeface="Arial" pitchFamily="34" charset="0"/>
              <a:buChar char="–"/>
              <a:defRPr sz="750" b="0" i="0" baseline="0">
                <a:latin typeface="Calibri Regular" charset="0"/>
              </a:defRPr>
            </a:lvl4pPr>
            <a:lvl5pPr marL="514350" indent="-171450">
              <a:buClr>
                <a:srgbClr val="B01C2E"/>
              </a:buClr>
              <a:buFont typeface="Arial" pitchFamily="34" charset="0"/>
              <a:buChar char="–"/>
              <a:defRPr sz="750" b="0" i="0" baseline="0">
                <a:latin typeface="Calibri Regular"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455612" y="1108074"/>
            <a:ext cx="1170432" cy="1563624"/>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455615" y="2722996"/>
            <a:ext cx="1525587" cy="553604"/>
          </a:xfrm>
          <a:prstGeom prst="rect">
            <a:avLst/>
          </a:prstGeom>
        </p:spPr>
        <p:txBody>
          <a:bodyPr lIns="0"/>
          <a:lstStyle>
            <a:lvl1pPr marL="0" indent="0">
              <a:lnSpc>
                <a:spcPts val="750"/>
              </a:lnSpc>
              <a:buNone/>
              <a:defRPr sz="750" b="0"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p:txBody>
      </p:sp>
      <p:sp>
        <p:nvSpPr>
          <p:cNvPr id="40" name="Text Placeholder 12"/>
          <p:cNvSpPr>
            <a:spLocks noGrp="1"/>
          </p:cNvSpPr>
          <p:nvPr>
            <p:ph type="body" sz="quarter" idx="37"/>
          </p:nvPr>
        </p:nvSpPr>
        <p:spPr>
          <a:xfrm>
            <a:off x="5505450" y="2144554"/>
            <a:ext cx="32004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2" name="Text Placeholder 12"/>
          <p:cNvSpPr>
            <a:spLocks noGrp="1"/>
          </p:cNvSpPr>
          <p:nvPr>
            <p:ph type="body" sz="quarter" idx="39"/>
          </p:nvPr>
        </p:nvSpPr>
        <p:spPr>
          <a:xfrm>
            <a:off x="2067306" y="2144554"/>
            <a:ext cx="32004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4" name="Text Placeholder 16"/>
          <p:cNvSpPr>
            <a:spLocks noGrp="1"/>
          </p:cNvSpPr>
          <p:nvPr>
            <p:ph type="body" sz="quarter" idx="41"/>
          </p:nvPr>
        </p:nvSpPr>
        <p:spPr>
          <a:xfrm>
            <a:off x="2067306" y="2308860"/>
            <a:ext cx="32004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5505450" y="2308860"/>
            <a:ext cx="32004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067306" y="1295400"/>
            <a:ext cx="32004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NSimSun" pitchFamily="49" charset="-122"/>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48" name="Text Placeholder 19"/>
          <p:cNvSpPr>
            <a:spLocks noGrp="1"/>
          </p:cNvSpPr>
          <p:nvPr>
            <p:ph type="body" sz="quarter" idx="43"/>
          </p:nvPr>
        </p:nvSpPr>
        <p:spPr>
          <a:xfrm>
            <a:off x="5505450" y="1295400"/>
            <a:ext cx="32004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Arial" pitchFamily="34" charset="0"/>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Spin Offs</a:t>
            </a:r>
          </a:p>
        </p:txBody>
      </p:sp>
    </p:spTree>
    <p:extLst>
      <p:ext uri="{BB962C8B-B14F-4D97-AF65-F5344CB8AC3E}">
        <p14:creationId xmlns:p14="http://schemas.microsoft.com/office/powerpoint/2010/main" val="168833674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576987" y="2982769"/>
            <a:ext cx="1428461" cy="934604"/>
          </a:xfrm>
          <a:prstGeom prst="rect">
            <a:avLst/>
          </a:prstGeom>
        </p:spPr>
        <p:txBody>
          <a:bodyPr/>
          <a:lstStyle>
            <a:lvl1pPr marL="0" indent="0">
              <a:lnSpc>
                <a:spcPts val="750"/>
              </a:lnSpc>
              <a:buNone/>
              <a:defRPr sz="750" b="1"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576985" y="1589235"/>
            <a:ext cx="1069975"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467882" y="1246188"/>
            <a:ext cx="8188325" cy="228600"/>
          </a:xfrm>
          <a:prstGeom prst="rect">
            <a:avLst/>
          </a:prstGeom>
        </p:spPr>
        <p:txBody>
          <a:bodyPr/>
          <a:lstStyle>
            <a:lvl1pPr>
              <a:buFontTx/>
              <a:buNone/>
              <a:defRPr sz="9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197969"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197967" y="1589235"/>
            <a:ext cx="1069975" cy="1330325"/>
          </a:xfrm>
          <a:prstGeom prst="rect">
            <a:avLst/>
          </a:prstGeom>
        </p:spPr>
        <p:txBody>
          <a:bodyPr/>
          <a:lstStyle>
            <a:lvl1pPr>
              <a:buFont typeface="Wingdings 2" pitchFamily="18" charset="2"/>
              <a:buChar char=""/>
              <a:defRPr lang="en-US" sz="12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3850124"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3850124" y="1589235"/>
            <a:ext cx="1069975"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5491888"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5491886" y="1589235"/>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7144042"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7144042" y="1589235"/>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576987"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576985"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197969"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197967"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3850124"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3850124"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5491888"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5491886"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7144042"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7144042" y="3962402"/>
            <a:ext cx="1069975" cy="1330325"/>
          </a:xfrm>
          <a:prstGeom prst="rect">
            <a:avLst/>
          </a:prstGeom>
        </p:spPr>
        <p:txBody>
          <a:bodyPr/>
          <a:lstStyle>
            <a:lvl1pPr>
              <a:defRPr lang="en-US" sz="1200" kern="1200" noProof="0" dirty="0">
                <a:solidFill>
                  <a:schemeClr val="tx1"/>
                </a:solidFill>
                <a:latin typeface="+mn-lt"/>
                <a:ea typeface="+mn-ea"/>
                <a:cs typeface="+mn-cs"/>
              </a:defRPr>
            </a:lvl1pPr>
            <a:lvl2pPr>
              <a:defRPr lang="en-US" sz="12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Spin Offs</a:t>
            </a:r>
          </a:p>
        </p:txBody>
      </p:sp>
    </p:spTree>
    <p:extLst>
      <p:ext uri="{BB962C8B-B14F-4D97-AF65-F5344CB8AC3E}">
        <p14:creationId xmlns:p14="http://schemas.microsoft.com/office/powerpoint/2010/main" val="203279749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441325" y="1439863"/>
            <a:ext cx="8350250"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0" i="0" dirty="0">
                <a:solidFill>
                  <a:srgbClr val="C00000"/>
                </a:solidFill>
                <a:latin typeface="Calibri Regular" charset="0"/>
                <a:ea typeface="+mn-ea"/>
                <a:cs typeface="+mn-cs"/>
              </a:rPr>
              <a:t>PARTNERS</a:t>
            </a:r>
          </a:p>
        </p:txBody>
      </p:sp>
      <p:sp>
        <p:nvSpPr>
          <p:cNvPr id="11" name="Line 22"/>
          <p:cNvSpPr>
            <a:spLocks noChangeShapeType="1"/>
          </p:cNvSpPr>
          <p:nvPr/>
        </p:nvSpPr>
        <p:spPr bwMode="auto">
          <a:xfrm>
            <a:off x="438151" y="1897063"/>
            <a:ext cx="8353425"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2" name="Text Box 23"/>
          <p:cNvSpPr txBox="1">
            <a:spLocks noChangeArrowheads="1"/>
          </p:cNvSpPr>
          <p:nvPr/>
        </p:nvSpPr>
        <p:spPr bwMode="auto">
          <a:xfrm>
            <a:off x="441325" y="3268663"/>
            <a:ext cx="8350250"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0" i="0" dirty="0">
                <a:solidFill>
                  <a:srgbClr val="C00000"/>
                </a:solidFill>
                <a:latin typeface="Calibri Regular" charset="0"/>
                <a:ea typeface="+mn-ea"/>
                <a:cs typeface="+mn-cs"/>
              </a:rPr>
              <a:t>ASSOCIATES</a:t>
            </a:r>
          </a:p>
        </p:txBody>
      </p:sp>
      <p:sp>
        <p:nvSpPr>
          <p:cNvPr id="13" name="Line 24"/>
          <p:cNvSpPr>
            <a:spLocks noChangeShapeType="1"/>
          </p:cNvSpPr>
          <p:nvPr/>
        </p:nvSpPr>
        <p:spPr bwMode="auto">
          <a:xfrm>
            <a:off x="438151" y="3725863"/>
            <a:ext cx="8353425"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28" name="Text Placeholder 27"/>
          <p:cNvSpPr>
            <a:spLocks noGrp="1"/>
          </p:cNvSpPr>
          <p:nvPr>
            <p:ph type="body" sz="quarter" idx="10"/>
          </p:nvPr>
        </p:nvSpPr>
        <p:spPr>
          <a:xfrm>
            <a:off x="260858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2" name="Text Placeholder 31"/>
          <p:cNvSpPr>
            <a:spLocks noGrp="1"/>
          </p:cNvSpPr>
          <p:nvPr>
            <p:ph type="body" sz="quarter" idx="11"/>
          </p:nvPr>
        </p:nvSpPr>
        <p:spPr>
          <a:xfrm>
            <a:off x="477901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4" name="Text Placeholder 33"/>
          <p:cNvSpPr>
            <a:spLocks noGrp="1"/>
          </p:cNvSpPr>
          <p:nvPr>
            <p:ph type="body" sz="quarter" idx="12"/>
          </p:nvPr>
        </p:nvSpPr>
        <p:spPr>
          <a:xfrm>
            <a:off x="6949440"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7" name="Text Placeholder 16"/>
          <p:cNvSpPr>
            <a:spLocks noGrp="1"/>
          </p:cNvSpPr>
          <p:nvPr>
            <p:ph type="body" sz="quarter" idx="17"/>
          </p:nvPr>
        </p:nvSpPr>
        <p:spPr>
          <a:xfrm>
            <a:off x="1481328" y="3886200"/>
            <a:ext cx="29718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4724400" y="3886200"/>
            <a:ext cx="29718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481328" y="4800600"/>
            <a:ext cx="6217920" cy="54864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43815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Spin Offs</a:t>
            </a:r>
          </a:p>
        </p:txBody>
      </p:sp>
    </p:spTree>
    <p:extLst>
      <p:ext uri="{BB962C8B-B14F-4D97-AF65-F5344CB8AC3E}">
        <p14:creationId xmlns:p14="http://schemas.microsoft.com/office/powerpoint/2010/main" val="78771166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4508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4508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111456"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111456"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3772062"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3772062"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5432668"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5432668"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71056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71056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4508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4508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111456"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111456"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3772062"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3772062"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5432668"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5432668"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71056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71056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4508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4508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111456"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111456"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3772062"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3772062"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5432668"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5432668"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71056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71056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Spin Offs</a:t>
            </a:r>
          </a:p>
        </p:txBody>
      </p:sp>
    </p:spTree>
    <p:extLst>
      <p:ext uri="{BB962C8B-B14F-4D97-AF65-F5344CB8AC3E}">
        <p14:creationId xmlns:p14="http://schemas.microsoft.com/office/powerpoint/2010/main" val="153342653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4508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4508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111456"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111456"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3772062"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3772062"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5432668"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5432668"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71056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71056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4508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4508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4508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4508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111456"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111456"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111456"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111456"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3772062"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3772062"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3772062"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3772062"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5432668"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5432668"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5432668"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5432668"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71056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71056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71056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71056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Spin Offs</a:t>
            </a:r>
          </a:p>
        </p:txBody>
      </p:sp>
    </p:spTree>
    <p:extLst>
      <p:ext uri="{BB962C8B-B14F-4D97-AF65-F5344CB8AC3E}">
        <p14:creationId xmlns:p14="http://schemas.microsoft.com/office/powerpoint/2010/main" val="149022371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450850"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450850" y="46228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450850"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113838"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3776826"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5439814"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7102800"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113838"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113838"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u="none"/>
            </a:lvl1pPr>
            <a:lvl2pPr marL="0" indent="0">
              <a:lnSpc>
                <a:spcPct val="100000"/>
              </a:lnSpc>
              <a:spcBef>
                <a:spcPts val="0"/>
              </a:spcBef>
              <a:buNone/>
              <a:defRPr sz="525" b="0" i="0" u="none">
                <a:solidFill>
                  <a:srgbClr val="808080"/>
                </a:solidFill>
              </a:defRPr>
            </a:lvl2pPr>
            <a:lvl3pPr marL="0" indent="0">
              <a:lnSpc>
                <a:spcPct val="100000"/>
              </a:lnSpc>
              <a:spcBef>
                <a:spcPts val="75"/>
              </a:spcBef>
              <a:buNone/>
              <a:defRPr sz="525" b="0" i="0" u="none">
                <a:solidFill>
                  <a:srgbClr val="808080"/>
                </a:solidFill>
              </a:defRPr>
            </a:lvl3pPr>
            <a:lvl4pPr marL="0" indent="0">
              <a:lnSpc>
                <a:spcPct val="100000"/>
              </a:lnSpc>
              <a:spcBef>
                <a:spcPts val="75"/>
              </a:spcBef>
              <a:buNone/>
              <a:defRPr sz="525" b="0" i="0" u="none">
                <a:solidFill>
                  <a:srgbClr val="808080"/>
                </a:solidFill>
              </a:defRPr>
            </a:lvl4pPr>
            <a:lvl5pPr marL="0" indent="0">
              <a:lnSpc>
                <a:spcPct val="100000"/>
              </a:lnSpc>
              <a:spcBef>
                <a:spcPts val="75"/>
              </a:spcBef>
              <a:buNone/>
              <a:defRPr sz="525"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3776826"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3776826"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5439814"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5439814"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7102800"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7102800"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450850"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450850" y="6020181"/>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450850"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113838"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chemeClr val="tx1"/>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3776826"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5439814"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7102800"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113838"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113838"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3776826"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3776826"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5439814"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5439814"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7102800"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7102800"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Spin Offs</a:t>
            </a:r>
          </a:p>
        </p:txBody>
      </p:sp>
    </p:spTree>
    <p:extLst>
      <p:ext uri="{BB962C8B-B14F-4D97-AF65-F5344CB8AC3E}">
        <p14:creationId xmlns:p14="http://schemas.microsoft.com/office/powerpoint/2010/main" val="122979457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450850"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450850" y="462280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450850"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113838"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3776826"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5439814"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7102800"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113838"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113838"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3776826"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3776826"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5439814"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5439814"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7102800"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7102800"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450850" y="25123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113837"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3776824"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5439811"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7102800"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450850"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113837"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3776824"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5439811"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7102800"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450850"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113837"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3776824"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5439811"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7102800"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Spin Offs</a:t>
            </a:r>
          </a:p>
        </p:txBody>
      </p:sp>
    </p:spTree>
    <p:extLst>
      <p:ext uri="{BB962C8B-B14F-4D97-AF65-F5344CB8AC3E}">
        <p14:creationId xmlns:p14="http://schemas.microsoft.com/office/powerpoint/2010/main" val="85363109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450850"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450850"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450850"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113838"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3776826"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5439814"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7102800"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113838"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113838"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3776826"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3776826"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5439814"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5439814"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7102800"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7102800"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450850"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113837"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3776824"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5439811"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7102800"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450850"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113837"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3776824"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5439811"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7102800"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450850"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113837"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3776824"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5439811"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7102800"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Spin Offs</a:t>
            </a:r>
          </a:p>
        </p:txBody>
      </p:sp>
    </p:spTree>
    <p:extLst>
      <p:ext uri="{BB962C8B-B14F-4D97-AF65-F5344CB8AC3E}">
        <p14:creationId xmlns:p14="http://schemas.microsoft.com/office/powerpoint/2010/main" val="111914474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
            <a:ext cx="77724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685800" y="914400"/>
            <a:ext cx="77724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Spin Offs</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152827577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xAndTwoObj" preserve="1">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228600" y="152400"/>
            <a:ext cx="8458200" cy="609600"/>
          </a:xfrm>
          <a:prstGeom prst="rect">
            <a:avLst/>
          </a:prstGeom>
        </p:spPr>
        <p:txBody>
          <a:bodyPr/>
          <a:lstStyle/>
          <a:p>
            <a:r>
              <a:rPr lang="en-US"/>
              <a:t>Click to edit Master title style</a:t>
            </a:r>
          </a:p>
        </p:txBody>
      </p:sp>
      <p:sp>
        <p:nvSpPr>
          <p:cNvPr id="3" name="Text Placeholder 2"/>
          <p:cNvSpPr>
            <a:spLocks noGrp="1"/>
          </p:cNvSpPr>
          <p:nvPr>
            <p:ph type="body" sz="half" idx="1"/>
          </p:nvPr>
        </p:nvSpPr>
        <p:spPr>
          <a:xfrm>
            <a:off x="228600" y="838200"/>
            <a:ext cx="41529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4533900" y="838200"/>
            <a:ext cx="4152900" cy="26289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533900" y="3619500"/>
            <a:ext cx="4152900" cy="26289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10"/>
          </p:nvPr>
        </p:nvSpPr>
        <p:spPr/>
        <p:txBody>
          <a:bodyPr/>
          <a:lstStyle>
            <a:lvl1pPr>
              <a:defRPr/>
            </a:lvl1pPr>
          </a:lstStyle>
          <a:p>
            <a:pPr>
              <a:defRPr/>
            </a:pPr>
            <a:r>
              <a:rPr lang="en-US"/>
              <a:t>Spin Offs</a:t>
            </a:r>
          </a:p>
        </p:txBody>
      </p:sp>
      <p:sp>
        <p:nvSpPr>
          <p:cNvPr id="7" name="Slide Number Placeholder 6"/>
          <p:cNvSpPr>
            <a:spLocks noGrp="1"/>
          </p:cNvSpPr>
          <p:nvPr>
            <p:ph type="sldNum" sz="quarter" idx="11"/>
          </p:nvPr>
        </p:nvSpPr>
        <p:spPr/>
        <p:txBody>
          <a:bodyPr/>
          <a:lstStyle>
            <a:lvl1pPr>
              <a:defRPr/>
            </a:lvl1pPr>
          </a:lstStyle>
          <a:p>
            <a:fld id="{F2C4C756-7A50-674A-9077-94CB1A736BC0}" type="slidenum">
              <a:rPr lang="en-US" altLang="en-US"/>
              <a:pPr/>
              <a:t>‹#›</a:t>
            </a:fld>
            <a:endParaRPr lang="en-US" altLang="en-US"/>
          </a:p>
        </p:txBody>
      </p:sp>
    </p:spTree>
    <p:extLst>
      <p:ext uri="{BB962C8B-B14F-4D97-AF65-F5344CB8AC3E}">
        <p14:creationId xmlns:p14="http://schemas.microsoft.com/office/powerpoint/2010/main" val="1379617266"/>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itle, Text, and Content">
    <p:spTree>
      <p:nvGrpSpPr>
        <p:cNvPr id="1" name=""/>
        <p:cNvGrpSpPr/>
        <p:nvPr/>
      </p:nvGrpSpPr>
      <p:grpSpPr>
        <a:xfrm>
          <a:off x="0" y="0"/>
          <a:ext cx="0" cy="0"/>
          <a:chOff x="0" y="0"/>
          <a:chExt cx="0" cy="0"/>
        </a:xfrm>
      </p:grpSpPr>
      <p:sp>
        <p:nvSpPr>
          <p:cNvPr id="3" name="Text Placeholder 2"/>
          <p:cNvSpPr>
            <a:spLocks noGrp="1"/>
          </p:cNvSpPr>
          <p:nvPr>
            <p:ph type="body" sz="half" idx="1"/>
          </p:nvPr>
        </p:nvSpPr>
        <p:spPr>
          <a:xfrm>
            <a:off x="228600" y="838200"/>
            <a:ext cx="4152900" cy="5410200"/>
          </a:xfrm>
          <a:prstGeom prst="rect">
            <a:avLst/>
          </a:prstGeo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33900" y="838200"/>
            <a:ext cx="41529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6"/>
          <p:cNvSpPr>
            <a:spLocks noGrp="1"/>
          </p:cNvSpPr>
          <p:nvPr>
            <p:ph type="title"/>
          </p:nvPr>
        </p:nvSpPr>
        <p:spPr>
          <a:xfrm>
            <a:off x="228600" y="152400"/>
            <a:ext cx="8458200" cy="609600"/>
          </a:xfrm>
          <a:prstGeom prst="rect">
            <a:avLst/>
          </a:prstGeom>
        </p:spPr>
        <p:txBody>
          <a:bodyPr/>
          <a:lstStyle/>
          <a:p>
            <a:r>
              <a:rPr lang="en-US"/>
              <a:t>Click to edit Master title style</a:t>
            </a:r>
          </a:p>
        </p:txBody>
      </p:sp>
      <p:sp>
        <p:nvSpPr>
          <p:cNvPr id="5" name="Footer Placeholder 4"/>
          <p:cNvSpPr>
            <a:spLocks noGrp="1"/>
          </p:cNvSpPr>
          <p:nvPr>
            <p:ph type="ftr" sz="quarter" idx="10"/>
          </p:nvPr>
        </p:nvSpPr>
        <p:spPr/>
        <p:txBody>
          <a:bodyPr/>
          <a:lstStyle>
            <a:lvl1pPr>
              <a:defRPr/>
            </a:lvl1pPr>
          </a:lstStyle>
          <a:p>
            <a:pPr>
              <a:defRPr/>
            </a:pPr>
            <a:r>
              <a:rPr lang="en-US"/>
              <a:t>Spin Offs</a:t>
            </a:r>
          </a:p>
        </p:txBody>
      </p:sp>
      <p:sp>
        <p:nvSpPr>
          <p:cNvPr id="6" name="Slide Number Placeholder 5"/>
          <p:cNvSpPr>
            <a:spLocks noGrp="1"/>
          </p:cNvSpPr>
          <p:nvPr>
            <p:ph type="sldNum" sz="quarter" idx="11"/>
          </p:nvPr>
        </p:nvSpPr>
        <p:spPr/>
        <p:txBody>
          <a:bodyPr/>
          <a:lstStyle>
            <a:lvl1pPr>
              <a:defRPr/>
            </a:lvl1pPr>
          </a:lstStyle>
          <a:p>
            <a:fld id="{2DEAFEB1-6434-3F44-A249-27DCAE44D34B}" type="slidenum">
              <a:rPr lang="en-US" altLang="en-US"/>
              <a:pPr/>
              <a:t>‹#›</a:t>
            </a:fld>
            <a:endParaRPr lang="en-US" altLang="en-US"/>
          </a:p>
        </p:txBody>
      </p:sp>
    </p:spTree>
    <p:extLst>
      <p:ext uri="{BB962C8B-B14F-4D97-AF65-F5344CB8AC3E}">
        <p14:creationId xmlns:p14="http://schemas.microsoft.com/office/powerpoint/2010/main" val="140394369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228600" y="152400"/>
            <a:ext cx="8458200" cy="609600"/>
          </a:xfrm>
          <a:prstGeom prst="rect">
            <a:avLst/>
          </a:prstGeom>
        </p:spPr>
        <p:txBody>
          <a:bodyPr/>
          <a:lstStyle/>
          <a:p>
            <a:r>
              <a:rPr lang="en-US"/>
              <a:t>Click to edit Master title style</a:t>
            </a:r>
          </a:p>
        </p:txBody>
      </p:sp>
      <p:sp>
        <p:nvSpPr>
          <p:cNvPr id="3" name="Content Placeholder 2"/>
          <p:cNvSpPr>
            <a:spLocks noGrp="1"/>
          </p:cNvSpPr>
          <p:nvPr>
            <p:ph sz="half" idx="1"/>
          </p:nvPr>
        </p:nvSpPr>
        <p:spPr>
          <a:xfrm>
            <a:off x="228600" y="838200"/>
            <a:ext cx="4152900" cy="541020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533900" y="838200"/>
            <a:ext cx="4152900" cy="541020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ftr" sz="quarter" idx="10"/>
          </p:nvPr>
        </p:nvSpPr>
        <p:spPr>
          <a:ln/>
        </p:spPr>
        <p:txBody>
          <a:bodyPr/>
          <a:lstStyle>
            <a:lvl1pPr>
              <a:defRPr sz="900"/>
            </a:lvl1pPr>
          </a:lstStyle>
          <a:p>
            <a:pPr>
              <a:defRPr/>
            </a:pPr>
            <a:r>
              <a:rPr lang="en-US" sz="1000"/>
              <a:t>Spin Offs</a:t>
            </a:r>
            <a:endParaRPr lang="en-US"/>
          </a:p>
        </p:txBody>
      </p:sp>
      <p:sp>
        <p:nvSpPr>
          <p:cNvPr id="6" name="Rectangle 5"/>
          <p:cNvSpPr>
            <a:spLocks noGrp="1" noChangeArrowheads="1"/>
          </p:cNvSpPr>
          <p:nvPr>
            <p:ph type="sldNum" sz="quarter" idx="11"/>
          </p:nvPr>
        </p:nvSpPr>
        <p:spPr>
          <a:ln/>
        </p:spPr>
        <p:txBody>
          <a:bodyPr/>
          <a:lstStyle>
            <a:lvl1pPr>
              <a:defRPr/>
            </a:lvl1pPr>
          </a:lstStyle>
          <a:p>
            <a:pPr>
              <a:defRPr/>
            </a:pPr>
            <a:fld id="{36FDF985-A3BB-7C48-AC77-17E1D1A053CC}" type="slidenum">
              <a:rPr lang="en-US"/>
              <a:pPr>
                <a:defRPr/>
              </a:pPr>
              <a:t>‹#›</a:t>
            </a:fld>
            <a:endParaRPr lang="en-US"/>
          </a:p>
        </p:txBody>
      </p:sp>
    </p:spTree>
    <p:extLst>
      <p:ext uri="{BB962C8B-B14F-4D97-AF65-F5344CB8AC3E}">
        <p14:creationId xmlns:p14="http://schemas.microsoft.com/office/powerpoint/2010/main" val="117614301"/>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9144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350" b="0" i="0" dirty="0">
              <a:latin typeface="Calibri Regular" charset="0"/>
            </a:endParaRPr>
          </a:p>
        </p:txBody>
      </p:sp>
      <p:sp>
        <p:nvSpPr>
          <p:cNvPr id="10" name="Slide Number Placeholder 9"/>
          <p:cNvSpPr>
            <a:spLocks noGrp="1"/>
          </p:cNvSpPr>
          <p:nvPr>
            <p:ph type="sldNum" sz="quarter" idx="4"/>
          </p:nvPr>
        </p:nvSpPr>
        <p:spPr>
          <a:xfrm>
            <a:off x="8610600" y="6436635"/>
            <a:ext cx="457200" cy="365125"/>
          </a:xfrm>
          <a:prstGeom prst="rect">
            <a:avLst/>
          </a:prstGeom>
        </p:spPr>
        <p:txBody>
          <a:bodyPr vert="horz" wrap="square" lIns="91440" tIns="45720" rIns="91440" bIns="45720" numCol="1" anchor="ctr" anchorCtr="0" compatLnSpc="1">
            <a:prstTxWarp prst="textNoShape">
              <a:avLst/>
            </a:prstTxWarp>
          </a:bodyPr>
          <a:lstStyle>
            <a:lvl1pPr>
              <a:defRPr sz="6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3124200" y="6442488"/>
            <a:ext cx="2895600" cy="365125"/>
          </a:xfrm>
          <a:prstGeom prst="rect">
            <a:avLst/>
          </a:prstGeom>
        </p:spPr>
        <p:txBody>
          <a:bodyPr vert="horz" wrap="square" lIns="91440" tIns="45720" rIns="91440" bIns="45720" numCol="1" anchor="ctr" anchorCtr="0" compatLnSpc="1">
            <a:prstTxWarp prst="textNoShape">
              <a:avLst/>
            </a:prstTxWarp>
          </a:bodyPr>
          <a:lstStyle>
            <a:lvl1pPr algn="ctr">
              <a:defRPr sz="1000" b="1" smtClean="0">
                <a:solidFill>
                  <a:srgbClr val="898989"/>
                </a:solidFill>
                <a:latin typeface="+mn-lt"/>
                <a:ea typeface="+mn-ea"/>
              </a:defRPr>
            </a:lvl1pPr>
          </a:lstStyle>
          <a:p>
            <a:pPr>
              <a:defRPr/>
            </a:pPr>
            <a:r>
              <a:rPr lang="en-US" dirty="0"/>
              <a:t>Spin Offs</a:t>
            </a:r>
          </a:p>
        </p:txBody>
      </p:sp>
      <p:sp>
        <p:nvSpPr>
          <p:cNvPr id="9" name="Footer Placeholder 3"/>
          <p:cNvSpPr txBox="1">
            <a:spLocks/>
          </p:cNvSpPr>
          <p:nvPr userDrawn="1"/>
        </p:nvSpPr>
        <p:spPr>
          <a:xfrm>
            <a:off x="72409" y="6423029"/>
            <a:ext cx="2362200" cy="365125"/>
          </a:xfrm>
          <a:prstGeom prst="rect">
            <a:avLst/>
          </a:prstGeom>
        </p:spPr>
        <p:txBody>
          <a:bodyPr vert="horz" wrap="square" lIns="68580" tIns="34290" rIns="68580" bIns="3429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600" b="0" i="0" dirty="0">
                <a:latin typeface="+mn-lt"/>
                <a:cs typeface="Calibri Regular" charset="0"/>
              </a:rPr>
              <a:t>CT</a:t>
            </a:r>
            <a:r>
              <a:rPr lang="en-US" sz="600" b="0" i="0" baseline="0" dirty="0">
                <a:latin typeface="+mn-lt"/>
                <a:cs typeface="Calibri Regular" charset="0"/>
              </a:rPr>
              <a:t>_Spinoffs_23S</a:t>
            </a:r>
            <a:endParaRPr lang="en-US" sz="600" b="0" i="0" dirty="0">
              <a:latin typeface="+mn-lt"/>
              <a:cs typeface="Calibri Regular" charset="0"/>
            </a:endParaRPr>
          </a:p>
        </p:txBody>
      </p:sp>
    </p:spTree>
    <p:extLst>
      <p:ext uri="{BB962C8B-B14F-4D97-AF65-F5344CB8AC3E}">
        <p14:creationId xmlns:p14="http://schemas.microsoft.com/office/powerpoint/2010/main" val="528247482"/>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 id="2147483676" r:id="rId14"/>
    <p:sldLayoutId id="2147483677" r:id="rId15"/>
    <p:sldLayoutId id="2147483678" r:id="rId16"/>
    <p:sldLayoutId id="2147483679" r:id="rId17"/>
    <p:sldLayoutId id="2147483680" r:id="rId18"/>
    <p:sldLayoutId id="2147483681" r:id="rId19"/>
    <p:sldLayoutId id="2147483682" r:id="rId20"/>
    <p:sldLayoutId id="2147483683" r:id="rId21"/>
    <p:sldLayoutId id="2147483684" r:id="rId22"/>
    <p:sldLayoutId id="2147483685" r:id="rId23"/>
    <p:sldLayoutId id="2147483686" r:id="rId24"/>
    <p:sldLayoutId id="2147483687" r:id="rId25"/>
    <p:sldLayoutId id="2147483688" r:id="rId26"/>
    <p:sldLayoutId id="2147483689" r:id="rId27"/>
    <p:sldLayoutId id="2147483690" r:id="rId28"/>
    <p:sldLayoutId id="2147483691" r:id="rId29"/>
    <p:sldLayoutId id="2147483692" r:id="rId30"/>
    <p:sldLayoutId id="2147483693" r:id="rId31"/>
    <p:sldLayoutId id="2147483694" r:id="rId32"/>
    <p:sldLayoutId id="2147483695" r:id="rId33"/>
    <p:sldLayoutId id="2147483696" r:id="rId34"/>
    <p:sldLayoutId id="2147483697" r:id="rId35"/>
    <p:sldLayoutId id="2147483698" r:id="rId36"/>
    <p:sldLayoutId id="2147483699" r:id="rId37"/>
    <p:sldLayoutId id="2147483700" r:id="rId38"/>
    <p:sldLayoutId id="2147483701" r:id="rId39"/>
    <p:sldLayoutId id="2147483702" r:id="rId40"/>
    <p:sldLayoutId id="2147483703" r:id="rId41"/>
    <p:sldLayoutId id="2147483704" r:id="rId42"/>
    <p:sldLayoutId id="2147483705" r:id="rId43"/>
    <p:sldLayoutId id="2147483706" r:id="rId44"/>
    <p:sldLayoutId id="2147483707" r:id="rId45"/>
    <p:sldLayoutId id="2147483708" r:id="rId46"/>
    <p:sldLayoutId id="2147483709" r:id="rId47"/>
    <p:sldLayoutId id="2147483710" r:id="rId48"/>
    <p:sldLayoutId id="2147483711" r:id="rId49"/>
    <p:sldLayoutId id="2147483712" r:id="rId50"/>
    <p:sldLayoutId id="2147483713" r:id="rId51"/>
    <p:sldLayoutId id="2147483714" r:id="rId52"/>
    <p:sldLayoutId id="2147483715" r:id="rId53"/>
    <p:sldLayoutId id="2147483716" r:id="rId54"/>
    <p:sldLayoutId id="2147483717" r:id="rId55"/>
    <p:sldLayoutId id="2147483718" r:id="rId56"/>
    <p:sldLayoutId id="2147483719" r:id="rId57"/>
    <p:sldLayoutId id="2147483720" r:id="rId58"/>
  </p:sldLayoutIdLst>
  <p:hf hdr="0" dt="0"/>
  <p:txStyles>
    <p:titleStyle>
      <a:lvl1pPr algn="ctr" rtl="0" eaLnBrk="1" fontAlgn="base" hangingPunct="1">
        <a:spcBef>
          <a:spcPct val="0"/>
        </a:spcBef>
        <a:spcAft>
          <a:spcPct val="0"/>
        </a:spcAft>
        <a:defRPr sz="3300" kern="1200">
          <a:solidFill>
            <a:schemeClr val="tx1"/>
          </a:solidFill>
          <a:latin typeface="+mj-lt"/>
          <a:ea typeface="+mj-ea"/>
          <a:cs typeface="+mj-cs"/>
        </a:defRPr>
      </a:lvl1pPr>
      <a:lvl2pPr algn="ctr" rtl="0" eaLnBrk="1" fontAlgn="base" hangingPunct="1">
        <a:spcBef>
          <a:spcPct val="0"/>
        </a:spcBef>
        <a:spcAft>
          <a:spcPct val="0"/>
        </a:spcAft>
        <a:defRPr sz="3300">
          <a:solidFill>
            <a:schemeClr val="tx1"/>
          </a:solidFill>
          <a:latin typeface="Arial" charset="0"/>
        </a:defRPr>
      </a:lvl2pPr>
      <a:lvl3pPr algn="ctr" rtl="0" eaLnBrk="1" fontAlgn="base" hangingPunct="1">
        <a:spcBef>
          <a:spcPct val="0"/>
        </a:spcBef>
        <a:spcAft>
          <a:spcPct val="0"/>
        </a:spcAft>
        <a:defRPr sz="3300">
          <a:solidFill>
            <a:schemeClr val="tx1"/>
          </a:solidFill>
          <a:latin typeface="Arial" charset="0"/>
        </a:defRPr>
      </a:lvl3pPr>
      <a:lvl4pPr algn="ctr" rtl="0" eaLnBrk="1" fontAlgn="base" hangingPunct="1">
        <a:spcBef>
          <a:spcPct val="0"/>
        </a:spcBef>
        <a:spcAft>
          <a:spcPct val="0"/>
        </a:spcAft>
        <a:defRPr sz="3300">
          <a:solidFill>
            <a:schemeClr val="tx1"/>
          </a:solidFill>
          <a:latin typeface="Arial" charset="0"/>
        </a:defRPr>
      </a:lvl4pPr>
      <a:lvl5pPr algn="ctr" rtl="0" eaLnBrk="1" fontAlgn="base" hangingPunct="1">
        <a:spcBef>
          <a:spcPct val="0"/>
        </a:spcBef>
        <a:spcAft>
          <a:spcPct val="0"/>
        </a:spcAft>
        <a:defRPr sz="3300">
          <a:solidFill>
            <a:schemeClr val="tx1"/>
          </a:solidFill>
          <a:latin typeface="Arial" charset="0"/>
        </a:defRPr>
      </a:lvl5pPr>
      <a:lvl6pPr marL="342900" algn="ctr" rtl="0" eaLnBrk="1" fontAlgn="base" hangingPunct="1">
        <a:spcBef>
          <a:spcPct val="0"/>
        </a:spcBef>
        <a:spcAft>
          <a:spcPct val="0"/>
        </a:spcAft>
        <a:defRPr sz="3300">
          <a:solidFill>
            <a:schemeClr val="tx1"/>
          </a:solidFill>
          <a:latin typeface="Arial" charset="0"/>
        </a:defRPr>
      </a:lvl6pPr>
      <a:lvl7pPr marL="685800" algn="ctr" rtl="0" eaLnBrk="1" fontAlgn="base" hangingPunct="1">
        <a:spcBef>
          <a:spcPct val="0"/>
        </a:spcBef>
        <a:spcAft>
          <a:spcPct val="0"/>
        </a:spcAft>
        <a:defRPr sz="3300">
          <a:solidFill>
            <a:schemeClr val="tx1"/>
          </a:solidFill>
          <a:latin typeface="Arial" charset="0"/>
        </a:defRPr>
      </a:lvl7pPr>
      <a:lvl8pPr marL="1028700" algn="ctr" rtl="0" eaLnBrk="1" fontAlgn="base" hangingPunct="1">
        <a:spcBef>
          <a:spcPct val="0"/>
        </a:spcBef>
        <a:spcAft>
          <a:spcPct val="0"/>
        </a:spcAft>
        <a:defRPr sz="3300">
          <a:solidFill>
            <a:schemeClr val="tx1"/>
          </a:solidFill>
          <a:latin typeface="Arial" charset="0"/>
        </a:defRPr>
      </a:lvl8pPr>
      <a:lvl9pPr marL="1371600" algn="ctr" rtl="0" eaLnBrk="1" fontAlgn="base" hangingPunct="1">
        <a:spcBef>
          <a:spcPct val="0"/>
        </a:spcBef>
        <a:spcAft>
          <a:spcPct val="0"/>
        </a:spcAft>
        <a:defRPr sz="3300">
          <a:solidFill>
            <a:schemeClr val="tx1"/>
          </a:solidFill>
          <a:latin typeface="Arial" charset="0"/>
        </a:defRPr>
      </a:lvl9pPr>
    </p:titleStyle>
    <p:bodyStyle>
      <a:lvl1pPr marL="257175" indent="-257175"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1pPr>
      <a:lvl2pPr marL="557213" indent="-214313" algn="l" rtl="0" eaLnBrk="1" fontAlgn="base" hangingPunct="1">
        <a:spcBef>
          <a:spcPct val="20000"/>
        </a:spcBef>
        <a:spcAft>
          <a:spcPct val="0"/>
        </a:spcAft>
        <a:buFont typeface="Arial" charset="0"/>
        <a:buChar char="–"/>
        <a:defRPr sz="2100" kern="1200">
          <a:solidFill>
            <a:schemeClr val="tx1"/>
          </a:solidFill>
          <a:latin typeface="+mn-lt"/>
          <a:ea typeface="+mn-ea"/>
          <a:cs typeface="+mn-cs"/>
        </a:defRPr>
      </a:lvl2pPr>
      <a:lvl3pPr marL="857250" indent="-171450" algn="l" rtl="0" eaLnBrk="1" fontAlgn="base" hangingPunct="1">
        <a:spcBef>
          <a:spcPct val="20000"/>
        </a:spcBef>
        <a:spcAft>
          <a:spcPct val="0"/>
        </a:spcAft>
        <a:buFont typeface="Arial" charset="0"/>
        <a:buChar char="•"/>
        <a:defRPr sz="1800" kern="1200">
          <a:solidFill>
            <a:schemeClr val="tx1"/>
          </a:solidFill>
          <a:latin typeface="+mn-lt"/>
          <a:ea typeface="+mn-ea"/>
          <a:cs typeface="+mn-cs"/>
        </a:defRPr>
      </a:lvl3pPr>
      <a:lvl4pPr marL="1200150" indent="-171450" algn="l" rtl="0" eaLnBrk="1" fontAlgn="base" hangingPunct="1">
        <a:spcBef>
          <a:spcPct val="20000"/>
        </a:spcBef>
        <a:spcAft>
          <a:spcPct val="0"/>
        </a:spcAft>
        <a:buFont typeface="Arial" charset="0"/>
        <a:buChar char="–"/>
        <a:defRPr sz="1500" kern="1200">
          <a:solidFill>
            <a:schemeClr val="tx1"/>
          </a:solidFill>
          <a:latin typeface="+mn-lt"/>
          <a:ea typeface="+mn-ea"/>
          <a:cs typeface="+mn-cs"/>
        </a:defRPr>
      </a:lvl4pPr>
      <a:lvl5pPr marL="1543050" indent="-171450" algn="l" rtl="0" eaLnBrk="1" fontAlgn="base" hangingPunct="1">
        <a:spcBef>
          <a:spcPct val="20000"/>
        </a:spcBef>
        <a:spcAft>
          <a:spcPct val="0"/>
        </a:spcAft>
        <a:buFont typeface="Arial"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Divisive Reorganizations:  Spin-offs, Split-offs, and Split-ups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a:t>
            </a:fld>
            <a:endParaRPr lang="en-US" altLang="en-US" dirty="0"/>
          </a:p>
        </p:txBody>
      </p:sp>
      <p:sp>
        <p:nvSpPr>
          <p:cNvPr id="5" name="Footer Placeholder 4"/>
          <p:cNvSpPr>
            <a:spLocks noGrp="1"/>
          </p:cNvSpPr>
          <p:nvPr>
            <p:ph type="ftr" sz="quarter" idx="11"/>
          </p:nvPr>
        </p:nvSpPr>
        <p:spPr/>
        <p:txBody>
          <a:bodyPr/>
          <a:lstStyle/>
          <a:p>
            <a:pPr>
              <a:defRPr/>
            </a:pPr>
            <a:r>
              <a:rPr lang="en-US"/>
              <a:t>Spin Offs</a:t>
            </a:r>
            <a:endParaRPr lang="en-US" dirty="0"/>
          </a:p>
        </p:txBody>
      </p:sp>
      <p:sp>
        <p:nvSpPr>
          <p:cNvPr id="6" name="Rectangle 4"/>
          <p:cNvSpPr>
            <a:spLocks noChangeArrowheads="1"/>
          </p:cNvSpPr>
          <p:nvPr/>
        </p:nvSpPr>
        <p:spPr bwMode="auto">
          <a:xfrm>
            <a:off x="1235242" y="1676400"/>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9" name="Oval 8"/>
          <p:cNvSpPr>
            <a:spLocks noChangeArrowheads="1"/>
          </p:cNvSpPr>
          <p:nvPr/>
        </p:nvSpPr>
        <p:spPr bwMode="auto">
          <a:xfrm>
            <a:off x="766605" y="3051893"/>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X</a:t>
            </a:r>
            <a:endParaRPr lang="en-US" altLang="en-US" sz="1800" dirty="0">
              <a:latin typeface="Calibri" panose="020F0502020204030204" pitchFamily="34" charset="0"/>
            </a:endParaRPr>
          </a:p>
        </p:txBody>
      </p:sp>
      <p:sp>
        <p:nvSpPr>
          <p:cNvPr id="10" name="Oval 9"/>
          <p:cNvSpPr>
            <a:spLocks noChangeArrowheads="1"/>
          </p:cNvSpPr>
          <p:nvPr/>
        </p:nvSpPr>
        <p:spPr bwMode="auto">
          <a:xfrm>
            <a:off x="1187730" y="987484"/>
            <a:ext cx="807522" cy="384116"/>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11" name="AutoShape 14"/>
          <p:cNvCxnSpPr>
            <a:cxnSpLocks noChangeShapeType="1"/>
            <a:stCxn id="10" idx="4"/>
            <a:endCxn id="6" idx="0"/>
          </p:cNvCxnSpPr>
          <p:nvPr/>
        </p:nvCxnSpPr>
        <p:spPr bwMode="auto">
          <a:xfrm flipH="1">
            <a:off x="1585168" y="1371600"/>
            <a:ext cx="6323" cy="304800"/>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3" name="AutoShape 14"/>
          <p:cNvCxnSpPr>
            <a:cxnSpLocks noChangeShapeType="1"/>
            <a:stCxn id="6" idx="2"/>
            <a:endCxn id="9" idx="0"/>
          </p:cNvCxnSpPr>
          <p:nvPr/>
        </p:nvCxnSpPr>
        <p:spPr bwMode="auto">
          <a:xfrm flipH="1">
            <a:off x="1170366" y="2334884"/>
            <a:ext cx="414802" cy="717009"/>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0" name="Oval 19"/>
          <p:cNvSpPr>
            <a:spLocks noChangeArrowheads="1"/>
          </p:cNvSpPr>
          <p:nvPr/>
        </p:nvSpPr>
        <p:spPr bwMode="auto">
          <a:xfrm>
            <a:off x="1645322" y="3043711"/>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Y</a:t>
            </a:r>
            <a:endParaRPr lang="en-US" altLang="en-US" sz="1800" dirty="0">
              <a:latin typeface="Calibri" panose="020F0502020204030204" pitchFamily="34" charset="0"/>
            </a:endParaRPr>
          </a:p>
        </p:txBody>
      </p:sp>
      <p:cxnSp>
        <p:nvCxnSpPr>
          <p:cNvPr id="21" name="AutoShape 14"/>
          <p:cNvCxnSpPr>
            <a:cxnSpLocks noChangeShapeType="1"/>
            <a:stCxn id="6" idx="2"/>
            <a:endCxn id="20" idx="0"/>
          </p:cNvCxnSpPr>
          <p:nvPr/>
        </p:nvCxnSpPr>
        <p:spPr bwMode="auto">
          <a:xfrm>
            <a:off x="1585168" y="2334884"/>
            <a:ext cx="463915" cy="708827"/>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3" name="Rectangle 4"/>
          <p:cNvSpPr>
            <a:spLocks noChangeArrowheads="1"/>
          </p:cNvSpPr>
          <p:nvPr/>
        </p:nvSpPr>
        <p:spPr bwMode="auto">
          <a:xfrm>
            <a:off x="6809633" y="1774410"/>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24" name="Oval 23"/>
          <p:cNvSpPr>
            <a:spLocks noChangeArrowheads="1"/>
          </p:cNvSpPr>
          <p:nvPr/>
        </p:nvSpPr>
        <p:spPr bwMode="auto">
          <a:xfrm>
            <a:off x="6752986" y="2783505"/>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X</a:t>
            </a:r>
            <a:endParaRPr lang="en-US" altLang="en-US" sz="1800" dirty="0">
              <a:latin typeface="Calibri" panose="020F0502020204030204" pitchFamily="34" charset="0"/>
            </a:endParaRPr>
          </a:p>
        </p:txBody>
      </p:sp>
      <p:sp>
        <p:nvSpPr>
          <p:cNvPr id="25" name="Oval 24"/>
          <p:cNvSpPr>
            <a:spLocks noChangeArrowheads="1"/>
          </p:cNvSpPr>
          <p:nvPr/>
        </p:nvSpPr>
        <p:spPr bwMode="auto">
          <a:xfrm>
            <a:off x="7259787" y="987484"/>
            <a:ext cx="838201" cy="31075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26" name="AutoShape 14"/>
          <p:cNvCxnSpPr>
            <a:cxnSpLocks noChangeShapeType="1"/>
            <a:stCxn id="25" idx="4"/>
            <a:endCxn id="23" idx="0"/>
          </p:cNvCxnSpPr>
          <p:nvPr/>
        </p:nvCxnSpPr>
        <p:spPr bwMode="auto">
          <a:xfrm flipH="1">
            <a:off x="7159559" y="1298234"/>
            <a:ext cx="519329" cy="47617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27" name="AutoShape 14"/>
          <p:cNvCxnSpPr>
            <a:cxnSpLocks noChangeShapeType="1"/>
            <a:stCxn id="23" idx="2"/>
            <a:endCxn id="24" idx="0"/>
          </p:cNvCxnSpPr>
          <p:nvPr/>
        </p:nvCxnSpPr>
        <p:spPr bwMode="auto">
          <a:xfrm flipH="1">
            <a:off x="7156747" y="2432894"/>
            <a:ext cx="2812" cy="350611"/>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0" name="Rectangle 4"/>
          <p:cNvSpPr>
            <a:spLocks noChangeArrowheads="1"/>
          </p:cNvSpPr>
          <p:nvPr/>
        </p:nvSpPr>
        <p:spPr bwMode="auto">
          <a:xfrm>
            <a:off x="4074331" y="1567139"/>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31" name="Oval 30"/>
          <p:cNvSpPr>
            <a:spLocks noChangeArrowheads="1"/>
          </p:cNvSpPr>
          <p:nvPr/>
        </p:nvSpPr>
        <p:spPr bwMode="auto">
          <a:xfrm>
            <a:off x="3430935" y="2714469"/>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X</a:t>
            </a:r>
            <a:endParaRPr lang="en-US" altLang="en-US" sz="1800" dirty="0">
              <a:latin typeface="Calibri" panose="020F0502020204030204" pitchFamily="34" charset="0"/>
            </a:endParaRPr>
          </a:p>
        </p:txBody>
      </p:sp>
      <p:sp>
        <p:nvSpPr>
          <p:cNvPr id="32" name="Oval 31"/>
          <p:cNvSpPr>
            <a:spLocks noChangeArrowheads="1"/>
          </p:cNvSpPr>
          <p:nvPr/>
        </p:nvSpPr>
        <p:spPr bwMode="auto">
          <a:xfrm>
            <a:off x="4007921" y="987484"/>
            <a:ext cx="838201" cy="31075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33" name="AutoShape 14"/>
          <p:cNvCxnSpPr>
            <a:cxnSpLocks noChangeShapeType="1"/>
            <a:stCxn id="32" idx="4"/>
            <a:endCxn id="30" idx="0"/>
          </p:cNvCxnSpPr>
          <p:nvPr/>
        </p:nvCxnSpPr>
        <p:spPr bwMode="auto">
          <a:xfrm flipH="1">
            <a:off x="4424257" y="1298234"/>
            <a:ext cx="2765" cy="26890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34" name="AutoShape 14"/>
          <p:cNvCxnSpPr>
            <a:cxnSpLocks noChangeShapeType="1"/>
            <a:stCxn id="30" idx="2"/>
            <a:endCxn id="31" idx="0"/>
          </p:cNvCxnSpPr>
          <p:nvPr/>
        </p:nvCxnSpPr>
        <p:spPr bwMode="auto">
          <a:xfrm flipH="1">
            <a:off x="3834696" y="2225623"/>
            <a:ext cx="589561" cy="48884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35" name="Oval 34"/>
          <p:cNvSpPr>
            <a:spLocks noChangeArrowheads="1"/>
          </p:cNvSpPr>
          <p:nvPr/>
        </p:nvSpPr>
        <p:spPr bwMode="auto">
          <a:xfrm>
            <a:off x="4270336" y="3480082"/>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Y</a:t>
            </a:r>
            <a:endParaRPr lang="en-US" altLang="en-US" sz="1800" dirty="0">
              <a:latin typeface="Calibri" panose="020F0502020204030204" pitchFamily="34" charset="0"/>
            </a:endParaRPr>
          </a:p>
        </p:txBody>
      </p:sp>
      <p:cxnSp>
        <p:nvCxnSpPr>
          <p:cNvPr id="36" name="AutoShape 14"/>
          <p:cNvCxnSpPr>
            <a:cxnSpLocks noChangeShapeType="1"/>
            <a:stCxn id="30" idx="2"/>
            <a:endCxn id="64" idx="0"/>
          </p:cNvCxnSpPr>
          <p:nvPr/>
        </p:nvCxnSpPr>
        <p:spPr bwMode="auto">
          <a:xfrm>
            <a:off x="4424257" y="2225623"/>
            <a:ext cx="248852" cy="378359"/>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64" name="Rectangle 4"/>
          <p:cNvSpPr>
            <a:spLocks noChangeArrowheads="1"/>
          </p:cNvSpPr>
          <p:nvPr/>
        </p:nvSpPr>
        <p:spPr bwMode="auto">
          <a:xfrm>
            <a:off x="4343399" y="2603982"/>
            <a:ext cx="659419" cy="599293"/>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a:t>
            </a:r>
          </a:p>
        </p:txBody>
      </p:sp>
      <p:cxnSp>
        <p:nvCxnSpPr>
          <p:cNvPr id="67" name="AutoShape 14"/>
          <p:cNvCxnSpPr>
            <a:cxnSpLocks noChangeShapeType="1"/>
            <a:stCxn id="64" idx="2"/>
            <a:endCxn id="35" idx="0"/>
          </p:cNvCxnSpPr>
          <p:nvPr/>
        </p:nvCxnSpPr>
        <p:spPr bwMode="auto">
          <a:xfrm>
            <a:off x="4673109" y="3203275"/>
            <a:ext cx="988" cy="276807"/>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76" name="AutoShape 14"/>
          <p:cNvCxnSpPr>
            <a:cxnSpLocks noChangeShapeType="1"/>
            <a:stCxn id="25" idx="4"/>
            <a:endCxn id="78" idx="0"/>
          </p:cNvCxnSpPr>
          <p:nvPr/>
        </p:nvCxnSpPr>
        <p:spPr bwMode="auto">
          <a:xfrm>
            <a:off x="7678888" y="1298234"/>
            <a:ext cx="618098" cy="470207"/>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77" name="Oval 76"/>
          <p:cNvSpPr>
            <a:spLocks noChangeArrowheads="1"/>
          </p:cNvSpPr>
          <p:nvPr/>
        </p:nvSpPr>
        <p:spPr bwMode="auto">
          <a:xfrm>
            <a:off x="7893225" y="2784917"/>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Y</a:t>
            </a:r>
            <a:endParaRPr lang="en-US" altLang="en-US" sz="1800" dirty="0">
              <a:latin typeface="Calibri" panose="020F0502020204030204" pitchFamily="34" charset="0"/>
            </a:endParaRPr>
          </a:p>
        </p:txBody>
      </p:sp>
      <p:sp>
        <p:nvSpPr>
          <p:cNvPr id="78" name="Rectangle 4"/>
          <p:cNvSpPr>
            <a:spLocks noChangeArrowheads="1"/>
          </p:cNvSpPr>
          <p:nvPr/>
        </p:nvSpPr>
        <p:spPr bwMode="auto">
          <a:xfrm>
            <a:off x="7947060" y="1768441"/>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a:t>
            </a:r>
          </a:p>
        </p:txBody>
      </p:sp>
      <p:cxnSp>
        <p:nvCxnSpPr>
          <p:cNvPr id="79" name="AutoShape 14"/>
          <p:cNvCxnSpPr>
            <a:cxnSpLocks noChangeShapeType="1"/>
            <a:stCxn id="78" idx="2"/>
            <a:endCxn id="77" idx="0"/>
          </p:cNvCxnSpPr>
          <p:nvPr/>
        </p:nvCxnSpPr>
        <p:spPr bwMode="auto">
          <a:xfrm>
            <a:off x="8296986" y="2426925"/>
            <a:ext cx="0" cy="35799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91" name="Straight Connector 90"/>
          <p:cNvCxnSpPr/>
          <p:nvPr/>
        </p:nvCxnSpPr>
        <p:spPr>
          <a:xfrm>
            <a:off x="642999" y="3962400"/>
            <a:ext cx="8393416" cy="0"/>
          </a:xfrm>
          <a:prstGeom prst="line">
            <a:avLst/>
          </a:prstGeom>
        </p:spPr>
        <p:style>
          <a:lnRef idx="1">
            <a:schemeClr val="accent1"/>
          </a:lnRef>
          <a:fillRef idx="0">
            <a:schemeClr val="accent1"/>
          </a:fillRef>
          <a:effectRef idx="0">
            <a:schemeClr val="accent1"/>
          </a:effectRef>
          <a:fontRef idx="minor">
            <a:schemeClr val="tx1"/>
          </a:fontRef>
        </p:style>
      </p:cxnSp>
      <p:sp>
        <p:nvSpPr>
          <p:cNvPr id="92" name="Rectangle 4"/>
          <p:cNvSpPr>
            <a:spLocks noChangeArrowheads="1"/>
          </p:cNvSpPr>
          <p:nvPr/>
        </p:nvSpPr>
        <p:spPr bwMode="auto">
          <a:xfrm>
            <a:off x="1301589" y="4968899"/>
            <a:ext cx="545075" cy="360283"/>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cxnSp>
        <p:nvCxnSpPr>
          <p:cNvPr id="94" name="Elbow Connector 93"/>
          <p:cNvCxnSpPr>
            <a:stCxn id="30" idx="3"/>
            <a:endCxn id="35" idx="6"/>
          </p:cNvCxnSpPr>
          <p:nvPr/>
        </p:nvCxnSpPr>
        <p:spPr>
          <a:xfrm>
            <a:off x="4774183" y="1896381"/>
            <a:ext cx="303675" cy="1748322"/>
          </a:xfrm>
          <a:prstGeom prst="bentConnector3">
            <a:avLst>
              <a:gd name="adj1" fmla="val 175278"/>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Elbow Connector 95"/>
          <p:cNvCxnSpPr>
            <a:endCxn id="32" idx="6"/>
          </p:cNvCxnSpPr>
          <p:nvPr/>
        </p:nvCxnSpPr>
        <p:spPr>
          <a:xfrm rot="5400000" flipH="1" flipV="1">
            <a:off x="4525181" y="1405246"/>
            <a:ext cx="583327" cy="58555"/>
          </a:xfrm>
          <a:prstGeom prst="bentConnector4">
            <a:avLst>
              <a:gd name="adj1" fmla="val -2774"/>
              <a:gd name="adj2" fmla="val 883460"/>
            </a:avLst>
          </a:prstGeom>
          <a:ln>
            <a:tailEnd type="triangle"/>
          </a:ln>
        </p:spPr>
        <p:style>
          <a:lnRef idx="1">
            <a:schemeClr val="accent1"/>
          </a:lnRef>
          <a:fillRef idx="0">
            <a:schemeClr val="accent1"/>
          </a:fillRef>
          <a:effectRef idx="0">
            <a:schemeClr val="accent1"/>
          </a:effectRef>
          <a:fontRef idx="minor">
            <a:schemeClr val="tx1"/>
          </a:fontRef>
        </p:style>
      </p:cxnSp>
      <p:sp>
        <p:nvSpPr>
          <p:cNvPr id="100" name="Oval 99"/>
          <p:cNvSpPr/>
          <p:nvPr/>
        </p:nvSpPr>
        <p:spPr>
          <a:xfrm>
            <a:off x="5347709" y="2434347"/>
            <a:ext cx="304800" cy="34361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1</a:t>
            </a:r>
          </a:p>
        </p:txBody>
      </p:sp>
      <p:sp>
        <p:nvSpPr>
          <p:cNvPr id="116" name="TextBox 115"/>
          <p:cNvSpPr txBox="1"/>
          <p:nvPr/>
        </p:nvSpPr>
        <p:spPr>
          <a:xfrm>
            <a:off x="3911937" y="531818"/>
            <a:ext cx="1024639" cy="400110"/>
          </a:xfrm>
          <a:prstGeom prst="rect">
            <a:avLst/>
          </a:prstGeom>
          <a:noFill/>
        </p:spPr>
        <p:txBody>
          <a:bodyPr wrap="none" rtlCol="0">
            <a:spAutoFit/>
          </a:bodyPr>
          <a:lstStyle/>
          <a:p>
            <a:pPr lvl="0"/>
            <a:r>
              <a:rPr lang="en-US" sz="2000" b="1" u="sng" dirty="0">
                <a:solidFill>
                  <a:prstClr val="black"/>
                </a:solidFill>
                <a:latin typeface="Calibri" panose="020F0502020204030204" pitchFamily="34" charset="0"/>
              </a:rPr>
              <a:t>Spin-off</a:t>
            </a:r>
          </a:p>
        </p:txBody>
      </p:sp>
      <p:sp>
        <p:nvSpPr>
          <p:cNvPr id="117" name="TextBox 116"/>
          <p:cNvSpPr txBox="1"/>
          <p:nvPr/>
        </p:nvSpPr>
        <p:spPr>
          <a:xfrm>
            <a:off x="3664327" y="4020492"/>
            <a:ext cx="891462" cy="338554"/>
          </a:xfrm>
          <a:prstGeom prst="rect">
            <a:avLst/>
          </a:prstGeom>
          <a:noFill/>
        </p:spPr>
        <p:txBody>
          <a:bodyPr wrap="none" rtlCol="0">
            <a:spAutoFit/>
          </a:bodyPr>
          <a:lstStyle/>
          <a:p>
            <a:pPr lvl="0"/>
            <a:r>
              <a:rPr lang="en-US" sz="1600" b="1" u="sng" dirty="0">
                <a:solidFill>
                  <a:prstClr val="black"/>
                </a:solidFill>
                <a:latin typeface="Calibri" panose="020F0502020204030204" pitchFamily="34" charset="0"/>
              </a:rPr>
              <a:t>Split-Off</a:t>
            </a:r>
          </a:p>
        </p:txBody>
      </p:sp>
      <p:cxnSp>
        <p:nvCxnSpPr>
          <p:cNvPr id="19" name="Straight Connector 18"/>
          <p:cNvCxnSpPr/>
          <p:nvPr/>
        </p:nvCxnSpPr>
        <p:spPr>
          <a:xfrm>
            <a:off x="2819400" y="731873"/>
            <a:ext cx="0" cy="2958903"/>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p:cNvCxnSpPr/>
          <p:nvPr/>
        </p:nvCxnSpPr>
        <p:spPr>
          <a:xfrm>
            <a:off x="6248400" y="746171"/>
            <a:ext cx="0" cy="2958903"/>
          </a:xfrm>
          <a:prstGeom prst="line">
            <a:avLst/>
          </a:prstGeom>
        </p:spPr>
        <p:style>
          <a:lnRef idx="1">
            <a:schemeClr val="accent1"/>
          </a:lnRef>
          <a:fillRef idx="0">
            <a:schemeClr val="accent1"/>
          </a:fillRef>
          <a:effectRef idx="0">
            <a:schemeClr val="accent1"/>
          </a:effectRef>
          <a:fontRef idx="minor">
            <a:schemeClr val="tx1"/>
          </a:fontRef>
        </p:style>
      </p:cxnSp>
      <p:sp>
        <p:nvSpPr>
          <p:cNvPr id="61" name="Oval 60"/>
          <p:cNvSpPr/>
          <p:nvPr/>
        </p:nvSpPr>
        <p:spPr>
          <a:xfrm>
            <a:off x="5376771" y="1261846"/>
            <a:ext cx="304800" cy="34361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2</a:t>
            </a:r>
          </a:p>
        </p:txBody>
      </p:sp>
      <p:sp>
        <p:nvSpPr>
          <p:cNvPr id="68" name="Oval 67"/>
          <p:cNvSpPr>
            <a:spLocks noChangeArrowheads="1"/>
          </p:cNvSpPr>
          <p:nvPr/>
        </p:nvSpPr>
        <p:spPr bwMode="auto">
          <a:xfrm>
            <a:off x="766604" y="4449759"/>
            <a:ext cx="609739" cy="318209"/>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200" b="1" dirty="0">
                <a:latin typeface="Calibri" panose="020F0502020204030204" pitchFamily="34" charset="0"/>
              </a:rPr>
              <a:t>SH A</a:t>
            </a:r>
          </a:p>
        </p:txBody>
      </p:sp>
      <p:sp>
        <p:nvSpPr>
          <p:cNvPr id="69" name="Oval 68"/>
          <p:cNvSpPr>
            <a:spLocks noChangeArrowheads="1"/>
          </p:cNvSpPr>
          <p:nvPr/>
        </p:nvSpPr>
        <p:spPr bwMode="auto">
          <a:xfrm>
            <a:off x="1690382" y="4449758"/>
            <a:ext cx="609739" cy="318209"/>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200" b="1" dirty="0">
                <a:latin typeface="Calibri" panose="020F0502020204030204" pitchFamily="34" charset="0"/>
              </a:rPr>
              <a:t>SH B</a:t>
            </a:r>
          </a:p>
        </p:txBody>
      </p:sp>
      <p:cxnSp>
        <p:nvCxnSpPr>
          <p:cNvPr id="70" name="AutoShape 14"/>
          <p:cNvCxnSpPr>
            <a:cxnSpLocks noChangeShapeType="1"/>
            <a:stCxn id="68" idx="4"/>
            <a:endCxn id="92" idx="0"/>
          </p:cNvCxnSpPr>
          <p:nvPr/>
        </p:nvCxnSpPr>
        <p:spPr bwMode="auto">
          <a:xfrm>
            <a:off x="1071474" y="4767968"/>
            <a:ext cx="502653" cy="200931"/>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72" name="AutoShape 14"/>
          <p:cNvCxnSpPr>
            <a:cxnSpLocks noChangeShapeType="1"/>
            <a:stCxn id="69" idx="4"/>
            <a:endCxn id="92" idx="0"/>
          </p:cNvCxnSpPr>
          <p:nvPr/>
        </p:nvCxnSpPr>
        <p:spPr bwMode="auto">
          <a:xfrm flipH="1">
            <a:off x="1574127" y="4767967"/>
            <a:ext cx="421125" cy="20093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80" name="Rectangle 4"/>
          <p:cNvSpPr>
            <a:spLocks noChangeArrowheads="1"/>
          </p:cNvSpPr>
          <p:nvPr/>
        </p:nvSpPr>
        <p:spPr bwMode="auto">
          <a:xfrm>
            <a:off x="848396" y="5527395"/>
            <a:ext cx="545075" cy="360283"/>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a:latin typeface="Calibri" panose="020F0502020204030204" pitchFamily="34" charset="0"/>
              </a:rPr>
              <a:t>S1</a:t>
            </a:r>
            <a:endParaRPr lang="en-US" altLang="en-US" sz="2800" dirty="0">
              <a:latin typeface="Calibri" panose="020F0502020204030204" pitchFamily="34" charset="0"/>
            </a:endParaRPr>
          </a:p>
        </p:txBody>
      </p:sp>
      <p:sp>
        <p:nvSpPr>
          <p:cNvPr id="81" name="Rectangle 4"/>
          <p:cNvSpPr>
            <a:spLocks noChangeArrowheads="1"/>
          </p:cNvSpPr>
          <p:nvPr/>
        </p:nvSpPr>
        <p:spPr bwMode="auto">
          <a:xfrm>
            <a:off x="1685396" y="5531880"/>
            <a:ext cx="545075" cy="360283"/>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S2</a:t>
            </a:r>
            <a:endParaRPr lang="en-US" altLang="en-US" sz="2800" dirty="0">
              <a:latin typeface="Calibri" panose="020F0502020204030204" pitchFamily="34" charset="0"/>
            </a:endParaRPr>
          </a:p>
        </p:txBody>
      </p:sp>
      <p:cxnSp>
        <p:nvCxnSpPr>
          <p:cNvPr id="82" name="AutoShape 14"/>
          <p:cNvCxnSpPr>
            <a:cxnSpLocks noChangeShapeType="1"/>
            <a:stCxn id="92" idx="2"/>
            <a:endCxn id="80" idx="0"/>
          </p:cNvCxnSpPr>
          <p:nvPr/>
        </p:nvCxnSpPr>
        <p:spPr bwMode="auto">
          <a:xfrm flipH="1">
            <a:off x="1120934" y="5329182"/>
            <a:ext cx="453193" cy="19821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83" name="AutoShape 14"/>
          <p:cNvCxnSpPr>
            <a:cxnSpLocks noChangeShapeType="1"/>
            <a:stCxn id="92" idx="2"/>
            <a:endCxn id="81" idx="0"/>
          </p:cNvCxnSpPr>
          <p:nvPr/>
        </p:nvCxnSpPr>
        <p:spPr bwMode="auto">
          <a:xfrm>
            <a:off x="1574127" y="5329182"/>
            <a:ext cx="383807" cy="202698"/>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87" name="Rectangle 4"/>
          <p:cNvSpPr>
            <a:spLocks noChangeArrowheads="1"/>
          </p:cNvSpPr>
          <p:nvPr/>
        </p:nvSpPr>
        <p:spPr bwMode="auto">
          <a:xfrm>
            <a:off x="3451814" y="5049993"/>
            <a:ext cx="545075" cy="360283"/>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89" name="Oval 88"/>
          <p:cNvSpPr>
            <a:spLocks noChangeArrowheads="1"/>
          </p:cNvSpPr>
          <p:nvPr/>
        </p:nvSpPr>
        <p:spPr bwMode="auto">
          <a:xfrm>
            <a:off x="3419483" y="4449759"/>
            <a:ext cx="609739" cy="318209"/>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200" b="1" dirty="0">
                <a:latin typeface="Calibri" panose="020F0502020204030204" pitchFamily="34" charset="0"/>
              </a:rPr>
              <a:t>SH A</a:t>
            </a:r>
          </a:p>
        </p:txBody>
      </p:sp>
      <p:sp>
        <p:nvSpPr>
          <p:cNvPr id="90" name="Oval 89"/>
          <p:cNvSpPr>
            <a:spLocks noChangeArrowheads="1"/>
          </p:cNvSpPr>
          <p:nvPr/>
        </p:nvSpPr>
        <p:spPr bwMode="auto">
          <a:xfrm>
            <a:off x="4343261" y="4449758"/>
            <a:ext cx="609739" cy="318209"/>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200" b="1" dirty="0">
                <a:latin typeface="Calibri" panose="020F0502020204030204" pitchFamily="34" charset="0"/>
              </a:rPr>
              <a:t>SH B</a:t>
            </a:r>
          </a:p>
        </p:txBody>
      </p:sp>
      <p:cxnSp>
        <p:nvCxnSpPr>
          <p:cNvPr id="93" name="AutoShape 14"/>
          <p:cNvCxnSpPr>
            <a:cxnSpLocks noChangeShapeType="1"/>
            <a:stCxn id="89" idx="4"/>
            <a:endCxn id="87" idx="0"/>
          </p:cNvCxnSpPr>
          <p:nvPr/>
        </p:nvCxnSpPr>
        <p:spPr bwMode="auto">
          <a:xfrm flipH="1">
            <a:off x="3724352" y="4767968"/>
            <a:ext cx="1" cy="28202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95" name="AutoShape 14"/>
          <p:cNvCxnSpPr>
            <a:cxnSpLocks noChangeShapeType="1"/>
            <a:stCxn id="90" idx="4"/>
            <a:endCxn id="108" idx="0"/>
          </p:cNvCxnSpPr>
          <p:nvPr/>
        </p:nvCxnSpPr>
        <p:spPr bwMode="auto">
          <a:xfrm flipH="1">
            <a:off x="4648130" y="4767967"/>
            <a:ext cx="1" cy="31483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97" name="AutoShape 14"/>
          <p:cNvCxnSpPr>
            <a:cxnSpLocks noChangeShapeType="1"/>
            <a:stCxn id="87" idx="2"/>
            <a:endCxn id="101" idx="0"/>
          </p:cNvCxnSpPr>
          <p:nvPr/>
        </p:nvCxnSpPr>
        <p:spPr bwMode="auto">
          <a:xfrm>
            <a:off x="3724352" y="5410276"/>
            <a:ext cx="0" cy="325441"/>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01" name="Rectangle 4"/>
          <p:cNvSpPr>
            <a:spLocks noChangeArrowheads="1"/>
          </p:cNvSpPr>
          <p:nvPr/>
        </p:nvSpPr>
        <p:spPr bwMode="auto">
          <a:xfrm>
            <a:off x="3451814" y="5735717"/>
            <a:ext cx="545075" cy="360283"/>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a:latin typeface="Calibri" panose="020F0502020204030204" pitchFamily="34" charset="0"/>
              </a:rPr>
              <a:t>S1</a:t>
            </a:r>
            <a:endParaRPr lang="en-US" altLang="en-US" sz="2800" dirty="0">
              <a:latin typeface="Calibri" panose="020F0502020204030204" pitchFamily="34" charset="0"/>
            </a:endParaRPr>
          </a:p>
        </p:txBody>
      </p:sp>
      <p:sp>
        <p:nvSpPr>
          <p:cNvPr id="108" name="Rectangle 4"/>
          <p:cNvSpPr>
            <a:spLocks noChangeArrowheads="1"/>
          </p:cNvSpPr>
          <p:nvPr/>
        </p:nvSpPr>
        <p:spPr bwMode="auto">
          <a:xfrm>
            <a:off x="4375592" y="5082800"/>
            <a:ext cx="545075" cy="360283"/>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S2</a:t>
            </a:r>
            <a:endParaRPr lang="en-US" altLang="en-US" sz="2800" dirty="0">
              <a:latin typeface="Calibri" panose="020F0502020204030204" pitchFamily="34" charset="0"/>
            </a:endParaRPr>
          </a:p>
        </p:txBody>
      </p:sp>
      <p:sp>
        <p:nvSpPr>
          <p:cNvPr id="112" name="TextBox 111"/>
          <p:cNvSpPr txBox="1"/>
          <p:nvPr/>
        </p:nvSpPr>
        <p:spPr>
          <a:xfrm>
            <a:off x="1092157" y="3991337"/>
            <a:ext cx="748603" cy="338554"/>
          </a:xfrm>
          <a:prstGeom prst="rect">
            <a:avLst/>
          </a:prstGeom>
          <a:noFill/>
        </p:spPr>
        <p:txBody>
          <a:bodyPr wrap="none" rtlCol="0">
            <a:spAutoFit/>
          </a:bodyPr>
          <a:lstStyle/>
          <a:p>
            <a:pPr lvl="0"/>
            <a:r>
              <a:rPr lang="en-US" sz="1600" b="1" u="sng" dirty="0">
                <a:solidFill>
                  <a:prstClr val="black"/>
                </a:solidFill>
                <a:latin typeface="Calibri" panose="020F0502020204030204" pitchFamily="34" charset="0"/>
              </a:rPr>
              <a:t>Before</a:t>
            </a:r>
          </a:p>
        </p:txBody>
      </p:sp>
      <p:sp>
        <p:nvSpPr>
          <p:cNvPr id="113" name="Rectangle 4"/>
          <p:cNvSpPr>
            <a:spLocks noChangeArrowheads="1"/>
          </p:cNvSpPr>
          <p:nvPr/>
        </p:nvSpPr>
        <p:spPr bwMode="auto">
          <a:xfrm>
            <a:off x="6596802" y="5024463"/>
            <a:ext cx="545075" cy="360283"/>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S1</a:t>
            </a:r>
            <a:endParaRPr lang="en-US" altLang="en-US" sz="2800" dirty="0">
              <a:latin typeface="Calibri" panose="020F0502020204030204" pitchFamily="34" charset="0"/>
            </a:endParaRPr>
          </a:p>
        </p:txBody>
      </p:sp>
      <p:sp>
        <p:nvSpPr>
          <p:cNvPr id="114" name="Oval 113"/>
          <p:cNvSpPr>
            <a:spLocks noChangeArrowheads="1"/>
          </p:cNvSpPr>
          <p:nvPr/>
        </p:nvSpPr>
        <p:spPr bwMode="auto">
          <a:xfrm>
            <a:off x="6104835" y="4424228"/>
            <a:ext cx="609739" cy="318209"/>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200" b="1" dirty="0">
                <a:latin typeface="Calibri" panose="020F0502020204030204" pitchFamily="34" charset="0"/>
              </a:rPr>
              <a:t>SH A</a:t>
            </a:r>
          </a:p>
        </p:txBody>
      </p:sp>
      <p:sp>
        <p:nvSpPr>
          <p:cNvPr id="118" name="Oval 117"/>
          <p:cNvSpPr>
            <a:spLocks noChangeArrowheads="1"/>
          </p:cNvSpPr>
          <p:nvPr/>
        </p:nvSpPr>
        <p:spPr bwMode="auto">
          <a:xfrm>
            <a:off x="8381646" y="4364541"/>
            <a:ext cx="609739" cy="318209"/>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200" b="1" dirty="0">
                <a:latin typeface="Calibri" panose="020F0502020204030204" pitchFamily="34" charset="0"/>
              </a:rPr>
              <a:t>SH B</a:t>
            </a:r>
          </a:p>
        </p:txBody>
      </p:sp>
      <p:cxnSp>
        <p:nvCxnSpPr>
          <p:cNvPr id="119" name="AutoShape 14"/>
          <p:cNvCxnSpPr>
            <a:cxnSpLocks noChangeShapeType="1"/>
            <a:stCxn id="114" idx="4"/>
          </p:cNvCxnSpPr>
          <p:nvPr/>
        </p:nvCxnSpPr>
        <p:spPr bwMode="auto">
          <a:xfrm>
            <a:off x="6409705" y="4742437"/>
            <a:ext cx="374195" cy="28202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20" name="AutoShape 14"/>
          <p:cNvCxnSpPr>
            <a:cxnSpLocks noChangeShapeType="1"/>
            <a:stCxn id="118" idx="4"/>
            <a:endCxn id="123" idx="0"/>
          </p:cNvCxnSpPr>
          <p:nvPr/>
        </p:nvCxnSpPr>
        <p:spPr bwMode="auto">
          <a:xfrm flipH="1">
            <a:off x="8261319" y="4682750"/>
            <a:ext cx="425197" cy="367167"/>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23" name="Rectangle 4"/>
          <p:cNvSpPr>
            <a:spLocks noChangeArrowheads="1"/>
          </p:cNvSpPr>
          <p:nvPr/>
        </p:nvSpPr>
        <p:spPr bwMode="auto">
          <a:xfrm>
            <a:off x="7988781" y="5049917"/>
            <a:ext cx="545075" cy="360283"/>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S2</a:t>
            </a:r>
            <a:endParaRPr lang="en-US" altLang="en-US" sz="2800" dirty="0">
              <a:latin typeface="Calibri" panose="020F0502020204030204" pitchFamily="34" charset="0"/>
            </a:endParaRPr>
          </a:p>
        </p:txBody>
      </p:sp>
      <p:sp>
        <p:nvSpPr>
          <p:cNvPr id="124" name="TextBox 123"/>
          <p:cNvSpPr txBox="1"/>
          <p:nvPr/>
        </p:nvSpPr>
        <p:spPr>
          <a:xfrm>
            <a:off x="6822256" y="3946011"/>
            <a:ext cx="865814" cy="338554"/>
          </a:xfrm>
          <a:prstGeom prst="rect">
            <a:avLst/>
          </a:prstGeom>
          <a:noFill/>
        </p:spPr>
        <p:txBody>
          <a:bodyPr wrap="none" rtlCol="0">
            <a:spAutoFit/>
          </a:bodyPr>
          <a:lstStyle/>
          <a:p>
            <a:pPr lvl="0"/>
            <a:r>
              <a:rPr lang="en-US" sz="1600" b="1" u="sng" dirty="0">
                <a:solidFill>
                  <a:prstClr val="black"/>
                </a:solidFill>
                <a:latin typeface="Calibri" panose="020F0502020204030204" pitchFamily="34" charset="0"/>
              </a:rPr>
              <a:t>Split-Up</a:t>
            </a:r>
          </a:p>
        </p:txBody>
      </p:sp>
      <p:sp>
        <p:nvSpPr>
          <p:cNvPr id="125" name="Oval 124"/>
          <p:cNvSpPr>
            <a:spLocks noChangeArrowheads="1"/>
          </p:cNvSpPr>
          <p:nvPr/>
        </p:nvSpPr>
        <p:spPr bwMode="auto">
          <a:xfrm>
            <a:off x="6924620" y="4424228"/>
            <a:ext cx="609739" cy="318209"/>
          </a:xfrm>
          <a:prstGeom prst="ellipse">
            <a:avLst/>
          </a:prstGeom>
          <a:solidFill>
            <a:schemeClr val="accent5">
              <a:lumMod val="20000"/>
              <a:lumOff val="80000"/>
            </a:schemeClr>
          </a:solidFill>
          <a:ln w="9525">
            <a:solidFill>
              <a:schemeClr val="tx1"/>
            </a:solidFill>
            <a:round/>
            <a:headEnd/>
            <a:tailEnd/>
          </a:ln>
          <a:effectLst/>
        </p:spPr>
        <p:txBody>
          <a:bodyPr wrap="none" anchor="ctr"/>
          <a:lstStyle/>
          <a:p>
            <a:pPr algn="ctr"/>
            <a:r>
              <a:rPr lang="en-US" altLang="en-US" sz="1200" b="1" dirty="0">
                <a:latin typeface="Calibri" panose="020F0502020204030204" pitchFamily="34" charset="0"/>
              </a:rPr>
              <a:t>SH B</a:t>
            </a:r>
          </a:p>
        </p:txBody>
      </p:sp>
      <p:cxnSp>
        <p:nvCxnSpPr>
          <p:cNvPr id="126" name="AutoShape 14"/>
          <p:cNvCxnSpPr>
            <a:cxnSpLocks noChangeShapeType="1"/>
            <a:stCxn id="125" idx="4"/>
            <a:endCxn id="113" idx="0"/>
          </p:cNvCxnSpPr>
          <p:nvPr/>
        </p:nvCxnSpPr>
        <p:spPr bwMode="auto">
          <a:xfrm flipH="1">
            <a:off x="6869340" y="4742437"/>
            <a:ext cx="360150" cy="28202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27" name="Oval 126"/>
          <p:cNvSpPr>
            <a:spLocks noChangeArrowheads="1"/>
          </p:cNvSpPr>
          <p:nvPr/>
        </p:nvSpPr>
        <p:spPr bwMode="auto">
          <a:xfrm>
            <a:off x="7696200" y="4401579"/>
            <a:ext cx="609739" cy="318209"/>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200" b="1" dirty="0">
                <a:latin typeface="Calibri" panose="020F0502020204030204" pitchFamily="34" charset="0"/>
              </a:rPr>
              <a:t>SH A</a:t>
            </a:r>
          </a:p>
        </p:txBody>
      </p:sp>
      <p:cxnSp>
        <p:nvCxnSpPr>
          <p:cNvPr id="129" name="AutoShape 14"/>
          <p:cNvCxnSpPr>
            <a:cxnSpLocks noChangeShapeType="1"/>
            <a:stCxn id="127" idx="4"/>
            <a:endCxn id="123" idx="0"/>
          </p:cNvCxnSpPr>
          <p:nvPr/>
        </p:nvCxnSpPr>
        <p:spPr bwMode="auto">
          <a:xfrm>
            <a:off x="8001070" y="4719788"/>
            <a:ext cx="260249" cy="330129"/>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35" name="Straight Connector 134"/>
          <p:cNvCxnSpPr/>
          <p:nvPr/>
        </p:nvCxnSpPr>
        <p:spPr>
          <a:xfrm>
            <a:off x="2743200" y="4191000"/>
            <a:ext cx="0" cy="1981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6" name="Straight Connector 135"/>
          <p:cNvCxnSpPr/>
          <p:nvPr/>
        </p:nvCxnSpPr>
        <p:spPr>
          <a:xfrm>
            <a:off x="5791200" y="4191000"/>
            <a:ext cx="0" cy="1981200"/>
          </a:xfrm>
          <a:prstGeom prst="line">
            <a:avLst/>
          </a:prstGeom>
        </p:spPr>
        <p:style>
          <a:lnRef idx="1">
            <a:schemeClr val="accent1"/>
          </a:lnRef>
          <a:fillRef idx="0">
            <a:schemeClr val="accent1"/>
          </a:fillRef>
          <a:effectRef idx="0">
            <a:schemeClr val="accent1"/>
          </a:effectRef>
          <a:fontRef idx="minor">
            <a:schemeClr val="tx1"/>
          </a:fontRef>
        </p:style>
      </p:cxnSp>
      <p:sp>
        <p:nvSpPr>
          <p:cNvPr id="137" name="TextBox 136"/>
          <p:cNvSpPr txBox="1"/>
          <p:nvPr/>
        </p:nvSpPr>
        <p:spPr>
          <a:xfrm>
            <a:off x="1190168" y="552024"/>
            <a:ext cx="748603" cy="338554"/>
          </a:xfrm>
          <a:prstGeom prst="rect">
            <a:avLst/>
          </a:prstGeom>
          <a:noFill/>
        </p:spPr>
        <p:txBody>
          <a:bodyPr wrap="none" rtlCol="0">
            <a:spAutoFit/>
          </a:bodyPr>
          <a:lstStyle/>
          <a:p>
            <a:pPr lvl="0"/>
            <a:r>
              <a:rPr lang="en-US" sz="1600" b="1" u="sng" dirty="0">
                <a:solidFill>
                  <a:prstClr val="black"/>
                </a:solidFill>
                <a:latin typeface="Calibri" panose="020F0502020204030204" pitchFamily="34" charset="0"/>
              </a:rPr>
              <a:t>Before</a:t>
            </a:r>
          </a:p>
        </p:txBody>
      </p:sp>
      <p:sp>
        <p:nvSpPr>
          <p:cNvPr id="138" name="TextBox 137"/>
          <p:cNvSpPr txBox="1"/>
          <p:nvPr/>
        </p:nvSpPr>
        <p:spPr>
          <a:xfrm>
            <a:off x="7344645" y="525661"/>
            <a:ext cx="619850" cy="338554"/>
          </a:xfrm>
          <a:prstGeom prst="rect">
            <a:avLst/>
          </a:prstGeom>
          <a:noFill/>
        </p:spPr>
        <p:txBody>
          <a:bodyPr wrap="none" rtlCol="0">
            <a:spAutoFit/>
          </a:bodyPr>
          <a:lstStyle/>
          <a:p>
            <a:pPr lvl="0"/>
            <a:r>
              <a:rPr lang="en-US" sz="1600" b="1" u="sng" dirty="0">
                <a:solidFill>
                  <a:prstClr val="black"/>
                </a:solidFill>
                <a:latin typeface="Calibri" panose="020F0502020204030204" pitchFamily="34" charset="0"/>
              </a:rPr>
              <a:t>After</a:t>
            </a:r>
          </a:p>
        </p:txBody>
      </p:sp>
    </p:spTree>
    <p:extLst>
      <p:ext uri="{BB962C8B-B14F-4D97-AF65-F5344CB8AC3E}">
        <p14:creationId xmlns:p14="http://schemas.microsoft.com/office/powerpoint/2010/main" val="2605255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4"/>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67"/>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94"/>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9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00"/>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1"/>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16"/>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23"/>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4"/>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5"/>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26"/>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27"/>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7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77"/>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78"/>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7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38"/>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9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68"/>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69"/>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70"/>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7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0"/>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81"/>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82"/>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83"/>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12"/>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117"/>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8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89"/>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90"/>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93"/>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9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9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01"/>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08"/>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113"/>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119"/>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12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123"/>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125"/>
                                        </p:tgtEl>
                                        <p:attrNameLst>
                                          <p:attrName>style.visibility</p:attrName>
                                        </p:attrNameLst>
                                      </p:cBhvr>
                                      <p:to>
                                        <p:strVal val="visible"/>
                                      </p:to>
                                    </p:set>
                                  </p:childTnLst>
                                </p:cTn>
                              </p:par>
                              <p:par>
                                <p:cTn id="127" presetID="1" presetClass="entr" presetSubtype="0" fill="hold" nodeType="withEffect">
                                  <p:stCondLst>
                                    <p:cond delay="0"/>
                                  </p:stCondLst>
                                  <p:childTnLst>
                                    <p:set>
                                      <p:cBhvr>
                                        <p:cTn id="128" dur="1" fill="hold">
                                          <p:stCondLst>
                                            <p:cond delay="0"/>
                                          </p:stCondLst>
                                        </p:cTn>
                                        <p:tgtEl>
                                          <p:spTgt spid="126"/>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127"/>
                                        </p:tgtEl>
                                        <p:attrNameLst>
                                          <p:attrName>style.visibility</p:attrName>
                                        </p:attrNameLst>
                                      </p:cBhvr>
                                      <p:to>
                                        <p:strVal val="visible"/>
                                      </p:to>
                                    </p:set>
                                  </p:childTnLst>
                                </p:cTn>
                              </p:par>
                              <p:par>
                                <p:cTn id="131" presetID="1" presetClass="entr" presetSubtype="0" fill="hold" nodeType="withEffect">
                                  <p:stCondLst>
                                    <p:cond delay="0"/>
                                  </p:stCondLst>
                                  <p:childTnLst>
                                    <p:set>
                                      <p:cBhvr>
                                        <p:cTn id="132" dur="1" fill="hold">
                                          <p:stCondLst>
                                            <p:cond delay="0"/>
                                          </p:stCondLst>
                                        </p:cTn>
                                        <p:tgtEl>
                                          <p:spTgt spid="129"/>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114"/>
                                        </p:tgtEl>
                                        <p:attrNameLst>
                                          <p:attrName>style.visibility</p:attrName>
                                        </p:attrNameLst>
                                      </p:cBhvr>
                                      <p:to>
                                        <p:strVal val="visible"/>
                                      </p:to>
                                    </p:set>
                                  </p:childTnLst>
                                </p:cTn>
                              </p:par>
                              <p:par>
                                <p:cTn id="135" presetID="1" presetClass="entr" presetSubtype="0" fill="hold" grpId="0" nodeType="withEffect">
                                  <p:stCondLst>
                                    <p:cond delay="0"/>
                                  </p:stCondLst>
                                  <p:childTnLst>
                                    <p:set>
                                      <p:cBhvr>
                                        <p:cTn id="136" dur="1" fill="hold">
                                          <p:stCondLst>
                                            <p:cond delay="0"/>
                                          </p:stCondLst>
                                        </p:cTn>
                                        <p:tgtEl>
                                          <p:spTgt spid="118"/>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1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0" grpId="0" animBg="1"/>
      <p:bldP spid="20" grpId="0" animBg="1"/>
      <p:bldP spid="23" grpId="0" animBg="1"/>
      <p:bldP spid="24" grpId="0" animBg="1"/>
      <p:bldP spid="25" grpId="0" animBg="1"/>
      <p:bldP spid="30" grpId="0" animBg="1"/>
      <p:bldP spid="31" grpId="0" animBg="1"/>
      <p:bldP spid="32" grpId="0" animBg="1"/>
      <p:bldP spid="35" grpId="0" animBg="1"/>
      <p:bldP spid="64" grpId="0" animBg="1"/>
      <p:bldP spid="77" grpId="0" animBg="1"/>
      <p:bldP spid="78" grpId="0" animBg="1"/>
      <p:bldP spid="92" grpId="0" animBg="1"/>
      <p:bldP spid="100" grpId="0" animBg="1"/>
      <p:bldP spid="116" grpId="0"/>
      <p:bldP spid="117" grpId="0"/>
      <p:bldP spid="61" grpId="0" animBg="1"/>
      <p:bldP spid="68" grpId="0" animBg="1"/>
      <p:bldP spid="69" grpId="0" animBg="1"/>
      <p:bldP spid="80" grpId="0" animBg="1"/>
      <p:bldP spid="81" grpId="0" animBg="1"/>
      <p:bldP spid="87" grpId="0" animBg="1"/>
      <p:bldP spid="89" grpId="0" animBg="1"/>
      <p:bldP spid="90" grpId="0" animBg="1"/>
      <p:bldP spid="101" grpId="0" animBg="1"/>
      <p:bldP spid="108" grpId="0" animBg="1"/>
      <p:bldP spid="112" grpId="0"/>
      <p:bldP spid="113" grpId="0" animBg="1"/>
      <p:bldP spid="114" grpId="0" animBg="1"/>
      <p:bldP spid="118" grpId="0" animBg="1"/>
      <p:bldP spid="123" grpId="0" animBg="1"/>
      <p:bldP spid="124" grpId="0"/>
      <p:bldP spid="125" grpId="0" animBg="1"/>
      <p:bldP spid="127" grpId="0" animBg="1"/>
      <p:bldP spid="137" grpId="0"/>
      <p:bldP spid="138"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22"/>
          </p:nvPr>
        </p:nvSpPr>
        <p:spPr/>
        <p:txBody>
          <a:bodyPr/>
          <a:lstStyle/>
          <a:p>
            <a:fld id="{856F0A94-AD2E-974D-AF6B-04AF335E854A}" type="slidenum">
              <a:rPr lang="en-US" altLang="en-US" smtClean="0"/>
              <a:pPr/>
              <a:t>2</a:t>
            </a:fld>
            <a:endParaRPr lang="en-US" altLang="en-US"/>
          </a:p>
        </p:txBody>
      </p:sp>
      <p:sp>
        <p:nvSpPr>
          <p:cNvPr id="11" name="Title 10"/>
          <p:cNvSpPr>
            <a:spLocks noGrp="1"/>
          </p:cNvSpPr>
          <p:nvPr>
            <p:ph type="title"/>
          </p:nvPr>
        </p:nvSpPr>
        <p:spPr/>
        <p:txBody>
          <a:bodyPr/>
          <a:lstStyle/>
          <a:p>
            <a:r>
              <a:rPr lang="en-US" sz="2000" dirty="0"/>
              <a:t>Spin-offs: Overview</a:t>
            </a:r>
          </a:p>
        </p:txBody>
      </p:sp>
      <p:sp>
        <p:nvSpPr>
          <p:cNvPr id="31" name="Rectangle 31"/>
          <p:cNvSpPr>
            <a:spLocks noChangeArrowheads="1"/>
          </p:cNvSpPr>
          <p:nvPr/>
        </p:nvSpPr>
        <p:spPr bwMode="auto">
          <a:xfrm>
            <a:off x="1458920" y="3971806"/>
            <a:ext cx="6934200" cy="2246769"/>
          </a:xfrm>
          <a:prstGeom prst="rect">
            <a:avLst/>
          </a:prstGeom>
          <a:noFill/>
          <a:ln w="63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nchor="ctr">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en-US" sz="2000" b="1" u="sng" dirty="0">
                <a:latin typeface="+mn-lt"/>
              </a:rPr>
              <a:t>Tax Issues</a:t>
            </a:r>
          </a:p>
          <a:p>
            <a:pPr marL="171450" indent="-171450">
              <a:buFont typeface="Arial" charset="0"/>
              <a:buChar char="•"/>
            </a:pPr>
            <a:r>
              <a:rPr lang="en-US" altLang="en-US" sz="1800" b="1" dirty="0">
                <a:latin typeface="+mn-lt"/>
              </a:rPr>
              <a:t>G/L to P on transfer of assets to S</a:t>
            </a:r>
          </a:p>
          <a:p>
            <a:pPr marL="171450" indent="-171450">
              <a:buFont typeface="Arial" charset="0"/>
              <a:buChar char="•"/>
            </a:pPr>
            <a:r>
              <a:rPr lang="en-US" altLang="en-US" sz="1800" b="1" dirty="0">
                <a:latin typeface="+mn-lt"/>
              </a:rPr>
              <a:t>G/L to S on receipt of assets</a:t>
            </a:r>
          </a:p>
          <a:p>
            <a:pPr marL="171450" indent="-171450">
              <a:buFont typeface="Arial" charset="0"/>
              <a:buChar char="•"/>
            </a:pPr>
            <a:r>
              <a:rPr lang="en-US" altLang="en-US" sz="1800" b="1" dirty="0">
                <a:latin typeface="+mn-lt"/>
              </a:rPr>
              <a:t>G/L to P on distribution of S stock to P SHs</a:t>
            </a:r>
          </a:p>
          <a:p>
            <a:pPr marL="171450" indent="-171450">
              <a:buFont typeface="Arial" charset="0"/>
              <a:buChar char="•"/>
            </a:pPr>
            <a:r>
              <a:rPr lang="en-US" altLang="en-US" sz="1800" b="1" dirty="0">
                <a:latin typeface="+mn-lt"/>
              </a:rPr>
              <a:t>G/L to P </a:t>
            </a:r>
            <a:r>
              <a:rPr lang="en-US" altLang="en-US" sz="1800" b="1" dirty="0" err="1">
                <a:latin typeface="+mn-lt"/>
              </a:rPr>
              <a:t>SHs</a:t>
            </a:r>
            <a:r>
              <a:rPr lang="en-US" altLang="en-US" sz="1800" b="1" dirty="0">
                <a:latin typeface="+mn-lt"/>
              </a:rPr>
              <a:t> on receipt of S stock </a:t>
            </a:r>
          </a:p>
          <a:p>
            <a:pPr marL="171450" indent="-171450">
              <a:buFont typeface="Arial" charset="0"/>
              <a:buChar char="•"/>
            </a:pPr>
            <a:r>
              <a:rPr lang="en-US" altLang="en-US" sz="1800" b="1" dirty="0">
                <a:latin typeface="+mn-lt"/>
              </a:rPr>
              <a:t>P SHs’ basis in S </a:t>
            </a:r>
            <a:r>
              <a:rPr lang="en-US" altLang="en-US" sz="1800" b="1" dirty="0">
                <a:latin typeface="Calibri Regular" charset="0"/>
              </a:rPr>
              <a:t>stock </a:t>
            </a:r>
          </a:p>
          <a:p>
            <a:pPr marL="171450" indent="-171450">
              <a:buFont typeface="Arial" charset="0"/>
              <a:buChar char="•"/>
            </a:pPr>
            <a:r>
              <a:rPr lang="en-US" altLang="en-US" sz="1800" b="1" dirty="0">
                <a:latin typeface="+mn-lt"/>
              </a:rPr>
              <a:t>What happens to P’s tax attributes (E&amp;Ps, NOLs, FTCs, and CLCOs) </a:t>
            </a:r>
            <a:endParaRPr lang="en-US" altLang="en-US" sz="1600" b="1" dirty="0">
              <a:latin typeface="+mn-lt"/>
            </a:endParaRPr>
          </a:p>
          <a:p>
            <a:pPr marL="171450" indent="-171450">
              <a:buFont typeface="Arial" charset="0"/>
              <a:buChar char="•"/>
            </a:pPr>
            <a:endParaRPr lang="en-US" altLang="en-US" sz="1200" dirty="0">
              <a:latin typeface="Calibri Regular" charset="0"/>
            </a:endParaRPr>
          </a:p>
        </p:txBody>
      </p:sp>
      <p:sp>
        <p:nvSpPr>
          <p:cNvPr id="3" name="Footer Placeholder 2"/>
          <p:cNvSpPr>
            <a:spLocks noGrp="1"/>
          </p:cNvSpPr>
          <p:nvPr>
            <p:ph type="ftr" sz="quarter" idx="23"/>
          </p:nvPr>
        </p:nvSpPr>
        <p:spPr/>
        <p:txBody>
          <a:bodyPr/>
          <a:lstStyle/>
          <a:p>
            <a:pPr>
              <a:defRPr/>
            </a:pPr>
            <a:r>
              <a:rPr lang="en-US"/>
              <a:t>Spin Offs</a:t>
            </a:r>
          </a:p>
        </p:txBody>
      </p:sp>
      <p:sp>
        <p:nvSpPr>
          <p:cNvPr id="45" name="Rectangle 4"/>
          <p:cNvSpPr>
            <a:spLocks noChangeArrowheads="1"/>
          </p:cNvSpPr>
          <p:nvPr/>
        </p:nvSpPr>
        <p:spPr bwMode="auto">
          <a:xfrm>
            <a:off x="1235242" y="1676400"/>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46" name="Oval 45"/>
          <p:cNvSpPr>
            <a:spLocks noChangeArrowheads="1"/>
          </p:cNvSpPr>
          <p:nvPr/>
        </p:nvSpPr>
        <p:spPr bwMode="auto">
          <a:xfrm>
            <a:off x="766605" y="3051893"/>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X</a:t>
            </a:r>
            <a:endParaRPr lang="en-US" altLang="en-US" sz="1800" dirty="0">
              <a:latin typeface="Calibri" panose="020F0502020204030204" pitchFamily="34" charset="0"/>
            </a:endParaRPr>
          </a:p>
        </p:txBody>
      </p:sp>
      <p:sp>
        <p:nvSpPr>
          <p:cNvPr id="49" name="Oval 48"/>
          <p:cNvSpPr>
            <a:spLocks noChangeArrowheads="1"/>
          </p:cNvSpPr>
          <p:nvPr/>
        </p:nvSpPr>
        <p:spPr bwMode="auto">
          <a:xfrm>
            <a:off x="1187730" y="987484"/>
            <a:ext cx="807522" cy="384116"/>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54" name="AutoShape 14"/>
          <p:cNvCxnSpPr>
            <a:cxnSpLocks noChangeShapeType="1"/>
            <a:stCxn id="59" idx="4"/>
            <a:endCxn id="55" idx="0"/>
          </p:cNvCxnSpPr>
          <p:nvPr/>
        </p:nvCxnSpPr>
        <p:spPr bwMode="auto">
          <a:xfrm flipH="1">
            <a:off x="1585168" y="1371600"/>
            <a:ext cx="6323" cy="304800"/>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5" name="AutoShape 14"/>
          <p:cNvCxnSpPr>
            <a:cxnSpLocks noChangeShapeType="1"/>
            <a:stCxn id="55" idx="2"/>
            <a:endCxn id="58" idx="0"/>
          </p:cNvCxnSpPr>
          <p:nvPr/>
        </p:nvCxnSpPr>
        <p:spPr bwMode="auto">
          <a:xfrm flipH="1">
            <a:off x="1170366" y="2334884"/>
            <a:ext cx="414802" cy="717009"/>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56" name="Oval 55"/>
          <p:cNvSpPr>
            <a:spLocks noChangeArrowheads="1"/>
          </p:cNvSpPr>
          <p:nvPr/>
        </p:nvSpPr>
        <p:spPr bwMode="auto">
          <a:xfrm>
            <a:off x="1645322" y="3043711"/>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Y</a:t>
            </a:r>
            <a:endParaRPr lang="en-US" altLang="en-US" sz="1800" dirty="0">
              <a:latin typeface="Calibri" panose="020F0502020204030204" pitchFamily="34" charset="0"/>
            </a:endParaRPr>
          </a:p>
        </p:txBody>
      </p:sp>
      <p:cxnSp>
        <p:nvCxnSpPr>
          <p:cNvPr id="57" name="AutoShape 14"/>
          <p:cNvCxnSpPr>
            <a:cxnSpLocks noChangeShapeType="1"/>
            <a:stCxn id="55" idx="2"/>
            <a:endCxn id="72" idx="0"/>
          </p:cNvCxnSpPr>
          <p:nvPr/>
        </p:nvCxnSpPr>
        <p:spPr bwMode="auto">
          <a:xfrm>
            <a:off x="1585168" y="2334884"/>
            <a:ext cx="463915" cy="708827"/>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58" name="Rectangle 4"/>
          <p:cNvSpPr>
            <a:spLocks noChangeArrowheads="1"/>
          </p:cNvSpPr>
          <p:nvPr/>
        </p:nvSpPr>
        <p:spPr bwMode="auto">
          <a:xfrm>
            <a:off x="6809633" y="1774410"/>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59" name="Oval 58"/>
          <p:cNvSpPr>
            <a:spLocks noChangeArrowheads="1"/>
          </p:cNvSpPr>
          <p:nvPr/>
        </p:nvSpPr>
        <p:spPr bwMode="auto">
          <a:xfrm>
            <a:off x="6752986" y="2783505"/>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X</a:t>
            </a:r>
            <a:endParaRPr lang="en-US" altLang="en-US" sz="1800" dirty="0">
              <a:latin typeface="Calibri" panose="020F0502020204030204" pitchFamily="34" charset="0"/>
            </a:endParaRPr>
          </a:p>
        </p:txBody>
      </p:sp>
      <p:sp>
        <p:nvSpPr>
          <p:cNvPr id="60" name="Oval 59"/>
          <p:cNvSpPr>
            <a:spLocks noChangeArrowheads="1"/>
          </p:cNvSpPr>
          <p:nvPr/>
        </p:nvSpPr>
        <p:spPr bwMode="auto">
          <a:xfrm>
            <a:off x="7259787" y="987484"/>
            <a:ext cx="838201" cy="31075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62" name="AutoShape 14"/>
          <p:cNvCxnSpPr>
            <a:cxnSpLocks noChangeShapeType="1"/>
            <a:stCxn id="77" idx="4"/>
            <a:endCxn id="75" idx="0"/>
          </p:cNvCxnSpPr>
          <p:nvPr/>
        </p:nvCxnSpPr>
        <p:spPr bwMode="auto">
          <a:xfrm flipH="1">
            <a:off x="7159559" y="1298234"/>
            <a:ext cx="519329" cy="47617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63" name="AutoShape 14"/>
          <p:cNvCxnSpPr>
            <a:cxnSpLocks noChangeShapeType="1"/>
            <a:stCxn id="75" idx="2"/>
            <a:endCxn id="76" idx="0"/>
          </p:cNvCxnSpPr>
          <p:nvPr/>
        </p:nvCxnSpPr>
        <p:spPr bwMode="auto">
          <a:xfrm flipH="1">
            <a:off x="7156747" y="2432894"/>
            <a:ext cx="2812" cy="350611"/>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64" name="Rectangle 4"/>
          <p:cNvSpPr>
            <a:spLocks noChangeArrowheads="1"/>
          </p:cNvSpPr>
          <p:nvPr/>
        </p:nvSpPr>
        <p:spPr bwMode="auto">
          <a:xfrm>
            <a:off x="4074331" y="1567139"/>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65" name="Oval 64"/>
          <p:cNvSpPr>
            <a:spLocks noChangeArrowheads="1"/>
          </p:cNvSpPr>
          <p:nvPr/>
        </p:nvSpPr>
        <p:spPr bwMode="auto">
          <a:xfrm>
            <a:off x="3430935" y="2714469"/>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X</a:t>
            </a:r>
            <a:endParaRPr lang="en-US" altLang="en-US" sz="1800" dirty="0">
              <a:latin typeface="Calibri" panose="020F0502020204030204" pitchFamily="34" charset="0"/>
            </a:endParaRPr>
          </a:p>
        </p:txBody>
      </p:sp>
      <p:sp>
        <p:nvSpPr>
          <p:cNvPr id="66" name="Oval 65"/>
          <p:cNvSpPr>
            <a:spLocks noChangeArrowheads="1"/>
          </p:cNvSpPr>
          <p:nvPr/>
        </p:nvSpPr>
        <p:spPr bwMode="auto">
          <a:xfrm>
            <a:off x="4007921" y="987484"/>
            <a:ext cx="838201" cy="31075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69" name="AutoShape 14"/>
          <p:cNvCxnSpPr>
            <a:cxnSpLocks noChangeShapeType="1"/>
            <a:stCxn id="84" idx="4"/>
            <a:endCxn id="82" idx="0"/>
          </p:cNvCxnSpPr>
          <p:nvPr/>
        </p:nvCxnSpPr>
        <p:spPr bwMode="auto">
          <a:xfrm flipH="1">
            <a:off x="4424257" y="1298234"/>
            <a:ext cx="2765" cy="26890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70" name="AutoShape 14"/>
          <p:cNvCxnSpPr>
            <a:cxnSpLocks noChangeShapeType="1"/>
            <a:stCxn id="82" idx="2"/>
            <a:endCxn id="83" idx="0"/>
          </p:cNvCxnSpPr>
          <p:nvPr/>
        </p:nvCxnSpPr>
        <p:spPr bwMode="auto">
          <a:xfrm flipH="1">
            <a:off x="3834696" y="2225623"/>
            <a:ext cx="589561" cy="48884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71" name="Oval 70"/>
          <p:cNvSpPr>
            <a:spLocks noChangeArrowheads="1"/>
          </p:cNvSpPr>
          <p:nvPr/>
        </p:nvSpPr>
        <p:spPr bwMode="auto">
          <a:xfrm>
            <a:off x="4270336" y="3480082"/>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Y</a:t>
            </a:r>
            <a:endParaRPr lang="en-US" altLang="en-US" sz="1800" dirty="0">
              <a:latin typeface="Calibri" panose="020F0502020204030204" pitchFamily="34" charset="0"/>
            </a:endParaRPr>
          </a:p>
        </p:txBody>
      </p:sp>
      <p:cxnSp>
        <p:nvCxnSpPr>
          <p:cNvPr id="72" name="AutoShape 14"/>
          <p:cNvCxnSpPr>
            <a:cxnSpLocks noChangeShapeType="1"/>
            <a:stCxn id="82" idx="2"/>
          </p:cNvCxnSpPr>
          <p:nvPr/>
        </p:nvCxnSpPr>
        <p:spPr bwMode="auto">
          <a:xfrm>
            <a:off x="4424257" y="2225623"/>
            <a:ext cx="248852" cy="378359"/>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73" name="Rectangle 4"/>
          <p:cNvSpPr>
            <a:spLocks noChangeArrowheads="1"/>
          </p:cNvSpPr>
          <p:nvPr/>
        </p:nvSpPr>
        <p:spPr bwMode="auto">
          <a:xfrm>
            <a:off x="4343399" y="2603982"/>
            <a:ext cx="659419" cy="599293"/>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a:t>
            </a:r>
          </a:p>
        </p:txBody>
      </p:sp>
      <p:cxnSp>
        <p:nvCxnSpPr>
          <p:cNvPr id="74" name="AutoShape 14"/>
          <p:cNvCxnSpPr>
            <a:cxnSpLocks noChangeShapeType="1"/>
          </p:cNvCxnSpPr>
          <p:nvPr/>
        </p:nvCxnSpPr>
        <p:spPr bwMode="auto">
          <a:xfrm>
            <a:off x="4673109" y="3203275"/>
            <a:ext cx="988" cy="276807"/>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75" name="AutoShape 14"/>
          <p:cNvCxnSpPr>
            <a:cxnSpLocks noChangeShapeType="1"/>
            <a:stCxn id="77" idx="4"/>
          </p:cNvCxnSpPr>
          <p:nvPr/>
        </p:nvCxnSpPr>
        <p:spPr bwMode="auto">
          <a:xfrm>
            <a:off x="7678888" y="1298234"/>
            <a:ext cx="618098" cy="470207"/>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76" name="Oval 75"/>
          <p:cNvSpPr>
            <a:spLocks noChangeArrowheads="1"/>
          </p:cNvSpPr>
          <p:nvPr/>
        </p:nvSpPr>
        <p:spPr bwMode="auto">
          <a:xfrm>
            <a:off x="7893225" y="2784917"/>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Assets Y</a:t>
            </a:r>
            <a:endParaRPr lang="en-US" altLang="en-US" sz="1800" dirty="0">
              <a:latin typeface="Calibri" panose="020F0502020204030204" pitchFamily="34" charset="0"/>
            </a:endParaRPr>
          </a:p>
        </p:txBody>
      </p:sp>
      <p:sp>
        <p:nvSpPr>
          <p:cNvPr id="77" name="Rectangle 4"/>
          <p:cNvSpPr>
            <a:spLocks noChangeArrowheads="1"/>
          </p:cNvSpPr>
          <p:nvPr/>
        </p:nvSpPr>
        <p:spPr bwMode="auto">
          <a:xfrm>
            <a:off x="7947060" y="1768441"/>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a:t>
            </a:r>
          </a:p>
        </p:txBody>
      </p:sp>
      <p:cxnSp>
        <p:nvCxnSpPr>
          <p:cNvPr id="78" name="AutoShape 14"/>
          <p:cNvCxnSpPr>
            <a:cxnSpLocks noChangeShapeType="1"/>
          </p:cNvCxnSpPr>
          <p:nvPr/>
        </p:nvCxnSpPr>
        <p:spPr bwMode="auto">
          <a:xfrm>
            <a:off x="8296986" y="2426925"/>
            <a:ext cx="0" cy="35799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79" name="Elbow Connector 78"/>
          <p:cNvCxnSpPr>
            <a:stCxn id="82" idx="3"/>
          </p:cNvCxnSpPr>
          <p:nvPr/>
        </p:nvCxnSpPr>
        <p:spPr>
          <a:xfrm>
            <a:off x="4774183" y="1896381"/>
            <a:ext cx="303675" cy="1748322"/>
          </a:xfrm>
          <a:prstGeom prst="bentConnector3">
            <a:avLst>
              <a:gd name="adj1" fmla="val 175278"/>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Elbow Connector 79"/>
          <p:cNvCxnSpPr>
            <a:endCxn id="84" idx="6"/>
          </p:cNvCxnSpPr>
          <p:nvPr/>
        </p:nvCxnSpPr>
        <p:spPr>
          <a:xfrm rot="5400000" flipH="1" flipV="1">
            <a:off x="4525181" y="1405246"/>
            <a:ext cx="583327" cy="58555"/>
          </a:xfrm>
          <a:prstGeom prst="bentConnector4">
            <a:avLst>
              <a:gd name="adj1" fmla="val -2774"/>
              <a:gd name="adj2" fmla="val 883460"/>
            </a:avLst>
          </a:prstGeom>
          <a:ln>
            <a:tailEnd type="triangle"/>
          </a:ln>
        </p:spPr>
        <p:style>
          <a:lnRef idx="1">
            <a:schemeClr val="accent1"/>
          </a:lnRef>
          <a:fillRef idx="0">
            <a:schemeClr val="accent1"/>
          </a:fillRef>
          <a:effectRef idx="0">
            <a:schemeClr val="accent1"/>
          </a:effectRef>
          <a:fontRef idx="minor">
            <a:schemeClr val="tx1"/>
          </a:fontRef>
        </p:style>
      </p:cxnSp>
      <p:sp>
        <p:nvSpPr>
          <p:cNvPr id="81" name="Oval 80"/>
          <p:cNvSpPr/>
          <p:nvPr/>
        </p:nvSpPr>
        <p:spPr>
          <a:xfrm>
            <a:off x="5347709" y="2434347"/>
            <a:ext cx="304800" cy="34361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1</a:t>
            </a:r>
          </a:p>
        </p:txBody>
      </p:sp>
      <p:cxnSp>
        <p:nvCxnSpPr>
          <p:cNvPr id="82" name="Straight Connector 81"/>
          <p:cNvCxnSpPr/>
          <p:nvPr/>
        </p:nvCxnSpPr>
        <p:spPr>
          <a:xfrm>
            <a:off x="2819400" y="731873"/>
            <a:ext cx="0" cy="2958903"/>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Straight Connector 82"/>
          <p:cNvCxnSpPr/>
          <p:nvPr/>
        </p:nvCxnSpPr>
        <p:spPr>
          <a:xfrm>
            <a:off x="6248400" y="746171"/>
            <a:ext cx="0" cy="2958903"/>
          </a:xfrm>
          <a:prstGeom prst="line">
            <a:avLst/>
          </a:prstGeom>
        </p:spPr>
        <p:style>
          <a:lnRef idx="1">
            <a:schemeClr val="accent1"/>
          </a:lnRef>
          <a:fillRef idx="0">
            <a:schemeClr val="accent1"/>
          </a:fillRef>
          <a:effectRef idx="0">
            <a:schemeClr val="accent1"/>
          </a:effectRef>
          <a:fontRef idx="minor">
            <a:schemeClr val="tx1"/>
          </a:fontRef>
        </p:style>
      </p:cxnSp>
      <p:sp>
        <p:nvSpPr>
          <p:cNvPr id="84" name="Oval 83"/>
          <p:cNvSpPr/>
          <p:nvPr/>
        </p:nvSpPr>
        <p:spPr>
          <a:xfrm>
            <a:off x="5376771" y="1261846"/>
            <a:ext cx="304800" cy="34361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2</a:t>
            </a:r>
          </a:p>
        </p:txBody>
      </p:sp>
    </p:spTree>
    <p:extLst>
      <p:ext uri="{BB962C8B-B14F-4D97-AF65-F5344CB8AC3E}">
        <p14:creationId xmlns:p14="http://schemas.microsoft.com/office/powerpoint/2010/main" val="12966952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69"/>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7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1"/>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7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3"/>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4"/>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79"/>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80"/>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1"/>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8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83"/>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58"/>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60"/>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63"/>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75"/>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76"/>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77"/>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78"/>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nodeType="clickEffect">
                                  <p:stCondLst>
                                    <p:cond delay="0"/>
                                  </p:stCondLst>
                                  <p:childTnLst>
                                    <p:set>
                                      <p:cBhvr>
                                        <p:cTn id="78" dur="1" fill="hold">
                                          <p:stCondLst>
                                            <p:cond delay="0"/>
                                          </p:stCondLst>
                                        </p:cTn>
                                        <p:tgtEl>
                                          <p:spTgt spid="31">
                                            <p:txEl>
                                              <p:pRg st="0" end="0"/>
                                            </p:txEl>
                                          </p:spTgt>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nodeType="clickEffect">
                                  <p:stCondLst>
                                    <p:cond delay="0"/>
                                  </p:stCondLst>
                                  <p:childTnLst>
                                    <p:set>
                                      <p:cBhvr>
                                        <p:cTn id="82" dur="1" fill="hold">
                                          <p:stCondLst>
                                            <p:cond delay="0"/>
                                          </p:stCondLst>
                                        </p:cTn>
                                        <p:tgtEl>
                                          <p:spTgt spid="31">
                                            <p:txEl>
                                              <p:pRg st="1" end="1"/>
                                            </p:txEl>
                                          </p:spTgt>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nodeType="clickEffect">
                                  <p:stCondLst>
                                    <p:cond delay="0"/>
                                  </p:stCondLst>
                                  <p:childTnLst>
                                    <p:set>
                                      <p:cBhvr>
                                        <p:cTn id="86" dur="1" fill="hold">
                                          <p:stCondLst>
                                            <p:cond delay="0"/>
                                          </p:stCondLst>
                                        </p:cTn>
                                        <p:tgtEl>
                                          <p:spTgt spid="31">
                                            <p:txEl>
                                              <p:pRg st="2" end="2"/>
                                            </p:txEl>
                                          </p:spTgt>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31">
                                            <p:txEl>
                                              <p:pRg st="3" end="3"/>
                                            </p:txEl>
                                          </p:spTgt>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nodeType="clickEffect">
                                  <p:stCondLst>
                                    <p:cond delay="0"/>
                                  </p:stCondLst>
                                  <p:childTnLst>
                                    <p:set>
                                      <p:cBhvr>
                                        <p:cTn id="94" dur="1" fill="hold">
                                          <p:stCondLst>
                                            <p:cond delay="0"/>
                                          </p:stCondLst>
                                        </p:cTn>
                                        <p:tgtEl>
                                          <p:spTgt spid="31">
                                            <p:txEl>
                                              <p:pRg st="4" end="4"/>
                                            </p:txEl>
                                          </p:spTgt>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nodeType="clickEffect">
                                  <p:stCondLst>
                                    <p:cond delay="0"/>
                                  </p:stCondLst>
                                  <p:childTnLst>
                                    <p:set>
                                      <p:cBhvr>
                                        <p:cTn id="98" dur="1" fill="hold">
                                          <p:stCondLst>
                                            <p:cond delay="0"/>
                                          </p:stCondLst>
                                        </p:cTn>
                                        <p:tgtEl>
                                          <p:spTgt spid="31">
                                            <p:txEl>
                                              <p:pRg st="5" end="5"/>
                                            </p:txEl>
                                          </p:spTgt>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nodeType="clickEffect">
                                  <p:stCondLst>
                                    <p:cond delay="0"/>
                                  </p:stCondLst>
                                  <p:childTnLst>
                                    <p:set>
                                      <p:cBhvr>
                                        <p:cTn id="102" dur="1" fill="hold">
                                          <p:stCondLst>
                                            <p:cond delay="0"/>
                                          </p:stCondLst>
                                        </p:cTn>
                                        <p:tgtEl>
                                          <p:spTgt spid="31">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animBg="1"/>
      <p:bldP spid="49" grpId="0" animBg="1"/>
      <p:bldP spid="56" grpId="0" animBg="1"/>
      <p:bldP spid="58" grpId="0" animBg="1"/>
      <p:bldP spid="59" grpId="0" animBg="1"/>
      <p:bldP spid="60" grpId="0" animBg="1"/>
      <p:bldP spid="64" grpId="0" animBg="1"/>
      <p:bldP spid="65" grpId="0" animBg="1"/>
      <p:bldP spid="66" grpId="0" animBg="1"/>
      <p:bldP spid="71" grpId="0" animBg="1"/>
      <p:bldP spid="73" grpId="0" animBg="1"/>
      <p:bldP spid="76" grpId="0" animBg="1"/>
      <p:bldP spid="77" grpId="0" animBg="1"/>
      <p:bldP spid="81" grpId="0" animBg="1"/>
      <p:bldP spid="8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22"/>
          </p:nvPr>
        </p:nvSpPr>
        <p:spPr/>
        <p:txBody>
          <a:bodyPr/>
          <a:lstStyle/>
          <a:p>
            <a:fld id="{856F0A94-AD2E-974D-AF6B-04AF335E854A}" type="slidenum">
              <a:rPr lang="en-US" altLang="en-US" smtClean="0"/>
              <a:pPr/>
              <a:t>3</a:t>
            </a:fld>
            <a:endParaRPr lang="en-US" altLang="en-US"/>
          </a:p>
        </p:txBody>
      </p:sp>
      <p:sp>
        <p:nvSpPr>
          <p:cNvPr id="11" name="Title 10"/>
          <p:cNvSpPr>
            <a:spLocks noGrp="1"/>
          </p:cNvSpPr>
          <p:nvPr>
            <p:ph type="title"/>
          </p:nvPr>
        </p:nvSpPr>
        <p:spPr/>
        <p:txBody>
          <a:bodyPr/>
          <a:lstStyle/>
          <a:p>
            <a:r>
              <a:rPr lang="en-US" sz="2000" dirty="0"/>
              <a:t>Spin-offs: </a:t>
            </a:r>
            <a:r>
              <a:rPr lang="en-US" sz="2000" i="1" dirty="0"/>
              <a:t>Rockefeller v. US </a:t>
            </a:r>
            <a:r>
              <a:rPr lang="en-US" sz="2000" dirty="0"/>
              <a:t>(1921)</a:t>
            </a:r>
          </a:p>
        </p:txBody>
      </p:sp>
      <p:sp>
        <p:nvSpPr>
          <p:cNvPr id="3" name="Footer Placeholder 2"/>
          <p:cNvSpPr>
            <a:spLocks noGrp="1"/>
          </p:cNvSpPr>
          <p:nvPr>
            <p:ph type="ftr" sz="quarter" idx="23"/>
          </p:nvPr>
        </p:nvSpPr>
        <p:spPr/>
        <p:txBody>
          <a:bodyPr/>
          <a:lstStyle/>
          <a:p>
            <a:pPr>
              <a:defRPr/>
            </a:pPr>
            <a:r>
              <a:rPr lang="en-US"/>
              <a:t>Spin Offs</a:t>
            </a:r>
          </a:p>
        </p:txBody>
      </p:sp>
      <p:sp>
        <p:nvSpPr>
          <p:cNvPr id="45" name="Rectangle 4"/>
          <p:cNvSpPr>
            <a:spLocks noChangeArrowheads="1"/>
          </p:cNvSpPr>
          <p:nvPr/>
        </p:nvSpPr>
        <p:spPr bwMode="auto">
          <a:xfrm>
            <a:off x="1235242" y="2392327"/>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800" b="1" dirty="0">
                <a:latin typeface="Calibri" panose="020F0502020204030204" pitchFamily="34" charset="0"/>
              </a:rPr>
              <a:t>Prairie</a:t>
            </a:r>
          </a:p>
          <a:p>
            <a:pPr algn="ctr"/>
            <a:r>
              <a:rPr lang="en-US" altLang="en-US" sz="1800" b="1" dirty="0">
                <a:latin typeface="Calibri" panose="020F0502020204030204" pitchFamily="34" charset="0"/>
              </a:rPr>
              <a:t>Oil</a:t>
            </a:r>
            <a:endParaRPr lang="en-US" altLang="en-US" sz="2000" dirty="0">
              <a:latin typeface="Calibri" panose="020F0502020204030204" pitchFamily="34" charset="0"/>
            </a:endParaRPr>
          </a:p>
        </p:txBody>
      </p:sp>
      <p:sp>
        <p:nvSpPr>
          <p:cNvPr id="46" name="Oval 45"/>
          <p:cNvSpPr>
            <a:spLocks noChangeArrowheads="1"/>
          </p:cNvSpPr>
          <p:nvPr/>
        </p:nvSpPr>
        <p:spPr bwMode="auto">
          <a:xfrm>
            <a:off x="766605" y="3767820"/>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Production</a:t>
            </a:r>
            <a:endParaRPr lang="en-US" altLang="en-US" sz="1800" dirty="0">
              <a:latin typeface="Calibri" panose="020F0502020204030204" pitchFamily="34" charset="0"/>
            </a:endParaRPr>
          </a:p>
        </p:txBody>
      </p:sp>
      <p:sp>
        <p:nvSpPr>
          <p:cNvPr id="49" name="Oval 48"/>
          <p:cNvSpPr>
            <a:spLocks noChangeArrowheads="1"/>
          </p:cNvSpPr>
          <p:nvPr/>
        </p:nvSpPr>
        <p:spPr bwMode="auto">
          <a:xfrm>
            <a:off x="1187730" y="1703411"/>
            <a:ext cx="807522" cy="384116"/>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54" name="AutoShape 14"/>
          <p:cNvCxnSpPr>
            <a:cxnSpLocks noChangeShapeType="1"/>
            <a:stCxn id="59" idx="4"/>
            <a:endCxn id="55" idx="0"/>
          </p:cNvCxnSpPr>
          <p:nvPr/>
        </p:nvCxnSpPr>
        <p:spPr bwMode="auto">
          <a:xfrm flipH="1">
            <a:off x="1585168" y="2087527"/>
            <a:ext cx="6323" cy="304800"/>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55" name="AutoShape 14"/>
          <p:cNvCxnSpPr>
            <a:cxnSpLocks noChangeShapeType="1"/>
            <a:stCxn id="55" idx="2"/>
            <a:endCxn id="58" idx="0"/>
          </p:cNvCxnSpPr>
          <p:nvPr/>
        </p:nvCxnSpPr>
        <p:spPr bwMode="auto">
          <a:xfrm flipH="1">
            <a:off x="1170366" y="3050811"/>
            <a:ext cx="414802" cy="717009"/>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56" name="Oval 55"/>
          <p:cNvSpPr>
            <a:spLocks noChangeArrowheads="1"/>
          </p:cNvSpPr>
          <p:nvPr/>
        </p:nvSpPr>
        <p:spPr bwMode="auto">
          <a:xfrm>
            <a:off x="1645322" y="3759638"/>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Pipeline</a:t>
            </a:r>
            <a:endParaRPr lang="en-US" altLang="en-US" sz="1800" dirty="0">
              <a:latin typeface="Calibri" panose="020F0502020204030204" pitchFamily="34" charset="0"/>
            </a:endParaRPr>
          </a:p>
        </p:txBody>
      </p:sp>
      <p:cxnSp>
        <p:nvCxnSpPr>
          <p:cNvPr id="57" name="AutoShape 14"/>
          <p:cNvCxnSpPr>
            <a:cxnSpLocks noChangeShapeType="1"/>
            <a:stCxn id="55" idx="2"/>
            <a:endCxn id="72" idx="0"/>
          </p:cNvCxnSpPr>
          <p:nvPr/>
        </p:nvCxnSpPr>
        <p:spPr bwMode="auto">
          <a:xfrm>
            <a:off x="1585168" y="3050811"/>
            <a:ext cx="463915" cy="708827"/>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58" name="Rectangle 4"/>
          <p:cNvSpPr>
            <a:spLocks noChangeArrowheads="1"/>
          </p:cNvSpPr>
          <p:nvPr/>
        </p:nvSpPr>
        <p:spPr bwMode="auto">
          <a:xfrm>
            <a:off x="6809633" y="2490337"/>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59" name="Oval 58"/>
          <p:cNvSpPr>
            <a:spLocks noChangeArrowheads="1"/>
          </p:cNvSpPr>
          <p:nvPr/>
        </p:nvSpPr>
        <p:spPr bwMode="auto">
          <a:xfrm>
            <a:off x="6752986" y="3499432"/>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Production</a:t>
            </a:r>
            <a:endParaRPr lang="en-US" altLang="en-US" sz="1800" dirty="0">
              <a:latin typeface="Calibri" panose="020F0502020204030204" pitchFamily="34" charset="0"/>
            </a:endParaRPr>
          </a:p>
        </p:txBody>
      </p:sp>
      <p:sp>
        <p:nvSpPr>
          <p:cNvPr id="60" name="Oval 59"/>
          <p:cNvSpPr>
            <a:spLocks noChangeArrowheads="1"/>
          </p:cNvSpPr>
          <p:nvPr/>
        </p:nvSpPr>
        <p:spPr bwMode="auto">
          <a:xfrm>
            <a:off x="7259787" y="1703411"/>
            <a:ext cx="838201" cy="31075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62" name="AutoShape 14"/>
          <p:cNvCxnSpPr>
            <a:cxnSpLocks noChangeShapeType="1"/>
            <a:stCxn id="77" idx="4"/>
            <a:endCxn id="75" idx="0"/>
          </p:cNvCxnSpPr>
          <p:nvPr/>
        </p:nvCxnSpPr>
        <p:spPr bwMode="auto">
          <a:xfrm flipH="1">
            <a:off x="7159559" y="2014161"/>
            <a:ext cx="519329" cy="47617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63" name="AutoShape 14"/>
          <p:cNvCxnSpPr>
            <a:cxnSpLocks noChangeShapeType="1"/>
            <a:stCxn id="75" idx="2"/>
            <a:endCxn id="76" idx="0"/>
          </p:cNvCxnSpPr>
          <p:nvPr/>
        </p:nvCxnSpPr>
        <p:spPr bwMode="auto">
          <a:xfrm flipH="1">
            <a:off x="7156747" y="3148821"/>
            <a:ext cx="2812" cy="350611"/>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64" name="Rectangle 4"/>
          <p:cNvSpPr>
            <a:spLocks noChangeArrowheads="1"/>
          </p:cNvSpPr>
          <p:nvPr/>
        </p:nvSpPr>
        <p:spPr bwMode="auto">
          <a:xfrm>
            <a:off x="4074331" y="2283066"/>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400" b="1" dirty="0">
                <a:latin typeface="Calibri" panose="020F0502020204030204" pitchFamily="34" charset="0"/>
              </a:rPr>
              <a:t>P</a:t>
            </a:r>
            <a:endParaRPr lang="en-US" altLang="en-US" sz="2800" dirty="0">
              <a:latin typeface="Calibri" panose="020F0502020204030204" pitchFamily="34" charset="0"/>
            </a:endParaRPr>
          </a:p>
        </p:txBody>
      </p:sp>
      <p:sp>
        <p:nvSpPr>
          <p:cNvPr id="65" name="Oval 64"/>
          <p:cNvSpPr>
            <a:spLocks noChangeArrowheads="1"/>
          </p:cNvSpPr>
          <p:nvPr/>
        </p:nvSpPr>
        <p:spPr bwMode="auto">
          <a:xfrm>
            <a:off x="3430935" y="3430396"/>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Production</a:t>
            </a:r>
            <a:endParaRPr lang="en-US" altLang="en-US" sz="1800" dirty="0">
              <a:latin typeface="Calibri" panose="020F0502020204030204" pitchFamily="34" charset="0"/>
            </a:endParaRPr>
          </a:p>
        </p:txBody>
      </p:sp>
      <p:sp>
        <p:nvSpPr>
          <p:cNvPr id="66" name="Oval 65"/>
          <p:cNvSpPr>
            <a:spLocks noChangeArrowheads="1"/>
          </p:cNvSpPr>
          <p:nvPr/>
        </p:nvSpPr>
        <p:spPr bwMode="auto">
          <a:xfrm>
            <a:off x="4007921" y="1703411"/>
            <a:ext cx="838201" cy="31075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P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69" name="AutoShape 14"/>
          <p:cNvCxnSpPr>
            <a:cxnSpLocks noChangeShapeType="1"/>
            <a:stCxn id="84" idx="4"/>
            <a:endCxn id="82" idx="0"/>
          </p:cNvCxnSpPr>
          <p:nvPr/>
        </p:nvCxnSpPr>
        <p:spPr bwMode="auto">
          <a:xfrm flipH="1">
            <a:off x="4424257" y="2014161"/>
            <a:ext cx="2765" cy="26890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70" name="AutoShape 14"/>
          <p:cNvCxnSpPr>
            <a:cxnSpLocks noChangeShapeType="1"/>
            <a:stCxn id="82" idx="2"/>
            <a:endCxn id="83" idx="0"/>
          </p:cNvCxnSpPr>
          <p:nvPr/>
        </p:nvCxnSpPr>
        <p:spPr bwMode="auto">
          <a:xfrm flipH="1">
            <a:off x="3834696" y="2941550"/>
            <a:ext cx="589561" cy="48884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71" name="Oval 70"/>
          <p:cNvSpPr>
            <a:spLocks noChangeArrowheads="1"/>
          </p:cNvSpPr>
          <p:nvPr/>
        </p:nvSpPr>
        <p:spPr bwMode="auto">
          <a:xfrm>
            <a:off x="4270336" y="4196009"/>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Pipeline</a:t>
            </a:r>
            <a:endParaRPr lang="en-US" altLang="en-US" sz="1800" dirty="0">
              <a:latin typeface="Calibri" panose="020F0502020204030204" pitchFamily="34" charset="0"/>
            </a:endParaRPr>
          </a:p>
        </p:txBody>
      </p:sp>
      <p:cxnSp>
        <p:nvCxnSpPr>
          <p:cNvPr id="72" name="AutoShape 14"/>
          <p:cNvCxnSpPr>
            <a:cxnSpLocks noChangeShapeType="1"/>
            <a:stCxn id="82" idx="2"/>
          </p:cNvCxnSpPr>
          <p:nvPr/>
        </p:nvCxnSpPr>
        <p:spPr bwMode="auto">
          <a:xfrm>
            <a:off x="4424257" y="2941550"/>
            <a:ext cx="248852" cy="378359"/>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73" name="Rectangle 4"/>
          <p:cNvSpPr>
            <a:spLocks noChangeArrowheads="1"/>
          </p:cNvSpPr>
          <p:nvPr/>
        </p:nvSpPr>
        <p:spPr bwMode="auto">
          <a:xfrm>
            <a:off x="4343399" y="3319909"/>
            <a:ext cx="659419" cy="599293"/>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a:t>
            </a:r>
          </a:p>
        </p:txBody>
      </p:sp>
      <p:cxnSp>
        <p:nvCxnSpPr>
          <p:cNvPr id="74" name="AutoShape 14"/>
          <p:cNvCxnSpPr>
            <a:cxnSpLocks noChangeShapeType="1"/>
          </p:cNvCxnSpPr>
          <p:nvPr/>
        </p:nvCxnSpPr>
        <p:spPr bwMode="auto">
          <a:xfrm>
            <a:off x="4673109" y="3919202"/>
            <a:ext cx="988" cy="276807"/>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75" name="AutoShape 14"/>
          <p:cNvCxnSpPr>
            <a:cxnSpLocks noChangeShapeType="1"/>
            <a:stCxn id="77" idx="4"/>
          </p:cNvCxnSpPr>
          <p:nvPr/>
        </p:nvCxnSpPr>
        <p:spPr bwMode="auto">
          <a:xfrm>
            <a:off x="7678888" y="2014161"/>
            <a:ext cx="618098" cy="470207"/>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76" name="Oval 75"/>
          <p:cNvSpPr>
            <a:spLocks noChangeArrowheads="1"/>
          </p:cNvSpPr>
          <p:nvPr/>
        </p:nvSpPr>
        <p:spPr bwMode="auto">
          <a:xfrm>
            <a:off x="7893225" y="3500844"/>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Pipeline</a:t>
            </a:r>
            <a:endParaRPr lang="en-US" altLang="en-US" sz="1800" dirty="0">
              <a:latin typeface="Calibri" panose="020F0502020204030204" pitchFamily="34" charset="0"/>
            </a:endParaRPr>
          </a:p>
        </p:txBody>
      </p:sp>
      <p:sp>
        <p:nvSpPr>
          <p:cNvPr id="77" name="Rectangle 4"/>
          <p:cNvSpPr>
            <a:spLocks noChangeArrowheads="1"/>
          </p:cNvSpPr>
          <p:nvPr/>
        </p:nvSpPr>
        <p:spPr bwMode="auto">
          <a:xfrm>
            <a:off x="7947060" y="2484368"/>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a:t>
            </a:r>
          </a:p>
        </p:txBody>
      </p:sp>
      <p:cxnSp>
        <p:nvCxnSpPr>
          <p:cNvPr id="78" name="AutoShape 14"/>
          <p:cNvCxnSpPr>
            <a:cxnSpLocks noChangeShapeType="1"/>
          </p:cNvCxnSpPr>
          <p:nvPr/>
        </p:nvCxnSpPr>
        <p:spPr bwMode="auto">
          <a:xfrm>
            <a:off x="8296986" y="3142852"/>
            <a:ext cx="0" cy="35799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79" name="Elbow Connector 78"/>
          <p:cNvCxnSpPr>
            <a:stCxn id="82" idx="3"/>
          </p:cNvCxnSpPr>
          <p:nvPr/>
        </p:nvCxnSpPr>
        <p:spPr>
          <a:xfrm>
            <a:off x="4774183" y="2612308"/>
            <a:ext cx="303675" cy="1748322"/>
          </a:xfrm>
          <a:prstGeom prst="bentConnector3">
            <a:avLst>
              <a:gd name="adj1" fmla="val 175278"/>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Elbow Connector 79"/>
          <p:cNvCxnSpPr>
            <a:endCxn id="84" idx="6"/>
          </p:cNvCxnSpPr>
          <p:nvPr/>
        </p:nvCxnSpPr>
        <p:spPr>
          <a:xfrm rot="5400000" flipH="1" flipV="1">
            <a:off x="4525181" y="2121173"/>
            <a:ext cx="583327" cy="58555"/>
          </a:xfrm>
          <a:prstGeom prst="bentConnector4">
            <a:avLst>
              <a:gd name="adj1" fmla="val -2774"/>
              <a:gd name="adj2" fmla="val 883460"/>
            </a:avLst>
          </a:prstGeom>
          <a:ln>
            <a:tailEnd type="triangle"/>
          </a:ln>
        </p:spPr>
        <p:style>
          <a:lnRef idx="1">
            <a:schemeClr val="accent1"/>
          </a:lnRef>
          <a:fillRef idx="0">
            <a:schemeClr val="accent1"/>
          </a:fillRef>
          <a:effectRef idx="0">
            <a:schemeClr val="accent1"/>
          </a:effectRef>
          <a:fontRef idx="minor">
            <a:schemeClr val="tx1"/>
          </a:fontRef>
        </p:style>
      </p:cxnSp>
      <p:sp>
        <p:nvSpPr>
          <p:cNvPr id="81" name="Oval 80"/>
          <p:cNvSpPr/>
          <p:nvPr/>
        </p:nvSpPr>
        <p:spPr>
          <a:xfrm>
            <a:off x="5347709" y="3150274"/>
            <a:ext cx="304800" cy="34361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1</a:t>
            </a:r>
          </a:p>
        </p:txBody>
      </p:sp>
      <p:cxnSp>
        <p:nvCxnSpPr>
          <p:cNvPr id="82" name="Straight Connector 81"/>
          <p:cNvCxnSpPr/>
          <p:nvPr/>
        </p:nvCxnSpPr>
        <p:spPr>
          <a:xfrm>
            <a:off x="2819400" y="1447800"/>
            <a:ext cx="0" cy="2958903"/>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Straight Connector 82"/>
          <p:cNvCxnSpPr/>
          <p:nvPr/>
        </p:nvCxnSpPr>
        <p:spPr>
          <a:xfrm>
            <a:off x="6248400" y="1462098"/>
            <a:ext cx="0" cy="2958903"/>
          </a:xfrm>
          <a:prstGeom prst="line">
            <a:avLst/>
          </a:prstGeom>
        </p:spPr>
        <p:style>
          <a:lnRef idx="1">
            <a:schemeClr val="accent1"/>
          </a:lnRef>
          <a:fillRef idx="0">
            <a:schemeClr val="accent1"/>
          </a:fillRef>
          <a:effectRef idx="0">
            <a:schemeClr val="accent1"/>
          </a:effectRef>
          <a:fontRef idx="minor">
            <a:schemeClr val="tx1"/>
          </a:fontRef>
        </p:style>
      </p:cxnSp>
      <p:sp>
        <p:nvSpPr>
          <p:cNvPr id="84" name="Oval 83"/>
          <p:cNvSpPr/>
          <p:nvPr/>
        </p:nvSpPr>
        <p:spPr>
          <a:xfrm>
            <a:off x="5376771" y="1977773"/>
            <a:ext cx="304800" cy="34361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2</a:t>
            </a:r>
          </a:p>
        </p:txBody>
      </p:sp>
    </p:spTree>
    <p:extLst>
      <p:ext uri="{BB962C8B-B14F-4D97-AF65-F5344CB8AC3E}">
        <p14:creationId xmlns:p14="http://schemas.microsoft.com/office/powerpoint/2010/main" val="17960986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1171" name="Rectangle 3"/>
          <p:cNvSpPr>
            <a:spLocks noGrp="1" noChangeArrowheads="1"/>
          </p:cNvSpPr>
          <p:nvPr>
            <p:ph idx="1"/>
          </p:nvPr>
        </p:nvSpPr>
        <p:spPr/>
        <p:txBody>
          <a:bodyPr/>
          <a:lstStyle/>
          <a:p>
            <a:pPr>
              <a:defRPr/>
            </a:pPr>
            <a:r>
              <a:rPr lang="en-US" sz="2400" dirty="0">
                <a:cs typeface="+mn-cs"/>
              </a:rPr>
              <a:t>If the assets to be spun off are </a:t>
            </a:r>
            <a:r>
              <a:rPr lang="en-US" sz="2400" b="1" dirty="0">
                <a:cs typeface="+mn-cs"/>
              </a:rPr>
              <a:t>not</a:t>
            </a:r>
            <a:r>
              <a:rPr lang="en-US" sz="2400" dirty="0">
                <a:cs typeface="+mn-cs"/>
              </a:rPr>
              <a:t> in a separate subsidiary, the initial transfer is a </a:t>
            </a:r>
            <a:r>
              <a:rPr lang="en-US" sz="2400" i="1" dirty="0">
                <a:cs typeface="+mn-cs"/>
              </a:rPr>
              <a:t>divisive D reorganization </a:t>
            </a:r>
            <a:r>
              <a:rPr lang="en-US" sz="2400" dirty="0">
                <a:cs typeface="+mn-cs"/>
              </a:rPr>
              <a:t>under </a:t>
            </a:r>
            <a:r>
              <a:rPr lang="en-US" sz="2400" dirty="0"/>
              <a:t>§</a:t>
            </a:r>
            <a:r>
              <a:rPr lang="en-US" sz="2400" dirty="0">
                <a:cs typeface="+mn-cs"/>
              </a:rPr>
              <a:t>368(a)(1)(D).</a:t>
            </a:r>
          </a:p>
          <a:p>
            <a:pPr lvl="1">
              <a:defRPr/>
            </a:pPr>
            <a:r>
              <a:rPr lang="en-US" sz="2000" dirty="0">
                <a:cs typeface="+mn-cs"/>
              </a:rPr>
              <a:t>In a </a:t>
            </a:r>
            <a:r>
              <a:rPr lang="en-US" sz="2000" b="1" i="1" dirty="0">
                <a:cs typeface="+mn-cs"/>
              </a:rPr>
              <a:t>non-divisive D reorg</a:t>
            </a:r>
            <a:r>
              <a:rPr lang="en-US" sz="2000" dirty="0">
                <a:cs typeface="+mn-cs"/>
              </a:rPr>
              <a:t>, the transferee corporation must acquire substantially all of the assets of the transferor. </a:t>
            </a:r>
            <a:r>
              <a:rPr lang="en-US" sz="2000" dirty="0"/>
              <a:t>§354(b)(1)(A).</a:t>
            </a:r>
          </a:p>
          <a:p>
            <a:pPr lvl="1">
              <a:defRPr/>
            </a:pPr>
            <a:r>
              <a:rPr lang="en-US" sz="2000" dirty="0"/>
              <a:t>To qualify as a </a:t>
            </a:r>
            <a:r>
              <a:rPr lang="en-US" sz="2000" b="1" i="1" dirty="0"/>
              <a:t>divisive D reorg</a:t>
            </a:r>
            <a:r>
              <a:rPr lang="en-US" sz="2000" i="1" dirty="0"/>
              <a:t>, </a:t>
            </a:r>
            <a:r>
              <a:rPr lang="en-US" sz="2000" dirty="0"/>
              <a:t>the requirements of §355 must be satisfied.</a:t>
            </a:r>
          </a:p>
          <a:p>
            <a:pPr>
              <a:defRPr/>
            </a:pPr>
            <a:endParaRPr lang="en-US" sz="2400" dirty="0"/>
          </a:p>
          <a:p>
            <a:pPr>
              <a:defRPr/>
            </a:pPr>
            <a:endParaRPr lang="en-US" sz="2400" dirty="0"/>
          </a:p>
          <a:p>
            <a:pPr>
              <a:defRPr/>
            </a:pPr>
            <a:r>
              <a:rPr lang="en-US" sz="2400" dirty="0"/>
              <a:t>If the assets to be spun off are already in a separate subsidiary, the rules of §355 apply to determine the tax consequences to the </a:t>
            </a:r>
            <a:r>
              <a:rPr lang="en-US" sz="2400" dirty="0" err="1"/>
              <a:t>distributee</a:t>
            </a:r>
            <a:r>
              <a:rPr lang="en-US" sz="2400" dirty="0"/>
              <a:t>(s) shareholder(s) and the distributing corporation. </a:t>
            </a:r>
          </a:p>
          <a:p>
            <a:pPr>
              <a:defRPr/>
            </a:pPr>
            <a:endParaRPr lang="en-US" sz="2000" dirty="0"/>
          </a:p>
          <a:p>
            <a:pPr>
              <a:defRPr/>
            </a:pPr>
            <a:endParaRPr lang="en-US" sz="2000" dirty="0"/>
          </a:p>
          <a:p>
            <a:pPr>
              <a:defRPr/>
            </a:pPr>
            <a:endParaRPr lang="en-US" sz="2150" i="1" dirty="0"/>
          </a:p>
        </p:txBody>
      </p:sp>
      <p:sp>
        <p:nvSpPr>
          <p:cNvPr id="391170" name="Rectangle 2"/>
          <p:cNvSpPr>
            <a:spLocks noGrp="1" noChangeArrowheads="1"/>
          </p:cNvSpPr>
          <p:nvPr>
            <p:ph type="title"/>
          </p:nvPr>
        </p:nvSpPr>
        <p:spPr/>
        <p:txBody>
          <a:bodyPr/>
          <a:lstStyle/>
          <a:p>
            <a:pPr eaLnBrk="1" hangingPunct="1">
              <a:defRPr/>
            </a:pPr>
            <a:r>
              <a:rPr lang="en-US" b="1" dirty="0">
                <a:cs typeface="+mj-cs"/>
              </a:rPr>
              <a:t>Divisive Reorganizations: Sections 355 and 368(a)(1)(D)</a:t>
            </a:r>
            <a:endParaRPr lang="en-US" dirty="0">
              <a:cs typeface="+mj-cs"/>
            </a:endParaRPr>
          </a:p>
        </p:txBody>
      </p:sp>
      <p:sp>
        <p:nvSpPr>
          <p:cNvPr id="5" name="Slide Number Placeholder 4"/>
          <p:cNvSpPr>
            <a:spLocks noGrp="1"/>
          </p:cNvSpPr>
          <p:nvPr>
            <p:ph type="sldNum" sz="quarter" idx="10"/>
          </p:nvPr>
        </p:nvSpPr>
        <p:spPr/>
        <p:txBody>
          <a:bodyPr/>
          <a:lstStyle/>
          <a:p>
            <a:pPr>
              <a:defRPr/>
            </a:pPr>
            <a:fld id="{E32B26F8-6FF0-E148-8BA7-A50F0772AB24}" type="slidenum">
              <a:rPr lang="en-US"/>
              <a:pPr>
                <a:defRPr/>
              </a:pPr>
              <a:t>4</a:t>
            </a:fld>
            <a:endParaRPr lang="en-US"/>
          </a:p>
        </p:txBody>
      </p:sp>
      <p:sp>
        <p:nvSpPr>
          <p:cNvPr id="2" name="Footer Placeholder 1"/>
          <p:cNvSpPr>
            <a:spLocks noGrp="1"/>
          </p:cNvSpPr>
          <p:nvPr>
            <p:ph type="ftr" sz="quarter" idx="11"/>
          </p:nvPr>
        </p:nvSpPr>
        <p:spPr/>
        <p:txBody>
          <a:bodyPr/>
          <a:lstStyle/>
          <a:p>
            <a:pPr>
              <a:defRPr/>
            </a:pPr>
            <a:r>
              <a:rPr lang="en-US"/>
              <a:t>Spin Offs</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117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117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9117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91171">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1171"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9530D7-68D3-0544-8A3D-0B6FDB10197A}"/>
              </a:ext>
            </a:extLst>
          </p:cNvPr>
          <p:cNvSpPr>
            <a:spLocks noGrp="1"/>
          </p:cNvSpPr>
          <p:nvPr>
            <p:ph idx="1"/>
          </p:nvPr>
        </p:nvSpPr>
        <p:spPr/>
        <p:txBody>
          <a:bodyPr/>
          <a:lstStyle/>
          <a:p>
            <a:r>
              <a:rPr lang="en-US" sz="2800" dirty="0"/>
              <a:t>If:</a:t>
            </a:r>
          </a:p>
          <a:p>
            <a:pPr lvl="1"/>
            <a:r>
              <a:rPr lang="en-US" sz="2400" dirty="0"/>
              <a:t>A corporation distributes stock/securities of corporation that it </a:t>
            </a:r>
            <a:r>
              <a:rPr lang="en-US" sz="2400" b="1" dirty="0"/>
              <a:t>controls immediately before the distribution;</a:t>
            </a:r>
          </a:p>
          <a:p>
            <a:pPr lvl="1"/>
            <a:r>
              <a:rPr lang="en-US" sz="2400" dirty="0"/>
              <a:t>Transaction is </a:t>
            </a:r>
            <a:r>
              <a:rPr lang="en-US" sz="2400" b="1" dirty="0"/>
              <a:t>not a device </a:t>
            </a:r>
            <a:r>
              <a:rPr lang="en-US" sz="2400" dirty="0"/>
              <a:t>to the </a:t>
            </a:r>
            <a:r>
              <a:rPr lang="en-US" sz="2400" b="1" dirty="0"/>
              <a:t>distribution of E&amp;Ps</a:t>
            </a:r>
            <a:r>
              <a:rPr lang="en-US" sz="2400" dirty="0"/>
              <a:t> of distributing or controlled;</a:t>
            </a:r>
          </a:p>
          <a:p>
            <a:pPr lvl="1"/>
            <a:r>
              <a:rPr lang="en-US" sz="2400" b="1" dirty="0"/>
              <a:t>Active business test </a:t>
            </a:r>
            <a:r>
              <a:rPr lang="en-US" sz="2400" dirty="0"/>
              <a:t>satisfied; and </a:t>
            </a:r>
          </a:p>
          <a:p>
            <a:pPr lvl="1"/>
            <a:r>
              <a:rPr lang="en-US" sz="2400" dirty="0"/>
              <a:t>Either </a:t>
            </a:r>
            <a:r>
              <a:rPr lang="en-US" sz="2400" b="1" dirty="0"/>
              <a:t>all stock/securities of controlled are distributed </a:t>
            </a:r>
            <a:r>
              <a:rPr lang="en-US" sz="2400" dirty="0"/>
              <a:t>(or control is distributed and retention of stock/securities  not part of tax avoidance plan)</a:t>
            </a:r>
          </a:p>
          <a:p>
            <a:pPr marL="171450" lvl="1" indent="0">
              <a:buNone/>
            </a:pPr>
            <a:endParaRPr lang="en-US" sz="2400" dirty="0"/>
          </a:p>
          <a:p>
            <a:r>
              <a:rPr lang="en-US" sz="2800" dirty="0"/>
              <a:t>Then:</a:t>
            </a:r>
          </a:p>
          <a:p>
            <a:pPr lvl="1"/>
            <a:r>
              <a:rPr lang="en-US" sz="2650" dirty="0"/>
              <a:t>no G/L or Income to </a:t>
            </a:r>
            <a:r>
              <a:rPr lang="en-US" sz="2650" dirty="0" err="1"/>
              <a:t>distributee</a:t>
            </a:r>
            <a:r>
              <a:rPr lang="en-US" sz="2650" dirty="0"/>
              <a:t>(s). §355(a)(1).</a:t>
            </a:r>
            <a:endParaRPr lang="en-US" sz="2250" dirty="0"/>
          </a:p>
        </p:txBody>
      </p:sp>
      <p:sp>
        <p:nvSpPr>
          <p:cNvPr id="3" name="Title 2">
            <a:extLst>
              <a:ext uri="{FF2B5EF4-FFF2-40B4-BE49-F238E27FC236}">
                <a16:creationId xmlns:a16="http://schemas.microsoft.com/office/drawing/2014/main" id="{976C3B85-77E6-8F45-940D-7F13076A1D93}"/>
              </a:ext>
            </a:extLst>
          </p:cNvPr>
          <p:cNvSpPr>
            <a:spLocks noGrp="1"/>
          </p:cNvSpPr>
          <p:nvPr>
            <p:ph type="title"/>
          </p:nvPr>
        </p:nvSpPr>
        <p:spPr/>
        <p:txBody>
          <a:bodyPr/>
          <a:lstStyle/>
          <a:p>
            <a:r>
              <a:rPr lang="en-US" dirty="0"/>
              <a:t>Section 355(a)(1):  </a:t>
            </a:r>
            <a:r>
              <a:rPr lang="en-US" dirty="0" err="1"/>
              <a:t>Distributee</a:t>
            </a:r>
            <a:r>
              <a:rPr lang="en-US" dirty="0"/>
              <a:t>(s)</a:t>
            </a:r>
          </a:p>
        </p:txBody>
      </p:sp>
      <p:sp>
        <p:nvSpPr>
          <p:cNvPr id="4" name="Slide Number Placeholder 3">
            <a:extLst>
              <a:ext uri="{FF2B5EF4-FFF2-40B4-BE49-F238E27FC236}">
                <a16:creationId xmlns:a16="http://schemas.microsoft.com/office/drawing/2014/main" id="{926CB91F-16AC-FA44-A139-94F778C76D0D}"/>
              </a:ext>
            </a:extLst>
          </p:cNvPr>
          <p:cNvSpPr>
            <a:spLocks noGrp="1"/>
          </p:cNvSpPr>
          <p:nvPr>
            <p:ph type="sldNum" sz="quarter" idx="10"/>
          </p:nvPr>
        </p:nvSpPr>
        <p:spPr/>
        <p:txBody>
          <a:bodyPr/>
          <a:lstStyle/>
          <a:p>
            <a:fld id="{7B3E355C-57B9-BC4B-95D8-406A1F834537}" type="slidenum">
              <a:rPr lang="en-US" altLang="en-US" smtClean="0"/>
              <a:pPr/>
              <a:t>5</a:t>
            </a:fld>
            <a:endParaRPr lang="en-US" altLang="en-US" dirty="0"/>
          </a:p>
        </p:txBody>
      </p:sp>
      <p:sp>
        <p:nvSpPr>
          <p:cNvPr id="5" name="Footer Placeholder 4">
            <a:extLst>
              <a:ext uri="{FF2B5EF4-FFF2-40B4-BE49-F238E27FC236}">
                <a16:creationId xmlns:a16="http://schemas.microsoft.com/office/drawing/2014/main" id="{8F3234A7-1D1D-7E49-978D-CEA81589354B}"/>
              </a:ext>
            </a:extLst>
          </p:cNvPr>
          <p:cNvSpPr>
            <a:spLocks noGrp="1"/>
          </p:cNvSpPr>
          <p:nvPr>
            <p:ph type="ftr" sz="quarter" idx="11"/>
          </p:nvPr>
        </p:nvSpPr>
        <p:spPr/>
        <p:txBody>
          <a:bodyPr/>
          <a:lstStyle/>
          <a:p>
            <a:pPr>
              <a:defRPr/>
            </a:pPr>
            <a:r>
              <a:rPr lang="en-US"/>
              <a:t>Spin Offs</a:t>
            </a:r>
            <a:endParaRPr lang="en-US" dirty="0"/>
          </a:p>
        </p:txBody>
      </p:sp>
    </p:spTree>
    <p:extLst>
      <p:ext uri="{BB962C8B-B14F-4D97-AF65-F5344CB8AC3E}">
        <p14:creationId xmlns:p14="http://schemas.microsoft.com/office/powerpoint/2010/main" val="3495198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384048" y="4411109"/>
            <a:ext cx="8458200" cy="1934356"/>
          </a:xfrm>
          <a:ln>
            <a:solidFill>
              <a:schemeClr val="tx1"/>
            </a:solidFill>
          </a:ln>
        </p:spPr>
        <p:txBody>
          <a:bodyPr/>
          <a:lstStyle/>
          <a:p>
            <a:r>
              <a:rPr lang="en-US" dirty="0"/>
              <a:t>6/30/61: Transfer of O,W, &amp; I assets to Northwest</a:t>
            </a:r>
          </a:p>
          <a:p>
            <a:r>
              <a:rPr lang="en-US" dirty="0"/>
              <a:t>9/29/</a:t>
            </a:r>
            <a:r>
              <a:rPr lang="en-US" b="1" dirty="0"/>
              <a:t>61</a:t>
            </a:r>
            <a:r>
              <a:rPr lang="en-US" dirty="0"/>
              <a:t>: Pacific issued to its </a:t>
            </a:r>
            <a:r>
              <a:rPr lang="en-US" dirty="0" err="1"/>
              <a:t>SHs</a:t>
            </a:r>
            <a:r>
              <a:rPr lang="en-US" dirty="0"/>
              <a:t> </a:t>
            </a:r>
            <a:r>
              <a:rPr lang="en-US" b="1" dirty="0"/>
              <a:t>1 right for each share of Pacific</a:t>
            </a:r>
          </a:p>
          <a:p>
            <a:pPr lvl="1"/>
            <a:r>
              <a:rPr lang="en-US" dirty="0"/>
              <a:t>6 rights &amp; $16 = 1 share of Northwest (total rights about </a:t>
            </a:r>
            <a:r>
              <a:rPr lang="en-US" b="1" dirty="0"/>
              <a:t>57%</a:t>
            </a:r>
            <a:r>
              <a:rPr lang="en-US" dirty="0"/>
              <a:t> of Northwest stock)</a:t>
            </a:r>
          </a:p>
          <a:p>
            <a:pPr lvl="1"/>
            <a:r>
              <a:rPr lang="en-US" dirty="0"/>
              <a:t>IRS ruling: </a:t>
            </a:r>
            <a:r>
              <a:rPr lang="en-US" dirty="0" err="1"/>
              <a:t>SH</a:t>
            </a:r>
            <a:r>
              <a:rPr lang="en-US" dirty="0"/>
              <a:t> who exercised right would have income of </a:t>
            </a:r>
            <a:r>
              <a:rPr lang="en-US" dirty="0" err="1"/>
              <a:t>FMV</a:t>
            </a:r>
            <a:r>
              <a:rPr lang="en-US" dirty="0"/>
              <a:t> of Northwest stock minus $16</a:t>
            </a:r>
          </a:p>
          <a:p>
            <a:r>
              <a:rPr lang="en-US" dirty="0"/>
              <a:t>6/12/</a:t>
            </a:r>
            <a:r>
              <a:rPr lang="en-US" b="1" dirty="0"/>
              <a:t>63</a:t>
            </a:r>
            <a:r>
              <a:rPr lang="en-US" dirty="0"/>
              <a:t>: remaining Northwest stock offered to Pacific </a:t>
            </a:r>
            <a:r>
              <a:rPr lang="en-US" dirty="0" err="1"/>
              <a:t>SHs</a:t>
            </a:r>
            <a:r>
              <a:rPr lang="en-US" dirty="0"/>
              <a:t> for 8 rights + $16</a:t>
            </a:r>
          </a:p>
          <a:p>
            <a:r>
              <a:rPr lang="en-US" dirty="0"/>
              <a:t>What was the basis on which the Ct. rejected the application of section 355?</a:t>
            </a:r>
          </a:p>
          <a:p>
            <a:endParaRPr lang="en-US" dirty="0"/>
          </a:p>
        </p:txBody>
      </p:sp>
      <p:sp>
        <p:nvSpPr>
          <p:cNvPr id="3" name="Title 2"/>
          <p:cNvSpPr>
            <a:spLocks noGrp="1"/>
          </p:cNvSpPr>
          <p:nvPr>
            <p:ph type="title"/>
          </p:nvPr>
        </p:nvSpPr>
        <p:spPr/>
        <p:txBody>
          <a:bodyPr/>
          <a:lstStyle/>
          <a:p>
            <a:r>
              <a:rPr lang="en-US" dirty="0"/>
              <a:t>Section 355(a)(1)(D) and Distribution of Control: </a:t>
            </a:r>
            <a:r>
              <a:rPr lang="en-US" i="1" dirty="0"/>
              <a:t>CIR v. Gordon</a:t>
            </a:r>
            <a:r>
              <a:rPr lang="en-US" dirty="0"/>
              <a:t> (1968)</a:t>
            </a:r>
            <a:endParaRPr lang="en-US" i="1"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6</a:t>
            </a:fld>
            <a:endParaRPr lang="en-US" altLang="en-US" dirty="0"/>
          </a:p>
        </p:txBody>
      </p:sp>
      <p:sp>
        <p:nvSpPr>
          <p:cNvPr id="5" name="Footer Placeholder 4"/>
          <p:cNvSpPr>
            <a:spLocks noGrp="1"/>
          </p:cNvSpPr>
          <p:nvPr>
            <p:ph type="ftr" sz="quarter" idx="11"/>
          </p:nvPr>
        </p:nvSpPr>
        <p:spPr/>
        <p:txBody>
          <a:bodyPr/>
          <a:lstStyle/>
          <a:p>
            <a:pPr>
              <a:defRPr/>
            </a:pPr>
            <a:r>
              <a:rPr lang="en-US"/>
              <a:t>Spin Offs</a:t>
            </a:r>
            <a:endParaRPr lang="en-US" dirty="0"/>
          </a:p>
        </p:txBody>
      </p:sp>
      <p:sp>
        <p:nvSpPr>
          <p:cNvPr id="6" name="Rectangle 4"/>
          <p:cNvSpPr>
            <a:spLocks noChangeArrowheads="1"/>
          </p:cNvSpPr>
          <p:nvPr/>
        </p:nvSpPr>
        <p:spPr bwMode="auto">
          <a:xfrm>
            <a:off x="854971" y="1324933"/>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800" b="1" dirty="0">
                <a:latin typeface="Calibri" panose="020F0502020204030204" pitchFamily="34" charset="0"/>
              </a:rPr>
              <a:t>ATT</a:t>
            </a:r>
            <a:endParaRPr lang="en-US" altLang="en-US" sz="2000" dirty="0">
              <a:latin typeface="Calibri" panose="020F0502020204030204" pitchFamily="34" charset="0"/>
            </a:endParaRPr>
          </a:p>
        </p:txBody>
      </p:sp>
      <p:sp>
        <p:nvSpPr>
          <p:cNvPr id="8" name="Oval 7"/>
          <p:cNvSpPr>
            <a:spLocks noChangeArrowheads="1"/>
          </p:cNvSpPr>
          <p:nvPr/>
        </p:nvSpPr>
        <p:spPr bwMode="auto">
          <a:xfrm>
            <a:off x="807459" y="636017"/>
            <a:ext cx="807522" cy="384116"/>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ATT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9" name="AutoShape 14"/>
          <p:cNvCxnSpPr>
            <a:cxnSpLocks noChangeShapeType="1"/>
          </p:cNvCxnSpPr>
          <p:nvPr/>
        </p:nvCxnSpPr>
        <p:spPr bwMode="auto">
          <a:xfrm flipH="1">
            <a:off x="1204897" y="1020133"/>
            <a:ext cx="6323" cy="304800"/>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0" name="AutoShape 14"/>
          <p:cNvCxnSpPr>
            <a:cxnSpLocks noChangeShapeType="1"/>
            <a:stCxn id="6" idx="2"/>
            <a:endCxn id="37" idx="0"/>
          </p:cNvCxnSpPr>
          <p:nvPr/>
        </p:nvCxnSpPr>
        <p:spPr bwMode="auto">
          <a:xfrm>
            <a:off x="1204897" y="1983417"/>
            <a:ext cx="459174" cy="478674"/>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2" name="AutoShape 14"/>
          <p:cNvCxnSpPr>
            <a:cxnSpLocks noChangeShapeType="1"/>
            <a:stCxn id="6" idx="2"/>
            <a:endCxn id="43" idx="0"/>
          </p:cNvCxnSpPr>
          <p:nvPr/>
        </p:nvCxnSpPr>
        <p:spPr bwMode="auto">
          <a:xfrm flipH="1">
            <a:off x="634510" y="1983417"/>
            <a:ext cx="570387" cy="498414"/>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31" name="Elbow Connector 30"/>
          <p:cNvCxnSpPr>
            <a:stCxn id="69" idx="3"/>
            <a:endCxn id="73" idx="6"/>
          </p:cNvCxnSpPr>
          <p:nvPr/>
        </p:nvCxnSpPr>
        <p:spPr>
          <a:xfrm>
            <a:off x="4508380" y="2737183"/>
            <a:ext cx="555970" cy="1391813"/>
          </a:xfrm>
          <a:prstGeom prst="bentConnector3">
            <a:avLst>
              <a:gd name="adj1" fmla="val 114097"/>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Elbow Connector 31"/>
          <p:cNvCxnSpPr>
            <a:stCxn id="69" idx="3"/>
            <a:endCxn id="64" idx="3"/>
          </p:cNvCxnSpPr>
          <p:nvPr/>
        </p:nvCxnSpPr>
        <p:spPr>
          <a:xfrm flipH="1" flipV="1">
            <a:off x="4069423" y="1629620"/>
            <a:ext cx="438957" cy="1107563"/>
          </a:xfrm>
          <a:prstGeom prst="bentConnector3">
            <a:avLst>
              <a:gd name="adj1" fmla="val -145819"/>
            </a:avLst>
          </a:prstGeom>
          <a:ln>
            <a:tailEnd type="triangle"/>
          </a:ln>
        </p:spPr>
        <p:style>
          <a:lnRef idx="1">
            <a:schemeClr val="accent1"/>
          </a:lnRef>
          <a:fillRef idx="0">
            <a:schemeClr val="accent1"/>
          </a:fillRef>
          <a:effectRef idx="0">
            <a:schemeClr val="accent1"/>
          </a:effectRef>
          <a:fontRef idx="minor">
            <a:schemeClr val="tx1"/>
          </a:fontRef>
        </p:style>
      </p:cxnSp>
      <p:sp>
        <p:nvSpPr>
          <p:cNvPr id="33" name="Oval 32"/>
          <p:cNvSpPr/>
          <p:nvPr/>
        </p:nvSpPr>
        <p:spPr>
          <a:xfrm>
            <a:off x="5166525" y="3325809"/>
            <a:ext cx="304800" cy="34361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1</a:t>
            </a:r>
          </a:p>
        </p:txBody>
      </p:sp>
      <p:cxnSp>
        <p:nvCxnSpPr>
          <p:cNvPr id="34" name="Straight Connector 33"/>
          <p:cNvCxnSpPr/>
          <p:nvPr/>
        </p:nvCxnSpPr>
        <p:spPr>
          <a:xfrm>
            <a:off x="2667000" y="654498"/>
            <a:ext cx="0" cy="2958903"/>
          </a:xfrm>
          <a:prstGeom prst="line">
            <a:avLst/>
          </a:prstGeom>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a:off x="5715000" y="636017"/>
            <a:ext cx="0" cy="2958903"/>
          </a:xfrm>
          <a:prstGeom prst="line">
            <a:avLst/>
          </a:prstGeom>
        </p:spPr>
        <p:style>
          <a:lnRef idx="1">
            <a:schemeClr val="accent1"/>
          </a:lnRef>
          <a:fillRef idx="0">
            <a:schemeClr val="accent1"/>
          </a:fillRef>
          <a:effectRef idx="0">
            <a:schemeClr val="accent1"/>
          </a:effectRef>
          <a:fontRef idx="minor">
            <a:schemeClr val="tx1"/>
          </a:fontRef>
        </p:style>
      </p:cxnSp>
      <p:sp>
        <p:nvSpPr>
          <p:cNvPr id="36" name="Oval 35"/>
          <p:cNvSpPr/>
          <p:nvPr/>
        </p:nvSpPr>
        <p:spPr>
          <a:xfrm>
            <a:off x="5243755" y="1890141"/>
            <a:ext cx="304800" cy="34361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2</a:t>
            </a:r>
          </a:p>
        </p:txBody>
      </p:sp>
      <p:sp>
        <p:nvSpPr>
          <p:cNvPr id="37" name="Rectangle 4"/>
          <p:cNvSpPr>
            <a:spLocks noChangeArrowheads="1"/>
          </p:cNvSpPr>
          <p:nvPr/>
        </p:nvSpPr>
        <p:spPr bwMode="auto">
          <a:xfrm>
            <a:off x="1334361" y="2462091"/>
            <a:ext cx="659419" cy="599293"/>
          </a:xfrm>
          <a:prstGeom prst="rect">
            <a:avLst/>
          </a:prstGeom>
          <a:solidFill>
            <a:schemeClr val="accent2">
              <a:lumMod val="20000"/>
              <a:lumOff val="80000"/>
            </a:schemeClr>
          </a:solidFill>
          <a:ln w="9525">
            <a:solidFill>
              <a:schemeClr val="tx1"/>
            </a:solidFill>
            <a:miter lim="800000"/>
            <a:headEnd/>
            <a:tailEnd/>
          </a:ln>
          <a:effectLst/>
        </p:spPr>
        <p:txBody>
          <a:bodyPr wrap="none" anchor="ctr"/>
          <a:lstStyle/>
          <a:p>
            <a:pPr algn="ctr"/>
            <a:r>
              <a:rPr lang="en-US" altLang="en-US" sz="1600" b="1" dirty="0">
                <a:latin typeface="Calibri" panose="020F0502020204030204" pitchFamily="34" charset="0"/>
              </a:rPr>
              <a:t>Pacific</a:t>
            </a:r>
          </a:p>
        </p:txBody>
      </p:sp>
      <p:sp>
        <p:nvSpPr>
          <p:cNvPr id="43" name="Rectangle 4"/>
          <p:cNvSpPr>
            <a:spLocks noChangeArrowheads="1"/>
          </p:cNvSpPr>
          <p:nvPr/>
        </p:nvSpPr>
        <p:spPr bwMode="auto">
          <a:xfrm>
            <a:off x="304800" y="2481831"/>
            <a:ext cx="659419" cy="562708"/>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a:t>
            </a:r>
          </a:p>
        </p:txBody>
      </p:sp>
      <p:sp>
        <p:nvSpPr>
          <p:cNvPr id="48" name="Oval 47"/>
          <p:cNvSpPr>
            <a:spLocks noChangeArrowheads="1"/>
          </p:cNvSpPr>
          <p:nvPr/>
        </p:nvSpPr>
        <p:spPr bwMode="auto">
          <a:xfrm>
            <a:off x="704753" y="3284159"/>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CA</a:t>
            </a:r>
            <a:endParaRPr lang="en-US" altLang="en-US" sz="1800" dirty="0">
              <a:latin typeface="Calibri" panose="020F0502020204030204" pitchFamily="34" charset="0"/>
            </a:endParaRPr>
          </a:p>
        </p:txBody>
      </p:sp>
      <p:cxnSp>
        <p:nvCxnSpPr>
          <p:cNvPr id="49" name="AutoShape 14"/>
          <p:cNvCxnSpPr>
            <a:cxnSpLocks noChangeShapeType="1"/>
            <a:stCxn id="37" idx="2"/>
            <a:endCxn id="48" idx="0"/>
          </p:cNvCxnSpPr>
          <p:nvPr/>
        </p:nvCxnSpPr>
        <p:spPr bwMode="auto">
          <a:xfrm flipH="1">
            <a:off x="1108514" y="3061384"/>
            <a:ext cx="555557" cy="22277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57" name="Oval 56"/>
          <p:cNvSpPr>
            <a:spLocks noChangeArrowheads="1"/>
          </p:cNvSpPr>
          <p:nvPr/>
        </p:nvSpPr>
        <p:spPr bwMode="auto">
          <a:xfrm>
            <a:off x="1553046" y="3265800"/>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O, W, I</a:t>
            </a:r>
            <a:endParaRPr lang="en-US" altLang="en-US" sz="1800" dirty="0">
              <a:latin typeface="Calibri" panose="020F0502020204030204" pitchFamily="34" charset="0"/>
            </a:endParaRPr>
          </a:p>
        </p:txBody>
      </p:sp>
      <p:cxnSp>
        <p:nvCxnSpPr>
          <p:cNvPr id="58" name="AutoShape 14"/>
          <p:cNvCxnSpPr>
            <a:cxnSpLocks noChangeShapeType="1"/>
            <a:stCxn id="37" idx="2"/>
            <a:endCxn id="57" idx="0"/>
          </p:cNvCxnSpPr>
          <p:nvPr/>
        </p:nvCxnSpPr>
        <p:spPr bwMode="auto">
          <a:xfrm>
            <a:off x="1664071" y="3061384"/>
            <a:ext cx="292736" cy="20441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61" name="TextBox 60"/>
          <p:cNvSpPr txBox="1"/>
          <p:nvPr/>
        </p:nvSpPr>
        <p:spPr>
          <a:xfrm>
            <a:off x="1357319" y="2051929"/>
            <a:ext cx="391454" cy="215444"/>
          </a:xfrm>
          <a:prstGeom prst="rect">
            <a:avLst/>
          </a:prstGeom>
          <a:noFill/>
        </p:spPr>
        <p:txBody>
          <a:bodyPr wrap="none" rtlCol="0">
            <a:spAutoFit/>
          </a:bodyPr>
          <a:lstStyle/>
          <a:p>
            <a:r>
              <a:rPr lang="en-US" sz="800" dirty="0"/>
              <a:t>90%</a:t>
            </a:r>
          </a:p>
        </p:txBody>
      </p:sp>
      <p:sp>
        <p:nvSpPr>
          <p:cNvPr id="64" name="Rectangle 4"/>
          <p:cNvSpPr>
            <a:spLocks noChangeArrowheads="1"/>
          </p:cNvSpPr>
          <p:nvPr/>
        </p:nvSpPr>
        <p:spPr bwMode="auto">
          <a:xfrm>
            <a:off x="3369571" y="1300378"/>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800" b="1" dirty="0">
                <a:latin typeface="Calibri" panose="020F0502020204030204" pitchFamily="34" charset="0"/>
              </a:rPr>
              <a:t>ATT</a:t>
            </a:r>
            <a:endParaRPr lang="en-US" altLang="en-US" sz="2000" dirty="0">
              <a:latin typeface="Calibri" panose="020F0502020204030204" pitchFamily="34" charset="0"/>
            </a:endParaRPr>
          </a:p>
        </p:txBody>
      </p:sp>
      <p:sp>
        <p:nvSpPr>
          <p:cNvPr id="65" name="Oval 64"/>
          <p:cNvSpPr>
            <a:spLocks noChangeArrowheads="1"/>
          </p:cNvSpPr>
          <p:nvPr/>
        </p:nvSpPr>
        <p:spPr bwMode="auto">
          <a:xfrm>
            <a:off x="3322059" y="611462"/>
            <a:ext cx="807522" cy="384116"/>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ATT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66" name="AutoShape 14"/>
          <p:cNvCxnSpPr>
            <a:cxnSpLocks noChangeShapeType="1"/>
          </p:cNvCxnSpPr>
          <p:nvPr/>
        </p:nvCxnSpPr>
        <p:spPr bwMode="auto">
          <a:xfrm flipH="1">
            <a:off x="3719497" y="995578"/>
            <a:ext cx="6323" cy="304800"/>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67" name="AutoShape 14"/>
          <p:cNvCxnSpPr>
            <a:cxnSpLocks noChangeShapeType="1"/>
            <a:stCxn id="68" idx="2"/>
          </p:cNvCxnSpPr>
          <p:nvPr/>
        </p:nvCxnSpPr>
        <p:spPr bwMode="auto">
          <a:xfrm>
            <a:off x="3719497" y="1958862"/>
            <a:ext cx="459174" cy="478674"/>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68" name="AutoShape 14"/>
          <p:cNvCxnSpPr>
            <a:cxnSpLocks noChangeShapeType="1"/>
            <a:stCxn id="68" idx="2"/>
          </p:cNvCxnSpPr>
          <p:nvPr/>
        </p:nvCxnSpPr>
        <p:spPr bwMode="auto">
          <a:xfrm flipH="1">
            <a:off x="3149110" y="1958862"/>
            <a:ext cx="570387" cy="498414"/>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69" name="Rectangle 4"/>
          <p:cNvSpPr>
            <a:spLocks noChangeArrowheads="1"/>
          </p:cNvSpPr>
          <p:nvPr/>
        </p:nvSpPr>
        <p:spPr bwMode="auto">
          <a:xfrm>
            <a:off x="3848961" y="2437536"/>
            <a:ext cx="659419" cy="599293"/>
          </a:xfrm>
          <a:prstGeom prst="rect">
            <a:avLst/>
          </a:prstGeom>
          <a:solidFill>
            <a:schemeClr val="accent2">
              <a:lumMod val="20000"/>
              <a:lumOff val="80000"/>
            </a:schemeClr>
          </a:solidFill>
          <a:ln w="9525">
            <a:solidFill>
              <a:schemeClr val="tx1"/>
            </a:solidFill>
            <a:miter lim="800000"/>
            <a:headEnd/>
            <a:tailEnd/>
          </a:ln>
          <a:effectLst/>
        </p:spPr>
        <p:txBody>
          <a:bodyPr wrap="none" anchor="ctr"/>
          <a:lstStyle/>
          <a:p>
            <a:pPr algn="ctr"/>
            <a:r>
              <a:rPr lang="en-US" altLang="en-US" sz="1600" b="1" dirty="0">
                <a:latin typeface="Calibri" panose="020F0502020204030204" pitchFamily="34" charset="0"/>
              </a:rPr>
              <a:t>Pacific</a:t>
            </a:r>
          </a:p>
        </p:txBody>
      </p:sp>
      <p:sp>
        <p:nvSpPr>
          <p:cNvPr id="70" name="Rectangle 4"/>
          <p:cNvSpPr>
            <a:spLocks noChangeArrowheads="1"/>
          </p:cNvSpPr>
          <p:nvPr/>
        </p:nvSpPr>
        <p:spPr bwMode="auto">
          <a:xfrm>
            <a:off x="2819400" y="2457276"/>
            <a:ext cx="659419" cy="562708"/>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a:t>
            </a:r>
          </a:p>
        </p:txBody>
      </p:sp>
      <p:sp>
        <p:nvSpPr>
          <p:cNvPr id="71" name="Oval 70"/>
          <p:cNvSpPr>
            <a:spLocks noChangeArrowheads="1"/>
          </p:cNvSpPr>
          <p:nvPr/>
        </p:nvSpPr>
        <p:spPr bwMode="auto">
          <a:xfrm>
            <a:off x="3219353" y="3259604"/>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CA</a:t>
            </a:r>
            <a:endParaRPr lang="en-US" altLang="en-US" sz="1800" dirty="0">
              <a:latin typeface="Calibri" panose="020F0502020204030204" pitchFamily="34" charset="0"/>
            </a:endParaRPr>
          </a:p>
        </p:txBody>
      </p:sp>
      <p:cxnSp>
        <p:nvCxnSpPr>
          <p:cNvPr id="72" name="AutoShape 14"/>
          <p:cNvCxnSpPr>
            <a:cxnSpLocks noChangeShapeType="1"/>
          </p:cNvCxnSpPr>
          <p:nvPr/>
        </p:nvCxnSpPr>
        <p:spPr bwMode="auto">
          <a:xfrm flipH="1">
            <a:off x="3623114" y="3036829"/>
            <a:ext cx="555557" cy="22277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73" name="Oval 72"/>
          <p:cNvSpPr>
            <a:spLocks noChangeArrowheads="1"/>
          </p:cNvSpPr>
          <p:nvPr/>
        </p:nvSpPr>
        <p:spPr bwMode="auto">
          <a:xfrm>
            <a:off x="4256828" y="3964375"/>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O, W, I</a:t>
            </a:r>
            <a:endParaRPr lang="en-US" altLang="en-US" sz="1800" dirty="0">
              <a:latin typeface="Calibri" panose="020F0502020204030204" pitchFamily="34" charset="0"/>
            </a:endParaRPr>
          </a:p>
        </p:txBody>
      </p:sp>
      <p:cxnSp>
        <p:nvCxnSpPr>
          <p:cNvPr id="74" name="AutoShape 14"/>
          <p:cNvCxnSpPr>
            <a:cxnSpLocks noChangeShapeType="1"/>
            <a:stCxn id="69" idx="2"/>
            <a:endCxn id="76" idx="0"/>
          </p:cNvCxnSpPr>
          <p:nvPr/>
        </p:nvCxnSpPr>
        <p:spPr bwMode="auto">
          <a:xfrm>
            <a:off x="4178671" y="3036829"/>
            <a:ext cx="481919" cy="21076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75" name="TextBox 74"/>
          <p:cNvSpPr txBox="1"/>
          <p:nvPr/>
        </p:nvSpPr>
        <p:spPr>
          <a:xfrm>
            <a:off x="3871919" y="2027374"/>
            <a:ext cx="391454" cy="215444"/>
          </a:xfrm>
          <a:prstGeom prst="rect">
            <a:avLst/>
          </a:prstGeom>
          <a:noFill/>
        </p:spPr>
        <p:txBody>
          <a:bodyPr wrap="none" rtlCol="0">
            <a:spAutoFit/>
          </a:bodyPr>
          <a:lstStyle/>
          <a:p>
            <a:r>
              <a:rPr lang="en-US" sz="800" dirty="0"/>
              <a:t>90%</a:t>
            </a:r>
          </a:p>
        </p:txBody>
      </p:sp>
      <p:sp>
        <p:nvSpPr>
          <p:cNvPr id="76" name="Rectangle 4"/>
          <p:cNvSpPr>
            <a:spLocks noChangeArrowheads="1"/>
          </p:cNvSpPr>
          <p:nvPr/>
        </p:nvSpPr>
        <p:spPr bwMode="auto">
          <a:xfrm>
            <a:off x="4330880" y="3247591"/>
            <a:ext cx="659419" cy="599293"/>
          </a:xfrm>
          <a:prstGeom prst="rect">
            <a:avLst/>
          </a:prstGeom>
          <a:solidFill>
            <a:schemeClr val="accent2">
              <a:lumMod val="40000"/>
              <a:lumOff val="60000"/>
            </a:schemeClr>
          </a:solidFill>
          <a:ln w="9525">
            <a:solidFill>
              <a:schemeClr val="tx1"/>
            </a:solidFill>
            <a:miter lim="800000"/>
            <a:headEnd/>
            <a:tailEnd/>
          </a:ln>
          <a:effectLst/>
        </p:spPr>
        <p:txBody>
          <a:bodyPr wrap="none" anchor="ctr"/>
          <a:lstStyle/>
          <a:p>
            <a:pPr algn="ctr"/>
            <a:r>
              <a:rPr lang="en-US" altLang="en-US" sz="900" b="1" dirty="0">
                <a:latin typeface="Calibri" panose="020F0502020204030204" pitchFamily="34" charset="0"/>
              </a:rPr>
              <a:t>Northwest</a:t>
            </a:r>
          </a:p>
        </p:txBody>
      </p:sp>
      <p:cxnSp>
        <p:nvCxnSpPr>
          <p:cNvPr id="79" name="AutoShape 14"/>
          <p:cNvCxnSpPr>
            <a:cxnSpLocks noChangeShapeType="1"/>
            <a:stCxn id="76" idx="2"/>
            <a:endCxn id="73" idx="0"/>
          </p:cNvCxnSpPr>
          <p:nvPr/>
        </p:nvCxnSpPr>
        <p:spPr bwMode="auto">
          <a:xfrm flipH="1">
            <a:off x="4660589" y="3846884"/>
            <a:ext cx="1" cy="117491"/>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97" name="Rectangle 4"/>
          <p:cNvSpPr>
            <a:spLocks noChangeArrowheads="1"/>
          </p:cNvSpPr>
          <p:nvPr/>
        </p:nvSpPr>
        <p:spPr bwMode="auto">
          <a:xfrm>
            <a:off x="6817831" y="1300378"/>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800" b="1" dirty="0">
                <a:latin typeface="Calibri" panose="020F0502020204030204" pitchFamily="34" charset="0"/>
              </a:rPr>
              <a:t>ATT</a:t>
            </a:r>
            <a:endParaRPr lang="en-US" altLang="en-US" sz="2000" dirty="0">
              <a:latin typeface="Calibri" panose="020F0502020204030204" pitchFamily="34" charset="0"/>
            </a:endParaRPr>
          </a:p>
        </p:txBody>
      </p:sp>
      <p:sp>
        <p:nvSpPr>
          <p:cNvPr id="98" name="Oval 97"/>
          <p:cNvSpPr>
            <a:spLocks noChangeArrowheads="1"/>
          </p:cNvSpPr>
          <p:nvPr/>
        </p:nvSpPr>
        <p:spPr bwMode="auto">
          <a:xfrm>
            <a:off x="6756041" y="609600"/>
            <a:ext cx="807522" cy="384116"/>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ATT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99" name="AutoShape 14"/>
          <p:cNvCxnSpPr>
            <a:cxnSpLocks noChangeShapeType="1"/>
            <a:stCxn id="98" idx="4"/>
            <a:endCxn id="97" idx="0"/>
          </p:cNvCxnSpPr>
          <p:nvPr/>
        </p:nvCxnSpPr>
        <p:spPr bwMode="auto">
          <a:xfrm>
            <a:off x="7159802" y="993716"/>
            <a:ext cx="7955" cy="30666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00" name="AutoShape 14"/>
          <p:cNvCxnSpPr>
            <a:cxnSpLocks noChangeShapeType="1"/>
            <a:stCxn id="97" idx="2"/>
          </p:cNvCxnSpPr>
          <p:nvPr/>
        </p:nvCxnSpPr>
        <p:spPr bwMode="auto">
          <a:xfrm>
            <a:off x="7167757" y="1958862"/>
            <a:ext cx="151796" cy="479280"/>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01" name="AutoShape 14"/>
          <p:cNvCxnSpPr>
            <a:cxnSpLocks noChangeShapeType="1"/>
            <a:stCxn id="97" idx="2"/>
          </p:cNvCxnSpPr>
          <p:nvPr/>
        </p:nvCxnSpPr>
        <p:spPr bwMode="auto">
          <a:xfrm flipH="1">
            <a:off x="6289993" y="1958862"/>
            <a:ext cx="877764" cy="499020"/>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02" name="Rectangle 4"/>
          <p:cNvSpPr>
            <a:spLocks noChangeArrowheads="1"/>
          </p:cNvSpPr>
          <p:nvPr/>
        </p:nvSpPr>
        <p:spPr bwMode="auto">
          <a:xfrm>
            <a:off x="6989843" y="2438142"/>
            <a:ext cx="659419" cy="599293"/>
          </a:xfrm>
          <a:prstGeom prst="rect">
            <a:avLst/>
          </a:prstGeom>
          <a:solidFill>
            <a:schemeClr val="accent2">
              <a:lumMod val="20000"/>
              <a:lumOff val="80000"/>
            </a:schemeClr>
          </a:solidFill>
          <a:ln w="9525">
            <a:solidFill>
              <a:schemeClr val="tx1"/>
            </a:solidFill>
            <a:miter lim="800000"/>
            <a:headEnd/>
            <a:tailEnd/>
          </a:ln>
          <a:effectLst/>
        </p:spPr>
        <p:txBody>
          <a:bodyPr wrap="none" anchor="ctr"/>
          <a:lstStyle/>
          <a:p>
            <a:pPr algn="ctr"/>
            <a:r>
              <a:rPr lang="en-US" altLang="en-US" sz="1600" b="1" dirty="0">
                <a:latin typeface="Calibri" panose="020F0502020204030204" pitchFamily="34" charset="0"/>
              </a:rPr>
              <a:t>Pacific</a:t>
            </a:r>
          </a:p>
        </p:txBody>
      </p:sp>
      <p:sp>
        <p:nvSpPr>
          <p:cNvPr id="103" name="Rectangle 4"/>
          <p:cNvSpPr>
            <a:spLocks noChangeArrowheads="1"/>
          </p:cNvSpPr>
          <p:nvPr/>
        </p:nvSpPr>
        <p:spPr bwMode="auto">
          <a:xfrm>
            <a:off x="5960282" y="2457882"/>
            <a:ext cx="659419" cy="562708"/>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a:t>
            </a:r>
          </a:p>
        </p:txBody>
      </p:sp>
      <p:sp>
        <p:nvSpPr>
          <p:cNvPr id="104" name="Oval 103"/>
          <p:cNvSpPr>
            <a:spLocks noChangeArrowheads="1"/>
          </p:cNvSpPr>
          <p:nvPr/>
        </p:nvSpPr>
        <p:spPr bwMode="auto">
          <a:xfrm>
            <a:off x="6360235" y="3260210"/>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CA</a:t>
            </a:r>
            <a:endParaRPr lang="en-US" altLang="en-US" sz="1800" dirty="0">
              <a:latin typeface="Calibri" panose="020F0502020204030204" pitchFamily="34" charset="0"/>
            </a:endParaRPr>
          </a:p>
        </p:txBody>
      </p:sp>
      <p:cxnSp>
        <p:nvCxnSpPr>
          <p:cNvPr id="105" name="AutoShape 14"/>
          <p:cNvCxnSpPr>
            <a:cxnSpLocks noChangeShapeType="1"/>
          </p:cNvCxnSpPr>
          <p:nvPr/>
        </p:nvCxnSpPr>
        <p:spPr bwMode="auto">
          <a:xfrm flipH="1">
            <a:off x="6763996" y="3037435"/>
            <a:ext cx="555557" cy="22277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06" name="Oval 105"/>
          <p:cNvSpPr>
            <a:spLocks noChangeArrowheads="1"/>
          </p:cNvSpPr>
          <p:nvPr/>
        </p:nvSpPr>
        <p:spPr bwMode="auto">
          <a:xfrm>
            <a:off x="7877489" y="4003064"/>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O, W, I</a:t>
            </a:r>
            <a:endParaRPr lang="en-US" altLang="en-US" sz="1800" dirty="0">
              <a:latin typeface="Calibri" panose="020F0502020204030204" pitchFamily="34" charset="0"/>
            </a:endParaRPr>
          </a:p>
        </p:txBody>
      </p:sp>
      <p:cxnSp>
        <p:nvCxnSpPr>
          <p:cNvPr id="107" name="AutoShape 14"/>
          <p:cNvCxnSpPr>
            <a:cxnSpLocks noChangeShapeType="1"/>
            <a:stCxn id="102" idx="2"/>
            <a:endCxn id="109" idx="0"/>
          </p:cNvCxnSpPr>
          <p:nvPr/>
        </p:nvCxnSpPr>
        <p:spPr bwMode="auto">
          <a:xfrm>
            <a:off x="7319553" y="3037435"/>
            <a:ext cx="964386" cy="21015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08" name="TextBox 107"/>
          <p:cNvSpPr txBox="1"/>
          <p:nvPr/>
        </p:nvSpPr>
        <p:spPr>
          <a:xfrm>
            <a:off x="6883073" y="2068477"/>
            <a:ext cx="391454" cy="215444"/>
          </a:xfrm>
          <a:prstGeom prst="rect">
            <a:avLst/>
          </a:prstGeom>
          <a:noFill/>
        </p:spPr>
        <p:txBody>
          <a:bodyPr wrap="none" rtlCol="0">
            <a:spAutoFit/>
          </a:bodyPr>
          <a:lstStyle/>
          <a:p>
            <a:r>
              <a:rPr lang="en-US" sz="800" dirty="0"/>
              <a:t>90%</a:t>
            </a:r>
          </a:p>
        </p:txBody>
      </p:sp>
      <p:sp>
        <p:nvSpPr>
          <p:cNvPr id="109" name="Rectangle 4"/>
          <p:cNvSpPr>
            <a:spLocks noChangeArrowheads="1"/>
          </p:cNvSpPr>
          <p:nvPr/>
        </p:nvSpPr>
        <p:spPr bwMode="auto">
          <a:xfrm>
            <a:off x="7954229" y="3247590"/>
            <a:ext cx="659419" cy="599293"/>
          </a:xfrm>
          <a:prstGeom prst="rect">
            <a:avLst/>
          </a:prstGeom>
          <a:solidFill>
            <a:schemeClr val="accent2">
              <a:lumMod val="40000"/>
              <a:lumOff val="60000"/>
            </a:schemeClr>
          </a:solidFill>
          <a:ln w="9525">
            <a:solidFill>
              <a:schemeClr val="tx1"/>
            </a:solidFill>
            <a:miter lim="800000"/>
            <a:headEnd/>
            <a:tailEnd/>
          </a:ln>
          <a:effectLst/>
        </p:spPr>
        <p:txBody>
          <a:bodyPr wrap="none" anchor="ctr"/>
          <a:lstStyle/>
          <a:p>
            <a:pPr algn="ctr"/>
            <a:r>
              <a:rPr lang="en-US" altLang="en-US" sz="900" b="1" dirty="0">
                <a:latin typeface="Calibri" panose="020F0502020204030204" pitchFamily="34" charset="0"/>
              </a:rPr>
              <a:t>Northwest</a:t>
            </a:r>
          </a:p>
        </p:txBody>
      </p:sp>
      <p:cxnSp>
        <p:nvCxnSpPr>
          <p:cNvPr id="119" name="Straight Connector 118"/>
          <p:cNvCxnSpPr>
            <a:stCxn id="109" idx="2"/>
            <a:endCxn id="106" idx="0"/>
          </p:cNvCxnSpPr>
          <p:nvPr/>
        </p:nvCxnSpPr>
        <p:spPr>
          <a:xfrm flipH="1">
            <a:off x="8281250" y="3846883"/>
            <a:ext cx="2689" cy="156181"/>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719715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2195" name="Rectangle 3"/>
          <p:cNvSpPr>
            <a:spLocks noGrp="1" noChangeArrowheads="1"/>
          </p:cNvSpPr>
          <p:nvPr>
            <p:ph idx="1"/>
          </p:nvPr>
        </p:nvSpPr>
        <p:spPr/>
        <p:txBody>
          <a:bodyPr>
            <a:normAutofit lnSpcReduction="10000"/>
          </a:bodyPr>
          <a:lstStyle/>
          <a:p>
            <a:pPr>
              <a:defRPr/>
            </a:pPr>
            <a:r>
              <a:rPr lang="en-US" sz="2000" dirty="0">
                <a:solidFill>
                  <a:prstClr val="black"/>
                </a:solidFill>
                <a:cs typeface=""/>
              </a:rPr>
              <a:t>For </a:t>
            </a:r>
            <a:r>
              <a:rPr lang="en-US" sz="2000" dirty="0"/>
              <a:t>the </a:t>
            </a:r>
            <a:r>
              <a:rPr lang="en-US" sz="2000" dirty="0" err="1"/>
              <a:t>distributee</a:t>
            </a:r>
            <a:r>
              <a:rPr lang="en-US" sz="2000" dirty="0"/>
              <a:t> to avoid gain/income on the receipt of the stock/securities of the controlled corporation, the </a:t>
            </a:r>
            <a:r>
              <a:rPr lang="en-US" sz="2000" i="1" dirty="0"/>
              <a:t>distributing corporation</a:t>
            </a:r>
            <a:r>
              <a:rPr lang="en-US" sz="2000" dirty="0"/>
              <a:t>: </a:t>
            </a:r>
          </a:p>
          <a:p>
            <a:pPr lvl="1">
              <a:defRPr/>
            </a:pPr>
            <a:r>
              <a:rPr lang="en-US" sz="1800" dirty="0"/>
              <a:t>must control the </a:t>
            </a:r>
            <a:r>
              <a:rPr lang="en-US" sz="1800" i="1" dirty="0"/>
              <a:t>controlled corporation, and</a:t>
            </a:r>
          </a:p>
          <a:p>
            <a:pPr lvl="1">
              <a:defRPr/>
            </a:pPr>
            <a:r>
              <a:rPr lang="en-US" sz="1800" dirty="0"/>
              <a:t>distribute </a:t>
            </a:r>
            <a:r>
              <a:rPr lang="en-US" sz="1800" i="1" dirty="0"/>
              <a:t>all of the stock and securities </a:t>
            </a:r>
            <a:r>
              <a:rPr lang="en-US" sz="1800" dirty="0"/>
              <a:t>of the controlled corporation</a:t>
            </a:r>
            <a:r>
              <a:rPr lang="en-US" sz="1800" i="1" dirty="0"/>
              <a:t> </a:t>
            </a:r>
            <a:r>
              <a:rPr lang="en-US" sz="1800" dirty="0"/>
              <a:t>(or an amount of stock and securities in the controlled constituting control). §355(a)(1)(A) and (D). </a:t>
            </a:r>
          </a:p>
          <a:p>
            <a:pPr lvl="1">
              <a:defRPr/>
            </a:pPr>
            <a:endParaRPr lang="en-US" sz="1800" dirty="0"/>
          </a:p>
          <a:p>
            <a:pPr>
              <a:defRPr/>
            </a:pPr>
            <a:r>
              <a:rPr lang="en-US" sz="2000" b="1" dirty="0"/>
              <a:t>Step Transaction doctrine</a:t>
            </a:r>
            <a:r>
              <a:rPr lang="en-US" sz="2000" dirty="0"/>
              <a:t> principles apply, e.g., </a:t>
            </a:r>
            <a:r>
              <a:rPr lang="en-US" sz="1800" dirty="0"/>
              <a:t>Binding Commitment Test, End Result Test, and Mutual Interdependence Test</a:t>
            </a:r>
          </a:p>
          <a:p>
            <a:pPr>
              <a:defRPr/>
            </a:pPr>
            <a:endParaRPr lang="en-US" sz="1800" dirty="0"/>
          </a:p>
          <a:p>
            <a:pPr>
              <a:defRPr/>
            </a:pPr>
            <a:r>
              <a:rPr lang="en-US" sz="2000" dirty="0"/>
              <a:t>Distribution of </a:t>
            </a:r>
            <a:r>
              <a:rPr lang="en-US" sz="2000" b="1" dirty="0"/>
              <a:t>stock rights </a:t>
            </a:r>
            <a:r>
              <a:rPr lang="en-US" sz="2000" dirty="0"/>
              <a:t>are now treated as </a:t>
            </a:r>
            <a:r>
              <a:rPr lang="en-US" sz="2000" i="1" dirty="0"/>
              <a:t>securities with no principal amount. </a:t>
            </a:r>
            <a:r>
              <a:rPr lang="en-US" sz="2000" dirty="0"/>
              <a:t>Reg. </a:t>
            </a:r>
            <a:r>
              <a:rPr lang="en-US" sz="2000" dirty="0">
                <a:solidFill>
                  <a:prstClr val="black"/>
                </a:solidFill>
              </a:rPr>
              <a:t>§</a:t>
            </a:r>
            <a:r>
              <a:rPr lang="en-US" sz="2000" dirty="0"/>
              <a:t>1.355-1(c). Thus, </a:t>
            </a:r>
            <a:r>
              <a:rPr lang="en-US" sz="2000" b="1" dirty="0"/>
              <a:t>not boot</a:t>
            </a:r>
            <a:r>
              <a:rPr lang="en-US" sz="2000" dirty="0"/>
              <a:t> and no issues of “distribution of control.”    </a:t>
            </a:r>
            <a:r>
              <a:rPr lang="en-US" sz="2000" i="1" dirty="0"/>
              <a:t>See </a:t>
            </a:r>
            <a:r>
              <a:rPr lang="en-US" sz="2000" dirty="0">
                <a:solidFill>
                  <a:prstClr val="black"/>
                </a:solidFill>
              </a:rPr>
              <a:t>§356(b)(2)(B).</a:t>
            </a:r>
          </a:p>
          <a:p>
            <a:pPr>
              <a:defRPr/>
            </a:pPr>
            <a:endParaRPr lang="en-US" sz="2000" dirty="0"/>
          </a:p>
          <a:p>
            <a:pPr>
              <a:defRPr/>
            </a:pPr>
            <a:r>
              <a:rPr lang="en-US" sz="2000" b="1" i="1" dirty="0"/>
              <a:t>Hot Stock</a:t>
            </a:r>
          </a:p>
          <a:p>
            <a:pPr lvl="1">
              <a:defRPr/>
            </a:pPr>
            <a:r>
              <a:rPr lang="en-US" sz="1800" dirty="0"/>
              <a:t>Stock acquired within 5 </a:t>
            </a:r>
            <a:r>
              <a:rPr lang="en-US" sz="1800" dirty="0" err="1"/>
              <a:t>yrs</a:t>
            </a:r>
            <a:r>
              <a:rPr lang="en-US" sz="1800" dirty="0"/>
              <a:t> of its acquisition in a </a:t>
            </a:r>
            <a:r>
              <a:rPr lang="en-US" sz="1800" b="1" i="1" dirty="0"/>
              <a:t>taxable transaction</a:t>
            </a:r>
            <a:r>
              <a:rPr lang="en-US" sz="1800" b="1" dirty="0"/>
              <a:t> </a:t>
            </a:r>
            <a:r>
              <a:rPr lang="en-US" sz="1800" dirty="0"/>
              <a:t>is treated as </a:t>
            </a:r>
            <a:r>
              <a:rPr lang="en-US" sz="1800" b="1" dirty="0"/>
              <a:t>boot</a:t>
            </a:r>
            <a:r>
              <a:rPr lang="en-US" sz="1800" dirty="0"/>
              <a:t> (but is treated as stock for purposes of the distribution test). §355(a)(3)(B).  </a:t>
            </a:r>
          </a:p>
          <a:p>
            <a:pPr lvl="1">
              <a:defRPr/>
            </a:pPr>
            <a:r>
              <a:rPr lang="en-US" sz="1800" dirty="0"/>
              <a:t>What’s the rationale for this limitation?</a:t>
            </a:r>
          </a:p>
          <a:p>
            <a:pPr lvl="1">
              <a:defRPr/>
            </a:pPr>
            <a:r>
              <a:rPr lang="en-US" sz="1800" i="1" dirty="0"/>
              <a:t> </a:t>
            </a:r>
            <a:r>
              <a:rPr lang="en-US" sz="1800" b="1" dirty="0"/>
              <a:t>Note</a:t>
            </a:r>
            <a:r>
              <a:rPr lang="en-US" sz="1800" dirty="0"/>
              <a:t>: Regs basically limit this rule to situations in which </a:t>
            </a:r>
            <a:r>
              <a:rPr lang="en-US" sz="1800" i="1" dirty="0"/>
              <a:t>control </a:t>
            </a:r>
            <a:r>
              <a:rPr lang="en-US" sz="1800" dirty="0"/>
              <a:t>(under §368(c)) is distributed but the </a:t>
            </a:r>
            <a:r>
              <a:rPr lang="en-US" sz="1800" dirty="0" err="1"/>
              <a:t>distributee</a:t>
            </a:r>
            <a:r>
              <a:rPr lang="en-US" sz="1800" dirty="0"/>
              <a:t> </a:t>
            </a:r>
            <a:r>
              <a:rPr lang="en-US" sz="1800" b="1" dirty="0"/>
              <a:t>doesn’t</a:t>
            </a:r>
            <a:r>
              <a:rPr lang="en-US" sz="1800" dirty="0"/>
              <a:t> own 80% of the V&amp;V under §1504(a)(2).</a:t>
            </a:r>
          </a:p>
        </p:txBody>
      </p:sp>
      <p:sp>
        <p:nvSpPr>
          <p:cNvPr id="392194" name="Rectangle 2"/>
          <p:cNvSpPr>
            <a:spLocks noGrp="1" noChangeArrowheads="1"/>
          </p:cNvSpPr>
          <p:nvPr>
            <p:ph type="title"/>
          </p:nvPr>
        </p:nvSpPr>
        <p:spPr/>
        <p:txBody>
          <a:bodyPr/>
          <a:lstStyle/>
          <a:p>
            <a:pPr eaLnBrk="1" hangingPunct="1">
              <a:defRPr/>
            </a:pPr>
            <a:r>
              <a:rPr lang="en-US" b="1" dirty="0">
                <a:cs typeface="+mj-cs"/>
              </a:rPr>
              <a:t>Section 355: Control and Distribution of Control</a:t>
            </a:r>
            <a:endParaRPr lang="en-US" dirty="0">
              <a:cs typeface="+mj-cs"/>
            </a:endParaRPr>
          </a:p>
        </p:txBody>
      </p:sp>
      <p:sp>
        <p:nvSpPr>
          <p:cNvPr id="5" name="Slide Number Placeholder 4"/>
          <p:cNvSpPr>
            <a:spLocks noGrp="1"/>
          </p:cNvSpPr>
          <p:nvPr>
            <p:ph type="sldNum" sz="quarter" idx="10"/>
          </p:nvPr>
        </p:nvSpPr>
        <p:spPr/>
        <p:txBody>
          <a:bodyPr/>
          <a:lstStyle/>
          <a:p>
            <a:pPr>
              <a:defRPr/>
            </a:pPr>
            <a:fld id="{07706C32-569F-1B4E-AA23-679BC56198B8}" type="slidenum">
              <a:rPr lang="en-US"/>
              <a:pPr>
                <a:defRPr/>
              </a:pPr>
              <a:t>7</a:t>
            </a:fld>
            <a:endParaRPr lang="en-US"/>
          </a:p>
        </p:txBody>
      </p:sp>
      <p:sp>
        <p:nvSpPr>
          <p:cNvPr id="2" name="Footer Placeholder 1"/>
          <p:cNvSpPr>
            <a:spLocks noGrp="1"/>
          </p:cNvSpPr>
          <p:nvPr>
            <p:ph type="ftr" sz="quarter" idx="11"/>
          </p:nvPr>
        </p:nvSpPr>
        <p:spPr/>
        <p:txBody>
          <a:bodyPr/>
          <a:lstStyle/>
          <a:p>
            <a:pPr>
              <a:defRPr/>
            </a:pPr>
            <a:r>
              <a:rPr lang="en-US"/>
              <a:t>Spin Offs</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219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9219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9219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9219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9219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92195">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92195">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92195">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92195">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2195"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2195" name="Rectangle 3"/>
          <p:cNvSpPr>
            <a:spLocks noGrp="1" noChangeArrowheads="1"/>
          </p:cNvSpPr>
          <p:nvPr>
            <p:ph idx="1"/>
          </p:nvPr>
        </p:nvSpPr>
        <p:spPr/>
        <p:txBody>
          <a:bodyPr>
            <a:normAutofit fontScale="92500" lnSpcReduction="20000"/>
          </a:bodyPr>
          <a:lstStyle/>
          <a:p>
            <a:pPr marL="171450" lvl="1" defTabSz="685800">
              <a:buFont typeface="Wingdings 2" pitchFamily="18" charset="2"/>
              <a:buChar char=""/>
              <a:defRPr/>
            </a:pPr>
            <a:r>
              <a:rPr lang="en-US" sz="1800" i="1" dirty="0"/>
              <a:t>(B) the transaction was not used principally as a </a:t>
            </a:r>
            <a:r>
              <a:rPr lang="en-US" sz="1800" b="1" i="1" dirty="0"/>
              <a:t>device</a:t>
            </a:r>
            <a:r>
              <a:rPr lang="en-US" sz="1800" i="1" dirty="0"/>
              <a:t> for the distribution of the earnings and profits of the distributing corporation or the controlled corporation or both</a:t>
            </a:r>
            <a:r>
              <a:rPr lang="mr-IN" sz="1800" i="1" dirty="0"/>
              <a:t>…</a:t>
            </a:r>
            <a:r>
              <a:rPr lang="en-US" sz="1600" dirty="0"/>
              <a:t>§355(a)(1)(B).  </a:t>
            </a:r>
          </a:p>
          <a:p>
            <a:pPr>
              <a:defRPr/>
            </a:pPr>
            <a:r>
              <a:rPr lang="en-US" i="1" dirty="0"/>
              <a:t> </a:t>
            </a:r>
            <a:r>
              <a:rPr lang="en-US" b="1" dirty="0"/>
              <a:t>Device Factors (-(d)(2)):</a:t>
            </a:r>
          </a:p>
          <a:p>
            <a:pPr lvl="1">
              <a:defRPr/>
            </a:pPr>
            <a:r>
              <a:rPr lang="en-US" sz="1600" dirty="0"/>
              <a:t>Pro rata distribution</a:t>
            </a:r>
          </a:p>
          <a:p>
            <a:pPr lvl="1">
              <a:defRPr/>
            </a:pPr>
            <a:r>
              <a:rPr lang="en-US" sz="1600" dirty="0"/>
              <a:t>Subsequent taxable sale of stock of distributing or controlled evidence of device, but tax-free reorg ok. </a:t>
            </a:r>
            <a:r>
              <a:rPr lang="en-US" sz="1600" i="1" dirty="0"/>
              <a:t>Compare sale of stock in non-divisive reorg.</a:t>
            </a:r>
            <a:r>
              <a:rPr lang="en-US" sz="1600" dirty="0"/>
              <a:t> Reg. </a:t>
            </a:r>
            <a:r>
              <a:rPr lang="en-US" sz="1600" dirty="0">
                <a:solidFill>
                  <a:prstClr val="black"/>
                </a:solidFill>
              </a:rPr>
              <a:t>§</a:t>
            </a:r>
            <a:r>
              <a:rPr lang="en-US" sz="1600" dirty="0"/>
              <a:t>1.355-2(d)(2)(iii). </a:t>
            </a:r>
          </a:p>
          <a:p>
            <a:pPr lvl="1">
              <a:defRPr/>
            </a:pPr>
            <a:r>
              <a:rPr lang="en-US" sz="1600" dirty="0"/>
              <a:t>Existence of assets not used in a T/B that satisfies section 355(b), e.g., cash and other liquid assets.</a:t>
            </a:r>
          </a:p>
          <a:p>
            <a:pPr lvl="1">
              <a:defRPr/>
            </a:pPr>
            <a:r>
              <a:rPr lang="en-US" sz="1600" dirty="0"/>
              <a:t>Business of either distributing or controlled is a </a:t>
            </a:r>
            <a:r>
              <a:rPr lang="en-US" sz="1600" i="1" dirty="0"/>
              <a:t>secondary business</a:t>
            </a:r>
            <a:r>
              <a:rPr lang="en-US" sz="1600" dirty="0"/>
              <a:t> that continues to be secondary after the separation and can sold w/out affecting the business of the other corporation.</a:t>
            </a:r>
          </a:p>
          <a:p>
            <a:pPr lvl="2">
              <a:defRPr/>
            </a:pPr>
            <a:r>
              <a:rPr lang="en-US" sz="1600" dirty="0"/>
              <a:t>Secondary business: business whose principal function is to serve the business of the other corporation. Reg. </a:t>
            </a:r>
            <a:r>
              <a:rPr lang="en-US" sz="1600" dirty="0">
                <a:solidFill>
                  <a:prstClr val="black"/>
                </a:solidFill>
              </a:rPr>
              <a:t>§</a:t>
            </a:r>
            <a:r>
              <a:rPr lang="en-US" sz="1600" dirty="0"/>
              <a:t>1.355-2(d)(2)(iv)(C). </a:t>
            </a:r>
          </a:p>
          <a:p>
            <a:pPr>
              <a:defRPr/>
            </a:pPr>
            <a:r>
              <a:rPr lang="en-US" b="1" dirty="0"/>
              <a:t>Non-device Factors (-(d)(3)):</a:t>
            </a:r>
          </a:p>
          <a:p>
            <a:pPr lvl="1">
              <a:defRPr/>
            </a:pPr>
            <a:r>
              <a:rPr lang="en-US" sz="1600" dirty="0"/>
              <a:t>Corporate business purposes</a:t>
            </a:r>
          </a:p>
          <a:p>
            <a:pPr lvl="1">
              <a:defRPr/>
            </a:pPr>
            <a:r>
              <a:rPr lang="en-US" sz="1600" dirty="0"/>
              <a:t>Distributing is publicly traded and widely held and no 5% SH</a:t>
            </a:r>
          </a:p>
          <a:p>
            <a:pPr lvl="1">
              <a:defRPr/>
            </a:pPr>
            <a:r>
              <a:rPr lang="en-US" sz="1600" dirty="0"/>
              <a:t>Distribution to </a:t>
            </a:r>
            <a:r>
              <a:rPr lang="en-US" sz="1600" b="1" i="1" dirty="0"/>
              <a:t>Corporate</a:t>
            </a:r>
            <a:r>
              <a:rPr lang="en-US" sz="1600" dirty="0"/>
              <a:t> shareholders entitled to an 65% or 100% DRD. Reg. </a:t>
            </a:r>
            <a:r>
              <a:rPr lang="en-US" sz="1600" dirty="0">
                <a:solidFill>
                  <a:prstClr val="black"/>
                </a:solidFill>
              </a:rPr>
              <a:t>§</a:t>
            </a:r>
            <a:r>
              <a:rPr lang="en-US" sz="1600" dirty="0"/>
              <a:t>1.355-2(d)(3). </a:t>
            </a:r>
          </a:p>
          <a:p>
            <a:pPr>
              <a:defRPr/>
            </a:pPr>
            <a:r>
              <a:rPr lang="en-US" b="1" i="1" dirty="0"/>
              <a:t>Quasi non-device Factors </a:t>
            </a:r>
            <a:r>
              <a:rPr lang="en-US" b="1" dirty="0"/>
              <a:t>(-(d)(5)):</a:t>
            </a:r>
            <a:endParaRPr lang="en-US" b="1" i="1" dirty="0"/>
          </a:p>
          <a:p>
            <a:pPr lvl="1">
              <a:defRPr/>
            </a:pPr>
            <a:r>
              <a:rPr lang="en-US" sz="1600" dirty="0"/>
              <a:t>Neither distributing nor controlled has any current, accumulated, or </a:t>
            </a:r>
            <a:r>
              <a:rPr lang="en-US" sz="1600" i="1" dirty="0"/>
              <a:t>potential </a:t>
            </a:r>
            <a:r>
              <a:rPr lang="en-US" sz="1600" i="1" dirty="0" err="1"/>
              <a:t>E&amp;Ps</a:t>
            </a:r>
            <a:r>
              <a:rPr lang="en-US" sz="1600" i="1" dirty="0"/>
              <a:t> </a:t>
            </a:r>
            <a:r>
              <a:rPr lang="en-US" sz="1600" dirty="0"/>
              <a:t>(any property with BIG!)</a:t>
            </a:r>
          </a:p>
          <a:p>
            <a:pPr lvl="1">
              <a:defRPr/>
            </a:pPr>
            <a:r>
              <a:rPr lang="en-US" sz="1600" dirty="0"/>
              <a:t>Distribution would be a section 302(a) transaction (S/X). Reg. </a:t>
            </a:r>
            <a:r>
              <a:rPr lang="en-US" sz="1600" dirty="0">
                <a:solidFill>
                  <a:prstClr val="black"/>
                </a:solidFill>
              </a:rPr>
              <a:t>§</a:t>
            </a:r>
            <a:r>
              <a:rPr lang="en-US" sz="1600" dirty="0"/>
              <a:t>1.355-2(d)(5)(iv)</a:t>
            </a:r>
          </a:p>
          <a:p>
            <a:pPr lvl="2">
              <a:defRPr/>
            </a:pPr>
            <a:r>
              <a:rPr lang="en-US" sz="1600" dirty="0"/>
              <a:t>Rev. Rul. 64-102 (capital contribution to controlled before split off to equalize value of controlled and distributing’s stock owned by exchanging SHs was not a device b/c shareholders would have received S/X treatment in any case).</a:t>
            </a:r>
          </a:p>
          <a:p>
            <a:pPr lvl="2">
              <a:defRPr/>
            </a:pPr>
            <a:r>
              <a:rPr lang="en-US" sz="1600" dirty="0"/>
              <a:t>But distributions of stock of </a:t>
            </a:r>
            <a:r>
              <a:rPr lang="en-US" sz="1600" b="1" dirty="0"/>
              <a:t>more than 1 corporation </a:t>
            </a:r>
            <a:r>
              <a:rPr lang="en-US" sz="1600" dirty="0"/>
              <a:t>that facilitate avoidance of the dividend provision through the subsequent sale of of one of the corporations are not protected by 302(a) treatment.  Ex. 2.</a:t>
            </a:r>
          </a:p>
        </p:txBody>
      </p:sp>
      <p:sp>
        <p:nvSpPr>
          <p:cNvPr id="392194" name="Rectangle 2"/>
          <p:cNvSpPr>
            <a:spLocks noGrp="1" noChangeArrowheads="1"/>
          </p:cNvSpPr>
          <p:nvPr>
            <p:ph type="title"/>
          </p:nvPr>
        </p:nvSpPr>
        <p:spPr/>
        <p:txBody>
          <a:bodyPr/>
          <a:lstStyle/>
          <a:p>
            <a:pPr>
              <a:defRPr/>
            </a:pPr>
            <a:r>
              <a:rPr lang="en-US" b="1" dirty="0">
                <a:cs typeface="+mj-cs"/>
              </a:rPr>
              <a:t>Section 355(a)(1)(B) and </a:t>
            </a:r>
            <a:r>
              <a:rPr lang="en-US" dirty="0"/>
              <a:t>Reg. </a:t>
            </a:r>
            <a:r>
              <a:rPr lang="en-US" dirty="0">
                <a:solidFill>
                  <a:prstClr val="black"/>
                </a:solidFill>
              </a:rPr>
              <a:t>§</a:t>
            </a:r>
            <a:r>
              <a:rPr lang="en-US" dirty="0"/>
              <a:t>1.355-2(d)</a:t>
            </a:r>
            <a:r>
              <a:rPr lang="en-US" b="1" dirty="0">
                <a:cs typeface="+mj-cs"/>
              </a:rPr>
              <a:t>: Device</a:t>
            </a:r>
            <a:endParaRPr lang="en-US" dirty="0">
              <a:cs typeface="+mj-cs"/>
            </a:endParaRPr>
          </a:p>
        </p:txBody>
      </p:sp>
      <p:sp>
        <p:nvSpPr>
          <p:cNvPr id="5" name="Slide Number Placeholder 4"/>
          <p:cNvSpPr>
            <a:spLocks noGrp="1"/>
          </p:cNvSpPr>
          <p:nvPr>
            <p:ph type="sldNum" sz="quarter" idx="10"/>
          </p:nvPr>
        </p:nvSpPr>
        <p:spPr/>
        <p:txBody>
          <a:bodyPr/>
          <a:lstStyle/>
          <a:p>
            <a:pPr>
              <a:defRPr/>
            </a:pPr>
            <a:fld id="{07706C32-569F-1B4E-AA23-679BC56198B8}" type="slidenum">
              <a:rPr lang="en-US"/>
              <a:pPr>
                <a:defRPr/>
              </a:pPr>
              <a:t>8</a:t>
            </a:fld>
            <a:endParaRPr lang="en-US"/>
          </a:p>
        </p:txBody>
      </p:sp>
      <p:sp>
        <p:nvSpPr>
          <p:cNvPr id="2" name="Footer Placeholder 1"/>
          <p:cNvSpPr>
            <a:spLocks noGrp="1"/>
          </p:cNvSpPr>
          <p:nvPr>
            <p:ph type="ftr" sz="quarter" idx="11"/>
          </p:nvPr>
        </p:nvSpPr>
        <p:spPr/>
        <p:txBody>
          <a:bodyPr/>
          <a:lstStyle/>
          <a:p>
            <a:pPr>
              <a:defRPr/>
            </a:pPr>
            <a:r>
              <a:rPr lang="en-US"/>
              <a:t>Spin Offs</a:t>
            </a:r>
            <a:endParaRPr lang="en-US" dirty="0"/>
          </a:p>
        </p:txBody>
      </p:sp>
    </p:spTree>
    <p:extLst>
      <p:ext uri="{BB962C8B-B14F-4D97-AF65-F5344CB8AC3E}">
        <p14:creationId xmlns:p14="http://schemas.microsoft.com/office/powerpoint/2010/main" val="8157186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219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2195">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92195">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92195">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9219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9219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9219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92195">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92195">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92195">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92195">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92195">
                                            <p:txEl>
                                              <p:pRg st="11" end="11"/>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92195">
                                            <p:txEl>
                                              <p:pRg st="12" end="12"/>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92195">
                                            <p:txEl>
                                              <p:pRg st="13" end="13"/>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92195">
                                            <p:txEl>
                                              <p:pRg st="14" end="14"/>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92195">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2195"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384048" y="4343400"/>
            <a:ext cx="8458200" cy="2002064"/>
          </a:xfrm>
          <a:ln>
            <a:solidFill>
              <a:schemeClr val="tx1"/>
            </a:solidFill>
          </a:ln>
        </p:spPr>
        <p:txBody>
          <a:bodyPr/>
          <a:lstStyle/>
          <a:p>
            <a:r>
              <a:rPr lang="en-US" dirty="0"/>
              <a:t>D sells shoes at retail stores since </a:t>
            </a:r>
            <a:r>
              <a:rPr lang="en-US" dirty="0" err="1"/>
              <a:t>Yr</a:t>
            </a:r>
            <a:r>
              <a:rPr lang="en-US" dirty="0"/>
              <a:t> 1</a:t>
            </a:r>
          </a:p>
          <a:p>
            <a:r>
              <a:rPr lang="en-US" dirty="0"/>
              <a:t>Yr. 8: D creates online sites, </a:t>
            </a:r>
            <a:r>
              <a:rPr lang="en-US" dirty="0" err="1"/>
              <a:t>D.com</a:t>
            </a:r>
            <a:r>
              <a:rPr lang="en-US" dirty="0"/>
              <a:t>, to sell at retail and online</a:t>
            </a:r>
          </a:p>
          <a:p>
            <a:r>
              <a:rPr lang="en-US" dirty="0"/>
              <a:t>Yr. 10: D transfers web site’s assets &amp; liabilities to newly formed C and distributes C stock pro rata to D </a:t>
            </a:r>
            <a:r>
              <a:rPr lang="en-US" dirty="0" err="1"/>
              <a:t>SHs</a:t>
            </a:r>
            <a:r>
              <a:rPr lang="en-US" dirty="0"/>
              <a:t>.</a:t>
            </a:r>
          </a:p>
          <a:p>
            <a:r>
              <a:rPr lang="en-US" dirty="0"/>
              <a:t>Issue:  Is the online business a </a:t>
            </a:r>
            <a:r>
              <a:rPr lang="en-US" b="1" dirty="0"/>
              <a:t>new T/B</a:t>
            </a:r>
            <a:r>
              <a:rPr lang="en-US" dirty="0"/>
              <a:t> or </a:t>
            </a:r>
            <a:r>
              <a:rPr lang="en-US" b="1" dirty="0"/>
              <a:t>expansion of the old T/B</a:t>
            </a:r>
            <a:r>
              <a:rPr lang="en-US" dirty="0"/>
              <a:t>?</a:t>
            </a:r>
          </a:p>
        </p:txBody>
      </p:sp>
      <p:sp>
        <p:nvSpPr>
          <p:cNvPr id="3" name="Title 2"/>
          <p:cNvSpPr>
            <a:spLocks noGrp="1"/>
          </p:cNvSpPr>
          <p:nvPr>
            <p:ph type="title"/>
          </p:nvPr>
        </p:nvSpPr>
        <p:spPr/>
        <p:txBody>
          <a:bodyPr/>
          <a:lstStyle/>
          <a:p>
            <a:r>
              <a:rPr lang="en-US" dirty="0"/>
              <a:t>Active Business and Section 355(b): Rev. Rul. 2003-38</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9</a:t>
            </a:fld>
            <a:endParaRPr lang="en-US" altLang="en-US" dirty="0"/>
          </a:p>
        </p:txBody>
      </p:sp>
      <p:sp>
        <p:nvSpPr>
          <p:cNvPr id="5" name="Footer Placeholder 4"/>
          <p:cNvSpPr>
            <a:spLocks noGrp="1"/>
          </p:cNvSpPr>
          <p:nvPr>
            <p:ph type="ftr" sz="quarter" idx="11"/>
          </p:nvPr>
        </p:nvSpPr>
        <p:spPr/>
        <p:txBody>
          <a:bodyPr/>
          <a:lstStyle/>
          <a:p>
            <a:pPr>
              <a:defRPr/>
            </a:pPr>
            <a:r>
              <a:rPr lang="en-US"/>
              <a:t>Spin Offs</a:t>
            </a:r>
            <a:endParaRPr lang="en-US" dirty="0"/>
          </a:p>
        </p:txBody>
      </p:sp>
      <p:sp>
        <p:nvSpPr>
          <p:cNvPr id="6" name="Rectangle 4"/>
          <p:cNvSpPr>
            <a:spLocks noChangeArrowheads="1"/>
          </p:cNvSpPr>
          <p:nvPr/>
        </p:nvSpPr>
        <p:spPr bwMode="auto">
          <a:xfrm>
            <a:off x="1235242" y="1676400"/>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D</a:t>
            </a:r>
            <a:endParaRPr lang="en-US" altLang="en-US" sz="2800" dirty="0">
              <a:latin typeface="Calibri" panose="020F0502020204030204" pitchFamily="34" charset="0"/>
            </a:endParaRPr>
          </a:p>
        </p:txBody>
      </p:sp>
      <p:sp>
        <p:nvSpPr>
          <p:cNvPr id="7" name="Oval 6"/>
          <p:cNvSpPr>
            <a:spLocks noChangeArrowheads="1"/>
          </p:cNvSpPr>
          <p:nvPr/>
        </p:nvSpPr>
        <p:spPr bwMode="auto">
          <a:xfrm>
            <a:off x="467218" y="2741020"/>
            <a:ext cx="839963"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200" b="1" dirty="0">
                <a:latin typeface="Calibri" panose="020F0502020204030204" pitchFamily="34" charset="0"/>
              </a:rPr>
              <a:t>Retail Shoes</a:t>
            </a:r>
            <a:endParaRPr lang="en-US" altLang="en-US" sz="1600" dirty="0">
              <a:latin typeface="Calibri" panose="020F0502020204030204" pitchFamily="34" charset="0"/>
            </a:endParaRPr>
          </a:p>
        </p:txBody>
      </p:sp>
      <p:sp>
        <p:nvSpPr>
          <p:cNvPr id="8" name="Oval 7"/>
          <p:cNvSpPr>
            <a:spLocks noChangeArrowheads="1"/>
          </p:cNvSpPr>
          <p:nvPr/>
        </p:nvSpPr>
        <p:spPr bwMode="auto">
          <a:xfrm>
            <a:off x="1187730" y="987484"/>
            <a:ext cx="807522" cy="384116"/>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D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9" name="AutoShape 14"/>
          <p:cNvCxnSpPr>
            <a:cxnSpLocks noChangeShapeType="1"/>
            <a:stCxn id="8" idx="4"/>
          </p:cNvCxnSpPr>
          <p:nvPr/>
        </p:nvCxnSpPr>
        <p:spPr bwMode="auto">
          <a:xfrm flipH="1">
            <a:off x="1585169" y="1371600"/>
            <a:ext cx="6322" cy="304801"/>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1" name="Oval 10"/>
          <p:cNvSpPr>
            <a:spLocks noChangeArrowheads="1"/>
          </p:cNvSpPr>
          <p:nvPr/>
        </p:nvSpPr>
        <p:spPr bwMode="auto">
          <a:xfrm>
            <a:off x="1648858" y="2739007"/>
            <a:ext cx="970590"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200" b="1" dirty="0">
                <a:latin typeface="Calibri" panose="020F0502020204030204" pitchFamily="34" charset="0"/>
              </a:rPr>
              <a:t>Web Shoes</a:t>
            </a:r>
            <a:endParaRPr lang="en-US" altLang="en-US" sz="1600" dirty="0">
              <a:latin typeface="Calibri" panose="020F0502020204030204" pitchFamily="34" charset="0"/>
            </a:endParaRPr>
          </a:p>
        </p:txBody>
      </p:sp>
      <p:sp>
        <p:nvSpPr>
          <p:cNvPr id="13" name="Rectangle 4"/>
          <p:cNvSpPr>
            <a:spLocks noChangeArrowheads="1"/>
          </p:cNvSpPr>
          <p:nvPr/>
        </p:nvSpPr>
        <p:spPr bwMode="auto">
          <a:xfrm>
            <a:off x="6809633" y="1774410"/>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D</a:t>
            </a:r>
            <a:endParaRPr lang="en-US" altLang="en-US" sz="2800" dirty="0">
              <a:latin typeface="Calibri" panose="020F0502020204030204" pitchFamily="34" charset="0"/>
            </a:endParaRPr>
          </a:p>
        </p:txBody>
      </p:sp>
      <p:sp>
        <p:nvSpPr>
          <p:cNvPr id="14" name="Oval 13"/>
          <p:cNvSpPr>
            <a:spLocks noChangeArrowheads="1"/>
          </p:cNvSpPr>
          <p:nvPr/>
        </p:nvSpPr>
        <p:spPr bwMode="auto">
          <a:xfrm>
            <a:off x="6647642" y="2783505"/>
            <a:ext cx="1031246"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a:latin typeface="Calibri" panose="020F0502020204030204" pitchFamily="34" charset="0"/>
              </a:rPr>
              <a:t>Retail Shoes</a:t>
            </a:r>
            <a:endParaRPr lang="en-US" altLang="en-US" sz="1800" dirty="0">
              <a:latin typeface="Calibri" panose="020F0502020204030204" pitchFamily="34" charset="0"/>
            </a:endParaRPr>
          </a:p>
        </p:txBody>
      </p:sp>
      <p:sp>
        <p:nvSpPr>
          <p:cNvPr id="15" name="Oval 14"/>
          <p:cNvSpPr>
            <a:spLocks noChangeArrowheads="1"/>
          </p:cNvSpPr>
          <p:nvPr/>
        </p:nvSpPr>
        <p:spPr bwMode="auto">
          <a:xfrm>
            <a:off x="7259787" y="987484"/>
            <a:ext cx="838201" cy="31075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D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16" name="AutoShape 14"/>
          <p:cNvCxnSpPr>
            <a:cxnSpLocks noChangeShapeType="1"/>
            <a:stCxn id="29" idx="4"/>
            <a:endCxn id="27" idx="0"/>
          </p:cNvCxnSpPr>
          <p:nvPr/>
        </p:nvCxnSpPr>
        <p:spPr bwMode="auto">
          <a:xfrm flipH="1">
            <a:off x="7159559" y="1298234"/>
            <a:ext cx="519329" cy="47617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7" name="AutoShape 14"/>
          <p:cNvCxnSpPr>
            <a:cxnSpLocks noChangeShapeType="1"/>
            <a:stCxn id="27" idx="2"/>
            <a:endCxn id="28" idx="0"/>
          </p:cNvCxnSpPr>
          <p:nvPr/>
        </p:nvCxnSpPr>
        <p:spPr bwMode="auto">
          <a:xfrm flipH="1">
            <a:off x="7156747" y="2432894"/>
            <a:ext cx="2812" cy="350611"/>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8" name="Rectangle 4"/>
          <p:cNvSpPr>
            <a:spLocks noChangeArrowheads="1"/>
          </p:cNvSpPr>
          <p:nvPr/>
        </p:nvSpPr>
        <p:spPr bwMode="auto">
          <a:xfrm>
            <a:off x="4074331" y="1567139"/>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D</a:t>
            </a:r>
            <a:endParaRPr lang="en-US" altLang="en-US" sz="2800" dirty="0">
              <a:latin typeface="Calibri" panose="020F0502020204030204" pitchFamily="34" charset="0"/>
            </a:endParaRPr>
          </a:p>
        </p:txBody>
      </p:sp>
      <p:sp>
        <p:nvSpPr>
          <p:cNvPr id="19" name="Oval 18"/>
          <p:cNvSpPr>
            <a:spLocks noChangeArrowheads="1"/>
          </p:cNvSpPr>
          <p:nvPr/>
        </p:nvSpPr>
        <p:spPr bwMode="auto">
          <a:xfrm>
            <a:off x="3430935" y="2714469"/>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200" b="1" dirty="0">
                <a:latin typeface="Calibri" panose="020F0502020204030204" pitchFamily="34" charset="0"/>
              </a:rPr>
              <a:t>Retail Shoes</a:t>
            </a:r>
            <a:endParaRPr lang="en-US" altLang="en-US" sz="1600" dirty="0">
              <a:latin typeface="Calibri" panose="020F0502020204030204" pitchFamily="34" charset="0"/>
            </a:endParaRPr>
          </a:p>
        </p:txBody>
      </p:sp>
      <p:sp>
        <p:nvSpPr>
          <p:cNvPr id="20" name="Oval 19"/>
          <p:cNvSpPr>
            <a:spLocks noChangeArrowheads="1"/>
          </p:cNvSpPr>
          <p:nvPr/>
        </p:nvSpPr>
        <p:spPr bwMode="auto">
          <a:xfrm>
            <a:off x="4007921" y="987484"/>
            <a:ext cx="838201" cy="31075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D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21" name="AutoShape 14"/>
          <p:cNvCxnSpPr>
            <a:cxnSpLocks noChangeShapeType="1"/>
            <a:endCxn id="34" idx="0"/>
          </p:cNvCxnSpPr>
          <p:nvPr/>
        </p:nvCxnSpPr>
        <p:spPr bwMode="auto">
          <a:xfrm flipH="1">
            <a:off x="4424257" y="1298234"/>
            <a:ext cx="2765" cy="26890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22" name="AutoShape 14"/>
          <p:cNvCxnSpPr>
            <a:cxnSpLocks noChangeShapeType="1"/>
            <a:stCxn id="34" idx="2"/>
            <a:endCxn id="35" idx="0"/>
          </p:cNvCxnSpPr>
          <p:nvPr/>
        </p:nvCxnSpPr>
        <p:spPr bwMode="auto">
          <a:xfrm flipH="1">
            <a:off x="3834696" y="2225623"/>
            <a:ext cx="589561" cy="48884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23" name="AutoShape 14"/>
          <p:cNvCxnSpPr>
            <a:cxnSpLocks noChangeShapeType="1"/>
            <a:stCxn id="34" idx="2"/>
          </p:cNvCxnSpPr>
          <p:nvPr/>
        </p:nvCxnSpPr>
        <p:spPr bwMode="auto">
          <a:xfrm>
            <a:off x="4424257" y="2225623"/>
            <a:ext cx="248852" cy="378359"/>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4" name="Rectangle 4"/>
          <p:cNvSpPr>
            <a:spLocks noChangeArrowheads="1"/>
          </p:cNvSpPr>
          <p:nvPr/>
        </p:nvSpPr>
        <p:spPr bwMode="auto">
          <a:xfrm>
            <a:off x="4343399" y="2603982"/>
            <a:ext cx="659419" cy="599293"/>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C</a:t>
            </a:r>
          </a:p>
        </p:txBody>
      </p:sp>
      <p:cxnSp>
        <p:nvCxnSpPr>
          <p:cNvPr id="25" name="AutoShape 14"/>
          <p:cNvCxnSpPr>
            <a:cxnSpLocks noChangeShapeType="1"/>
            <a:stCxn id="24" idx="2"/>
            <a:endCxn id="184" idx="0"/>
          </p:cNvCxnSpPr>
          <p:nvPr/>
        </p:nvCxnSpPr>
        <p:spPr bwMode="auto">
          <a:xfrm>
            <a:off x="4673109" y="3203275"/>
            <a:ext cx="1876" cy="41183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26" name="AutoShape 14"/>
          <p:cNvCxnSpPr>
            <a:cxnSpLocks noChangeShapeType="1"/>
            <a:stCxn id="29" idx="4"/>
          </p:cNvCxnSpPr>
          <p:nvPr/>
        </p:nvCxnSpPr>
        <p:spPr bwMode="auto">
          <a:xfrm>
            <a:off x="7678888" y="1298234"/>
            <a:ext cx="618098" cy="470207"/>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7" name="Oval 26"/>
          <p:cNvSpPr>
            <a:spLocks noChangeArrowheads="1"/>
          </p:cNvSpPr>
          <p:nvPr/>
        </p:nvSpPr>
        <p:spPr bwMode="auto">
          <a:xfrm>
            <a:off x="7893225" y="2784917"/>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Web Shoes</a:t>
            </a:r>
            <a:endParaRPr lang="en-US" altLang="en-US" sz="1800" dirty="0">
              <a:latin typeface="Calibri" panose="020F0502020204030204" pitchFamily="34" charset="0"/>
            </a:endParaRPr>
          </a:p>
        </p:txBody>
      </p:sp>
      <p:sp>
        <p:nvSpPr>
          <p:cNvPr id="28" name="Rectangle 4"/>
          <p:cNvSpPr>
            <a:spLocks noChangeArrowheads="1"/>
          </p:cNvSpPr>
          <p:nvPr/>
        </p:nvSpPr>
        <p:spPr bwMode="auto">
          <a:xfrm>
            <a:off x="7947060" y="1768441"/>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C</a:t>
            </a:r>
          </a:p>
        </p:txBody>
      </p:sp>
      <p:cxnSp>
        <p:nvCxnSpPr>
          <p:cNvPr id="29" name="AutoShape 14"/>
          <p:cNvCxnSpPr>
            <a:cxnSpLocks noChangeShapeType="1"/>
          </p:cNvCxnSpPr>
          <p:nvPr/>
        </p:nvCxnSpPr>
        <p:spPr bwMode="auto">
          <a:xfrm>
            <a:off x="8296986" y="2426925"/>
            <a:ext cx="0" cy="35799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30" name="Elbow Connector 29"/>
          <p:cNvCxnSpPr>
            <a:stCxn id="18" idx="3"/>
            <a:endCxn id="184" idx="6"/>
          </p:cNvCxnSpPr>
          <p:nvPr/>
        </p:nvCxnSpPr>
        <p:spPr>
          <a:xfrm>
            <a:off x="4774183" y="1896381"/>
            <a:ext cx="386097" cy="1883347"/>
          </a:xfrm>
          <a:prstGeom prst="bentConnector3">
            <a:avLst>
              <a:gd name="adj1" fmla="val 159208"/>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Elbow Connector 30"/>
          <p:cNvCxnSpPr/>
          <p:nvPr/>
        </p:nvCxnSpPr>
        <p:spPr>
          <a:xfrm rot="5400000" flipH="1" flipV="1">
            <a:off x="4525181" y="1405246"/>
            <a:ext cx="583327" cy="58555"/>
          </a:xfrm>
          <a:prstGeom prst="bentConnector4">
            <a:avLst>
              <a:gd name="adj1" fmla="val -2774"/>
              <a:gd name="adj2" fmla="val 883460"/>
            </a:avLst>
          </a:prstGeom>
          <a:ln>
            <a:tailEnd type="triangle"/>
          </a:ln>
        </p:spPr>
        <p:style>
          <a:lnRef idx="1">
            <a:schemeClr val="accent1"/>
          </a:lnRef>
          <a:fillRef idx="0">
            <a:schemeClr val="accent1"/>
          </a:fillRef>
          <a:effectRef idx="0">
            <a:schemeClr val="accent1"/>
          </a:effectRef>
          <a:fontRef idx="minor">
            <a:schemeClr val="tx1"/>
          </a:fontRef>
        </p:style>
      </p:cxnSp>
      <p:sp>
        <p:nvSpPr>
          <p:cNvPr id="32" name="Oval 31"/>
          <p:cNvSpPr/>
          <p:nvPr/>
        </p:nvSpPr>
        <p:spPr>
          <a:xfrm>
            <a:off x="5460610" y="2418036"/>
            <a:ext cx="304800" cy="34361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1</a:t>
            </a:r>
          </a:p>
        </p:txBody>
      </p:sp>
      <p:cxnSp>
        <p:nvCxnSpPr>
          <p:cNvPr id="33" name="Straight Connector 32"/>
          <p:cNvCxnSpPr/>
          <p:nvPr/>
        </p:nvCxnSpPr>
        <p:spPr>
          <a:xfrm>
            <a:off x="2819400" y="731873"/>
            <a:ext cx="0" cy="2958903"/>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a:xfrm>
            <a:off x="6248400" y="746171"/>
            <a:ext cx="0" cy="2958903"/>
          </a:xfrm>
          <a:prstGeom prst="line">
            <a:avLst/>
          </a:prstGeom>
        </p:spPr>
        <p:style>
          <a:lnRef idx="1">
            <a:schemeClr val="accent1"/>
          </a:lnRef>
          <a:fillRef idx="0">
            <a:schemeClr val="accent1"/>
          </a:fillRef>
          <a:effectRef idx="0">
            <a:schemeClr val="accent1"/>
          </a:effectRef>
          <a:fontRef idx="minor">
            <a:schemeClr val="tx1"/>
          </a:fontRef>
        </p:style>
      </p:cxnSp>
      <p:sp>
        <p:nvSpPr>
          <p:cNvPr id="35" name="Oval 34"/>
          <p:cNvSpPr/>
          <p:nvPr/>
        </p:nvSpPr>
        <p:spPr>
          <a:xfrm>
            <a:off x="5376771" y="1261846"/>
            <a:ext cx="304800" cy="34361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2</a:t>
            </a:r>
          </a:p>
        </p:txBody>
      </p:sp>
      <p:cxnSp>
        <p:nvCxnSpPr>
          <p:cNvPr id="175" name="Straight Connector 174"/>
          <p:cNvCxnSpPr>
            <a:stCxn id="6" idx="2"/>
            <a:endCxn id="7" idx="0"/>
          </p:cNvCxnSpPr>
          <p:nvPr/>
        </p:nvCxnSpPr>
        <p:spPr>
          <a:xfrm flipH="1">
            <a:off x="887200" y="2334884"/>
            <a:ext cx="697968" cy="406136"/>
          </a:xfrm>
          <a:prstGeom prst="line">
            <a:avLst/>
          </a:prstGeom>
        </p:spPr>
        <p:style>
          <a:lnRef idx="1">
            <a:schemeClr val="accent1"/>
          </a:lnRef>
          <a:fillRef idx="0">
            <a:schemeClr val="accent1"/>
          </a:fillRef>
          <a:effectRef idx="0">
            <a:schemeClr val="accent1"/>
          </a:effectRef>
          <a:fontRef idx="minor">
            <a:schemeClr val="tx1"/>
          </a:fontRef>
        </p:style>
      </p:cxnSp>
      <p:cxnSp>
        <p:nvCxnSpPr>
          <p:cNvPr id="176" name="Straight Connector 175"/>
          <p:cNvCxnSpPr>
            <a:stCxn id="6" idx="2"/>
            <a:endCxn id="11" idx="0"/>
          </p:cNvCxnSpPr>
          <p:nvPr/>
        </p:nvCxnSpPr>
        <p:spPr>
          <a:xfrm>
            <a:off x="1585168" y="2334884"/>
            <a:ext cx="548985" cy="404123"/>
          </a:xfrm>
          <a:prstGeom prst="line">
            <a:avLst/>
          </a:prstGeom>
        </p:spPr>
        <p:style>
          <a:lnRef idx="1">
            <a:schemeClr val="accent1"/>
          </a:lnRef>
          <a:fillRef idx="0">
            <a:schemeClr val="accent1"/>
          </a:fillRef>
          <a:effectRef idx="0">
            <a:schemeClr val="accent1"/>
          </a:effectRef>
          <a:fontRef idx="minor">
            <a:schemeClr val="tx1"/>
          </a:fontRef>
        </p:style>
      </p:cxnSp>
      <p:sp>
        <p:nvSpPr>
          <p:cNvPr id="184" name="Oval 183"/>
          <p:cNvSpPr>
            <a:spLocks noChangeArrowheads="1"/>
          </p:cNvSpPr>
          <p:nvPr/>
        </p:nvSpPr>
        <p:spPr bwMode="auto">
          <a:xfrm>
            <a:off x="4189690" y="3615107"/>
            <a:ext cx="970590"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200" b="1" dirty="0">
                <a:latin typeface="Calibri" panose="020F0502020204030204" pitchFamily="34" charset="0"/>
              </a:rPr>
              <a:t>Web Shoes</a:t>
            </a:r>
            <a:endParaRPr lang="en-US" altLang="en-US" sz="1600" dirty="0">
              <a:latin typeface="Calibri" panose="020F0502020204030204" pitchFamily="34" charset="0"/>
            </a:endParaRPr>
          </a:p>
        </p:txBody>
      </p:sp>
    </p:spTree>
    <p:extLst>
      <p:ext uri="{BB962C8B-B14F-4D97-AF65-F5344CB8AC3E}">
        <p14:creationId xmlns:p14="http://schemas.microsoft.com/office/powerpoint/2010/main" val="771926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7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7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0"/>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3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2"/>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8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34"/>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1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5"/>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6"/>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1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26"/>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7"/>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8"/>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29"/>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2">
                                            <p:bg/>
                                          </p:spTgt>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nodeType="clickEffect">
                                  <p:stCondLst>
                                    <p:cond delay="0"/>
                                  </p:stCondLst>
                                  <p:childTnLst>
                                    <p:set>
                                      <p:cBhvr>
                                        <p:cTn id="98" dur="1" fill="hold">
                                          <p:stCondLst>
                                            <p:cond delay="0"/>
                                          </p:stCondLst>
                                        </p:cTn>
                                        <p:tgtEl>
                                          <p:spTgt spid="2">
                                            <p:txEl>
                                              <p:pRg st="0" end="0"/>
                                            </p:txEl>
                                          </p:spTgt>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2">
                                            <p:txEl>
                                              <p:pRg st="1" end="1"/>
                                            </p:txEl>
                                          </p:spTgt>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2">
                                            <p:txEl>
                                              <p:pRg st="2" end="2"/>
                                            </p:txEl>
                                          </p:spTgt>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animBg="1"/>
      <p:bldP spid="6" grpId="0" animBg="1"/>
      <p:bldP spid="7" grpId="0" animBg="1"/>
      <p:bldP spid="8" grpId="0" animBg="1"/>
      <p:bldP spid="11" grpId="0" animBg="1"/>
      <p:bldP spid="13" grpId="0" animBg="1"/>
      <p:bldP spid="14" grpId="0" animBg="1"/>
      <p:bldP spid="15" grpId="0" animBg="1"/>
      <p:bldP spid="18" grpId="0" animBg="1"/>
      <p:bldP spid="19" grpId="0" animBg="1"/>
      <p:bldP spid="20" grpId="0" animBg="1"/>
      <p:bldP spid="24" grpId="0" animBg="1"/>
      <p:bldP spid="27" grpId="0" animBg="1"/>
      <p:bldP spid="28" grpId="0" animBg="1"/>
      <p:bldP spid="32" grpId="0" animBg="1"/>
      <p:bldP spid="35" grpId="0" animBg="1"/>
      <p:bldP spid="18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243" name="Rectangle 3"/>
          <p:cNvSpPr>
            <a:spLocks noGrp="1" noChangeArrowheads="1"/>
          </p:cNvSpPr>
          <p:nvPr>
            <p:ph idx="1"/>
          </p:nvPr>
        </p:nvSpPr>
        <p:spPr/>
        <p:txBody>
          <a:bodyPr>
            <a:normAutofit lnSpcReduction="10000"/>
          </a:bodyPr>
          <a:lstStyle/>
          <a:p>
            <a:pPr>
              <a:defRPr/>
            </a:pPr>
            <a:r>
              <a:rPr lang="is-IS" sz="2000" b="1" dirty="0"/>
              <a:t>Both</a:t>
            </a:r>
            <a:r>
              <a:rPr lang="is-IS" sz="2000" dirty="0"/>
              <a:t> distributing &amp; controlled must be engaged immediately after the distribution in a AT/B, </a:t>
            </a:r>
            <a:r>
              <a:rPr lang="is-IS" sz="2000" b="1" dirty="0"/>
              <a:t>or</a:t>
            </a:r>
            <a:r>
              <a:rPr lang="is-IS" sz="2000" dirty="0"/>
              <a:t> distributing holds only stock/sec in the controlled corporations, each of which is engaged in an AT/B. §355(b)(1). </a:t>
            </a:r>
          </a:p>
          <a:p>
            <a:pPr>
              <a:defRPr/>
            </a:pPr>
            <a:r>
              <a:rPr lang="is-IS" sz="2000" b="1" dirty="0">
                <a:cs typeface="+mn-cs"/>
              </a:rPr>
              <a:t>The AT/B </a:t>
            </a:r>
            <a:r>
              <a:rPr lang="is-IS" sz="2000" dirty="0">
                <a:cs typeface="+mn-cs"/>
              </a:rPr>
              <a:t>can’t have been acquired in a </a:t>
            </a:r>
            <a:r>
              <a:rPr lang="is-IS" sz="2000" b="1" dirty="0">
                <a:cs typeface="+mn-cs"/>
              </a:rPr>
              <a:t>taxable transaction </a:t>
            </a:r>
            <a:r>
              <a:rPr lang="is-IS" sz="2000" dirty="0">
                <a:cs typeface="+mn-cs"/>
              </a:rPr>
              <a:t>w/in the last 5 years, or </a:t>
            </a:r>
            <a:r>
              <a:rPr lang="is-IS" sz="2000" b="1" dirty="0">
                <a:cs typeface="+mn-cs"/>
              </a:rPr>
              <a:t>control</a:t>
            </a:r>
            <a:r>
              <a:rPr lang="is-IS" sz="2000" dirty="0">
                <a:cs typeface="+mn-cs"/>
              </a:rPr>
              <a:t> of a corporation conducting the AT/B </a:t>
            </a:r>
            <a:r>
              <a:rPr lang="is-IS" sz="2000" b="1" dirty="0">
                <a:cs typeface="+mn-cs"/>
              </a:rPr>
              <a:t>wasn’t acquired in a taxable transaction w/in the last 5 yrs</a:t>
            </a:r>
            <a:r>
              <a:rPr lang="is-IS" sz="2000" dirty="0">
                <a:cs typeface="+mn-cs"/>
              </a:rPr>
              <a:t>. </a:t>
            </a:r>
            <a:r>
              <a:rPr lang="is-IS" sz="2000" dirty="0"/>
              <a:t>§355(b)(2)(C) and (D).</a:t>
            </a:r>
          </a:p>
          <a:p>
            <a:pPr>
              <a:defRPr/>
            </a:pPr>
            <a:r>
              <a:rPr lang="en-US" sz="2000" dirty="0"/>
              <a:t>F</a:t>
            </a:r>
            <a:r>
              <a:rPr lang="is-IS" sz="2000" dirty="0"/>
              <a:t>or the AT/B test, all members of a </a:t>
            </a:r>
            <a:r>
              <a:rPr lang="is-IS" sz="2000" i="1" dirty="0"/>
              <a:t>separate affiliated group </a:t>
            </a:r>
            <a:r>
              <a:rPr lang="is-IS" sz="2000" dirty="0"/>
              <a:t>(SAG) are treated as one corporation. §355(b)(3)(A).  </a:t>
            </a:r>
          </a:p>
          <a:p>
            <a:pPr>
              <a:defRPr/>
            </a:pPr>
            <a:r>
              <a:rPr lang="is-IS" sz="2000" dirty="0"/>
              <a:t>A single business can be divided both </a:t>
            </a:r>
            <a:r>
              <a:rPr lang="is-IS" sz="2000" b="1" dirty="0"/>
              <a:t>vertically</a:t>
            </a:r>
            <a:r>
              <a:rPr lang="is-IS" sz="2000" dirty="0"/>
              <a:t> (each function of the business is continued by both distributing and controlled), and </a:t>
            </a:r>
            <a:r>
              <a:rPr lang="is-IS" sz="2000" b="1" dirty="0"/>
              <a:t>horizontally</a:t>
            </a:r>
            <a:r>
              <a:rPr lang="is-IS" sz="2000" dirty="0"/>
              <a:t> (distributing and controlled perform distinct functions of a single business).</a:t>
            </a:r>
          </a:p>
          <a:p>
            <a:pPr lvl="1">
              <a:defRPr/>
            </a:pPr>
            <a:r>
              <a:rPr lang="is-IS" sz="1850" dirty="0"/>
              <a:t>Reg. §1.355-3(c), Ex. 4 (separation of sewage plant construction business by state);</a:t>
            </a:r>
          </a:p>
          <a:p>
            <a:pPr lvl="1">
              <a:defRPr/>
            </a:pPr>
            <a:r>
              <a:rPr lang="is-IS" sz="1850" i="1" dirty="0"/>
              <a:t>Id</a:t>
            </a:r>
            <a:r>
              <a:rPr lang="is-IS" sz="1850" dirty="0"/>
              <a:t>. Ex. 9 (separation of R&amp;D department from manufacturer of household products).  </a:t>
            </a:r>
          </a:p>
          <a:p>
            <a:pPr lvl="1">
              <a:defRPr/>
            </a:pPr>
            <a:r>
              <a:rPr lang="is-IS" sz="1850" i="1" dirty="0"/>
              <a:t>But see </a:t>
            </a:r>
            <a:r>
              <a:rPr lang="is-IS" sz="1850" dirty="0"/>
              <a:t>separation of </a:t>
            </a:r>
            <a:r>
              <a:rPr lang="is-IS" sz="1850" i="1" dirty="0"/>
              <a:t>secondary business </a:t>
            </a:r>
            <a:r>
              <a:rPr lang="is-IS" sz="1850" dirty="0"/>
              <a:t> as a </a:t>
            </a:r>
            <a:r>
              <a:rPr lang="is-IS" sz="1850" i="1" dirty="0"/>
              <a:t>device. </a:t>
            </a:r>
            <a:r>
              <a:rPr lang="is-IS" sz="1850" dirty="0"/>
              <a:t>Reg. §1.355-2(d)(iv)(C). </a:t>
            </a:r>
            <a:endParaRPr lang="en-US" sz="2650" i="1" dirty="0">
              <a:cs typeface="+mn-cs"/>
            </a:endParaRPr>
          </a:p>
          <a:p>
            <a:pPr>
              <a:defRPr/>
            </a:pPr>
            <a:r>
              <a:rPr lang="en-US" sz="2000" dirty="0">
                <a:cs typeface="+mn-cs"/>
              </a:rPr>
              <a:t>Passive activities: </a:t>
            </a:r>
          </a:p>
          <a:p>
            <a:pPr lvl="1">
              <a:defRPr/>
            </a:pPr>
            <a:r>
              <a:rPr lang="en-US" sz="1800" dirty="0">
                <a:cs typeface="+mn-cs"/>
              </a:rPr>
              <a:t>Holding for investment stock, securities, land, or other property;</a:t>
            </a:r>
          </a:p>
          <a:p>
            <a:pPr lvl="1">
              <a:defRPr/>
            </a:pPr>
            <a:r>
              <a:rPr lang="en-US" sz="1800" dirty="0">
                <a:cs typeface="+mn-cs"/>
              </a:rPr>
              <a:t>Leasing, unless the owner performs significant services with respect to the operation and management of the property. </a:t>
            </a:r>
            <a:r>
              <a:rPr lang="is-IS" sz="1800" dirty="0"/>
              <a:t>Reg. §1.355-3(b)(2)(iv).</a:t>
            </a:r>
          </a:p>
        </p:txBody>
      </p:sp>
      <p:sp>
        <p:nvSpPr>
          <p:cNvPr id="394242" name="Rectangle 2"/>
          <p:cNvSpPr>
            <a:spLocks noGrp="1" noChangeArrowheads="1"/>
          </p:cNvSpPr>
          <p:nvPr>
            <p:ph type="title"/>
          </p:nvPr>
        </p:nvSpPr>
        <p:spPr>
          <a:xfrm>
            <a:off x="384048" y="24431"/>
            <a:ext cx="8458200" cy="365127"/>
          </a:xfrm>
        </p:spPr>
        <p:txBody>
          <a:bodyPr/>
          <a:lstStyle/>
          <a:p>
            <a:pPr>
              <a:defRPr/>
            </a:pPr>
            <a:r>
              <a:rPr lang="en-US" dirty="0"/>
              <a:t>Active Trade or Business: Section 355(b) and </a:t>
            </a:r>
            <a:r>
              <a:rPr lang="is-IS" dirty="0"/>
              <a:t>Reg. §1.355-3</a:t>
            </a:r>
            <a:endParaRPr lang="en-US" dirty="0">
              <a:cs typeface="+mj-cs"/>
            </a:endParaRPr>
          </a:p>
        </p:txBody>
      </p:sp>
      <p:sp>
        <p:nvSpPr>
          <p:cNvPr id="5" name="Slide Number Placeholder 4"/>
          <p:cNvSpPr>
            <a:spLocks noGrp="1"/>
          </p:cNvSpPr>
          <p:nvPr>
            <p:ph type="sldNum" sz="quarter" idx="10"/>
          </p:nvPr>
        </p:nvSpPr>
        <p:spPr/>
        <p:txBody>
          <a:bodyPr/>
          <a:lstStyle/>
          <a:p>
            <a:pPr>
              <a:defRPr/>
            </a:pPr>
            <a:fld id="{AAECC4AD-F2AE-3240-ADC9-FC4BDFC2181A}" type="slidenum">
              <a:rPr lang="en-US"/>
              <a:pPr>
                <a:defRPr/>
              </a:pPr>
              <a:t>10</a:t>
            </a:fld>
            <a:endParaRPr lang="en-US"/>
          </a:p>
        </p:txBody>
      </p:sp>
      <p:sp>
        <p:nvSpPr>
          <p:cNvPr id="2" name="Footer Placeholder 1"/>
          <p:cNvSpPr>
            <a:spLocks noGrp="1"/>
          </p:cNvSpPr>
          <p:nvPr>
            <p:ph type="ftr" sz="quarter" idx="11"/>
          </p:nvPr>
        </p:nvSpPr>
        <p:spPr/>
        <p:txBody>
          <a:bodyPr/>
          <a:lstStyle/>
          <a:p>
            <a:pPr>
              <a:defRPr/>
            </a:pPr>
            <a:r>
              <a:rPr lang="en-US"/>
              <a:t>Spin Offs</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92500" lnSpcReduction="10000"/>
          </a:bodyPr>
          <a:lstStyle/>
          <a:p>
            <a:r>
              <a:rPr lang="en-US" sz="2000" dirty="0"/>
              <a:t>Suspension of Rev. </a:t>
            </a:r>
            <a:r>
              <a:rPr lang="en-US" sz="2000" dirty="0" err="1"/>
              <a:t>Ruls</a:t>
            </a:r>
            <a:r>
              <a:rPr lang="en-US" sz="2000" dirty="0"/>
              <a:t>. 57-464 and 57-492</a:t>
            </a:r>
          </a:p>
          <a:p>
            <a:r>
              <a:rPr lang="en-US" sz="2000" dirty="0"/>
              <a:t>Rev. Rul. 57-464</a:t>
            </a:r>
          </a:p>
          <a:p>
            <a:pPr lvl="1"/>
            <a:r>
              <a:rPr lang="en-US" sz="1800" b="1" dirty="0"/>
              <a:t>separation of a manufacturing business from a group of real estate assets </a:t>
            </a:r>
            <a:r>
              <a:rPr lang="en-US" sz="1800" dirty="0"/>
              <a:t>consisting of an old factory building used for storage and four other buildings: a duplex apartment building rented to employees of the corporation, a small office building rented to a single tenant, and two houses, one of which was occupied by a sister-in-law of the president of the corporation. The </a:t>
            </a:r>
            <a:r>
              <a:rPr lang="en-US" sz="1800" b="1" dirty="0"/>
              <a:t>use of the old factory building </a:t>
            </a:r>
            <a:r>
              <a:rPr lang="en-US" sz="1800" dirty="0"/>
              <a:t>for storage "was </a:t>
            </a:r>
            <a:r>
              <a:rPr lang="en-US" sz="1800" b="1" dirty="0"/>
              <a:t>not in itself the active operation of a business </a:t>
            </a:r>
            <a:r>
              <a:rPr lang="en-US" sz="1800" dirty="0"/>
              <a:t>as defined in the regulations." The </a:t>
            </a:r>
            <a:r>
              <a:rPr lang="en-US" sz="1800" b="1" dirty="0"/>
              <a:t>rental activities </a:t>
            </a:r>
            <a:r>
              <a:rPr lang="en-US" sz="1800" dirty="0"/>
              <a:t>"produced only a </a:t>
            </a:r>
            <a:r>
              <a:rPr lang="en-US" sz="1800" b="1" dirty="0"/>
              <a:t>nominal rental</a:t>
            </a:r>
            <a:r>
              <a:rPr lang="en-US" sz="1800" dirty="0"/>
              <a:t>" and "</a:t>
            </a:r>
            <a:r>
              <a:rPr lang="en-US" sz="1800" b="1" dirty="0"/>
              <a:t>negligible" net income</a:t>
            </a:r>
            <a:r>
              <a:rPr lang="en-US" sz="1800" dirty="0"/>
              <a:t>, and the </a:t>
            </a:r>
            <a:r>
              <a:rPr lang="en-US" sz="1800" b="1" dirty="0"/>
              <a:t>properties "were acquired either as an investment or as a convenience to employees</a:t>
            </a:r>
            <a:r>
              <a:rPr lang="en-US" sz="1800" dirty="0"/>
              <a:t> of the manufacturing business.“</a:t>
            </a:r>
          </a:p>
          <a:p>
            <a:r>
              <a:rPr lang="en-US" sz="2000" dirty="0"/>
              <a:t>Rev. Rul.  57-492</a:t>
            </a:r>
          </a:p>
          <a:p>
            <a:pPr lvl="1"/>
            <a:r>
              <a:rPr lang="en-US" sz="1800" dirty="0"/>
              <a:t>a corporation engaged in refining, transporting, and marketing petroleum products began </a:t>
            </a:r>
            <a:r>
              <a:rPr lang="en-US" sz="1800" b="1" dirty="0"/>
              <a:t>a separate operation to explore for and produce oil. </a:t>
            </a:r>
            <a:r>
              <a:rPr lang="en-US" sz="1800" dirty="0"/>
              <a:t>The exploration and production operation incurred substantial expenditures but </a:t>
            </a:r>
            <a:r>
              <a:rPr lang="en-US" sz="1800" b="1" dirty="0"/>
              <a:t>"did not include any income producing activity or any source of income" until less than five years preceding its separation</a:t>
            </a:r>
            <a:r>
              <a:rPr lang="en-US" sz="1800" dirty="0"/>
              <a:t> from the primary refining, transportation, and marketing operation. The Service held that the exploration and production operation </a:t>
            </a:r>
            <a:r>
              <a:rPr lang="en-US" sz="1800" b="1" dirty="0"/>
              <a:t>failed to qualify as an ATB </a:t>
            </a:r>
            <a:r>
              <a:rPr lang="en-US" sz="1800" dirty="0"/>
              <a:t>because, </a:t>
            </a:r>
            <a:r>
              <a:rPr lang="en-US" sz="1800" b="1" dirty="0"/>
              <a:t>"[b]efore oil was discovered in commercial quantities ..., the venture ... did not include any income producing activity or any source of income.”</a:t>
            </a:r>
          </a:p>
          <a:p>
            <a:r>
              <a:rPr lang="en-US" sz="1950" dirty="0"/>
              <a:t>What areas may potentially benefit from this reformulation of the AT/B rule?</a:t>
            </a:r>
          </a:p>
        </p:txBody>
      </p:sp>
      <p:sp>
        <p:nvSpPr>
          <p:cNvPr id="3" name="Title 2"/>
          <p:cNvSpPr>
            <a:spLocks noGrp="1"/>
          </p:cNvSpPr>
          <p:nvPr>
            <p:ph type="title"/>
          </p:nvPr>
        </p:nvSpPr>
        <p:spPr/>
        <p:txBody>
          <a:bodyPr/>
          <a:lstStyle/>
          <a:p>
            <a:r>
              <a:rPr lang="en-US" dirty="0"/>
              <a:t>Rev. Rul. 2019-09</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11</a:t>
            </a:fld>
            <a:endParaRPr lang="en-US" altLang="en-US" dirty="0"/>
          </a:p>
        </p:txBody>
      </p:sp>
      <p:sp>
        <p:nvSpPr>
          <p:cNvPr id="5" name="Footer Placeholder 4"/>
          <p:cNvSpPr>
            <a:spLocks noGrp="1"/>
          </p:cNvSpPr>
          <p:nvPr>
            <p:ph type="ftr" sz="quarter" idx="11"/>
          </p:nvPr>
        </p:nvSpPr>
        <p:spPr/>
        <p:txBody>
          <a:bodyPr/>
          <a:lstStyle/>
          <a:p>
            <a:pPr>
              <a:defRPr/>
            </a:pPr>
            <a:r>
              <a:rPr lang="en-US"/>
              <a:t>Spin Offs</a:t>
            </a:r>
            <a:endParaRPr lang="en-US" dirty="0"/>
          </a:p>
        </p:txBody>
      </p:sp>
    </p:spTree>
    <p:extLst>
      <p:ext uri="{BB962C8B-B14F-4D97-AF65-F5344CB8AC3E}">
        <p14:creationId xmlns:p14="http://schemas.microsoft.com/office/powerpoint/2010/main" val="25717211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AT/B issue</a:t>
            </a:r>
            <a:r>
              <a:rPr lang="en-US" dirty="0"/>
              <a:t>: Percentage of gross assets used in the AT/B of either distributing or controlled.</a:t>
            </a:r>
          </a:p>
          <a:p>
            <a:pPr lvl="1"/>
            <a:r>
              <a:rPr lang="en-US" b="1" dirty="0"/>
              <a:t>Proposed </a:t>
            </a:r>
            <a:r>
              <a:rPr lang="en-US" b="1" dirty="0" err="1"/>
              <a:t>Regs</a:t>
            </a:r>
            <a:r>
              <a:rPr lang="en-US" b="1" dirty="0"/>
              <a:t>: </a:t>
            </a:r>
            <a:r>
              <a:rPr lang="en-US" dirty="0"/>
              <a:t>FMV of </a:t>
            </a:r>
            <a:r>
              <a:rPr lang="en-US" b="1" dirty="0"/>
              <a:t>gross assets </a:t>
            </a:r>
            <a:r>
              <a:rPr lang="en-US" dirty="0"/>
              <a:t>of distributing </a:t>
            </a:r>
            <a:r>
              <a:rPr lang="en-US" u="sng" dirty="0"/>
              <a:t>and</a:t>
            </a:r>
            <a:r>
              <a:rPr lang="en-US" dirty="0"/>
              <a:t> controlled used in 5-yr AT/B must be </a:t>
            </a:r>
            <a:r>
              <a:rPr lang="en-US" b="1" dirty="0"/>
              <a:t>at least 5% of the FMV </a:t>
            </a:r>
            <a:r>
              <a:rPr lang="en-US" dirty="0"/>
              <a:t>of their respective gross assets.</a:t>
            </a:r>
          </a:p>
          <a:p>
            <a:r>
              <a:rPr lang="en-US" b="1" dirty="0"/>
              <a:t>Device</a:t>
            </a:r>
          </a:p>
          <a:p>
            <a:pPr lvl="1"/>
            <a:r>
              <a:rPr lang="en-US" b="1" dirty="0"/>
              <a:t>Current </a:t>
            </a:r>
            <a:r>
              <a:rPr lang="en-US" b="1" dirty="0" err="1"/>
              <a:t>Regs</a:t>
            </a:r>
            <a:r>
              <a:rPr lang="en-US" b="1" dirty="0"/>
              <a:t>:  </a:t>
            </a:r>
            <a:r>
              <a:rPr lang="en-US" dirty="0"/>
              <a:t>Existence of assets that are not used in an AT/B is evidence of a device. All </a:t>
            </a:r>
            <a:r>
              <a:rPr lang="en-US" b="1" dirty="0"/>
              <a:t>facts and circumstances determination</a:t>
            </a:r>
            <a:r>
              <a:rPr lang="en-US" dirty="0"/>
              <a:t>, including respective percentages of non-AT/B assets of distributing and controlled, but ignoring differences that relate to equalizing the value of the distributing stock surrendered in exchange for controlled stock in a split-off. Reg. </a:t>
            </a:r>
            <a:r>
              <a:rPr lang="en-US" dirty="0">
                <a:solidFill>
                  <a:prstClr val="black"/>
                </a:solidFill>
              </a:rPr>
              <a:t>§</a:t>
            </a:r>
            <a:r>
              <a:rPr lang="en-US" dirty="0"/>
              <a:t>1.355-2(d)(2)(iv)(B).</a:t>
            </a:r>
          </a:p>
          <a:p>
            <a:pPr lvl="1"/>
            <a:r>
              <a:rPr lang="en-US" b="1" dirty="0"/>
              <a:t> Proposed </a:t>
            </a:r>
            <a:r>
              <a:rPr lang="en-US" b="1" dirty="0" err="1"/>
              <a:t>Regs</a:t>
            </a:r>
            <a:r>
              <a:rPr lang="en-US" b="1" dirty="0"/>
              <a:t>:</a:t>
            </a:r>
          </a:p>
          <a:p>
            <a:pPr lvl="2"/>
            <a:r>
              <a:rPr lang="en-US" b="1" dirty="0"/>
              <a:t>Not Evidence of a Device:  </a:t>
            </a:r>
            <a:r>
              <a:rPr lang="en-US" dirty="0"/>
              <a:t>If the nonbusiness asset percentage of </a:t>
            </a:r>
            <a:r>
              <a:rPr lang="en-US" b="1" dirty="0"/>
              <a:t>both</a:t>
            </a:r>
            <a:r>
              <a:rPr lang="en-US" dirty="0"/>
              <a:t> distributing and controlled is </a:t>
            </a:r>
            <a:r>
              <a:rPr lang="en-US" b="1" dirty="0"/>
              <a:t>less than 20%, </a:t>
            </a:r>
            <a:r>
              <a:rPr lang="en-US" dirty="0"/>
              <a:t>or the difference between the nonbusiness asset percentage of distributing and controlled is less than 10%.</a:t>
            </a:r>
          </a:p>
          <a:p>
            <a:pPr lvl="2"/>
            <a:r>
              <a:rPr lang="en-US" b="1" dirty="0"/>
              <a:t>Per Se Device:</a:t>
            </a:r>
            <a:r>
              <a:rPr lang="en-US" dirty="0"/>
              <a:t> </a:t>
            </a:r>
          </a:p>
          <a:p>
            <a:pPr lvl="1"/>
            <a:endParaRPr lang="en-US" b="1" dirty="0"/>
          </a:p>
        </p:txBody>
      </p:sp>
      <p:sp>
        <p:nvSpPr>
          <p:cNvPr id="3" name="Title 2"/>
          <p:cNvSpPr>
            <a:spLocks noGrp="1"/>
          </p:cNvSpPr>
          <p:nvPr>
            <p:ph type="title"/>
          </p:nvPr>
        </p:nvSpPr>
        <p:spPr/>
        <p:txBody>
          <a:bodyPr/>
          <a:lstStyle/>
          <a:p>
            <a:r>
              <a:rPr lang="en-US" dirty="0"/>
              <a:t>Prop. Reg. 1.355-9 (July 14, 2016): AT/B and Device (“Hot Dog Stand Regs”)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12</a:t>
            </a:fld>
            <a:endParaRPr lang="en-US" altLang="en-US" dirty="0"/>
          </a:p>
        </p:txBody>
      </p:sp>
      <p:sp>
        <p:nvSpPr>
          <p:cNvPr id="5" name="Footer Placeholder 4"/>
          <p:cNvSpPr>
            <a:spLocks noGrp="1"/>
          </p:cNvSpPr>
          <p:nvPr>
            <p:ph type="ftr" sz="quarter" idx="11"/>
          </p:nvPr>
        </p:nvSpPr>
        <p:spPr/>
        <p:txBody>
          <a:bodyPr/>
          <a:lstStyle/>
          <a:p>
            <a:pPr>
              <a:defRPr/>
            </a:pPr>
            <a:r>
              <a:rPr lang="en-US"/>
              <a:t>Spin Offs</a:t>
            </a:r>
            <a:endParaRPr lang="en-US" dirty="0"/>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38400" y="4501891"/>
            <a:ext cx="4648200" cy="1916784"/>
          </a:xfrm>
          <a:prstGeom prst="rect">
            <a:avLst/>
          </a:prstGeom>
        </p:spPr>
      </p:pic>
    </p:spTree>
    <p:extLst>
      <p:ext uri="{BB962C8B-B14F-4D97-AF65-F5344CB8AC3E}">
        <p14:creationId xmlns:p14="http://schemas.microsoft.com/office/powerpoint/2010/main" val="1882368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000" b="1" dirty="0"/>
              <a:t>COI</a:t>
            </a:r>
          </a:p>
          <a:p>
            <a:pPr lvl="1"/>
            <a:r>
              <a:rPr lang="en-US" sz="1800" i="1" dirty="0"/>
              <a:t>Section 355 requires that one or more persons who, directly or indirectly, were the owners of the enterprise prior to the distribution or exchange own, </a:t>
            </a:r>
            <a:r>
              <a:rPr lang="en-US" sz="1800" b="1" i="1" dirty="0"/>
              <a:t>in the aggregate</a:t>
            </a:r>
            <a:r>
              <a:rPr lang="en-US" sz="1800" i="1" dirty="0"/>
              <a:t>, an amount of stock establishing a continuity of interest </a:t>
            </a:r>
            <a:r>
              <a:rPr lang="en-US" sz="1800" b="1" i="1" dirty="0"/>
              <a:t>in each </a:t>
            </a:r>
            <a:r>
              <a:rPr lang="en-US" sz="1800" i="1" dirty="0"/>
              <a:t>of the modified corporate forms in which the enterprise is conducted after the separation. </a:t>
            </a:r>
            <a:r>
              <a:rPr lang="en-US" sz="1800" dirty="0"/>
              <a:t>Reg. </a:t>
            </a:r>
            <a:r>
              <a:rPr lang="en-US" sz="1800" dirty="0">
                <a:solidFill>
                  <a:prstClr val="black"/>
                </a:solidFill>
              </a:rPr>
              <a:t>§</a:t>
            </a:r>
            <a:r>
              <a:rPr lang="en-US" sz="1800" dirty="0"/>
              <a:t>1.355-2(c)(1).</a:t>
            </a:r>
          </a:p>
          <a:p>
            <a:pPr lvl="1"/>
            <a:endParaRPr lang="en-US" sz="1800" dirty="0"/>
          </a:p>
          <a:p>
            <a:r>
              <a:rPr lang="en-US" sz="2000" b="1" dirty="0"/>
              <a:t>Business Purpose</a:t>
            </a:r>
          </a:p>
          <a:p>
            <a:pPr lvl="1"/>
            <a:r>
              <a:rPr lang="en-US" sz="1800" b="1" i="1" dirty="0"/>
              <a:t>Corporate Business Purpose: A real and substantial non-Federal taxation purpose germane to the business of the distributing, controlled, or affiliated group to which the distributing corporation belong.</a:t>
            </a:r>
          </a:p>
          <a:p>
            <a:pPr lvl="1"/>
            <a:r>
              <a:rPr lang="en-US" sz="1800" dirty="0" err="1"/>
              <a:t>SH</a:t>
            </a:r>
            <a:r>
              <a:rPr lang="en-US" sz="1800" dirty="0"/>
              <a:t> purpose, personal tax planning, is </a:t>
            </a:r>
            <a:r>
              <a:rPr lang="en-US" sz="1800" i="1" dirty="0"/>
              <a:t>not</a:t>
            </a:r>
            <a:r>
              <a:rPr lang="en-US" sz="1800" dirty="0"/>
              <a:t> a corporate business purpose</a:t>
            </a:r>
          </a:p>
          <a:p>
            <a:pPr lvl="1"/>
            <a:r>
              <a:rPr lang="en-US" sz="1800" dirty="0"/>
              <a:t>Distribution must be carried out for one or more corporate business purposes:</a:t>
            </a:r>
          </a:p>
          <a:p>
            <a:pPr lvl="2"/>
            <a:r>
              <a:rPr lang="en-US" sz="1800" i="1" dirty="0"/>
              <a:t>If a corporate business purpose can be achieved through a nontaxable transaction that does not involve the distribution of stock of a controlled corporation and which is neither impractical nor unduly expensive, then</a:t>
            </a:r>
            <a:r>
              <a:rPr lang="mr-IN" sz="1800" i="1" dirty="0"/>
              <a:t>…</a:t>
            </a:r>
            <a:r>
              <a:rPr lang="en-US" sz="1800" i="1" dirty="0"/>
              <a:t>the separation is not carried out for that corporate business purpose. </a:t>
            </a:r>
            <a:r>
              <a:rPr lang="en-US" sz="1800" dirty="0"/>
              <a:t>(-2(b)(3))</a:t>
            </a:r>
          </a:p>
          <a:p>
            <a:pPr lvl="1"/>
            <a:r>
              <a:rPr lang="en-US" sz="1800" dirty="0"/>
              <a:t>Evidence of non-device (-2(d)(3)(ii))</a:t>
            </a:r>
          </a:p>
          <a:p>
            <a:endParaRPr lang="en-US" i="1" dirty="0"/>
          </a:p>
        </p:txBody>
      </p:sp>
      <p:sp>
        <p:nvSpPr>
          <p:cNvPr id="3" name="Title 2"/>
          <p:cNvSpPr>
            <a:spLocks noGrp="1"/>
          </p:cNvSpPr>
          <p:nvPr>
            <p:ph type="title"/>
          </p:nvPr>
        </p:nvSpPr>
        <p:spPr/>
        <p:txBody>
          <a:bodyPr/>
          <a:lstStyle/>
          <a:p>
            <a:r>
              <a:rPr lang="en-US" dirty="0"/>
              <a:t>Business Purpose (Reg. </a:t>
            </a:r>
            <a:r>
              <a:rPr lang="en-US" dirty="0">
                <a:solidFill>
                  <a:prstClr val="black"/>
                </a:solidFill>
              </a:rPr>
              <a:t>§</a:t>
            </a:r>
            <a:r>
              <a:rPr lang="en-US" dirty="0"/>
              <a:t>1.355-2(b)) and Continuity of Interest (Reg. </a:t>
            </a:r>
            <a:r>
              <a:rPr lang="en-US" dirty="0">
                <a:solidFill>
                  <a:prstClr val="black"/>
                </a:solidFill>
              </a:rPr>
              <a:t>§</a:t>
            </a:r>
            <a:r>
              <a:rPr lang="en-US" dirty="0"/>
              <a:t>1.355-2(c))</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13</a:t>
            </a:fld>
            <a:endParaRPr lang="en-US" altLang="en-US" dirty="0"/>
          </a:p>
        </p:txBody>
      </p:sp>
      <p:sp>
        <p:nvSpPr>
          <p:cNvPr id="5" name="Footer Placeholder 4"/>
          <p:cNvSpPr>
            <a:spLocks noGrp="1"/>
          </p:cNvSpPr>
          <p:nvPr>
            <p:ph type="ftr" sz="quarter" idx="11"/>
          </p:nvPr>
        </p:nvSpPr>
        <p:spPr/>
        <p:txBody>
          <a:bodyPr/>
          <a:lstStyle/>
          <a:p>
            <a:pPr>
              <a:defRPr/>
            </a:pPr>
            <a:r>
              <a:rPr lang="en-US"/>
              <a:t>Spin Offs</a:t>
            </a:r>
            <a:endParaRPr lang="en-US" dirty="0"/>
          </a:p>
        </p:txBody>
      </p:sp>
    </p:spTree>
    <p:extLst>
      <p:ext uri="{BB962C8B-B14F-4D97-AF65-F5344CB8AC3E}">
        <p14:creationId xmlns:p14="http://schemas.microsoft.com/office/powerpoint/2010/main" val="1040244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400" dirty="0"/>
              <a:t>Key employee obtain equity interest</a:t>
            </a:r>
          </a:p>
          <a:p>
            <a:r>
              <a:rPr lang="en-US" sz="2400" dirty="0"/>
              <a:t>Facilitate stock offering, </a:t>
            </a:r>
            <a:r>
              <a:rPr lang="en-US" sz="2400" i="1" dirty="0"/>
              <a:t>e.g.</a:t>
            </a:r>
            <a:r>
              <a:rPr lang="en-US" sz="2400" dirty="0"/>
              <a:t>, IPO</a:t>
            </a:r>
          </a:p>
          <a:p>
            <a:r>
              <a:rPr lang="en-US" sz="2400" dirty="0"/>
              <a:t>Facilitate borrowing</a:t>
            </a:r>
          </a:p>
          <a:p>
            <a:r>
              <a:rPr lang="en-US" sz="2400" dirty="0"/>
              <a:t>Saving costs, including foreign taxes</a:t>
            </a:r>
          </a:p>
          <a:p>
            <a:r>
              <a:rPr lang="en-US" sz="2400" dirty="0"/>
              <a:t>Fit and Focus (don’t laugh)</a:t>
            </a:r>
          </a:p>
          <a:p>
            <a:r>
              <a:rPr lang="en-US" sz="2400" dirty="0"/>
              <a:t>Resolving problems with competition and suppliers</a:t>
            </a:r>
          </a:p>
          <a:p>
            <a:r>
              <a:rPr lang="en-US" sz="2400" dirty="0"/>
              <a:t>Pre-tailoring to facilitate acquisition by or of the parent</a:t>
            </a:r>
          </a:p>
          <a:p>
            <a:r>
              <a:rPr lang="en-US" sz="2400" dirty="0"/>
              <a:t>Risk Reduction.  Rev. Proc. 96-30</a:t>
            </a:r>
          </a:p>
          <a:p>
            <a:endParaRPr lang="en-US" sz="2400" dirty="0"/>
          </a:p>
          <a:p>
            <a:r>
              <a:rPr lang="en-US" sz="2400" dirty="0"/>
              <a:t>Compliance with anti-trust</a:t>
            </a:r>
          </a:p>
          <a:p>
            <a:r>
              <a:rPr lang="en-US" sz="2400" dirty="0"/>
              <a:t>Settle SH dispute</a:t>
            </a:r>
          </a:p>
          <a:p>
            <a:r>
              <a:rPr lang="en-US" sz="2400" dirty="0"/>
              <a:t>Facilitate access to credit or equity funds</a:t>
            </a:r>
          </a:p>
          <a:p>
            <a:r>
              <a:rPr lang="en-US" sz="2400" dirty="0"/>
              <a:t>Restructure to defend against unwanted take-over </a:t>
            </a:r>
            <a:endParaRPr lang="en-US" dirty="0"/>
          </a:p>
        </p:txBody>
      </p:sp>
      <p:sp>
        <p:nvSpPr>
          <p:cNvPr id="3" name="Title 2"/>
          <p:cNvSpPr>
            <a:spLocks noGrp="1"/>
          </p:cNvSpPr>
          <p:nvPr>
            <p:ph type="title"/>
          </p:nvPr>
        </p:nvSpPr>
        <p:spPr/>
        <p:txBody>
          <a:bodyPr/>
          <a:lstStyle/>
          <a:p>
            <a:r>
              <a:rPr lang="en-US" dirty="0"/>
              <a:t>Business Purpose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14</a:t>
            </a:fld>
            <a:endParaRPr lang="en-US" altLang="en-US" dirty="0"/>
          </a:p>
        </p:txBody>
      </p:sp>
      <p:sp>
        <p:nvSpPr>
          <p:cNvPr id="5" name="Footer Placeholder 4"/>
          <p:cNvSpPr>
            <a:spLocks noGrp="1"/>
          </p:cNvSpPr>
          <p:nvPr>
            <p:ph type="ftr" sz="quarter" idx="11"/>
          </p:nvPr>
        </p:nvSpPr>
        <p:spPr/>
        <p:txBody>
          <a:bodyPr/>
          <a:lstStyle/>
          <a:p>
            <a:pPr>
              <a:defRPr/>
            </a:pPr>
            <a:r>
              <a:rPr lang="en-US"/>
              <a:t>Spin Offs</a:t>
            </a:r>
            <a:endParaRPr lang="en-US" dirty="0"/>
          </a:p>
        </p:txBody>
      </p:sp>
    </p:spTree>
    <p:extLst>
      <p:ext uri="{BB962C8B-B14F-4D97-AF65-F5344CB8AC3E}">
        <p14:creationId xmlns:p14="http://schemas.microsoft.com/office/powerpoint/2010/main" val="3325205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r>
              <a:rPr lang="en-US" sz="2000" b="1" dirty="0"/>
              <a:t>No G/L to </a:t>
            </a:r>
            <a:r>
              <a:rPr lang="en-US" sz="2000" b="1" dirty="0" err="1"/>
              <a:t>distributee</a:t>
            </a:r>
            <a:r>
              <a:rPr lang="en-US" sz="2000" b="1" dirty="0"/>
              <a:t> on receipt of stock/securities</a:t>
            </a:r>
          </a:p>
          <a:p>
            <a:pPr lvl="1"/>
            <a:r>
              <a:rPr lang="en-US" sz="1800" dirty="0"/>
              <a:t>SH can receive shares tax-free, but receipt of securities is boot</a:t>
            </a:r>
          </a:p>
          <a:p>
            <a:pPr lvl="1"/>
            <a:r>
              <a:rPr lang="en-US" sz="1800" dirty="0"/>
              <a:t>Security holder can receive shares or securities. </a:t>
            </a:r>
          </a:p>
          <a:p>
            <a:pPr lvl="1"/>
            <a:r>
              <a:rPr lang="en-US" sz="1800" dirty="0" err="1">
                <a:solidFill>
                  <a:prstClr val="black"/>
                </a:solidFill>
              </a:rPr>
              <a:t>NQPS</a:t>
            </a:r>
            <a:r>
              <a:rPr lang="en-US" sz="1800" dirty="0">
                <a:solidFill>
                  <a:prstClr val="black"/>
                </a:solidFill>
              </a:rPr>
              <a:t> can be received if </a:t>
            </a:r>
            <a:r>
              <a:rPr lang="en-US" sz="1800" dirty="0" err="1">
                <a:solidFill>
                  <a:prstClr val="black"/>
                </a:solidFill>
              </a:rPr>
              <a:t>NQPS</a:t>
            </a:r>
            <a:r>
              <a:rPr lang="en-US" sz="1800" dirty="0">
                <a:solidFill>
                  <a:prstClr val="black"/>
                </a:solidFill>
              </a:rPr>
              <a:t> surrendered. §</a:t>
            </a:r>
            <a:r>
              <a:rPr lang="en-US" sz="1800" dirty="0"/>
              <a:t>355(a)(1)(A), (a)(3)(A).</a:t>
            </a:r>
          </a:p>
          <a:p>
            <a:r>
              <a:rPr lang="en-US" sz="2000" b="1" dirty="0"/>
              <a:t>Receipt of boot </a:t>
            </a:r>
            <a:r>
              <a:rPr lang="en-US" sz="2000" dirty="0"/>
              <a:t>is taxed as an ordinary distribution (dividend) under </a:t>
            </a:r>
            <a:r>
              <a:rPr lang="en-US" sz="2000" dirty="0">
                <a:solidFill>
                  <a:prstClr val="black"/>
                </a:solidFill>
              </a:rPr>
              <a:t>§</a:t>
            </a:r>
            <a:r>
              <a:rPr lang="en-US" sz="2000" dirty="0"/>
              <a:t>301 if no stock or securities is surrendered (spin-off). </a:t>
            </a:r>
            <a:r>
              <a:rPr lang="en-US" sz="2000" dirty="0">
                <a:solidFill>
                  <a:prstClr val="black"/>
                </a:solidFill>
              </a:rPr>
              <a:t>§</a:t>
            </a:r>
            <a:r>
              <a:rPr lang="en-US" sz="2000" dirty="0"/>
              <a:t>356(b).</a:t>
            </a:r>
          </a:p>
          <a:p>
            <a:r>
              <a:rPr lang="en-US" sz="2000" dirty="0"/>
              <a:t>If </a:t>
            </a:r>
            <a:r>
              <a:rPr lang="en-US" sz="2000" b="1" dirty="0"/>
              <a:t>stock/securities surrendered </a:t>
            </a:r>
            <a:r>
              <a:rPr lang="en-US" sz="2000" dirty="0"/>
              <a:t>(split-up and split-off) </a:t>
            </a:r>
            <a:r>
              <a:rPr lang="en-US" sz="2000" b="1" u="sng" dirty="0"/>
              <a:t>and</a:t>
            </a:r>
            <a:r>
              <a:rPr lang="en-US" sz="2000" dirty="0"/>
              <a:t> </a:t>
            </a:r>
            <a:r>
              <a:rPr lang="en-US" sz="2000" b="1" dirty="0"/>
              <a:t>boot is received</a:t>
            </a:r>
            <a:r>
              <a:rPr lang="en-US" sz="2000" dirty="0"/>
              <a:t>, gain is recognized to the extent of the boot. </a:t>
            </a:r>
            <a:r>
              <a:rPr lang="en-US" sz="2000" dirty="0">
                <a:solidFill>
                  <a:prstClr val="black"/>
                </a:solidFill>
              </a:rPr>
              <a:t>§</a:t>
            </a:r>
            <a:r>
              <a:rPr lang="en-US" sz="2000" dirty="0"/>
              <a:t>356(a)(1).</a:t>
            </a:r>
          </a:p>
          <a:p>
            <a:pPr lvl="1"/>
            <a:r>
              <a:rPr lang="en-US" sz="1800" dirty="0"/>
              <a:t>Character-&gt; “Effect of the Distribution of a Dividend” to the extent of </a:t>
            </a:r>
            <a:r>
              <a:rPr lang="en-US" sz="1800" dirty="0" err="1"/>
              <a:t>E&amp;Ps</a:t>
            </a:r>
            <a:endParaRPr lang="en-US" sz="1800" dirty="0"/>
          </a:p>
          <a:p>
            <a:pPr lvl="1"/>
            <a:r>
              <a:rPr lang="en-US" sz="1800" dirty="0"/>
              <a:t>Dividend Testing: Assume boot received is </a:t>
            </a:r>
            <a:r>
              <a:rPr lang="en-US" sz="1800" b="1" dirty="0"/>
              <a:t>in redemption of </a:t>
            </a:r>
            <a:r>
              <a:rPr lang="en-US" sz="1800" b="1" u="sng" dirty="0" err="1"/>
              <a:t>distributee’s</a:t>
            </a:r>
            <a:r>
              <a:rPr lang="en-US" sz="1800" b="1" dirty="0"/>
              <a:t> stock in distributing </a:t>
            </a:r>
            <a:r>
              <a:rPr lang="en-US" sz="1800" b="1" u="sng" dirty="0"/>
              <a:t>just prior to the exchange</a:t>
            </a:r>
            <a:r>
              <a:rPr lang="en-US" sz="1800" b="1" dirty="0"/>
              <a:t> </a:t>
            </a:r>
            <a:r>
              <a:rPr lang="en-US" sz="1800" dirty="0"/>
              <a:t>of stock/sec for the boot.  Rev. Rul. 93-62.</a:t>
            </a:r>
          </a:p>
          <a:p>
            <a:pPr lvl="2"/>
            <a:r>
              <a:rPr lang="en-US" sz="1800" b="1" dirty="0"/>
              <a:t>Example</a:t>
            </a:r>
          </a:p>
          <a:p>
            <a:r>
              <a:rPr lang="en-US" sz="2000" b="1" dirty="0"/>
              <a:t>Basis</a:t>
            </a:r>
            <a:r>
              <a:rPr lang="en-US" sz="2000" dirty="0"/>
              <a:t>: COB (</a:t>
            </a:r>
            <a:r>
              <a:rPr lang="en-US" sz="2000" i="1" u="sng" dirty="0"/>
              <a:t>prior to the transaction</a:t>
            </a:r>
            <a:r>
              <a:rPr lang="en-US" sz="2000" dirty="0"/>
              <a:t>), increased by gain, and decreased by boot. </a:t>
            </a:r>
            <a:r>
              <a:rPr lang="en-US" sz="2000" dirty="0">
                <a:solidFill>
                  <a:prstClr val="black"/>
                </a:solidFill>
              </a:rPr>
              <a:t>§</a:t>
            </a:r>
            <a:r>
              <a:rPr lang="en-US" sz="2000" dirty="0"/>
              <a:t>358(a)(1).</a:t>
            </a:r>
          </a:p>
          <a:p>
            <a:pPr lvl="1"/>
            <a:r>
              <a:rPr lang="en-US" sz="1800" dirty="0"/>
              <a:t>Basis </a:t>
            </a:r>
            <a:r>
              <a:rPr lang="en-US" sz="1800" b="1" dirty="0"/>
              <a:t>then</a:t>
            </a:r>
            <a:r>
              <a:rPr lang="en-US" sz="1800" dirty="0"/>
              <a:t> allocated between </a:t>
            </a:r>
            <a:r>
              <a:rPr lang="en-US" sz="1800" dirty="0" err="1"/>
              <a:t>nonrecognition</a:t>
            </a:r>
            <a:r>
              <a:rPr lang="en-US" sz="1800" dirty="0"/>
              <a:t> property (e.g., shares) and retained interest (</a:t>
            </a:r>
            <a:r>
              <a:rPr lang="en-US" sz="1800" i="1" dirty="0"/>
              <a:t>e.g. </a:t>
            </a:r>
            <a:r>
              <a:rPr lang="en-US" sz="1800" dirty="0"/>
              <a:t>shares) in distributing based on </a:t>
            </a:r>
            <a:r>
              <a:rPr lang="en-US" sz="1800" dirty="0" err="1"/>
              <a:t>FMV</a:t>
            </a:r>
            <a:r>
              <a:rPr lang="en-US" sz="1800" dirty="0"/>
              <a:t>.  This allocation is required even if no shares are given up (spin-off). </a:t>
            </a:r>
            <a:r>
              <a:rPr lang="en-US" sz="1800" dirty="0">
                <a:solidFill>
                  <a:prstClr val="black"/>
                </a:solidFill>
              </a:rPr>
              <a:t>§</a:t>
            </a:r>
            <a:r>
              <a:rPr lang="en-US" sz="1800" dirty="0"/>
              <a:t>358(b) and (c).</a:t>
            </a:r>
          </a:p>
          <a:p>
            <a:r>
              <a:rPr lang="en-US" sz="1950" dirty="0"/>
              <a:t>Flexibility in allocating boot.  Reg. </a:t>
            </a:r>
            <a:r>
              <a:rPr lang="en-US" sz="2000" dirty="0">
                <a:solidFill>
                  <a:prstClr val="black"/>
                </a:solidFill>
              </a:rPr>
              <a:t>§</a:t>
            </a:r>
            <a:r>
              <a:rPr lang="en-US" sz="1950" dirty="0"/>
              <a:t>1.358-2(a)(2)(</a:t>
            </a:r>
            <a:r>
              <a:rPr lang="en-US" sz="1950" dirty="0" err="1"/>
              <a:t>i</a:t>
            </a:r>
            <a:r>
              <a:rPr lang="en-US" sz="1950" dirty="0"/>
              <a:t>), (iv).  Can allocate boot to high-basis assets.</a:t>
            </a:r>
          </a:p>
          <a:p>
            <a:pPr lvl="1"/>
            <a:endParaRPr lang="en-US" sz="1800" dirty="0"/>
          </a:p>
        </p:txBody>
      </p:sp>
      <p:sp>
        <p:nvSpPr>
          <p:cNvPr id="3" name="Title 2"/>
          <p:cNvSpPr>
            <a:spLocks noGrp="1"/>
          </p:cNvSpPr>
          <p:nvPr>
            <p:ph type="title"/>
          </p:nvPr>
        </p:nvSpPr>
        <p:spPr/>
        <p:txBody>
          <a:bodyPr/>
          <a:lstStyle/>
          <a:p>
            <a:r>
              <a:rPr lang="en-US" dirty="0" err="1"/>
              <a:t>Distributee’s</a:t>
            </a:r>
            <a:r>
              <a:rPr lang="en-US" dirty="0"/>
              <a:t> Tax Consequences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15</a:t>
            </a:fld>
            <a:endParaRPr lang="en-US" altLang="en-US" dirty="0"/>
          </a:p>
        </p:txBody>
      </p:sp>
      <p:sp>
        <p:nvSpPr>
          <p:cNvPr id="5" name="Footer Placeholder 4"/>
          <p:cNvSpPr>
            <a:spLocks noGrp="1"/>
          </p:cNvSpPr>
          <p:nvPr>
            <p:ph type="ftr" sz="quarter" idx="11"/>
          </p:nvPr>
        </p:nvSpPr>
        <p:spPr/>
        <p:txBody>
          <a:bodyPr/>
          <a:lstStyle/>
          <a:p>
            <a:pPr>
              <a:defRPr/>
            </a:pPr>
            <a:r>
              <a:rPr lang="en-US"/>
              <a:t>Spin Offs</a:t>
            </a:r>
            <a:endParaRPr lang="en-US" dirty="0"/>
          </a:p>
        </p:txBody>
      </p:sp>
    </p:spTree>
    <p:extLst>
      <p:ext uri="{BB962C8B-B14F-4D97-AF65-F5344CB8AC3E}">
        <p14:creationId xmlns:p14="http://schemas.microsoft.com/office/powerpoint/2010/main" val="865685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000" b="1" dirty="0"/>
              <a:t>No G/L to distributing on distribution of stock/sec. </a:t>
            </a:r>
            <a:r>
              <a:rPr lang="en-US" sz="2000" b="1" dirty="0">
                <a:solidFill>
                  <a:prstClr val="black"/>
                </a:solidFill>
              </a:rPr>
              <a:t>§</a:t>
            </a:r>
            <a:r>
              <a:rPr lang="en-US" sz="2000" b="1" dirty="0"/>
              <a:t>355(c)(1).</a:t>
            </a:r>
          </a:p>
          <a:p>
            <a:pPr lvl="1"/>
            <a:r>
              <a:rPr lang="en-US" sz="2000" dirty="0"/>
              <a:t>But gain is recognized on the distribution of non-qualified property, i.e., property other than stock/sec in the controlled corporation. </a:t>
            </a:r>
            <a:r>
              <a:rPr lang="en-US" sz="2000" dirty="0">
                <a:solidFill>
                  <a:prstClr val="black"/>
                </a:solidFill>
              </a:rPr>
              <a:t>§</a:t>
            </a:r>
            <a:r>
              <a:rPr lang="en-US" sz="2000" dirty="0"/>
              <a:t>355(c)(2).</a:t>
            </a:r>
          </a:p>
          <a:p>
            <a:pPr lvl="1"/>
            <a:r>
              <a:rPr lang="en-US" sz="2000" dirty="0"/>
              <a:t>Same results if transaction is divisive D. </a:t>
            </a:r>
            <a:r>
              <a:rPr lang="en-US" sz="2000" dirty="0">
                <a:solidFill>
                  <a:prstClr val="black"/>
                </a:solidFill>
              </a:rPr>
              <a:t>§</a:t>
            </a:r>
            <a:r>
              <a:rPr lang="en-US" sz="2000" dirty="0"/>
              <a:t>361(c)(1) and (2).</a:t>
            </a:r>
          </a:p>
          <a:p>
            <a:pPr lvl="1"/>
            <a:endParaRPr lang="en-US" sz="1800" dirty="0"/>
          </a:p>
          <a:p>
            <a:pPr marL="171450" lvl="1" defTabSz="685800">
              <a:buFont typeface="Wingdings 2" pitchFamily="18" charset="2"/>
              <a:buChar char=""/>
            </a:pPr>
            <a:r>
              <a:rPr lang="en-US" sz="2000" b="1" dirty="0"/>
              <a:t>E&amp;Ps</a:t>
            </a:r>
            <a:r>
              <a:rPr lang="en-US" sz="2000" dirty="0"/>
              <a:t>: Generally allocated in proportion to FMV of the assets transferred to controlled, if controlled newly created, or the adjustment that would have been required if distributing had transferred stock of controlled to a new subsidiary and then distributed the new subsidiary’s stock pursuant to a D reorg. Reg. </a:t>
            </a:r>
            <a:r>
              <a:rPr lang="en-US" sz="2000" dirty="0">
                <a:solidFill>
                  <a:prstClr val="black"/>
                </a:solidFill>
              </a:rPr>
              <a:t>§1.312-10.</a:t>
            </a:r>
            <a:endParaRPr lang="en-US" sz="2000" dirty="0"/>
          </a:p>
          <a:p>
            <a:endParaRPr lang="en-US" sz="1950" dirty="0"/>
          </a:p>
        </p:txBody>
      </p:sp>
      <p:sp>
        <p:nvSpPr>
          <p:cNvPr id="3" name="Title 2"/>
          <p:cNvSpPr>
            <a:spLocks noGrp="1"/>
          </p:cNvSpPr>
          <p:nvPr>
            <p:ph type="title"/>
          </p:nvPr>
        </p:nvSpPr>
        <p:spPr/>
        <p:txBody>
          <a:bodyPr/>
          <a:lstStyle/>
          <a:p>
            <a:r>
              <a:rPr lang="en-US" dirty="0"/>
              <a:t>Tax Consequences to Distributing: Section 355(c)</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16</a:t>
            </a:fld>
            <a:endParaRPr lang="en-US" altLang="en-US" dirty="0"/>
          </a:p>
        </p:txBody>
      </p:sp>
      <p:sp>
        <p:nvSpPr>
          <p:cNvPr id="5" name="Footer Placeholder 4"/>
          <p:cNvSpPr>
            <a:spLocks noGrp="1"/>
          </p:cNvSpPr>
          <p:nvPr>
            <p:ph type="ftr" sz="quarter" idx="11"/>
          </p:nvPr>
        </p:nvSpPr>
        <p:spPr/>
        <p:txBody>
          <a:bodyPr/>
          <a:lstStyle/>
          <a:p>
            <a:pPr>
              <a:defRPr/>
            </a:pPr>
            <a:r>
              <a:rPr lang="en-US"/>
              <a:t>Spin Offs</a:t>
            </a:r>
            <a:endParaRPr lang="en-US" dirty="0"/>
          </a:p>
        </p:txBody>
      </p:sp>
    </p:spTree>
    <p:extLst>
      <p:ext uri="{BB962C8B-B14F-4D97-AF65-F5344CB8AC3E}">
        <p14:creationId xmlns:p14="http://schemas.microsoft.com/office/powerpoint/2010/main" val="13562041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400" dirty="0"/>
              <a:t>Section 355 and the Potential of avoidance of GU Repeal:  </a:t>
            </a:r>
          </a:p>
          <a:p>
            <a:pPr lvl="1"/>
            <a:r>
              <a:rPr lang="en-US" sz="2000" dirty="0"/>
              <a:t>Assume P owns S with BIG at both P level and S level</a:t>
            </a:r>
          </a:p>
          <a:p>
            <a:pPr lvl="1"/>
            <a:r>
              <a:rPr lang="en-US" sz="2000" dirty="0"/>
              <a:t>Sale of S stock by P</a:t>
            </a:r>
          </a:p>
          <a:p>
            <a:pPr lvl="1"/>
            <a:r>
              <a:rPr lang="en-US" sz="2000" dirty="0"/>
              <a:t>Sale of assets by S and liquidation into P</a:t>
            </a:r>
          </a:p>
          <a:p>
            <a:pPr lvl="1"/>
            <a:r>
              <a:rPr lang="en-US" sz="2000" dirty="0"/>
              <a:t>Liquidation of S into P</a:t>
            </a:r>
          </a:p>
          <a:p>
            <a:pPr lvl="1"/>
            <a:r>
              <a:rPr lang="en-US" sz="2000" dirty="0"/>
              <a:t>Sale of S stock with </a:t>
            </a:r>
            <a:r>
              <a:rPr lang="en-US" sz="2000" dirty="0">
                <a:solidFill>
                  <a:prstClr val="black"/>
                </a:solidFill>
              </a:rPr>
              <a:t>§</a:t>
            </a:r>
            <a:r>
              <a:rPr lang="en-US" sz="2000" dirty="0"/>
              <a:t>338(h)(10) election (or </a:t>
            </a:r>
            <a:r>
              <a:rPr lang="en-US" sz="2000" dirty="0">
                <a:solidFill>
                  <a:prstClr val="black"/>
                </a:solidFill>
              </a:rPr>
              <a:t>§</a:t>
            </a:r>
            <a:r>
              <a:rPr lang="en-US" sz="2000" dirty="0"/>
              <a:t>336(e))</a:t>
            </a:r>
          </a:p>
          <a:p>
            <a:pPr lvl="1"/>
            <a:r>
              <a:rPr lang="en-US" sz="2000" dirty="0"/>
              <a:t>Acquisition of P stock by New SH and distribution of S stock to New SH in a </a:t>
            </a:r>
            <a:r>
              <a:rPr lang="en-US" sz="2000" dirty="0">
                <a:solidFill>
                  <a:prstClr val="black"/>
                </a:solidFill>
              </a:rPr>
              <a:t>§</a:t>
            </a:r>
            <a:r>
              <a:rPr lang="en-US" sz="2000" dirty="0"/>
              <a:t>355 transaction.</a:t>
            </a:r>
          </a:p>
          <a:p>
            <a:pPr lvl="1"/>
            <a:endParaRPr lang="en-US" sz="2000" dirty="0"/>
          </a:p>
          <a:p>
            <a:r>
              <a:rPr lang="en-US" sz="2400" dirty="0"/>
              <a:t>Section 355(d) aims to limit the tax-free distribution of stock/sec of controlled if the divisive reorg is part of an acquisition (sale of Distributing’s assets w/out corporate-level tax).  </a:t>
            </a:r>
          </a:p>
          <a:p>
            <a:pPr lvl="1"/>
            <a:r>
              <a:rPr lang="en-US" sz="2000" dirty="0"/>
              <a:t>Note: This </a:t>
            </a:r>
            <a:r>
              <a:rPr lang="en-US" sz="2000" b="1" dirty="0"/>
              <a:t>affects only distributing </a:t>
            </a:r>
            <a:r>
              <a:rPr lang="en-US" sz="2000" dirty="0"/>
              <a:t>and </a:t>
            </a:r>
            <a:r>
              <a:rPr lang="en-US" sz="2000" b="1" dirty="0"/>
              <a:t>not distributing’s </a:t>
            </a:r>
            <a:r>
              <a:rPr lang="en-US" sz="2000" dirty="0"/>
              <a:t>shareholders.</a:t>
            </a:r>
          </a:p>
          <a:p>
            <a:pPr lvl="1"/>
            <a:r>
              <a:rPr lang="en-US" sz="2000" dirty="0"/>
              <a:t>Example: A, B, &amp; C buy stock of T.  After 2 years, T spins off its 3 businesses to each SH.  Does </a:t>
            </a:r>
            <a:r>
              <a:rPr lang="en-US" sz="2000" dirty="0">
                <a:solidFill>
                  <a:prstClr val="black"/>
                </a:solidFill>
              </a:rPr>
              <a:t>§</a:t>
            </a:r>
            <a:r>
              <a:rPr lang="en-US" sz="2000" dirty="0"/>
              <a:t>355(b)(2)(D) prevent this?</a:t>
            </a:r>
          </a:p>
          <a:p>
            <a:endParaRPr lang="en-US" dirty="0"/>
          </a:p>
        </p:txBody>
      </p:sp>
      <p:sp>
        <p:nvSpPr>
          <p:cNvPr id="3" name="Title 2"/>
          <p:cNvSpPr>
            <a:spLocks noGrp="1"/>
          </p:cNvSpPr>
          <p:nvPr>
            <p:ph type="title"/>
          </p:nvPr>
        </p:nvSpPr>
        <p:spPr/>
        <p:txBody>
          <a:bodyPr/>
          <a:lstStyle/>
          <a:p>
            <a:r>
              <a:rPr lang="en-US" dirty="0"/>
              <a:t>Section 355(d)</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17</a:t>
            </a:fld>
            <a:endParaRPr lang="en-US" altLang="en-US" dirty="0"/>
          </a:p>
        </p:txBody>
      </p:sp>
      <p:sp>
        <p:nvSpPr>
          <p:cNvPr id="5" name="Footer Placeholder 4"/>
          <p:cNvSpPr>
            <a:spLocks noGrp="1"/>
          </p:cNvSpPr>
          <p:nvPr>
            <p:ph type="ftr" sz="quarter" idx="11"/>
          </p:nvPr>
        </p:nvSpPr>
        <p:spPr/>
        <p:txBody>
          <a:bodyPr/>
          <a:lstStyle/>
          <a:p>
            <a:pPr>
              <a:defRPr/>
            </a:pPr>
            <a:r>
              <a:rPr lang="en-US"/>
              <a:t>Spin Offs</a:t>
            </a:r>
            <a:endParaRPr lang="en-US" dirty="0"/>
          </a:p>
        </p:txBody>
      </p:sp>
    </p:spTree>
    <p:extLst>
      <p:ext uri="{BB962C8B-B14F-4D97-AF65-F5344CB8AC3E}">
        <p14:creationId xmlns:p14="http://schemas.microsoft.com/office/powerpoint/2010/main" val="971546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800" b="1" dirty="0"/>
              <a:t>Distributing</a:t>
            </a:r>
            <a:r>
              <a:rPr lang="en-US" sz="2800" dirty="0"/>
              <a:t> must recognize </a:t>
            </a:r>
            <a:r>
              <a:rPr lang="en-US" sz="2800" b="1" dirty="0"/>
              <a:t>Gain </a:t>
            </a:r>
            <a:r>
              <a:rPr lang="en-US" sz="2800" dirty="0"/>
              <a:t>in the case of a </a:t>
            </a:r>
            <a:r>
              <a:rPr lang="en-US" sz="2800" b="1" dirty="0"/>
              <a:t>disqualified distribution</a:t>
            </a:r>
            <a:r>
              <a:rPr lang="en-US" sz="2800" dirty="0"/>
              <a:t>. </a:t>
            </a:r>
            <a:r>
              <a:rPr lang="en-US" sz="2800" dirty="0">
                <a:solidFill>
                  <a:prstClr val="black"/>
                </a:solidFill>
              </a:rPr>
              <a:t>§</a:t>
            </a:r>
            <a:r>
              <a:rPr lang="en-US" sz="2800" dirty="0"/>
              <a:t>355(d)(1).</a:t>
            </a:r>
          </a:p>
          <a:p>
            <a:r>
              <a:rPr lang="en-US" sz="2800" dirty="0"/>
              <a:t>Disqualified Distribution is any distribution if </a:t>
            </a:r>
            <a:r>
              <a:rPr lang="en-US" sz="2800" i="1" dirty="0"/>
              <a:t>immediately after the distribution:</a:t>
            </a:r>
            <a:endParaRPr lang="en-US" sz="2800" dirty="0"/>
          </a:p>
          <a:p>
            <a:pPr lvl="1"/>
            <a:r>
              <a:rPr lang="en-US" sz="2400" dirty="0"/>
              <a:t>Any person holds at least 50% of the stock (V </a:t>
            </a:r>
            <a:r>
              <a:rPr lang="en-US" sz="2400" b="1" dirty="0"/>
              <a:t>or </a:t>
            </a:r>
            <a:r>
              <a:rPr lang="en-US" sz="2400" dirty="0"/>
              <a:t>V) of </a:t>
            </a:r>
            <a:r>
              <a:rPr lang="en-US" sz="2400" b="1" i="1" dirty="0"/>
              <a:t>either </a:t>
            </a:r>
            <a:r>
              <a:rPr lang="en-US" sz="2400" i="1" dirty="0"/>
              <a:t>distributing or controlled </a:t>
            </a:r>
            <a:r>
              <a:rPr lang="en-US" sz="2400" dirty="0"/>
              <a:t>attributable to certain (mostly) taxable purchases w/in 5 years of the distribution.</a:t>
            </a:r>
          </a:p>
          <a:p>
            <a:pPr lvl="1"/>
            <a:r>
              <a:rPr lang="en-US" sz="2400" i="1" dirty="0"/>
              <a:t>Disqualified stock</a:t>
            </a:r>
          </a:p>
          <a:p>
            <a:pPr lvl="2"/>
            <a:r>
              <a:rPr lang="en-US" sz="2400" dirty="0"/>
              <a:t>Any stock of distributing acquired </a:t>
            </a:r>
            <a:r>
              <a:rPr lang="en-US" sz="2400" b="1" i="1" dirty="0"/>
              <a:t>by purchase </a:t>
            </a:r>
            <a:r>
              <a:rPr lang="en-US" sz="2400" dirty="0"/>
              <a:t>w/in 5 years, and </a:t>
            </a:r>
          </a:p>
          <a:p>
            <a:pPr lvl="2"/>
            <a:r>
              <a:rPr lang="en-US" sz="2400" dirty="0"/>
              <a:t>Any stock of controlled: </a:t>
            </a:r>
          </a:p>
          <a:p>
            <a:pPr lvl="3"/>
            <a:r>
              <a:rPr lang="en-US" sz="2000" dirty="0"/>
              <a:t>(1) acquired by purchase w/in 5 years; or </a:t>
            </a:r>
          </a:p>
          <a:p>
            <a:pPr lvl="3"/>
            <a:r>
              <a:rPr lang="en-US" sz="2000" dirty="0"/>
              <a:t>(2) received in distribution to the extent attributable to distributions on stock of distributing acquired w/in 5 years. </a:t>
            </a:r>
            <a:r>
              <a:rPr lang="en-US" sz="2000" dirty="0">
                <a:solidFill>
                  <a:prstClr val="black"/>
                </a:solidFill>
              </a:rPr>
              <a:t>§</a:t>
            </a:r>
            <a:r>
              <a:rPr lang="en-US" sz="2000" dirty="0"/>
              <a:t>355(d)(2) and (3).</a:t>
            </a:r>
          </a:p>
          <a:p>
            <a:pPr lvl="2"/>
            <a:endParaRPr lang="en-US" sz="1800" dirty="0"/>
          </a:p>
        </p:txBody>
      </p:sp>
      <p:sp>
        <p:nvSpPr>
          <p:cNvPr id="3" name="Title 2"/>
          <p:cNvSpPr>
            <a:spLocks noGrp="1"/>
          </p:cNvSpPr>
          <p:nvPr>
            <p:ph type="title"/>
          </p:nvPr>
        </p:nvSpPr>
        <p:spPr/>
        <p:txBody>
          <a:bodyPr/>
          <a:lstStyle/>
          <a:p>
            <a:r>
              <a:rPr lang="en-US" dirty="0"/>
              <a:t>Tax Consequences to Distributing: </a:t>
            </a:r>
            <a:r>
              <a:rPr lang="en-US" sz="2000" dirty="0">
                <a:solidFill>
                  <a:prstClr val="black"/>
                </a:solidFill>
              </a:rPr>
              <a:t>§</a:t>
            </a:r>
            <a:r>
              <a:rPr lang="en-US" dirty="0"/>
              <a:t>355(d)</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18</a:t>
            </a:fld>
            <a:endParaRPr lang="en-US" altLang="en-US" dirty="0"/>
          </a:p>
        </p:txBody>
      </p:sp>
      <p:sp>
        <p:nvSpPr>
          <p:cNvPr id="5" name="Footer Placeholder 4"/>
          <p:cNvSpPr>
            <a:spLocks noGrp="1"/>
          </p:cNvSpPr>
          <p:nvPr>
            <p:ph type="ftr" sz="quarter" idx="11"/>
          </p:nvPr>
        </p:nvSpPr>
        <p:spPr/>
        <p:txBody>
          <a:bodyPr/>
          <a:lstStyle/>
          <a:p>
            <a:pPr>
              <a:defRPr/>
            </a:pPr>
            <a:r>
              <a:rPr lang="en-US"/>
              <a:t>Spin Offs</a:t>
            </a:r>
            <a:endParaRPr lang="en-US" dirty="0"/>
          </a:p>
        </p:txBody>
      </p:sp>
    </p:spTree>
    <p:extLst>
      <p:ext uri="{BB962C8B-B14F-4D97-AF65-F5344CB8AC3E}">
        <p14:creationId xmlns:p14="http://schemas.microsoft.com/office/powerpoint/2010/main" val="4175639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Tax Consequences to Distributing: 355(d)</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19</a:t>
            </a:fld>
            <a:endParaRPr lang="en-US" altLang="en-US" dirty="0"/>
          </a:p>
        </p:txBody>
      </p:sp>
      <p:sp>
        <p:nvSpPr>
          <p:cNvPr id="5" name="Footer Placeholder 4"/>
          <p:cNvSpPr>
            <a:spLocks noGrp="1"/>
          </p:cNvSpPr>
          <p:nvPr>
            <p:ph type="ftr" sz="quarter" idx="11"/>
          </p:nvPr>
        </p:nvSpPr>
        <p:spPr/>
        <p:txBody>
          <a:bodyPr/>
          <a:lstStyle/>
          <a:p>
            <a:pPr>
              <a:defRPr/>
            </a:pPr>
            <a:r>
              <a:rPr lang="en-US"/>
              <a:t>Spin Offs</a:t>
            </a:r>
            <a:endParaRPr lang="en-US" dirty="0"/>
          </a:p>
        </p:txBody>
      </p:sp>
      <p:sp>
        <p:nvSpPr>
          <p:cNvPr id="6" name="Rectangle 4"/>
          <p:cNvSpPr>
            <a:spLocks noChangeArrowheads="1"/>
          </p:cNvSpPr>
          <p:nvPr/>
        </p:nvSpPr>
        <p:spPr bwMode="auto">
          <a:xfrm>
            <a:off x="1443301" y="1243972"/>
            <a:ext cx="542757" cy="47371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800" b="1" dirty="0">
                <a:latin typeface="Calibri" panose="020F0502020204030204" pitchFamily="34" charset="0"/>
              </a:rPr>
              <a:t>T</a:t>
            </a:r>
            <a:endParaRPr lang="en-US" altLang="en-US" sz="3200" dirty="0">
              <a:latin typeface="Calibri" panose="020F0502020204030204" pitchFamily="34" charset="0"/>
            </a:endParaRPr>
          </a:p>
        </p:txBody>
      </p:sp>
      <p:sp>
        <p:nvSpPr>
          <p:cNvPr id="8" name="Oval 7"/>
          <p:cNvSpPr>
            <a:spLocks noChangeArrowheads="1"/>
          </p:cNvSpPr>
          <p:nvPr/>
        </p:nvSpPr>
        <p:spPr bwMode="auto">
          <a:xfrm>
            <a:off x="1013452" y="630471"/>
            <a:ext cx="626258" cy="276331"/>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800" b="1">
                <a:latin typeface="Calibri" panose="020F0502020204030204" pitchFamily="34" charset="0"/>
              </a:rPr>
              <a:t>P</a:t>
            </a:r>
            <a:endParaRPr lang="en-US" altLang="en-US" sz="1800" b="1" dirty="0">
              <a:latin typeface="Calibri" panose="020F0502020204030204" pitchFamily="34" charset="0"/>
            </a:endParaRPr>
          </a:p>
        </p:txBody>
      </p:sp>
      <p:cxnSp>
        <p:nvCxnSpPr>
          <p:cNvPr id="9" name="AutoShape 14"/>
          <p:cNvCxnSpPr>
            <a:cxnSpLocks noChangeShapeType="1"/>
            <a:stCxn id="8" idx="4"/>
            <a:endCxn id="6" idx="0"/>
          </p:cNvCxnSpPr>
          <p:nvPr/>
        </p:nvCxnSpPr>
        <p:spPr bwMode="auto">
          <a:xfrm>
            <a:off x="1326581" y="906802"/>
            <a:ext cx="388099" cy="337170"/>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33" name="Straight Connector 32"/>
          <p:cNvCxnSpPr>
            <a:cxnSpLocks/>
          </p:cNvCxnSpPr>
          <p:nvPr/>
        </p:nvCxnSpPr>
        <p:spPr>
          <a:xfrm>
            <a:off x="3286149" y="712774"/>
            <a:ext cx="0" cy="4011626"/>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p:cNvSpPr>
            <a:spLocks noChangeArrowheads="1"/>
          </p:cNvSpPr>
          <p:nvPr/>
        </p:nvSpPr>
        <p:spPr bwMode="auto">
          <a:xfrm>
            <a:off x="1793755" y="621832"/>
            <a:ext cx="626258" cy="276331"/>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800" b="1" dirty="0">
                <a:latin typeface="Calibri" panose="020F0502020204030204" pitchFamily="34" charset="0"/>
              </a:rPr>
              <a:t>Q</a:t>
            </a:r>
          </a:p>
        </p:txBody>
      </p:sp>
      <p:cxnSp>
        <p:nvCxnSpPr>
          <p:cNvPr id="40" name="AutoShape 14"/>
          <p:cNvCxnSpPr>
            <a:cxnSpLocks noChangeShapeType="1"/>
            <a:stCxn id="39" idx="4"/>
            <a:endCxn id="6" idx="0"/>
          </p:cNvCxnSpPr>
          <p:nvPr/>
        </p:nvCxnSpPr>
        <p:spPr bwMode="auto">
          <a:xfrm flipH="1">
            <a:off x="1714680" y="898163"/>
            <a:ext cx="392204" cy="345809"/>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43" name="Rectangle 4"/>
          <p:cNvSpPr>
            <a:spLocks noChangeArrowheads="1"/>
          </p:cNvSpPr>
          <p:nvPr/>
        </p:nvSpPr>
        <p:spPr bwMode="auto">
          <a:xfrm>
            <a:off x="1818907" y="2080439"/>
            <a:ext cx="542757" cy="47371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800" b="1" dirty="0">
                <a:latin typeface="Calibri" panose="020F0502020204030204" pitchFamily="34" charset="0"/>
              </a:rPr>
              <a:t>T2</a:t>
            </a:r>
            <a:endParaRPr lang="en-US" altLang="en-US" sz="3200" dirty="0">
              <a:latin typeface="Calibri" panose="020F0502020204030204" pitchFamily="34" charset="0"/>
            </a:endParaRPr>
          </a:p>
        </p:txBody>
      </p:sp>
      <p:sp>
        <p:nvSpPr>
          <p:cNvPr id="44" name="Rectangle 4"/>
          <p:cNvSpPr>
            <a:spLocks noChangeArrowheads="1"/>
          </p:cNvSpPr>
          <p:nvPr/>
        </p:nvSpPr>
        <p:spPr bwMode="auto">
          <a:xfrm>
            <a:off x="978388" y="2079860"/>
            <a:ext cx="542757" cy="47371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800" b="1" dirty="0">
                <a:latin typeface="Calibri" panose="020F0502020204030204" pitchFamily="34" charset="0"/>
              </a:rPr>
              <a:t>T1</a:t>
            </a:r>
            <a:endParaRPr lang="en-US" altLang="en-US" sz="3200" dirty="0">
              <a:latin typeface="Calibri" panose="020F0502020204030204" pitchFamily="34" charset="0"/>
            </a:endParaRPr>
          </a:p>
        </p:txBody>
      </p:sp>
      <p:cxnSp>
        <p:nvCxnSpPr>
          <p:cNvPr id="61" name="AutoShape 14"/>
          <p:cNvCxnSpPr>
            <a:cxnSpLocks noChangeShapeType="1"/>
            <a:stCxn id="44" idx="0"/>
            <a:endCxn id="6" idx="2"/>
          </p:cNvCxnSpPr>
          <p:nvPr/>
        </p:nvCxnSpPr>
        <p:spPr bwMode="auto">
          <a:xfrm flipV="1">
            <a:off x="1249767" y="1717682"/>
            <a:ext cx="464913" cy="362178"/>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65" name="AutoShape 14"/>
          <p:cNvCxnSpPr>
            <a:cxnSpLocks noChangeShapeType="1"/>
            <a:stCxn id="43" idx="0"/>
            <a:endCxn id="6" idx="2"/>
          </p:cNvCxnSpPr>
          <p:nvPr/>
        </p:nvCxnSpPr>
        <p:spPr bwMode="auto">
          <a:xfrm flipH="1" flipV="1">
            <a:off x="1714680" y="1717682"/>
            <a:ext cx="375606" cy="362757"/>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76" name="TextBox 75"/>
          <p:cNvSpPr txBox="1"/>
          <p:nvPr/>
        </p:nvSpPr>
        <p:spPr>
          <a:xfrm>
            <a:off x="1940862" y="1004213"/>
            <a:ext cx="490840" cy="276999"/>
          </a:xfrm>
          <a:prstGeom prst="rect">
            <a:avLst/>
          </a:prstGeom>
          <a:noFill/>
        </p:spPr>
        <p:txBody>
          <a:bodyPr wrap="none" rtlCol="0">
            <a:spAutoFit/>
          </a:bodyPr>
          <a:lstStyle/>
          <a:p>
            <a:r>
              <a:rPr lang="en-US" sz="1200" dirty="0"/>
              <a:t>50%</a:t>
            </a:r>
          </a:p>
        </p:txBody>
      </p:sp>
      <p:sp>
        <p:nvSpPr>
          <p:cNvPr id="80" name="TextBox 79"/>
          <p:cNvSpPr txBox="1"/>
          <p:nvPr/>
        </p:nvSpPr>
        <p:spPr>
          <a:xfrm>
            <a:off x="968375" y="1004213"/>
            <a:ext cx="490840" cy="276999"/>
          </a:xfrm>
          <a:prstGeom prst="rect">
            <a:avLst/>
          </a:prstGeom>
          <a:noFill/>
        </p:spPr>
        <p:txBody>
          <a:bodyPr wrap="none" rtlCol="0">
            <a:spAutoFit/>
          </a:bodyPr>
          <a:lstStyle/>
          <a:p>
            <a:r>
              <a:rPr lang="en-US" sz="1200" dirty="0"/>
              <a:t>50%</a:t>
            </a:r>
          </a:p>
        </p:txBody>
      </p:sp>
      <p:sp>
        <p:nvSpPr>
          <p:cNvPr id="77" name="TextBox 76"/>
          <p:cNvSpPr txBox="1"/>
          <p:nvPr/>
        </p:nvSpPr>
        <p:spPr>
          <a:xfrm>
            <a:off x="609601" y="2814767"/>
            <a:ext cx="2427872" cy="1107996"/>
          </a:xfrm>
          <a:prstGeom prst="rect">
            <a:avLst/>
          </a:prstGeom>
          <a:noFill/>
        </p:spPr>
        <p:txBody>
          <a:bodyPr wrap="square" rtlCol="0">
            <a:spAutoFit/>
          </a:bodyPr>
          <a:lstStyle/>
          <a:p>
            <a:pPr marL="173038" indent="-173038">
              <a:buFont typeface="+mj-lt"/>
              <a:buAutoNum type="arabicParenR"/>
            </a:pPr>
            <a:r>
              <a:rPr lang="en-US" sz="1100" dirty="0"/>
              <a:t>P&amp;Q each purchases 50% of T in Y1, and within 5 years, T liquidates and distributes T1 &amp; T2 to both P &amp; Q</a:t>
            </a:r>
          </a:p>
          <a:p>
            <a:pPr marL="114300" indent="-114300">
              <a:buFont typeface="+mj-lt"/>
              <a:buAutoNum type="arabicParenR"/>
            </a:pPr>
            <a:endParaRPr lang="en-US" sz="1100" dirty="0"/>
          </a:p>
          <a:p>
            <a:pPr marL="173038" indent="-173038">
              <a:buFont typeface="+mj-lt"/>
              <a:buAutoNum type="arabicParenR"/>
            </a:pPr>
            <a:r>
              <a:rPr lang="en-US" sz="1100" dirty="0"/>
              <a:t>Same but pro rata distribution</a:t>
            </a:r>
          </a:p>
        </p:txBody>
      </p:sp>
      <p:sp>
        <p:nvSpPr>
          <p:cNvPr id="83" name="Rectangle 4"/>
          <p:cNvSpPr>
            <a:spLocks noChangeArrowheads="1"/>
          </p:cNvSpPr>
          <p:nvPr/>
        </p:nvSpPr>
        <p:spPr bwMode="auto">
          <a:xfrm>
            <a:off x="4361126" y="1384140"/>
            <a:ext cx="542757" cy="47371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800" b="1" dirty="0">
                <a:latin typeface="Calibri" panose="020F0502020204030204" pitchFamily="34" charset="0"/>
              </a:rPr>
              <a:t>T</a:t>
            </a:r>
            <a:endParaRPr lang="en-US" altLang="en-US" sz="3200" dirty="0">
              <a:latin typeface="Calibri" panose="020F0502020204030204" pitchFamily="34" charset="0"/>
            </a:endParaRPr>
          </a:p>
        </p:txBody>
      </p:sp>
      <p:sp>
        <p:nvSpPr>
          <p:cNvPr id="84" name="Oval 83"/>
          <p:cNvSpPr>
            <a:spLocks noChangeArrowheads="1"/>
          </p:cNvSpPr>
          <p:nvPr/>
        </p:nvSpPr>
        <p:spPr bwMode="auto">
          <a:xfrm>
            <a:off x="3931277" y="770639"/>
            <a:ext cx="626258" cy="276331"/>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800" b="1">
                <a:latin typeface="Calibri" panose="020F0502020204030204" pitchFamily="34" charset="0"/>
              </a:rPr>
              <a:t>P</a:t>
            </a:r>
            <a:endParaRPr lang="en-US" altLang="en-US" sz="1800" b="1" dirty="0">
              <a:latin typeface="Calibri" panose="020F0502020204030204" pitchFamily="34" charset="0"/>
            </a:endParaRPr>
          </a:p>
        </p:txBody>
      </p:sp>
      <p:cxnSp>
        <p:nvCxnSpPr>
          <p:cNvPr id="85" name="AutoShape 14"/>
          <p:cNvCxnSpPr>
            <a:cxnSpLocks noChangeShapeType="1"/>
            <a:stCxn id="89" idx="4"/>
            <a:endCxn id="87" idx="0"/>
          </p:cNvCxnSpPr>
          <p:nvPr/>
        </p:nvCxnSpPr>
        <p:spPr bwMode="auto">
          <a:xfrm>
            <a:off x="4244406" y="1046970"/>
            <a:ext cx="388099" cy="337170"/>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86" name="Oval 85"/>
          <p:cNvSpPr>
            <a:spLocks noChangeArrowheads="1"/>
          </p:cNvSpPr>
          <p:nvPr/>
        </p:nvSpPr>
        <p:spPr bwMode="auto">
          <a:xfrm>
            <a:off x="4711580" y="762000"/>
            <a:ext cx="626258" cy="276331"/>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800" b="1" dirty="0">
                <a:latin typeface="Calibri" panose="020F0502020204030204" pitchFamily="34" charset="0"/>
              </a:rPr>
              <a:t>Q</a:t>
            </a:r>
          </a:p>
        </p:txBody>
      </p:sp>
      <p:cxnSp>
        <p:nvCxnSpPr>
          <p:cNvPr id="87" name="AutoShape 14"/>
          <p:cNvCxnSpPr>
            <a:cxnSpLocks noChangeShapeType="1"/>
            <a:endCxn id="87" idx="0"/>
          </p:cNvCxnSpPr>
          <p:nvPr/>
        </p:nvCxnSpPr>
        <p:spPr bwMode="auto">
          <a:xfrm flipH="1">
            <a:off x="4632505" y="1038331"/>
            <a:ext cx="392204" cy="345809"/>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88" name="Rectangle 4"/>
          <p:cNvSpPr>
            <a:spLocks noChangeArrowheads="1"/>
          </p:cNvSpPr>
          <p:nvPr/>
        </p:nvSpPr>
        <p:spPr bwMode="auto">
          <a:xfrm>
            <a:off x="4736732" y="2220607"/>
            <a:ext cx="542757" cy="47371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800" b="1" dirty="0">
                <a:latin typeface="Calibri" panose="020F0502020204030204" pitchFamily="34" charset="0"/>
              </a:rPr>
              <a:t>T2</a:t>
            </a:r>
            <a:endParaRPr lang="en-US" altLang="en-US" sz="3200" dirty="0">
              <a:latin typeface="Calibri" panose="020F0502020204030204" pitchFamily="34" charset="0"/>
            </a:endParaRPr>
          </a:p>
        </p:txBody>
      </p:sp>
      <p:sp>
        <p:nvSpPr>
          <p:cNvPr id="89" name="Rectangle 4"/>
          <p:cNvSpPr>
            <a:spLocks noChangeArrowheads="1"/>
          </p:cNvSpPr>
          <p:nvPr/>
        </p:nvSpPr>
        <p:spPr bwMode="auto">
          <a:xfrm>
            <a:off x="3896213" y="2220028"/>
            <a:ext cx="542757" cy="47371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800" b="1" dirty="0">
                <a:latin typeface="Calibri" panose="020F0502020204030204" pitchFamily="34" charset="0"/>
              </a:rPr>
              <a:t>T1</a:t>
            </a:r>
            <a:endParaRPr lang="en-US" altLang="en-US" sz="3200" dirty="0">
              <a:latin typeface="Calibri" panose="020F0502020204030204" pitchFamily="34" charset="0"/>
            </a:endParaRPr>
          </a:p>
        </p:txBody>
      </p:sp>
      <p:cxnSp>
        <p:nvCxnSpPr>
          <p:cNvPr id="90" name="AutoShape 14"/>
          <p:cNvCxnSpPr>
            <a:cxnSpLocks noChangeShapeType="1"/>
            <a:endCxn id="87" idx="2"/>
          </p:cNvCxnSpPr>
          <p:nvPr/>
        </p:nvCxnSpPr>
        <p:spPr bwMode="auto">
          <a:xfrm flipV="1">
            <a:off x="4167592" y="1857850"/>
            <a:ext cx="464913" cy="362178"/>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91" name="AutoShape 14"/>
          <p:cNvCxnSpPr>
            <a:cxnSpLocks noChangeShapeType="1"/>
            <a:endCxn id="87" idx="2"/>
          </p:cNvCxnSpPr>
          <p:nvPr/>
        </p:nvCxnSpPr>
        <p:spPr bwMode="auto">
          <a:xfrm flipH="1" flipV="1">
            <a:off x="4632505" y="1857850"/>
            <a:ext cx="375606" cy="362757"/>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92" name="TextBox 91"/>
          <p:cNvSpPr txBox="1"/>
          <p:nvPr/>
        </p:nvSpPr>
        <p:spPr>
          <a:xfrm>
            <a:off x="4858687" y="1144381"/>
            <a:ext cx="490840" cy="276999"/>
          </a:xfrm>
          <a:prstGeom prst="rect">
            <a:avLst/>
          </a:prstGeom>
          <a:noFill/>
        </p:spPr>
        <p:txBody>
          <a:bodyPr wrap="none" rtlCol="0">
            <a:spAutoFit/>
          </a:bodyPr>
          <a:lstStyle/>
          <a:p>
            <a:r>
              <a:rPr lang="en-US" sz="1200" dirty="0"/>
              <a:t>50%</a:t>
            </a:r>
          </a:p>
        </p:txBody>
      </p:sp>
      <p:sp>
        <p:nvSpPr>
          <p:cNvPr id="93" name="TextBox 92"/>
          <p:cNvSpPr txBox="1"/>
          <p:nvPr/>
        </p:nvSpPr>
        <p:spPr>
          <a:xfrm>
            <a:off x="3886200" y="1144381"/>
            <a:ext cx="490840" cy="276999"/>
          </a:xfrm>
          <a:prstGeom prst="rect">
            <a:avLst/>
          </a:prstGeom>
          <a:noFill/>
        </p:spPr>
        <p:txBody>
          <a:bodyPr wrap="none" rtlCol="0">
            <a:spAutoFit/>
          </a:bodyPr>
          <a:lstStyle/>
          <a:p>
            <a:r>
              <a:rPr lang="en-US" sz="1200" dirty="0"/>
              <a:t>50%</a:t>
            </a:r>
          </a:p>
        </p:txBody>
      </p:sp>
      <p:sp>
        <p:nvSpPr>
          <p:cNvPr id="94" name="TextBox 93"/>
          <p:cNvSpPr txBox="1"/>
          <p:nvPr/>
        </p:nvSpPr>
        <p:spPr>
          <a:xfrm>
            <a:off x="3550670" y="3023585"/>
            <a:ext cx="2396686" cy="769441"/>
          </a:xfrm>
          <a:prstGeom prst="rect">
            <a:avLst/>
          </a:prstGeom>
          <a:noFill/>
        </p:spPr>
        <p:txBody>
          <a:bodyPr wrap="square" rtlCol="0">
            <a:spAutoFit/>
          </a:bodyPr>
          <a:lstStyle/>
          <a:p>
            <a:pPr marL="173038" indent="-166688">
              <a:buFont typeface="+mj-lt"/>
              <a:buAutoNum type="arabicParenR"/>
            </a:pPr>
            <a:r>
              <a:rPr lang="en-US" sz="1100" dirty="0"/>
              <a:t>P purchases 50% of T in Y1, and within 5 years, T distributes T1 to Q in exchange for P’s stock in T</a:t>
            </a:r>
          </a:p>
        </p:txBody>
      </p:sp>
      <p:cxnSp>
        <p:nvCxnSpPr>
          <p:cNvPr id="95" name="Straight Connector 94"/>
          <p:cNvCxnSpPr>
            <a:cxnSpLocks/>
          </p:cNvCxnSpPr>
          <p:nvPr/>
        </p:nvCxnSpPr>
        <p:spPr>
          <a:xfrm>
            <a:off x="6196032" y="719283"/>
            <a:ext cx="0" cy="4005117"/>
          </a:xfrm>
          <a:prstGeom prst="line">
            <a:avLst/>
          </a:prstGeom>
        </p:spPr>
        <p:style>
          <a:lnRef idx="1">
            <a:schemeClr val="accent1"/>
          </a:lnRef>
          <a:fillRef idx="0">
            <a:schemeClr val="accent1"/>
          </a:fillRef>
          <a:effectRef idx="0">
            <a:schemeClr val="accent1"/>
          </a:effectRef>
          <a:fontRef idx="minor">
            <a:schemeClr val="tx1"/>
          </a:fontRef>
        </p:style>
      </p:cxnSp>
      <p:sp>
        <p:nvSpPr>
          <p:cNvPr id="96" name="Rectangle 4"/>
          <p:cNvSpPr>
            <a:spLocks noChangeArrowheads="1"/>
          </p:cNvSpPr>
          <p:nvPr/>
        </p:nvSpPr>
        <p:spPr bwMode="auto">
          <a:xfrm>
            <a:off x="7009816" y="1329320"/>
            <a:ext cx="542757" cy="47371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800" b="1" dirty="0">
                <a:latin typeface="Calibri" panose="020F0502020204030204" pitchFamily="34" charset="0"/>
              </a:rPr>
              <a:t>T</a:t>
            </a:r>
            <a:endParaRPr lang="en-US" altLang="en-US" sz="3200" dirty="0">
              <a:latin typeface="Calibri" panose="020F0502020204030204" pitchFamily="34" charset="0"/>
            </a:endParaRPr>
          </a:p>
        </p:txBody>
      </p:sp>
      <p:sp>
        <p:nvSpPr>
          <p:cNvPr id="97" name="Oval 96"/>
          <p:cNvSpPr>
            <a:spLocks noChangeArrowheads="1"/>
          </p:cNvSpPr>
          <p:nvPr/>
        </p:nvSpPr>
        <p:spPr bwMode="auto">
          <a:xfrm>
            <a:off x="6579967" y="715819"/>
            <a:ext cx="626258" cy="276331"/>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800" b="1">
                <a:latin typeface="Calibri" panose="020F0502020204030204" pitchFamily="34" charset="0"/>
              </a:rPr>
              <a:t>P</a:t>
            </a:r>
            <a:endParaRPr lang="en-US" altLang="en-US" sz="1800" b="1" dirty="0">
              <a:latin typeface="Calibri" panose="020F0502020204030204" pitchFamily="34" charset="0"/>
            </a:endParaRPr>
          </a:p>
        </p:txBody>
      </p:sp>
      <p:sp>
        <p:nvSpPr>
          <p:cNvPr id="99" name="Oval 98"/>
          <p:cNvSpPr>
            <a:spLocks noChangeArrowheads="1"/>
          </p:cNvSpPr>
          <p:nvPr/>
        </p:nvSpPr>
        <p:spPr bwMode="auto">
          <a:xfrm>
            <a:off x="7360270" y="707180"/>
            <a:ext cx="626258" cy="276331"/>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800" b="1" dirty="0">
                <a:latin typeface="Calibri" panose="020F0502020204030204" pitchFamily="34" charset="0"/>
              </a:rPr>
              <a:t>Q</a:t>
            </a:r>
          </a:p>
        </p:txBody>
      </p:sp>
      <p:cxnSp>
        <p:nvCxnSpPr>
          <p:cNvPr id="100" name="AutoShape 14"/>
          <p:cNvCxnSpPr>
            <a:cxnSpLocks noChangeShapeType="1"/>
            <a:endCxn id="100" idx="0"/>
          </p:cNvCxnSpPr>
          <p:nvPr/>
        </p:nvCxnSpPr>
        <p:spPr bwMode="auto">
          <a:xfrm flipH="1">
            <a:off x="7281195" y="983511"/>
            <a:ext cx="392204" cy="345809"/>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01" name="Rectangle 4"/>
          <p:cNvSpPr>
            <a:spLocks noChangeArrowheads="1"/>
          </p:cNvSpPr>
          <p:nvPr/>
        </p:nvSpPr>
        <p:spPr bwMode="auto">
          <a:xfrm>
            <a:off x="7024358" y="2890128"/>
            <a:ext cx="542757" cy="47371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800" b="1" dirty="0">
                <a:latin typeface="Calibri" panose="020F0502020204030204" pitchFamily="34" charset="0"/>
              </a:rPr>
              <a:t>T2</a:t>
            </a:r>
            <a:endParaRPr lang="en-US" altLang="en-US" sz="3200" dirty="0">
              <a:latin typeface="Calibri" panose="020F0502020204030204" pitchFamily="34" charset="0"/>
            </a:endParaRPr>
          </a:p>
        </p:txBody>
      </p:sp>
      <p:sp>
        <p:nvSpPr>
          <p:cNvPr id="102" name="Rectangle 4"/>
          <p:cNvSpPr>
            <a:spLocks noChangeArrowheads="1"/>
          </p:cNvSpPr>
          <p:nvPr/>
        </p:nvSpPr>
        <p:spPr bwMode="auto">
          <a:xfrm>
            <a:off x="7015277" y="2080439"/>
            <a:ext cx="542757" cy="473710"/>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2800" b="1" dirty="0">
                <a:latin typeface="Calibri" panose="020F0502020204030204" pitchFamily="34" charset="0"/>
              </a:rPr>
              <a:t>T1</a:t>
            </a:r>
            <a:endParaRPr lang="en-US" altLang="en-US" sz="3200" dirty="0">
              <a:latin typeface="Calibri" panose="020F0502020204030204" pitchFamily="34" charset="0"/>
            </a:endParaRPr>
          </a:p>
        </p:txBody>
      </p:sp>
      <p:cxnSp>
        <p:nvCxnSpPr>
          <p:cNvPr id="103" name="AutoShape 14"/>
          <p:cNvCxnSpPr>
            <a:cxnSpLocks noChangeShapeType="1"/>
            <a:stCxn id="102" idx="0"/>
            <a:endCxn id="96" idx="2"/>
          </p:cNvCxnSpPr>
          <p:nvPr/>
        </p:nvCxnSpPr>
        <p:spPr bwMode="auto">
          <a:xfrm flipH="1" flipV="1">
            <a:off x="7281195" y="1803030"/>
            <a:ext cx="5461" cy="277409"/>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04" name="AutoShape 14"/>
          <p:cNvCxnSpPr>
            <a:cxnSpLocks noChangeShapeType="1"/>
            <a:stCxn id="101" idx="0"/>
            <a:endCxn id="102" idx="2"/>
          </p:cNvCxnSpPr>
          <p:nvPr/>
        </p:nvCxnSpPr>
        <p:spPr bwMode="auto">
          <a:xfrm flipH="1" flipV="1">
            <a:off x="7286656" y="2554149"/>
            <a:ext cx="9081" cy="335979"/>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05" name="TextBox 104"/>
          <p:cNvSpPr txBox="1"/>
          <p:nvPr/>
        </p:nvSpPr>
        <p:spPr>
          <a:xfrm>
            <a:off x="7507377" y="1089561"/>
            <a:ext cx="490840" cy="276999"/>
          </a:xfrm>
          <a:prstGeom prst="rect">
            <a:avLst/>
          </a:prstGeom>
          <a:noFill/>
        </p:spPr>
        <p:txBody>
          <a:bodyPr wrap="none" rtlCol="0">
            <a:spAutoFit/>
          </a:bodyPr>
          <a:lstStyle/>
          <a:p>
            <a:r>
              <a:rPr lang="en-US" sz="1200" dirty="0"/>
              <a:t>40%</a:t>
            </a:r>
          </a:p>
        </p:txBody>
      </p:sp>
      <p:sp>
        <p:nvSpPr>
          <p:cNvPr id="106" name="TextBox 105"/>
          <p:cNvSpPr txBox="1"/>
          <p:nvPr/>
        </p:nvSpPr>
        <p:spPr>
          <a:xfrm>
            <a:off x="6534890" y="1089561"/>
            <a:ext cx="490840" cy="276999"/>
          </a:xfrm>
          <a:prstGeom prst="rect">
            <a:avLst/>
          </a:prstGeom>
          <a:noFill/>
        </p:spPr>
        <p:txBody>
          <a:bodyPr wrap="none" rtlCol="0">
            <a:spAutoFit/>
          </a:bodyPr>
          <a:lstStyle/>
          <a:p>
            <a:r>
              <a:rPr lang="en-US" sz="1200" dirty="0"/>
              <a:t>60%</a:t>
            </a:r>
          </a:p>
        </p:txBody>
      </p:sp>
      <p:cxnSp>
        <p:nvCxnSpPr>
          <p:cNvPr id="122" name="Elbow Connector 121"/>
          <p:cNvCxnSpPr/>
          <p:nvPr/>
        </p:nvCxnSpPr>
        <p:spPr>
          <a:xfrm flipH="1" flipV="1">
            <a:off x="7544413" y="1993603"/>
            <a:ext cx="9081" cy="809689"/>
          </a:xfrm>
          <a:prstGeom prst="bentConnector3">
            <a:avLst>
              <a:gd name="adj1" fmla="val -1478438"/>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9" name="AutoShape 14"/>
          <p:cNvCxnSpPr>
            <a:cxnSpLocks noChangeShapeType="1"/>
            <a:stCxn id="97" idx="4"/>
            <a:endCxn id="96" idx="0"/>
          </p:cNvCxnSpPr>
          <p:nvPr/>
        </p:nvCxnSpPr>
        <p:spPr bwMode="auto">
          <a:xfrm>
            <a:off x="6893096" y="992150"/>
            <a:ext cx="388099" cy="337170"/>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32" name="TextBox 131"/>
          <p:cNvSpPr txBox="1"/>
          <p:nvPr/>
        </p:nvSpPr>
        <p:spPr>
          <a:xfrm>
            <a:off x="6389277" y="3504576"/>
            <a:ext cx="2355675" cy="600164"/>
          </a:xfrm>
          <a:prstGeom prst="rect">
            <a:avLst/>
          </a:prstGeom>
          <a:noFill/>
        </p:spPr>
        <p:txBody>
          <a:bodyPr wrap="square" rtlCol="0">
            <a:spAutoFit/>
          </a:bodyPr>
          <a:lstStyle/>
          <a:p>
            <a:pPr marL="173038" indent="-166688">
              <a:buFont typeface="+mj-lt"/>
              <a:buAutoNum type="arabicParenR"/>
            </a:pPr>
            <a:r>
              <a:rPr lang="en-US" sz="1100" dirty="0"/>
              <a:t>P purchases 60% of T in Y, and within 5 years, T1 distributes T2 to T</a:t>
            </a:r>
          </a:p>
        </p:txBody>
      </p:sp>
    </p:spTree>
    <p:extLst>
      <p:ext uri="{BB962C8B-B14F-4D97-AF65-F5344CB8AC3E}">
        <p14:creationId xmlns:p14="http://schemas.microsoft.com/office/powerpoint/2010/main" val="13422615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8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4"/>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8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8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89"/>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90"/>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91"/>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92"/>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93"/>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4"/>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96"/>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97"/>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9"/>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00"/>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1"/>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2"/>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103"/>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04"/>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5"/>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6"/>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122"/>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129"/>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39" grpId="0" animBg="1"/>
      <p:bldP spid="43" grpId="0" animBg="1"/>
      <p:bldP spid="44" grpId="0" animBg="1"/>
      <p:bldP spid="76" grpId="0"/>
      <p:bldP spid="80" grpId="0"/>
      <p:bldP spid="77" grpId="0"/>
      <p:bldP spid="83" grpId="0" animBg="1"/>
      <p:bldP spid="84" grpId="0" animBg="1"/>
      <p:bldP spid="86" grpId="0" animBg="1"/>
      <p:bldP spid="88" grpId="0" animBg="1"/>
      <p:bldP spid="89" grpId="0" animBg="1"/>
      <p:bldP spid="92" grpId="0"/>
      <p:bldP spid="93" grpId="0"/>
      <p:bldP spid="94" grpId="0"/>
      <p:bldP spid="96" grpId="0" animBg="1"/>
      <p:bldP spid="97" grpId="0" animBg="1"/>
      <p:bldP spid="99" grpId="0" animBg="1"/>
      <p:bldP spid="101" grpId="0" animBg="1"/>
      <p:bldP spid="102" grpId="0" animBg="1"/>
      <p:bldP spid="105" grpId="0"/>
      <p:bldP spid="106" grpId="0"/>
      <p:bldP spid="13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22"/>
          </p:nvPr>
        </p:nvSpPr>
        <p:spPr/>
        <p:txBody>
          <a:bodyPr/>
          <a:lstStyle/>
          <a:p>
            <a:fld id="{856F0A94-AD2E-974D-AF6B-04AF335E854A}" type="slidenum">
              <a:rPr lang="en-US" altLang="en-US" smtClean="0"/>
              <a:pPr/>
              <a:t>20</a:t>
            </a:fld>
            <a:endParaRPr lang="en-US" altLang="en-US"/>
          </a:p>
        </p:txBody>
      </p:sp>
      <p:sp>
        <p:nvSpPr>
          <p:cNvPr id="11" name="Title 10"/>
          <p:cNvSpPr>
            <a:spLocks noGrp="1"/>
          </p:cNvSpPr>
          <p:nvPr>
            <p:ph type="title"/>
          </p:nvPr>
        </p:nvSpPr>
        <p:spPr/>
        <p:txBody>
          <a:bodyPr/>
          <a:lstStyle/>
          <a:p>
            <a:r>
              <a:rPr lang="en-US" dirty="0"/>
              <a:t>Tax Consequences to Distributing: 355(e) and </a:t>
            </a:r>
            <a:r>
              <a:rPr lang="en-US" i="1" dirty="0"/>
              <a:t>Morris Trust</a:t>
            </a:r>
            <a:endParaRPr lang="en-US" sz="2000" dirty="0"/>
          </a:p>
        </p:txBody>
      </p:sp>
      <p:sp>
        <p:nvSpPr>
          <p:cNvPr id="3" name="Footer Placeholder 2"/>
          <p:cNvSpPr>
            <a:spLocks noGrp="1"/>
          </p:cNvSpPr>
          <p:nvPr>
            <p:ph type="ftr" sz="quarter" idx="23"/>
          </p:nvPr>
        </p:nvSpPr>
        <p:spPr/>
        <p:txBody>
          <a:bodyPr/>
          <a:lstStyle/>
          <a:p>
            <a:pPr>
              <a:defRPr/>
            </a:pPr>
            <a:r>
              <a:rPr lang="en-US"/>
              <a:t>Spin Offs</a:t>
            </a:r>
          </a:p>
        </p:txBody>
      </p:sp>
      <p:sp>
        <p:nvSpPr>
          <p:cNvPr id="45" name="Rectangle 4"/>
          <p:cNvSpPr>
            <a:spLocks noChangeArrowheads="1"/>
          </p:cNvSpPr>
          <p:nvPr/>
        </p:nvSpPr>
        <p:spPr bwMode="auto">
          <a:xfrm>
            <a:off x="773437" y="2392327"/>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400" b="1" dirty="0">
                <a:latin typeface="Calibri" panose="020F0502020204030204" pitchFamily="34" charset="0"/>
              </a:rPr>
              <a:t>Amer.</a:t>
            </a:r>
          </a:p>
          <a:p>
            <a:pPr algn="ctr"/>
            <a:r>
              <a:rPr lang="en-US" altLang="en-US" sz="1400" b="1" dirty="0">
                <a:latin typeface="Calibri" panose="020F0502020204030204" pitchFamily="34" charset="0"/>
              </a:rPr>
              <a:t>Nat. Bk</a:t>
            </a:r>
          </a:p>
          <a:p>
            <a:pPr algn="ctr"/>
            <a:r>
              <a:rPr lang="en-US" altLang="en-US" sz="1400" b="1" dirty="0">
                <a:latin typeface="Calibri" panose="020F0502020204030204" pitchFamily="34" charset="0"/>
              </a:rPr>
              <a:t>(T)</a:t>
            </a:r>
            <a:endParaRPr lang="en-US" altLang="en-US" sz="1600" dirty="0">
              <a:latin typeface="Calibri" panose="020F0502020204030204" pitchFamily="34" charset="0"/>
            </a:endParaRPr>
          </a:p>
        </p:txBody>
      </p:sp>
      <p:sp>
        <p:nvSpPr>
          <p:cNvPr id="46" name="Oval 45"/>
          <p:cNvSpPr>
            <a:spLocks noChangeArrowheads="1"/>
          </p:cNvSpPr>
          <p:nvPr/>
        </p:nvSpPr>
        <p:spPr bwMode="auto">
          <a:xfrm>
            <a:off x="304800" y="3767820"/>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200" b="1" dirty="0">
                <a:latin typeface="Calibri" panose="020F0502020204030204" pitchFamily="34" charset="0"/>
              </a:rPr>
              <a:t>Bank</a:t>
            </a:r>
            <a:endParaRPr lang="en-US" altLang="en-US" sz="1600" dirty="0">
              <a:latin typeface="Calibri" panose="020F0502020204030204" pitchFamily="34" charset="0"/>
            </a:endParaRPr>
          </a:p>
        </p:txBody>
      </p:sp>
      <p:sp>
        <p:nvSpPr>
          <p:cNvPr id="49" name="Oval 48"/>
          <p:cNvSpPr>
            <a:spLocks noChangeArrowheads="1"/>
          </p:cNvSpPr>
          <p:nvPr/>
        </p:nvSpPr>
        <p:spPr bwMode="auto">
          <a:xfrm>
            <a:off x="719602" y="1560398"/>
            <a:ext cx="807522" cy="384116"/>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err="1">
                <a:latin typeface="Calibri" panose="020F0502020204030204" pitchFamily="34" charset="0"/>
              </a:rPr>
              <a:t>ANB</a:t>
            </a:r>
            <a:r>
              <a:rPr lang="en-US" altLang="en-US" sz="1600" b="1" dirty="0">
                <a:latin typeface="Calibri" panose="020F0502020204030204" pitchFamily="34" charset="0"/>
              </a:rPr>
              <a:t> </a:t>
            </a:r>
            <a:r>
              <a:rPr lang="en-US" altLang="en-US" sz="1600" b="1" dirty="0" err="1">
                <a:latin typeface="Calibri" panose="020F0502020204030204" pitchFamily="34" charset="0"/>
              </a:rPr>
              <a:t>SH</a:t>
            </a:r>
            <a:endParaRPr lang="en-US" altLang="en-US" sz="1600" b="1" dirty="0">
              <a:latin typeface="Calibri" panose="020F0502020204030204" pitchFamily="34" charset="0"/>
            </a:endParaRPr>
          </a:p>
        </p:txBody>
      </p:sp>
      <p:cxnSp>
        <p:nvCxnSpPr>
          <p:cNvPr id="55" name="AutoShape 14"/>
          <p:cNvCxnSpPr>
            <a:cxnSpLocks noChangeShapeType="1"/>
            <a:stCxn id="55" idx="2"/>
          </p:cNvCxnSpPr>
          <p:nvPr/>
        </p:nvCxnSpPr>
        <p:spPr bwMode="auto">
          <a:xfrm flipH="1">
            <a:off x="708561" y="3050811"/>
            <a:ext cx="414802" cy="717009"/>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56" name="Oval 55"/>
          <p:cNvSpPr>
            <a:spLocks noChangeArrowheads="1"/>
          </p:cNvSpPr>
          <p:nvPr/>
        </p:nvSpPr>
        <p:spPr bwMode="auto">
          <a:xfrm>
            <a:off x="1183517" y="3759638"/>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200" b="1" dirty="0">
                <a:latin typeface="Calibri" panose="020F0502020204030204" pitchFamily="34" charset="0"/>
              </a:rPr>
              <a:t>Insurance</a:t>
            </a:r>
          </a:p>
        </p:txBody>
      </p:sp>
      <p:cxnSp>
        <p:nvCxnSpPr>
          <p:cNvPr id="57" name="AutoShape 14"/>
          <p:cNvCxnSpPr>
            <a:cxnSpLocks noChangeShapeType="1"/>
            <a:stCxn id="55" idx="2"/>
          </p:cNvCxnSpPr>
          <p:nvPr/>
        </p:nvCxnSpPr>
        <p:spPr bwMode="auto">
          <a:xfrm>
            <a:off x="1123363" y="3050811"/>
            <a:ext cx="463915" cy="708827"/>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58" name="Rectangle 4"/>
          <p:cNvSpPr>
            <a:spLocks noChangeArrowheads="1"/>
          </p:cNvSpPr>
          <p:nvPr/>
        </p:nvSpPr>
        <p:spPr bwMode="auto">
          <a:xfrm>
            <a:off x="5768835" y="2242039"/>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200" b="1" dirty="0">
                <a:latin typeface="Calibri" panose="020F0502020204030204" pitchFamily="34" charset="0"/>
              </a:rPr>
              <a:t>Amer.</a:t>
            </a:r>
          </a:p>
          <a:p>
            <a:pPr algn="ctr"/>
            <a:r>
              <a:rPr lang="en-US" altLang="en-US" sz="1200" b="1" dirty="0">
                <a:latin typeface="Calibri" panose="020F0502020204030204" pitchFamily="34" charset="0"/>
              </a:rPr>
              <a:t>Nat. Bk</a:t>
            </a:r>
          </a:p>
          <a:p>
            <a:pPr algn="ctr"/>
            <a:r>
              <a:rPr lang="en-US" altLang="en-US" sz="1200" b="1" dirty="0">
                <a:latin typeface="Calibri" panose="020F0502020204030204" pitchFamily="34" charset="0"/>
              </a:rPr>
              <a:t>(T)</a:t>
            </a:r>
            <a:endParaRPr lang="en-US" altLang="en-US" sz="1400" dirty="0">
              <a:latin typeface="Calibri" panose="020F0502020204030204" pitchFamily="34" charset="0"/>
            </a:endParaRPr>
          </a:p>
        </p:txBody>
      </p:sp>
      <p:sp>
        <p:nvSpPr>
          <p:cNvPr id="59" name="Oval 58"/>
          <p:cNvSpPr>
            <a:spLocks noChangeArrowheads="1"/>
          </p:cNvSpPr>
          <p:nvPr/>
        </p:nvSpPr>
        <p:spPr bwMode="auto">
          <a:xfrm>
            <a:off x="5715000" y="3243821"/>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Bank</a:t>
            </a:r>
            <a:endParaRPr lang="en-US" altLang="en-US" sz="1800" dirty="0">
              <a:latin typeface="Calibri" panose="020F0502020204030204" pitchFamily="34" charset="0"/>
            </a:endParaRPr>
          </a:p>
        </p:txBody>
      </p:sp>
      <p:sp>
        <p:nvSpPr>
          <p:cNvPr id="60" name="Oval 59"/>
          <p:cNvSpPr>
            <a:spLocks noChangeArrowheads="1"/>
          </p:cNvSpPr>
          <p:nvPr/>
        </p:nvSpPr>
        <p:spPr bwMode="auto">
          <a:xfrm>
            <a:off x="6221801" y="1219200"/>
            <a:ext cx="838201" cy="53935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 </a:t>
            </a:r>
            <a:r>
              <a:rPr lang="en-US" altLang="en-US" sz="1400" b="1" dirty="0" err="1">
                <a:latin typeface="Calibri" panose="020F0502020204030204" pitchFamily="34" charset="0"/>
              </a:rPr>
              <a:t>ANB</a:t>
            </a:r>
            <a:r>
              <a:rPr lang="en-US" altLang="en-US" sz="1400" b="1" dirty="0">
                <a:latin typeface="Calibri" panose="020F0502020204030204" pitchFamily="34" charset="0"/>
              </a:rPr>
              <a:t> &amp; </a:t>
            </a:r>
          </a:p>
          <a:p>
            <a:pPr algn="ctr"/>
            <a:r>
              <a:rPr lang="en-US" altLang="en-US" sz="1400" b="1" dirty="0" err="1">
                <a:latin typeface="Calibri" panose="020F0502020204030204" pitchFamily="34" charset="0"/>
              </a:rPr>
              <a:t>SNB</a:t>
            </a:r>
            <a:r>
              <a:rPr lang="en-US" altLang="en-US" sz="1400" b="1" dirty="0">
                <a:latin typeface="Calibri" panose="020F0502020204030204" pitchFamily="34" charset="0"/>
              </a:rPr>
              <a:t> </a:t>
            </a:r>
            <a:r>
              <a:rPr lang="en-US" altLang="en-US" sz="1400" b="1" dirty="0" err="1">
                <a:latin typeface="Calibri" panose="020F0502020204030204" pitchFamily="34" charset="0"/>
              </a:rPr>
              <a:t>SHs</a:t>
            </a:r>
            <a:endParaRPr lang="en-US" altLang="en-US" sz="1400" b="1" dirty="0">
              <a:latin typeface="Calibri" panose="020F0502020204030204" pitchFamily="34" charset="0"/>
            </a:endParaRPr>
          </a:p>
        </p:txBody>
      </p:sp>
      <p:cxnSp>
        <p:nvCxnSpPr>
          <p:cNvPr id="62" name="AutoShape 14"/>
          <p:cNvCxnSpPr>
            <a:cxnSpLocks noChangeShapeType="1"/>
            <a:stCxn id="77" idx="4"/>
            <a:endCxn id="75" idx="0"/>
          </p:cNvCxnSpPr>
          <p:nvPr/>
        </p:nvCxnSpPr>
        <p:spPr bwMode="auto">
          <a:xfrm flipH="1">
            <a:off x="6121573" y="1758550"/>
            <a:ext cx="519329" cy="47617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63" name="AutoShape 14"/>
          <p:cNvCxnSpPr>
            <a:cxnSpLocks noChangeShapeType="1"/>
            <a:stCxn id="75" idx="2"/>
            <a:endCxn id="76" idx="0"/>
          </p:cNvCxnSpPr>
          <p:nvPr/>
        </p:nvCxnSpPr>
        <p:spPr bwMode="auto">
          <a:xfrm flipH="1">
            <a:off x="6118761" y="2893210"/>
            <a:ext cx="2812" cy="350611"/>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64" name="Rectangle 4"/>
          <p:cNvSpPr>
            <a:spLocks noChangeArrowheads="1"/>
          </p:cNvSpPr>
          <p:nvPr/>
        </p:nvSpPr>
        <p:spPr bwMode="auto">
          <a:xfrm>
            <a:off x="3260613" y="2039651"/>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400" b="1" dirty="0">
                <a:latin typeface="Calibri" panose="020F0502020204030204" pitchFamily="34" charset="0"/>
              </a:rPr>
              <a:t>Amer.</a:t>
            </a:r>
          </a:p>
          <a:p>
            <a:pPr algn="ctr"/>
            <a:r>
              <a:rPr lang="en-US" altLang="en-US" sz="1400" b="1" dirty="0">
                <a:latin typeface="Calibri" panose="020F0502020204030204" pitchFamily="34" charset="0"/>
              </a:rPr>
              <a:t>Nat. Bk</a:t>
            </a:r>
          </a:p>
          <a:p>
            <a:pPr algn="ctr"/>
            <a:r>
              <a:rPr lang="en-US" altLang="en-US" sz="1400" b="1" dirty="0">
                <a:latin typeface="Calibri" panose="020F0502020204030204" pitchFamily="34" charset="0"/>
              </a:rPr>
              <a:t>(T)</a:t>
            </a:r>
            <a:endParaRPr lang="en-US" altLang="en-US" sz="1600" dirty="0">
              <a:latin typeface="Calibri" panose="020F0502020204030204" pitchFamily="34" charset="0"/>
            </a:endParaRPr>
          </a:p>
        </p:txBody>
      </p:sp>
      <p:sp>
        <p:nvSpPr>
          <p:cNvPr id="65" name="Oval 64"/>
          <p:cNvSpPr>
            <a:spLocks noChangeArrowheads="1"/>
          </p:cNvSpPr>
          <p:nvPr/>
        </p:nvSpPr>
        <p:spPr bwMode="auto">
          <a:xfrm>
            <a:off x="2590800" y="3186981"/>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Bank</a:t>
            </a:r>
            <a:endParaRPr lang="en-US" altLang="en-US" sz="1800" dirty="0">
              <a:latin typeface="Calibri" panose="020F0502020204030204" pitchFamily="34" charset="0"/>
            </a:endParaRPr>
          </a:p>
        </p:txBody>
      </p:sp>
      <p:sp>
        <p:nvSpPr>
          <p:cNvPr id="66" name="Oval 65"/>
          <p:cNvSpPr>
            <a:spLocks noChangeArrowheads="1"/>
          </p:cNvSpPr>
          <p:nvPr/>
        </p:nvSpPr>
        <p:spPr bwMode="auto">
          <a:xfrm>
            <a:off x="3143358" y="1447800"/>
            <a:ext cx="838201" cy="31075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err="1">
                <a:latin typeface="Calibri" panose="020F0502020204030204" pitchFamily="34" charset="0"/>
              </a:rPr>
              <a:t>ANB</a:t>
            </a:r>
            <a:r>
              <a:rPr lang="en-US" altLang="en-US" sz="1600" b="1" dirty="0">
                <a:latin typeface="Calibri" panose="020F0502020204030204" pitchFamily="34" charset="0"/>
              </a:rPr>
              <a:t> </a:t>
            </a:r>
            <a:r>
              <a:rPr lang="en-US" altLang="en-US" sz="1600" b="1" dirty="0" err="1">
                <a:latin typeface="Calibri" panose="020F0502020204030204" pitchFamily="34" charset="0"/>
              </a:rPr>
              <a:t>SH</a:t>
            </a:r>
            <a:endParaRPr lang="en-US" altLang="en-US" sz="1600" b="1" dirty="0">
              <a:latin typeface="Calibri" panose="020F0502020204030204" pitchFamily="34" charset="0"/>
            </a:endParaRPr>
          </a:p>
        </p:txBody>
      </p:sp>
      <p:cxnSp>
        <p:nvCxnSpPr>
          <p:cNvPr id="69" name="AutoShape 14"/>
          <p:cNvCxnSpPr>
            <a:cxnSpLocks noChangeShapeType="1"/>
            <a:stCxn id="84" idx="4"/>
          </p:cNvCxnSpPr>
          <p:nvPr/>
        </p:nvCxnSpPr>
        <p:spPr bwMode="auto">
          <a:xfrm flipH="1">
            <a:off x="3584122" y="1770746"/>
            <a:ext cx="2765" cy="26890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70" name="AutoShape 14"/>
          <p:cNvCxnSpPr>
            <a:cxnSpLocks noChangeShapeType="1"/>
          </p:cNvCxnSpPr>
          <p:nvPr/>
        </p:nvCxnSpPr>
        <p:spPr bwMode="auto">
          <a:xfrm flipH="1">
            <a:off x="2994561" y="2698135"/>
            <a:ext cx="589561" cy="48884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71" name="Oval 70"/>
          <p:cNvSpPr>
            <a:spLocks noChangeArrowheads="1"/>
          </p:cNvSpPr>
          <p:nvPr/>
        </p:nvSpPr>
        <p:spPr bwMode="auto">
          <a:xfrm>
            <a:off x="3430201" y="3952594"/>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200" b="1" dirty="0">
                <a:latin typeface="Calibri" panose="020F0502020204030204" pitchFamily="34" charset="0"/>
              </a:rPr>
              <a:t>Insurance</a:t>
            </a:r>
            <a:endParaRPr lang="en-US" altLang="en-US" sz="1800" dirty="0">
              <a:latin typeface="Calibri" panose="020F0502020204030204" pitchFamily="34" charset="0"/>
            </a:endParaRPr>
          </a:p>
        </p:txBody>
      </p:sp>
      <p:cxnSp>
        <p:nvCxnSpPr>
          <p:cNvPr id="72" name="AutoShape 14"/>
          <p:cNvCxnSpPr>
            <a:cxnSpLocks noChangeShapeType="1"/>
          </p:cNvCxnSpPr>
          <p:nvPr/>
        </p:nvCxnSpPr>
        <p:spPr bwMode="auto">
          <a:xfrm>
            <a:off x="3584122" y="2698135"/>
            <a:ext cx="248852" cy="378359"/>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73" name="Rectangle 4"/>
          <p:cNvSpPr>
            <a:spLocks noChangeArrowheads="1"/>
          </p:cNvSpPr>
          <p:nvPr/>
        </p:nvSpPr>
        <p:spPr bwMode="auto">
          <a:xfrm>
            <a:off x="3503264" y="3076494"/>
            <a:ext cx="659419" cy="599293"/>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S</a:t>
            </a:r>
          </a:p>
        </p:txBody>
      </p:sp>
      <p:cxnSp>
        <p:nvCxnSpPr>
          <p:cNvPr id="74" name="AutoShape 14"/>
          <p:cNvCxnSpPr>
            <a:cxnSpLocks noChangeShapeType="1"/>
          </p:cNvCxnSpPr>
          <p:nvPr/>
        </p:nvCxnSpPr>
        <p:spPr bwMode="auto">
          <a:xfrm>
            <a:off x="3832974" y="3675787"/>
            <a:ext cx="988" cy="276807"/>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75" name="AutoShape 14"/>
          <p:cNvCxnSpPr>
            <a:cxnSpLocks noChangeShapeType="1"/>
            <a:stCxn id="77" idx="4"/>
          </p:cNvCxnSpPr>
          <p:nvPr/>
        </p:nvCxnSpPr>
        <p:spPr bwMode="auto">
          <a:xfrm>
            <a:off x="6640902" y="1758550"/>
            <a:ext cx="618098" cy="470207"/>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76" name="Oval 75"/>
          <p:cNvSpPr>
            <a:spLocks noChangeArrowheads="1"/>
          </p:cNvSpPr>
          <p:nvPr/>
        </p:nvSpPr>
        <p:spPr bwMode="auto">
          <a:xfrm>
            <a:off x="6855239" y="3245233"/>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Bank</a:t>
            </a:r>
            <a:endParaRPr lang="en-US" altLang="en-US" sz="1800" dirty="0">
              <a:latin typeface="Calibri" panose="020F0502020204030204" pitchFamily="34" charset="0"/>
            </a:endParaRPr>
          </a:p>
        </p:txBody>
      </p:sp>
      <p:sp>
        <p:nvSpPr>
          <p:cNvPr id="77" name="Rectangle 4"/>
          <p:cNvSpPr>
            <a:spLocks noChangeArrowheads="1"/>
          </p:cNvSpPr>
          <p:nvPr/>
        </p:nvSpPr>
        <p:spPr bwMode="auto">
          <a:xfrm>
            <a:off x="6909074" y="2228757"/>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lvl="0" algn="ctr"/>
            <a:r>
              <a:rPr lang="en-US" altLang="en-US" sz="1200" b="1" dirty="0">
                <a:solidFill>
                  <a:prstClr val="black"/>
                </a:solidFill>
                <a:latin typeface="Calibri" panose="020F0502020204030204" pitchFamily="34" charset="0"/>
              </a:rPr>
              <a:t>Sec.</a:t>
            </a:r>
          </a:p>
          <a:p>
            <a:pPr lvl="0" algn="ctr"/>
            <a:r>
              <a:rPr lang="en-US" altLang="en-US" sz="1200" b="1" dirty="0">
                <a:solidFill>
                  <a:prstClr val="black"/>
                </a:solidFill>
                <a:latin typeface="Calibri" panose="020F0502020204030204" pitchFamily="34" charset="0"/>
              </a:rPr>
              <a:t>Nat. Bk</a:t>
            </a:r>
          </a:p>
          <a:p>
            <a:pPr lvl="0" algn="ctr"/>
            <a:r>
              <a:rPr lang="en-US" altLang="en-US" sz="1200" b="1" dirty="0">
                <a:solidFill>
                  <a:prstClr val="black"/>
                </a:solidFill>
                <a:latin typeface="Calibri" panose="020F0502020204030204" pitchFamily="34" charset="0"/>
              </a:rPr>
              <a:t>(P)</a:t>
            </a:r>
            <a:endParaRPr lang="en-US" altLang="en-US" sz="1400" dirty="0">
              <a:solidFill>
                <a:prstClr val="black"/>
              </a:solidFill>
              <a:latin typeface="Calibri" panose="020F0502020204030204" pitchFamily="34" charset="0"/>
            </a:endParaRPr>
          </a:p>
        </p:txBody>
      </p:sp>
      <p:cxnSp>
        <p:nvCxnSpPr>
          <p:cNvPr id="78" name="AutoShape 14"/>
          <p:cNvCxnSpPr>
            <a:cxnSpLocks noChangeShapeType="1"/>
          </p:cNvCxnSpPr>
          <p:nvPr/>
        </p:nvCxnSpPr>
        <p:spPr bwMode="auto">
          <a:xfrm>
            <a:off x="7259000" y="2887241"/>
            <a:ext cx="0" cy="35799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79" name="Elbow Connector 78"/>
          <p:cNvCxnSpPr/>
          <p:nvPr/>
        </p:nvCxnSpPr>
        <p:spPr>
          <a:xfrm>
            <a:off x="3934048" y="2368893"/>
            <a:ext cx="303675" cy="1748322"/>
          </a:xfrm>
          <a:prstGeom prst="bentConnector3">
            <a:avLst>
              <a:gd name="adj1" fmla="val 175278"/>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Elbow Connector 79"/>
          <p:cNvCxnSpPr>
            <a:endCxn id="84" idx="6"/>
          </p:cNvCxnSpPr>
          <p:nvPr/>
        </p:nvCxnSpPr>
        <p:spPr>
          <a:xfrm rot="5400000" flipH="1" flipV="1">
            <a:off x="3685046" y="1877758"/>
            <a:ext cx="583327" cy="58555"/>
          </a:xfrm>
          <a:prstGeom prst="bentConnector4">
            <a:avLst>
              <a:gd name="adj1" fmla="val -2774"/>
              <a:gd name="adj2" fmla="val 883460"/>
            </a:avLst>
          </a:prstGeom>
          <a:ln>
            <a:tailEnd type="triangle"/>
          </a:ln>
        </p:spPr>
        <p:style>
          <a:lnRef idx="1">
            <a:schemeClr val="accent1"/>
          </a:lnRef>
          <a:fillRef idx="0">
            <a:schemeClr val="accent1"/>
          </a:fillRef>
          <a:effectRef idx="0">
            <a:schemeClr val="accent1"/>
          </a:effectRef>
          <a:fontRef idx="minor">
            <a:schemeClr val="tx1"/>
          </a:fontRef>
        </p:style>
      </p:cxnSp>
      <p:sp>
        <p:nvSpPr>
          <p:cNvPr id="81" name="Oval 80"/>
          <p:cNvSpPr/>
          <p:nvPr/>
        </p:nvSpPr>
        <p:spPr>
          <a:xfrm>
            <a:off x="4507574" y="2906859"/>
            <a:ext cx="304800" cy="34361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1</a:t>
            </a:r>
          </a:p>
        </p:txBody>
      </p:sp>
      <p:sp>
        <p:nvSpPr>
          <p:cNvPr id="84" name="Oval 83"/>
          <p:cNvSpPr/>
          <p:nvPr/>
        </p:nvSpPr>
        <p:spPr>
          <a:xfrm>
            <a:off x="4536636" y="1734358"/>
            <a:ext cx="304800" cy="34361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2</a:t>
            </a:r>
          </a:p>
        </p:txBody>
      </p:sp>
      <p:cxnSp>
        <p:nvCxnSpPr>
          <p:cNvPr id="38" name="AutoShape 14"/>
          <p:cNvCxnSpPr>
            <a:cxnSpLocks noChangeShapeType="1"/>
            <a:stCxn id="49" idx="4"/>
            <a:endCxn id="45" idx="0"/>
          </p:cNvCxnSpPr>
          <p:nvPr/>
        </p:nvCxnSpPr>
        <p:spPr bwMode="auto">
          <a:xfrm>
            <a:off x="1123363" y="1944514"/>
            <a:ext cx="0" cy="447813"/>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3" name="Right Arrow 12"/>
          <p:cNvSpPr/>
          <p:nvPr/>
        </p:nvSpPr>
        <p:spPr>
          <a:xfrm>
            <a:off x="6468687" y="2571281"/>
            <a:ext cx="440387" cy="4571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5261498" y="3998794"/>
            <a:ext cx="3120502" cy="923330"/>
          </a:xfrm>
          <a:prstGeom prst="rect">
            <a:avLst/>
          </a:prstGeom>
          <a:noFill/>
        </p:spPr>
        <p:txBody>
          <a:bodyPr wrap="square" rtlCol="0">
            <a:spAutoFit/>
          </a:bodyPr>
          <a:lstStyle/>
          <a:p>
            <a:r>
              <a:rPr lang="en-US" sz="1800" dirty="0" err="1"/>
              <a:t>ANB</a:t>
            </a:r>
            <a:r>
              <a:rPr lang="en-US" sz="1800" dirty="0"/>
              <a:t> </a:t>
            </a:r>
            <a:r>
              <a:rPr lang="en-US" sz="1800" dirty="0" err="1"/>
              <a:t>SHs</a:t>
            </a:r>
            <a:r>
              <a:rPr lang="en-US" sz="1800" dirty="0"/>
              <a:t> received </a:t>
            </a:r>
            <a:r>
              <a:rPr lang="en-US" sz="1800" b="1" dirty="0"/>
              <a:t>54%</a:t>
            </a:r>
            <a:r>
              <a:rPr lang="en-US" sz="1800" dirty="0"/>
              <a:t> of Surviving (renamed NC Nat. Bank).</a:t>
            </a:r>
          </a:p>
        </p:txBody>
      </p:sp>
      <p:cxnSp>
        <p:nvCxnSpPr>
          <p:cNvPr id="36" name="Straight Connector 35">
            <a:extLst>
              <a:ext uri="{FF2B5EF4-FFF2-40B4-BE49-F238E27FC236}">
                <a16:creationId xmlns:a16="http://schemas.microsoft.com/office/drawing/2014/main" id="{E76BC211-5714-AA45-AD87-2A01D90E10A4}"/>
              </a:ext>
            </a:extLst>
          </p:cNvPr>
          <p:cNvCxnSpPr>
            <a:cxnSpLocks/>
          </p:cNvCxnSpPr>
          <p:nvPr/>
        </p:nvCxnSpPr>
        <p:spPr>
          <a:xfrm>
            <a:off x="2286000" y="692322"/>
            <a:ext cx="0" cy="4011626"/>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E51F8F08-46E0-284B-88C2-8D88352EE69A}"/>
              </a:ext>
            </a:extLst>
          </p:cNvPr>
          <p:cNvCxnSpPr>
            <a:cxnSpLocks/>
          </p:cNvCxnSpPr>
          <p:nvPr/>
        </p:nvCxnSpPr>
        <p:spPr>
          <a:xfrm>
            <a:off x="5105400" y="884682"/>
            <a:ext cx="0" cy="4005117"/>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00995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7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74"/>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8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8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4"/>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58"/>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9"/>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60"/>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62"/>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63"/>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7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77"/>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7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3"/>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animBg="1"/>
      <p:bldP spid="49" grpId="0" animBg="1"/>
      <p:bldP spid="56" grpId="0" animBg="1"/>
      <p:bldP spid="58" grpId="0" animBg="1"/>
      <p:bldP spid="59" grpId="0" animBg="1"/>
      <p:bldP spid="60" grpId="0" animBg="1"/>
      <p:bldP spid="64" grpId="0" animBg="1"/>
      <p:bldP spid="65" grpId="0" animBg="1"/>
      <p:bldP spid="66" grpId="0" animBg="1"/>
      <p:bldP spid="71" grpId="0" animBg="1"/>
      <p:bldP spid="73" grpId="0" animBg="1"/>
      <p:bldP spid="76" grpId="0" animBg="1"/>
      <p:bldP spid="77" grpId="0" animBg="1"/>
      <p:bldP spid="81" grpId="0" animBg="1"/>
      <p:bldP spid="84" grpId="0" animBg="1"/>
      <p:bldP spid="13" grpId="0" animBg="1"/>
      <p:bldP spid="14"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400" b="1" dirty="0"/>
              <a:t>Distributing</a:t>
            </a:r>
            <a:r>
              <a:rPr lang="en-US" sz="2400" dirty="0"/>
              <a:t> must recognize </a:t>
            </a:r>
            <a:r>
              <a:rPr lang="en-US" sz="2400" b="1" dirty="0"/>
              <a:t>Gain </a:t>
            </a:r>
            <a:r>
              <a:rPr lang="en-US" sz="2400" dirty="0"/>
              <a:t>if the distribution is </a:t>
            </a:r>
            <a:r>
              <a:rPr lang="en-US" sz="2400" b="1" i="1" dirty="0"/>
              <a:t>part of a plan </a:t>
            </a:r>
            <a:r>
              <a:rPr lang="en-US" sz="2400" dirty="0"/>
              <a:t>by which 1 or more persons acquire directly or indirectly stock representing a </a:t>
            </a:r>
            <a:r>
              <a:rPr lang="en-US" sz="2400" b="1" dirty="0"/>
              <a:t>50% or greater interest [by Vote or Value] in </a:t>
            </a:r>
            <a:r>
              <a:rPr lang="en-US" sz="2400" b="1"/>
              <a:t>either distributing </a:t>
            </a:r>
            <a:r>
              <a:rPr lang="en-US" sz="2400" b="1" dirty="0"/>
              <a:t>or controlled.  </a:t>
            </a:r>
            <a:r>
              <a:rPr lang="en-US" sz="2400" dirty="0">
                <a:solidFill>
                  <a:prstClr val="black"/>
                </a:solidFill>
              </a:rPr>
              <a:t>§</a:t>
            </a:r>
            <a:r>
              <a:rPr lang="en-US" sz="2400" dirty="0"/>
              <a:t>355(e)(2).</a:t>
            </a:r>
          </a:p>
          <a:p>
            <a:pPr lvl="1"/>
            <a:r>
              <a:rPr lang="en-US" sz="2000" b="1" dirty="0"/>
              <a:t>Plan Presumption</a:t>
            </a:r>
            <a:r>
              <a:rPr lang="en-US" sz="2000" dirty="0"/>
              <a:t>: 1 or more persons acquire stock representing 50% or greater in distributing or controlled during the 4-yr period beginning 2 years before the distribution.</a:t>
            </a:r>
          </a:p>
          <a:p>
            <a:pPr lvl="2"/>
            <a:r>
              <a:rPr lang="en-US" sz="2000" i="1" dirty="0"/>
              <a:t>In the case of an acquisition (other than involving a public offering) </a:t>
            </a:r>
            <a:r>
              <a:rPr lang="en-US" sz="2000" b="1" i="1" dirty="0"/>
              <a:t>after a distribution</a:t>
            </a:r>
            <a:r>
              <a:rPr lang="en-US" sz="2000" i="1" dirty="0"/>
              <a:t>, the distribution and the acquisition can be part of a plan only if there was an agreement, understanding, arrangement, or substantial negotiations regarding the acquisition or a similar acquisition at some time during the two-year period ending on the date of the distribution. </a:t>
            </a:r>
            <a:r>
              <a:rPr lang="en-US" sz="2000" dirty="0"/>
              <a:t>Reg. </a:t>
            </a:r>
            <a:r>
              <a:rPr lang="en-US" sz="2000" dirty="0">
                <a:solidFill>
                  <a:prstClr val="black"/>
                </a:solidFill>
              </a:rPr>
              <a:t>§</a:t>
            </a:r>
            <a:r>
              <a:rPr lang="en-US" sz="2000" dirty="0"/>
              <a:t>1.355-7(b)(2). </a:t>
            </a:r>
          </a:p>
          <a:p>
            <a:pPr lvl="1"/>
            <a:r>
              <a:rPr lang="en-US" sz="2000" b="1" dirty="0"/>
              <a:t>Asset Acquisition</a:t>
            </a:r>
            <a:r>
              <a:rPr lang="en-US" sz="2000" dirty="0"/>
              <a:t>: Merger or other asset acquisition (A, B, or D reorg) of distributing or controlled treated as acquisition of the shares of the corporation whose assets were acquired. </a:t>
            </a:r>
          </a:p>
          <a:p>
            <a:endParaRPr lang="en-US" dirty="0"/>
          </a:p>
        </p:txBody>
      </p:sp>
      <p:sp>
        <p:nvSpPr>
          <p:cNvPr id="3" name="Title 2"/>
          <p:cNvSpPr>
            <a:spLocks noGrp="1"/>
          </p:cNvSpPr>
          <p:nvPr>
            <p:ph type="title"/>
          </p:nvPr>
        </p:nvSpPr>
        <p:spPr/>
        <p:txBody>
          <a:bodyPr/>
          <a:lstStyle/>
          <a:p>
            <a:r>
              <a:rPr lang="en-US" dirty="0"/>
              <a:t>Tax Consequences to Distributing: 355(e)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21</a:t>
            </a:fld>
            <a:endParaRPr lang="en-US" altLang="en-US" dirty="0"/>
          </a:p>
        </p:txBody>
      </p:sp>
      <p:sp>
        <p:nvSpPr>
          <p:cNvPr id="5" name="Footer Placeholder 4"/>
          <p:cNvSpPr>
            <a:spLocks noGrp="1"/>
          </p:cNvSpPr>
          <p:nvPr>
            <p:ph type="ftr" sz="quarter" idx="11"/>
          </p:nvPr>
        </p:nvSpPr>
        <p:spPr/>
        <p:txBody>
          <a:bodyPr/>
          <a:lstStyle/>
          <a:p>
            <a:pPr>
              <a:defRPr/>
            </a:pPr>
            <a:r>
              <a:rPr lang="en-US"/>
              <a:t>Spin Offs</a:t>
            </a:r>
            <a:endParaRPr lang="en-US" dirty="0"/>
          </a:p>
        </p:txBody>
      </p:sp>
    </p:spTree>
    <p:extLst>
      <p:ext uri="{BB962C8B-B14F-4D97-AF65-F5344CB8AC3E}">
        <p14:creationId xmlns:p14="http://schemas.microsoft.com/office/powerpoint/2010/main" val="923154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Tax Consequences to Distributing: 355(e) and </a:t>
            </a:r>
            <a:r>
              <a:rPr lang="en-US" i="1" dirty="0"/>
              <a:t>Reverse Morris Trust</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22</a:t>
            </a:fld>
            <a:endParaRPr lang="en-US" altLang="en-US" dirty="0"/>
          </a:p>
        </p:txBody>
      </p:sp>
      <p:sp>
        <p:nvSpPr>
          <p:cNvPr id="5" name="Footer Placeholder 4"/>
          <p:cNvSpPr>
            <a:spLocks noGrp="1"/>
          </p:cNvSpPr>
          <p:nvPr>
            <p:ph type="ftr" sz="quarter" idx="11"/>
          </p:nvPr>
        </p:nvSpPr>
        <p:spPr/>
        <p:txBody>
          <a:bodyPr/>
          <a:lstStyle/>
          <a:p>
            <a:pPr>
              <a:defRPr/>
            </a:pPr>
            <a:r>
              <a:rPr lang="en-US"/>
              <a:t>Spin Offs</a:t>
            </a:r>
            <a:endParaRPr lang="en-US" dirty="0"/>
          </a:p>
        </p:txBody>
      </p:sp>
      <p:sp>
        <p:nvSpPr>
          <p:cNvPr id="6" name="Rectangle 4"/>
          <p:cNvSpPr>
            <a:spLocks noChangeArrowheads="1"/>
          </p:cNvSpPr>
          <p:nvPr/>
        </p:nvSpPr>
        <p:spPr bwMode="auto">
          <a:xfrm>
            <a:off x="920424" y="1806538"/>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D</a:t>
            </a:r>
            <a:endParaRPr lang="en-US" altLang="en-US" sz="2800" dirty="0">
              <a:latin typeface="Calibri" panose="020F0502020204030204" pitchFamily="34" charset="0"/>
            </a:endParaRPr>
          </a:p>
        </p:txBody>
      </p:sp>
      <p:sp>
        <p:nvSpPr>
          <p:cNvPr id="7" name="Oval 6"/>
          <p:cNvSpPr>
            <a:spLocks noChangeArrowheads="1"/>
          </p:cNvSpPr>
          <p:nvPr/>
        </p:nvSpPr>
        <p:spPr bwMode="auto">
          <a:xfrm>
            <a:off x="152400" y="2871158"/>
            <a:ext cx="839963"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200" b="1" dirty="0">
                <a:latin typeface="Calibri" panose="020F0502020204030204" pitchFamily="34" charset="0"/>
              </a:rPr>
              <a:t>Bus. X</a:t>
            </a:r>
            <a:endParaRPr lang="en-US" altLang="en-US" sz="1600" dirty="0">
              <a:latin typeface="Calibri" panose="020F0502020204030204" pitchFamily="34" charset="0"/>
            </a:endParaRPr>
          </a:p>
        </p:txBody>
      </p:sp>
      <p:sp>
        <p:nvSpPr>
          <p:cNvPr id="8" name="Oval 7"/>
          <p:cNvSpPr>
            <a:spLocks noChangeArrowheads="1"/>
          </p:cNvSpPr>
          <p:nvPr/>
        </p:nvSpPr>
        <p:spPr bwMode="auto">
          <a:xfrm>
            <a:off x="872912" y="1117622"/>
            <a:ext cx="807522" cy="384116"/>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D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9" name="AutoShape 14"/>
          <p:cNvCxnSpPr>
            <a:cxnSpLocks noChangeShapeType="1"/>
          </p:cNvCxnSpPr>
          <p:nvPr/>
        </p:nvCxnSpPr>
        <p:spPr bwMode="auto">
          <a:xfrm flipH="1">
            <a:off x="1270351" y="1501738"/>
            <a:ext cx="6322" cy="304801"/>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0" name="Oval 9"/>
          <p:cNvSpPr>
            <a:spLocks noChangeArrowheads="1"/>
          </p:cNvSpPr>
          <p:nvPr/>
        </p:nvSpPr>
        <p:spPr bwMode="auto">
          <a:xfrm>
            <a:off x="1334040" y="2869145"/>
            <a:ext cx="970590"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200" b="1" dirty="0">
                <a:latin typeface="Calibri" panose="020F0502020204030204" pitchFamily="34" charset="0"/>
              </a:rPr>
              <a:t>Bus. Y</a:t>
            </a:r>
            <a:endParaRPr lang="en-US" altLang="en-US" sz="1600" dirty="0">
              <a:latin typeface="Calibri" panose="020F0502020204030204" pitchFamily="34" charset="0"/>
            </a:endParaRPr>
          </a:p>
        </p:txBody>
      </p:sp>
      <p:sp>
        <p:nvSpPr>
          <p:cNvPr id="11" name="Rectangle 4"/>
          <p:cNvSpPr>
            <a:spLocks noChangeArrowheads="1"/>
          </p:cNvSpPr>
          <p:nvPr/>
        </p:nvSpPr>
        <p:spPr bwMode="auto">
          <a:xfrm>
            <a:off x="5545857" y="1474519"/>
            <a:ext cx="530433" cy="43567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D</a:t>
            </a:r>
            <a:endParaRPr lang="en-US" altLang="en-US" sz="2800" dirty="0">
              <a:latin typeface="Calibri" panose="020F0502020204030204" pitchFamily="34" charset="0"/>
            </a:endParaRPr>
          </a:p>
        </p:txBody>
      </p:sp>
      <p:sp>
        <p:nvSpPr>
          <p:cNvPr id="12" name="Oval 11"/>
          <p:cNvSpPr>
            <a:spLocks noChangeArrowheads="1"/>
          </p:cNvSpPr>
          <p:nvPr/>
        </p:nvSpPr>
        <p:spPr bwMode="auto">
          <a:xfrm>
            <a:off x="5418635" y="2156969"/>
            <a:ext cx="781604" cy="217837"/>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Bus. X</a:t>
            </a:r>
            <a:endParaRPr lang="en-US" altLang="en-US" sz="1800" dirty="0">
              <a:latin typeface="Calibri" panose="020F0502020204030204" pitchFamily="34" charset="0"/>
            </a:endParaRPr>
          </a:p>
        </p:txBody>
      </p:sp>
      <p:sp>
        <p:nvSpPr>
          <p:cNvPr id="13" name="Oval 12"/>
          <p:cNvSpPr>
            <a:spLocks noChangeArrowheads="1"/>
          </p:cNvSpPr>
          <p:nvPr/>
        </p:nvSpPr>
        <p:spPr bwMode="auto">
          <a:xfrm>
            <a:off x="5946566" y="838200"/>
            <a:ext cx="838201" cy="31075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D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15" name="AutoShape 14"/>
          <p:cNvCxnSpPr>
            <a:cxnSpLocks noChangeShapeType="1"/>
            <a:stCxn id="11" idx="2"/>
            <a:endCxn id="12" idx="0"/>
          </p:cNvCxnSpPr>
          <p:nvPr/>
        </p:nvCxnSpPr>
        <p:spPr bwMode="auto">
          <a:xfrm flipH="1">
            <a:off x="5809437" y="1910193"/>
            <a:ext cx="1637" cy="24677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6" name="Rectangle 4"/>
          <p:cNvSpPr>
            <a:spLocks noChangeArrowheads="1"/>
          </p:cNvSpPr>
          <p:nvPr/>
        </p:nvSpPr>
        <p:spPr bwMode="auto">
          <a:xfrm>
            <a:off x="3234196" y="1737590"/>
            <a:ext cx="699852" cy="65848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D</a:t>
            </a:r>
            <a:endParaRPr lang="en-US" altLang="en-US" sz="2800" dirty="0">
              <a:latin typeface="Calibri" panose="020F0502020204030204" pitchFamily="34" charset="0"/>
            </a:endParaRPr>
          </a:p>
        </p:txBody>
      </p:sp>
      <p:sp>
        <p:nvSpPr>
          <p:cNvPr id="17" name="Oval 16"/>
          <p:cNvSpPr>
            <a:spLocks noChangeArrowheads="1"/>
          </p:cNvSpPr>
          <p:nvPr/>
        </p:nvSpPr>
        <p:spPr bwMode="auto">
          <a:xfrm>
            <a:off x="2590800" y="2884920"/>
            <a:ext cx="807522"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200" b="1" dirty="0">
                <a:latin typeface="Calibri" panose="020F0502020204030204" pitchFamily="34" charset="0"/>
              </a:rPr>
              <a:t>Bus. X</a:t>
            </a:r>
            <a:endParaRPr lang="en-US" altLang="en-US" sz="1600" dirty="0">
              <a:latin typeface="Calibri" panose="020F0502020204030204" pitchFamily="34" charset="0"/>
            </a:endParaRPr>
          </a:p>
        </p:txBody>
      </p:sp>
      <p:sp>
        <p:nvSpPr>
          <p:cNvPr id="18" name="Oval 17"/>
          <p:cNvSpPr>
            <a:spLocks noChangeArrowheads="1"/>
          </p:cNvSpPr>
          <p:nvPr/>
        </p:nvSpPr>
        <p:spPr bwMode="auto">
          <a:xfrm>
            <a:off x="3167786" y="1157935"/>
            <a:ext cx="838201" cy="31075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D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19" name="AutoShape 14"/>
          <p:cNvCxnSpPr>
            <a:cxnSpLocks noChangeShapeType="1"/>
          </p:cNvCxnSpPr>
          <p:nvPr/>
        </p:nvCxnSpPr>
        <p:spPr bwMode="auto">
          <a:xfrm flipH="1">
            <a:off x="3584122" y="1468685"/>
            <a:ext cx="2765" cy="26890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20" name="AutoShape 14"/>
          <p:cNvCxnSpPr>
            <a:cxnSpLocks noChangeShapeType="1"/>
          </p:cNvCxnSpPr>
          <p:nvPr/>
        </p:nvCxnSpPr>
        <p:spPr bwMode="auto">
          <a:xfrm flipH="1">
            <a:off x="2994561" y="2396074"/>
            <a:ext cx="589561" cy="48884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21" name="AutoShape 14"/>
          <p:cNvCxnSpPr>
            <a:cxnSpLocks noChangeShapeType="1"/>
          </p:cNvCxnSpPr>
          <p:nvPr/>
        </p:nvCxnSpPr>
        <p:spPr bwMode="auto">
          <a:xfrm>
            <a:off x="3584122" y="2396074"/>
            <a:ext cx="248852" cy="378359"/>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2" name="Rectangle 4"/>
          <p:cNvSpPr>
            <a:spLocks noChangeArrowheads="1"/>
          </p:cNvSpPr>
          <p:nvPr/>
        </p:nvSpPr>
        <p:spPr bwMode="auto">
          <a:xfrm>
            <a:off x="3503264" y="2774433"/>
            <a:ext cx="659419" cy="599293"/>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C</a:t>
            </a:r>
          </a:p>
        </p:txBody>
      </p:sp>
      <p:cxnSp>
        <p:nvCxnSpPr>
          <p:cNvPr id="23" name="AutoShape 14"/>
          <p:cNvCxnSpPr>
            <a:cxnSpLocks noChangeShapeType="1"/>
            <a:stCxn id="28" idx="2"/>
          </p:cNvCxnSpPr>
          <p:nvPr/>
        </p:nvCxnSpPr>
        <p:spPr bwMode="auto">
          <a:xfrm>
            <a:off x="3832974" y="3373726"/>
            <a:ext cx="1876" cy="41183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24" name="AutoShape 14"/>
          <p:cNvCxnSpPr>
            <a:cxnSpLocks noChangeShapeType="1"/>
            <a:stCxn id="13" idx="4"/>
            <a:endCxn id="11" idx="0"/>
          </p:cNvCxnSpPr>
          <p:nvPr/>
        </p:nvCxnSpPr>
        <p:spPr bwMode="auto">
          <a:xfrm flipH="1">
            <a:off x="5811074" y="1148950"/>
            <a:ext cx="554593" cy="325569"/>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25" name="Oval 24"/>
          <p:cNvSpPr>
            <a:spLocks noChangeArrowheads="1"/>
          </p:cNvSpPr>
          <p:nvPr/>
        </p:nvSpPr>
        <p:spPr bwMode="auto">
          <a:xfrm>
            <a:off x="6723649" y="2209327"/>
            <a:ext cx="612038" cy="217837"/>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Bus. Y</a:t>
            </a:r>
            <a:endParaRPr lang="en-US" altLang="en-US" sz="1800" dirty="0">
              <a:latin typeface="Calibri" panose="020F0502020204030204" pitchFamily="34" charset="0"/>
            </a:endParaRPr>
          </a:p>
        </p:txBody>
      </p:sp>
      <p:sp>
        <p:nvSpPr>
          <p:cNvPr id="26" name="Rectangle 4"/>
          <p:cNvSpPr>
            <a:spLocks noChangeArrowheads="1"/>
          </p:cNvSpPr>
          <p:nvPr/>
        </p:nvSpPr>
        <p:spPr bwMode="auto">
          <a:xfrm>
            <a:off x="6764452" y="1490141"/>
            <a:ext cx="530433" cy="43567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C</a:t>
            </a:r>
          </a:p>
        </p:txBody>
      </p:sp>
      <p:cxnSp>
        <p:nvCxnSpPr>
          <p:cNvPr id="27" name="AutoShape 14"/>
          <p:cNvCxnSpPr>
            <a:cxnSpLocks noChangeShapeType="1"/>
            <a:stCxn id="26" idx="2"/>
            <a:endCxn id="25" idx="0"/>
          </p:cNvCxnSpPr>
          <p:nvPr/>
        </p:nvCxnSpPr>
        <p:spPr bwMode="auto">
          <a:xfrm flipH="1">
            <a:off x="7029668" y="1925815"/>
            <a:ext cx="1" cy="283512"/>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28" name="Elbow Connector 27"/>
          <p:cNvCxnSpPr>
            <a:stCxn id="22" idx="3"/>
          </p:cNvCxnSpPr>
          <p:nvPr/>
        </p:nvCxnSpPr>
        <p:spPr>
          <a:xfrm>
            <a:off x="3934048" y="2066832"/>
            <a:ext cx="386097" cy="1883347"/>
          </a:xfrm>
          <a:prstGeom prst="bentConnector3">
            <a:avLst>
              <a:gd name="adj1" fmla="val 159208"/>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Elbow Connector 28"/>
          <p:cNvCxnSpPr/>
          <p:nvPr/>
        </p:nvCxnSpPr>
        <p:spPr>
          <a:xfrm rot="5400000" flipH="1" flipV="1">
            <a:off x="3685046" y="1575697"/>
            <a:ext cx="583327" cy="58555"/>
          </a:xfrm>
          <a:prstGeom prst="bentConnector4">
            <a:avLst>
              <a:gd name="adj1" fmla="val -2774"/>
              <a:gd name="adj2" fmla="val 883460"/>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Oval 29"/>
          <p:cNvSpPr/>
          <p:nvPr/>
        </p:nvSpPr>
        <p:spPr>
          <a:xfrm>
            <a:off x="4620475" y="2588487"/>
            <a:ext cx="304800" cy="34361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1</a:t>
            </a:r>
          </a:p>
        </p:txBody>
      </p:sp>
      <p:sp>
        <p:nvSpPr>
          <p:cNvPr id="33" name="Oval 32"/>
          <p:cNvSpPr/>
          <p:nvPr/>
        </p:nvSpPr>
        <p:spPr>
          <a:xfrm>
            <a:off x="4536636" y="1432297"/>
            <a:ext cx="304800" cy="343617"/>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rPr>
              <a:t>2</a:t>
            </a:r>
          </a:p>
        </p:txBody>
      </p:sp>
      <p:cxnSp>
        <p:nvCxnSpPr>
          <p:cNvPr id="34" name="Straight Connector 33"/>
          <p:cNvCxnSpPr>
            <a:stCxn id="10" idx="2"/>
          </p:cNvCxnSpPr>
          <p:nvPr/>
        </p:nvCxnSpPr>
        <p:spPr>
          <a:xfrm flipH="1">
            <a:off x="572382" y="2465022"/>
            <a:ext cx="697968" cy="406136"/>
          </a:xfrm>
          <a:prstGeom prst="line">
            <a:avLst/>
          </a:prstGeom>
        </p:spPr>
        <p:style>
          <a:lnRef idx="1">
            <a:schemeClr val="accent1"/>
          </a:lnRef>
          <a:fillRef idx="0">
            <a:schemeClr val="accent1"/>
          </a:fillRef>
          <a:effectRef idx="0">
            <a:schemeClr val="accent1"/>
          </a:effectRef>
          <a:fontRef idx="minor">
            <a:schemeClr val="tx1"/>
          </a:fontRef>
        </p:style>
      </p:cxnSp>
      <p:cxnSp>
        <p:nvCxnSpPr>
          <p:cNvPr id="35" name="Straight Connector 34"/>
          <p:cNvCxnSpPr>
            <a:stCxn id="10" idx="2"/>
          </p:cNvCxnSpPr>
          <p:nvPr/>
        </p:nvCxnSpPr>
        <p:spPr>
          <a:xfrm>
            <a:off x="1270350" y="2465022"/>
            <a:ext cx="548985" cy="404123"/>
          </a:xfrm>
          <a:prstGeom prst="line">
            <a:avLst/>
          </a:prstGeom>
        </p:spPr>
        <p:style>
          <a:lnRef idx="1">
            <a:schemeClr val="accent1"/>
          </a:lnRef>
          <a:fillRef idx="0">
            <a:schemeClr val="accent1"/>
          </a:fillRef>
          <a:effectRef idx="0">
            <a:schemeClr val="accent1"/>
          </a:effectRef>
          <a:fontRef idx="minor">
            <a:schemeClr val="tx1"/>
          </a:fontRef>
        </p:style>
      </p:cxnSp>
      <p:sp>
        <p:nvSpPr>
          <p:cNvPr id="36" name="Oval 35"/>
          <p:cNvSpPr>
            <a:spLocks noChangeArrowheads="1"/>
          </p:cNvSpPr>
          <p:nvPr/>
        </p:nvSpPr>
        <p:spPr bwMode="auto">
          <a:xfrm>
            <a:off x="3349555" y="3785558"/>
            <a:ext cx="970590" cy="329242"/>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200" b="1" dirty="0">
                <a:latin typeface="Calibri" panose="020F0502020204030204" pitchFamily="34" charset="0"/>
              </a:rPr>
              <a:t>Bus. Y</a:t>
            </a:r>
            <a:endParaRPr lang="en-US" altLang="en-US" sz="1600" dirty="0">
              <a:latin typeface="Calibri" panose="020F0502020204030204" pitchFamily="34" charset="0"/>
            </a:endParaRPr>
          </a:p>
        </p:txBody>
      </p:sp>
      <p:cxnSp>
        <p:nvCxnSpPr>
          <p:cNvPr id="54" name="AutoShape 14"/>
          <p:cNvCxnSpPr>
            <a:cxnSpLocks noChangeShapeType="1"/>
            <a:stCxn id="13" idx="4"/>
            <a:endCxn id="26" idx="0"/>
          </p:cNvCxnSpPr>
          <p:nvPr/>
        </p:nvCxnSpPr>
        <p:spPr bwMode="auto">
          <a:xfrm>
            <a:off x="6365667" y="1148950"/>
            <a:ext cx="664002" cy="341191"/>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73" name="Rectangle 4"/>
          <p:cNvSpPr>
            <a:spLocks noChangeArrowheads="1"/>
          </p:cNvSpPr>
          <p:nvPr/>
        </p:nvSpPr>
        <p:spPr bwMode="auto">
          <a:xfrm>
            <a:off x="7976174" y="1467800"/>
            <a:ext cx="530433" cy="43567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sz="1800" b="1" dirty="0" err="1">
                <a:latin typeface="Calibri" panose="020F0502020204030204" pitchFamily="34" charset="0"/>
              </a:rPr>
              <a:t>Acq</a:t>
            </a:r>
            <a:endParaRPr lang="en-US" altLang="en-US" sz="1800" b="1" dirty="0">
              <a:latin typeface="Calibri" panose="020F0502020204030204" pitchFamily="34" charset="0"/>
            </a:endParaRPr>
          </a:p>
        </p:txBody>
      </p:sp>
      <p:sp>
        <p:nvSpPr>
          <p:cNvPr id="76" name="Right Arrow 75"/>
          <p:cNvSpPr/>
          <p:nvPr/>
        </p:nvSpPr>
        <p:spPr>
          <a:xfrm flipH="1">
            <a:off x="7335687" y="1683644"/>
            <a:ext cx="592090" cy="8371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8" name="Straight Connector 77"/>
          <p:cNvCxnSpPr/>
          <p:nvPr/>
        </p:nvCxnSpPr>
        <p:spPr>
          <a:xfrm>
            <a:off x="2438400" y="1066800"/>
            <a:ext cx="0" cy="3886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80" name="Straight Connector 79"/>
          <p:cNvCxnSpPr/>
          <p:nvPr/>
        </p:nvCxnSpPr>
        <p:spPr>
          <a:xfrm>
            <a:off x="5181600" y="1104913"/>
            <a:ext cx="0" cy="3771887"/>
          </a:xfrm>
          <a:prstGeom prst="line">
            <a:avLst/>
          </a:prstGeom>
        </p:spPr>
        <p:style>
          <a:lnRef idx="1">
            <a:schemeClr val="accent1"/>
          </a:lnRef>
          <a:fillRef idx="0">
            <a:schemeClr val="accent1"/>
          </a:fillRef>
          <a:effectRef idx="0">
            <a:schemeClr val="accent1"/>
          </a:effectRef>
          <a:fontRef idx="minor">
            <a:schemeClr val="tx1"/>
          </a:fontRef>
        </p:style>
      </p:cxnSp>
      <p:cxnSp>
        <p:nvCxnSpPr>
          <p:cNvPr id="81" name="Straight Connector 80"/>
          <p:cNvCxnSpPr/>
          <p:nvPr/>
        </p:nvCxnSpPr>
        <p:spPr>
          <a:xfrm>
            <a:off x="5418635" y="3048000"/>
            <a:ext cx="3268165" cy="0"/>
          </a:xfrm>
          <a:prstGeom prst="line">
            <a:avLst/>
          </a:prstGeom>
        </p:spPr>
        <p:style>
          <a:lnRef idx="1">
            <a:schemeClr val="accent1"/>
          </a:lnRef>
          <a:fillRef idx="0">
            <a:schemeClr val="accent1"/>
          </a:fillRef>
          <a:effectRef idx="0">
            <a:schemeClr val="accent1"/>
          </a:effectRef>
          <a:fontRef idx="minor">
            <a:schemeClr val="tx1"/>
          </a:fontRef>
        </p:style>
      </p:cxnSp>
      <p:sp>
        <p:nvSpPr>
          <p:cNvPr id="87" name="Oval 86"/>
          <p:cNvSpPr>
            <a:spLocks noChangeArrowheads="1"/>
          </p:cNvSpPr>
          <p:nvPr/>
        </p:nvSpPr>
        <p:spPr bwMode="auto">
          <a:xfrm>
            <a:off x="7822289" y="849115"/>
            <a:ext cx="838201" cy="31075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err="1">
                <a:latin typeface="Calibri" panose="020F0502020204030204" pitchFamily="34" charset="0"/>
              </a:rPr>
              <a:t>Acq</a:t>
            </a:r>
            <a:r>
              <a:rPr lang="en-US" altLang="en-US" sz="1600" b="1" dirty="0">
                <a:latin typeface="Calibri" panose="020F0502020204030204" pitchFamily="34" charset="0"/>
              </a:rPr>
              <a:t>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88" name="AutoShape 14"/>
          <p:cNvCxnSpPr>
            <a:cxnSpLocks noChangeShapeType="1"/>
            <a:stCxn id="87" idx="4"/>
            <a:endCxn id="73" idx="0"/>
          </p:cNvCxnSpPr>
          <p:nvPr/>
        </p:nvCxnSpPr>
        <p:spPr bwMode="auto">
          <a:xfrm>
            <a:off x="8241390" y="1159865"/>
            <a:ext cx="1" cy="307935"/>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92" name="Rectangle 4"/>
          <p:cNvSpPr>
            <a:spLocks noChangeArrowheads="1"/>
          </p:cNvSpPr>
          <p:nvPr/>
        </p:nvSpPr>
        <p:spPr bwMode="auto">
          <a:xfrm>
            <a:off x="5537457" y="3830113"/>
            <a:ext cx="530433" cy="43567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D</a:t>
            </a:r>
            <a:endParaRPr lang="en-US" altLang="en-US" sz="2800" dirty="0">
              <a:latin typeface="Calibri" panose="020F0502020204030204" pitchFamily="34" charset="0"/>
            </a:endParaRPr>
          </a:p>
        </p:txBody>
      </p:sp>
      <p:sp>
        <p:nvSpPr>
          <p:cNvPr id="93" name="Oval 92"/>
          <p:cNvSpPr>
            <a:spLocks noChangeArrowheads="1"/>
          </p:cNvSpPr>
          <p:nvPr/>
        </p:nvSpPr>
        <p:spPr bwMode="auto">
          <a:xfrm>
            <a:off x="5410235" y="4512563"/>
            <a:ext cx="781604" cy="217837"/>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Bus. X</a:t>
            </a:r>
            <a:endParaRPr lang="en-US" altLang="en-US" sz="1800" dirty="0">
              <a:latin typeface="Calibri" panose="020F0502020204030204" pitchFamily="34" charset="0"/>
            </a:endParaRPr>
          </a:p>
        </p:txBody>
      </p:sp>
      <p:sp>
        <p:nvSpPr>
          <p:cNvPr id="94" name="Oval 93"/>
          <p:cNvSpPr>
            <a:spLocks noChangeArrowheads="1"/>
          </p:cNvSpPr>
          <p:nvPr/>
        </p:nvSpPr>
        <p:spPr bwMode="auto">
          <a:xfrm>
            <a:off x="5938166" y="3193794"/>
            <a:ext cx="838201" cy="31075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a:latin typeface="Calibri" panose="020F0502020204030204" pitchFamily="34" charset="0"/>
              </a:rPr>
              <a:t>D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cxnSp>
        <p:nvCxnSpPr>
          <p:cNvPr id="95" name="AutoShape 14"/>
          <p:cNvCxnSpPr>
            <a:cxnSpLocks noChangeShapeType="1"/>
          </p:cNvCxnSpPr>
          <p:nvPr/>
        </p:nvCxnSpPr>
        <p:spPr bwMode="auto">
          <a:xfrm flipH="1">
            <a:off x="5801037" y="4265787"/>
            <a:ext cx="1637" cy="246776"/>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96" name="AutoShape 14"/>
          <p:cNvCxnSpPr>
            <a:cxnSpLocks noChangeShapeType="1"/>
          </p:cNvCxnSpPr>
          <p:nvPr/>
        </p:nvCxnSpPr>
        <p:spPr bwMode="auto">
          <a:xfrm flipH="1">
            <a:off x="5802674" y="3504544"/>
            <a:ext cx="554593" cy="325569"/>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97" name="Oval 96"/>
          <p:cNvSpPr>
            <a:spLocks noChangeArrowheads="1"/>
          </p:cNvSpPr>
          <p:nvPr/>
        </p:nvSpPr>
        <p:spPr bwMode="auto">
          <a:xfrm>
            <a:off x="6450033" y="4543933"/>
            <a:ext cx="612038" cy="217837"/>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Bus. Y</a:t>
            </a:r>
            <a:endParaRPr lang="en-US" altLang="en-US" sz="1800" dirty="0">
              <a:latin typeface="Calibri" panose="020F0502020204030204" pitchFamily="34" charset="0"/>
            </a:endParaRPr>
          </a:p>
        </p:txBody>
      </p:sp>
      <p:sp>
        <p:nvSpPr>
          <p:cNvPr id="98" name="Rectangle 4"/>
          <p:cNvSpPr>
            <a:spLocks noChangeArrowheads="1"/>
          </p:cNvSpPr>
          <p:nvPr/>
        </p:nvSpPr>
        <p:spPr bwMode="auto">
          <a:xfrm>
            <a:off x="6756052" y="3845735"/>
            <a:ext cx="530433" cy="435674"/>
          </a:xfrm>
          <a:prstGeom prst="rect">
            <a:avLst/>
          </a:prstGeom>
          <a:solidFill>
            <a:schemeClr val="accent1">
              <a:lumMod val="20000"/>
              <a:lumOff val="80000"/>
            </a:schemeClr>
          </a:solidFill>
          <a:ln w="9525">
            <a:solidFill>
              <a:schemeClr val="tx1"/>
            </a:solidFill>
            <a:miter lim="800000"/>
            <a:headEnd/>
            <a:tailEnd/>
          </a:ln>
          <a:effectLst/>
        </p:spPr>
        <p:txBody>
          <a:bodyPr wrap="none" anchor="ctr"/>
          <a:lstStyle/>
          <a:p>
            <a:pPr algn="ctr"/>
            <a:r>
              <a:rPr lang="en-US" altLang="en-US" b="1" dirty="0">
                <a:latin typeface="Calibri" panose="020F0502020204030204" pitchFamily="34" charset="0"/>
              </a:rPr>
              <a:t>C</a:t>
            </a:r>
          </a:p>
        </p:txBody>
      </p:sp>
      <p:cxnSp>
        <p:nvCxnSpPr>
          <p:cNvPr id="99" name="AutoShape 14"/>
          <p:cNvCxnSpPr>
            <a:cxnSpLocks noChangeShapeType="1"/>
            <a:stCxn id="98" idx="2"/>
            <a:endCxn id="97" idx="0"/>
          </p:cNvCxnSpPr>
          <p:nvPr/>
        </p:nvCxnSpPr>
        <p:spPr bwMode="auto">
          <a:xfrm flipH="1">
            <a:off x="6756052" y="4281409"/>
            <a:ext cx="265217" cy="262524"/>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00" name="AutoShape 14"/>
          <p:cNvCxnSpPr>
            <a:cxnSpLocks noChangeShapeType="1"/>
          </p:cNvCxnSpPr>
          <p:nvPr/>
        </p:nvCxnSpPr>
        <p:spPr bwMode="auto">
          <a:xfrm>
            <a:off x="6357267" y="3504544"/>
            <a:ext cx="664002" cy="341191"/>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104" name="AutoShape 14"/>
          <p:cNvCxnSpPr>
            <a:cxnSpLocks noChangeShapeType="1"/>
            <a:stCxn id="111" idx="4"/>
            <a:endCxn id="98" idx="0"/>
          </p:cNvCxnSpPr>
          <p:nvPr/>
        </p:nvCxnSpPr>
        <p:spPr bwMode="auto">
          <a:xfrm flipH="1">
            <a:off x="7021269" y="3490807"/>
            <a:ext cx="585269" cy="354928"/>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07" name="Oval 106"/>
          <p:cNvSpPr>
            <a:spLocks noChangeArrowheads="1"/>
          </p:cNvSpPr>
          <p:nvPr/>
        </p:nvSpPr>
        <p:spPr bwMode="auto">
          <a:xfrm>
            <a:off x="7929479" y="2160152"/>
            <a:ext cx="612038" cy="217837"/>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Bus. A</a:t>
            </a:r>
            <a:endParaRPr lang="en-US" altLang="en-US" sz="1800" dirty="0">
              <a:latin typeface="Calibri" panose="020F0502020204030204" pitchFamily="34" charset="0"/>
            </a:endParaRPr>
          </a:p>
        </p:txBody>
      </p:sp>
      <p:cxnSp>
        <p:nvCxnSpPr>
          <p:cNvPr id="108" name="AutoShape 14"/>
          <p:cNvCxnSpPr>
            <a:cxnSpLocks noChangeShapeType="1"/>
            <a:stCxn id="73" idx="2"/>
            <a:endCxn id="107" idx="0"/>
          </p:cNvCxnSpPr>
          <p:nvPr/>
        </p:nvCxnSpPr>
        <p:spPr bwMode="auto">
          <a:xfrm flipH="1">
            <a:off x="8235498" y="1903474"/>
            <a:ext cx="5893" cy="256678"/>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11" name="Oval 110"/>
          <p:cNvSpPr>
            <a:spLocks noChangeArrowheads="1"/>
          </p:cNvSpPr>
          <p:nvPr/>
        </p:nvSpPr>
        <p:spPr bwMode="auto">
          <a:xfrm>
            <a:off x="7187437" y="3180057"/>
            <a:ext cx="838201" cy="310750"/>
          </a:xfrm>
          <a:prstGeom prst="ellipse">
            <a:avLst/>
          </a:prstGeom>
          <a:solidFill>
            <a:srgbClr val="E3B276"/>
          </a:solidFill>
          <a:ln w="9525">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r>
              <a:rPr lang="en-US" altLang="en-US" sz="1600" b="1" dirty="0" err="1">
                <a:latin typeface="Calibri" panose="020F0502020204030204" pitchFamily="34" charset="0"/>
              </a:rPr>
              <a:t>Acq</a:t>
            </a:r>
            <a:r>
              <a:rPr lang="en-US" altLang="en-US" sz="1600" b="1" dirty="0">
                <a:latin typeface="Calibri" panose="020F0502020204030204" pitchFamily="34" charset="0"/>
              </a:rPr>
              <a:t> </a:t>
            </a:r>
            <a:r>
              <a:rPr lang="en-US" altLang="en-US" sz="1600" b="1" dirty="0" err="1">
                <a:latin typeface="Calibri" panose="020F0502020204030204" pitchFamily="34" charset="0"/>
              </a:rPr>
              <a:t>SHs</a:t>
            </a:r>
            <a:endParaRPr lang="en-US" altLang="en-US" sz="1600" b="1" dirty="0">
              <a:latin typeface="Calibri" panose="020F0502020204030204" pitchFamily="34" charset="0"/>
            </a:endParaRPr>
          </a:p>
        </p:txBody>
      </p:sp>
      <p:sp>
        <p:nvSpPr>
          <p:cNvPr id="114" name="Oval 113"/>
          <p:cNvSpPr>
            <a:spLocks noChangeArrowheads="1"/>
          </p:cNvSpPr>
          <p:nvPr/>
        </p:nvSpPr>
        <p:spPr bwMode="auto">
          <a:xfrm>
            <a:off x="7177044" y="4550713"/>
            <a:ext cx="612038" cy="217837"/>
          </a:xfrm>
          <a:prstGeom prst="ellipse">
            <a:avLst/>
          </a:prstGeom>
          <a:solidFill>
            <a:schemeClr val="accent4">
              <a:lumMod val="20000"/>
              <a:lumOff val="80000"/>
            </a:schemeClr>
          </a:solidFill>
          <a:ln w="9525">
            <a:solidFill>
              <a:schemeClr val="tx1"/>
            </a:solidFill>
            <a:round/>
            <a:headEnd/>
            <a:tailEnd/>
          </a:ln>
          <a:effectLst/>
        </p:spPr>
        <p:txBody>
          <a:bodyPr wrap="none" anchor="ctr"/>
          <a:lstStyle/>
          <a:p>
            <a:pPr algn="ctr"/>
            <a:r>
              <a:rPr lang="en-US" altLang="en-US" sz="1400" b="1" dirty="0">
                <a:latin typeface="Calibri" panose="020F0502020204030204" pitchFamily="34" charset="0"/>
              </a:rPr>
              <a:t>Bus. A</a:t>
            </a:r>
            <a:endParaRPr lang="en-US" altLang="en-US" sz="1800" dirty="0">
              <a:latin typeface="Calibri" panose="020F0502020204030204" pitchFamily="34" charset="0"/>
            </a:endParaRPr>
          </a:p>
        </p:txBody>
      </p:sp>
      <p:cxnSp>
        <p:nvCxnSpPr>
          <p:cNvPr id="115" name="AutoShape 14"/>
          <p:cNvCxnSpPr>
            <a:cxnSpLocks noChangeShapeType="1"/>
            <a:stCxn id="98" idx="2"/>
            <a:endCxn id="114" idx="0"/>
          </p:cNvCxnSpPr>
          <p:nvPr/>
        </p:nvCxnSpPr>
        <p:spPr bwMode="auto">
          <a:xfrm>
            <a:off x="7021269" y="4281409"/>
            <a:ext cx="461794" cy="269304"/>
          </a:xfrm>
          <a:prstGeom prst="straightConnector1">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14" name="TextBox 13"/>
          <p:cNvSpPr txBox="1"/>
          <p:nvPr/>
        </p:nvSpPr>
        <p:spPr>
          <a:xfrm>
            <a:off x="7413945" y="3483675"/>
            <a:ext cx="514885" cy="246221"/>
          </a:xfrm>
          <a:prstGeom prst="rect">
            <a:avLst/>
          </a:prstGeom>
          <a:noFill/>
        </p:spPr>
        <p:txBody>
          <a:bodyPr wrap="none" rtlCol="0">
            <a:spAutoFit/>
          </a:bodyPr>
          <a:lstStyle/>
          <a:p>
            <a:r>
              <a:rPr lang="en-US" sz="1000" b="1" dirty="0"/>
              <a:t>&lt;50%</a:t>
            </a:r>
          </a:p>
        </p:txBody>
      </p:sp>
      <p:sp>
        <p:nvSpPr>
          <p:cNvPr id="58" name="TextBox 57"/>
          <p:cNvSpPr txBox="1"/>
          <p:nvPr/>
        </p:nvSpPr>
        <p:spPr>
          <a:xfrm>
            <a:off x="6607702" y="3474974"/>
            <a:ext cx="514885" cy="246221"/>
          </a:xfrm>
          <a:prstGeom prst="rect">
            <a:avLst/>
          </a:prstGeom>
          <a:noFill/>
        </p:spPr>
        <p:txBody>
          <a:bodyPr wrap="none" rtlCol="0">
            <a:spAutoFit/>
          </a:bodyPr>
          <a:lstStyle/>
          <a:p>
            <a:r>
              <a:rPr lang="en-US" sz="1000" b="1" dirty="0"/>
              <a:t>&gt;50%</a:t>
            </a:r>
          </a:p>
        </p:txBody>
      </p:sp>
    </p:spTree>
    <p:extLst>
      <p:ext uri="{BB962C8B-B14F-4D97-AF65-F5344CB8AC3E}">
        <p14:creationId xmlns:p14="http://schemas.microsoft.com/office/powerpoint/2010/main" val="2047677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9"/>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3"/>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1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13"/>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5"/>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2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2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26"/>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2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5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73"/>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76"/>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87"/>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88"/>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07"/>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108"/>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nodeType="clickEffect">
                                  <p:stCondLst>
                                    <p:cond delay="0"/>
                                  </p:stCondLst>
                                  <p:childTnLst>
                                    <p:set>
                                      <p:cBhvr>
                                        <p:cTn id="84" dur="1" fill="hold">
                                          <p:stCondLst>
                                            <p:cond delay="0"/>
                                          </p:stCondLst>
                                        </p:cTn>
                                        <p:tgtEl>
                                          <p:spTgt spid="81"/>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92"/>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93"/>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94"/>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95"/>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96"/>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97"/>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98"/>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99"/>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104"/>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11"/>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14"/>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11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14"/>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10" grpId="0" animBg="1"/>
      <p:bldP spid="11" grpId="0" animBg="1"/>
      <p:bldP spid="12" grpId="0" animBg="1"/>
      <p:bldP spid="13" grpId="0" animBg="1"/>
      <p:bldP spid="16" grpId="0" animBg="1"/>
      <p:bldP spid="17" grpId="0" animBg="1"/>
      <p:bldP spid="18" grpId="0" animBg="1"/>
      <p:bldP spid="22" grpId="0" animBg="1"/>
      <p:bldP spid="25" grpId="0" animBg="1"/>
      <p:bldP spid="26" grpId="0" animBg="1"/>
      <p:bldP spid="30" grpId="0" animBg="1"/>
      <p:bldP spid="33" grpId="0" animBg="1"/>
      <p:bldP spid="36" grpId="0" animBg="1"/>
      <p:bldP spid="73" grpId="0" animBg="1"/>
      <p:bldP spid="76" grpId="0" animBg="1"/>
      <p:bldP spid="87" grpId="0" animBg="1"/>
      <p:bldP spid="92" grpId="0" animBg="1"/>
      <p:bldP spid="93" grpId="0" animBg="1"/>
      <p:bldP spid="94" grpId="0" animBg="1"/>
      <p:bldP spid="97" grpId="0" animBg="1"/>
      <p:bldP spid="98" grpId="0" animBg="1"/>
      <p:bldP spid="107" grpId="0" animBg="1"/>
      <p:bldP spid="111" grpId="0" animBg="1"/>
      <p:bldP spid="114" grpId="0" animBg="1"/>
      <p:bldP spid="14" grpId="0"/>
      <p:bldP spid="58"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800" dirty="0"/>
              <a:t>Section 355 doesn’t apply to any distribution if, immediately after the distribution:</a:t>
            </a:r>
          </a:p>
          <a:p>
            <a:pPr lvl="1"/>
            <a:r>
              <a:rPr lang="en-US" sz="2400" dirty="0"/>
              <a:t>either distributing or controlled is a </a:t>
            </a:r>
            <a:r>
              <a:rPr lang="en-US" sz="2400" b="1" i="1" dirty="0"/>
              <a:t>disqualified investment corporation,</a:t>
            </a:r>
            <a:r>
              <a:rPr lang="en-US" sz="2400" i="1" dirty="0"/>
              <a:t> and</a:t>
            </a:r>
          </a:p>
          <a:p>
            <a:pPr lvl="1"/>
            <a:r>
              <a:rPr lang="en-US" sz="2400" dirty="0"/>
              <a:t>Any person holds a 50%-or-greater interest [by V </a:t>
            </a:r>
            <a:r>
              <a:rPr lang="en-US" sz="2400" b="1" dirty="0"/>
              <a:t>or</a:t>
            </a:r>
            <a:r>
              <a:rPr lang="en-US" sz="2400" dirty="0"/>
              <a:t> V] in the disqualified investment corporation and the person didn’t hold such an interest immediately before the distribution. </a:t>
            </a:r>
            <a:r>
              <a:rPr lang="en-US" sz="2400" dirty="0">
                <a:solidFill>
                  <a:prstClr val="black"/>
                </a:solidFill>
              </a:rPr>
              <a:t>§</a:t>
            </a:r>
            <a:r>
              <a:rPr lang="en-US" sz="2400" dirty="0"/>
              <a:t>355(g)(1) </a:t>
            </a:r>
          </a:p>
          <a:p>
            <a:r>
              <a:rPr lang="en-US" sz="2800" b="1" dirty="0"/>
              <a:t>Disqualified investment corporation</a:t>
            </a:r>
          </a:p>
          <a:p>
            <a:pPr lvl="1"/>
            <a:r>
              <a:rPr lang="en-US" sz="2000" dirty="0"/>
              <a:t>Any distributing or controlled if the FMV of </a:t>
            </a:r>
            <a:r>
              <a:rPr lang="en-US" sz="2000"/>
              <a:t>the investment </a:t>
            </a:r>
            <a:r>
              <a:rPr lang="en-US" sz="2000" dirty="0"/>
              <a:t>assets equals or exceeds 66.6% of assets of the corporation.</a:t>
            </a:r>
          </a:p>
          <a:p>
            <a:pPr lvl="1"/>
            <a:r>
              <a:rPr lang="en-US" sz="2000" dirty="0"/>
              <a:t>Investment Assets:  cash, stock, PSH interest, debt, option, forward, futures, FX. </a:t>
            </a:r>
            <a:r>
              <a:rPr lang="en-US" sz="2000" dirty="0">
                <a:solidFill>
                  <a:prstClr val="black"/>
                </a:solidFill>
              </a:rPr>
              <a:t>§</a:t>
            </a:r>
            <a:r>
              <a:rPr lang="en-US" sz="2000" dirty="0"/>
              <a:t>355(g)(2)(A) and (B). </a:t>
            </a:r>
          </a:p>
          <a:p>
            <a:pPr lvl="1"/>
            <a:endParaRPr lang="en-US" dirty="0"/>
          </a:p>
        </p:txBody>
      </p:sp>
      <p:sp>
        <p:nvSpPr>
          <p:cNvPr id="3" name="Title 2"/>
          <p:cNvSpPr>
            <a:spLocks noGrp="1"/>
          </p:cNvSpPr>
          <p:nvPr>
            <p:ph type="title"/>
          </p:nvPr>
        </p:nvSpPr>
        <p:spPr/>
        <p:txBody>
          <a:bodyPr/>
          <a:lstStyle/>
          <a:p>
            <a:r>
              <a:rPr lang="en-US" dirty="0"/>
              <a:t>Tax Consequences to Distributing: </a:t>
            </a:r>
            <a:r>
              <a:rPr lang="en-US" dirty="0">
                <a:solidFill>
                  <a:prstClr val="black"/>
                </a:solidFill>
              </a:rPr>
              <a:t>§</a:t>
            </a:r>
            <a:r>
              <a:rPr lang="en-US" dirty="0"/>
              <a:t>355(g)-Cash Rich Spin-offs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23</a:t>
            </a:fld>
            <a:endParaRPr lang="en-US" altLang="en-US" dirty="0"/>
          </a:p>
        </p:txBody>
      </p:sp>
      <p:sp>
        <p:nvSpPr>
          <p:cNvPr id="5" name="Footer Placeholder 4"/>
          <p:cNvSpPr>
            <a:spLocks noGrp="1"/>
          </p:cNvSpPr>
          <p:nvPr>
            <p:ph type="ftr" sz="quarter" idx="11"/>
          </p:nvPr>
        </p:nvSpPr>
        <p:spPr/>
        <p:txBody>
          <a:bodyPr/>
          <a:lstStyle/>
          <a:p>
            <a:pPr>
              <a:defRPr/>
            </a:pPr>
            <a:r>
              <a:rPr lang="en-US"/>
              <a:t>Spin Offs</a:t>
            </a:r>
            <a:endParaRPr lang="en-US" dirty="0"/>
          </a:p>
        </p:txBody>
      </p:sp>
    </p:spTree>
    <p:extLst>
      <p:ext uri="{BB962C8B-B14F-4D97-AF65-F5344CB8AC3E}">
        <p14:creationId xmlns:p14="http://schemas.microsoft.com/office/powerpoint/2010/main" val="125880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31624</TotalTime>
  <Words>3776</Words>
  <Application>Microsoft Macintosh PowerPoint</Application>
  <PresentationFormat>On-screen Show (4:3)</PresentationFormat>
  <Paragraphs>423</Paragraphs>
  <Slides>23</Slides>
  <Notes>11</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23</vt:i4>
      </vt:variant>
    </vt:vector>
  </HeadingPairs>
  <TitlesOfParts>
    <vt:vector size="34" baseType="lpstr">
      <vt:lpstr>NSimSun</vt:lpstr>
      <vt:lpstr>Arial</vt:lpstr>
      <vt:lpstr>Calibri</vt:lpstr>
      <vt:lpstr>Calibri Regular</vt:lpstr>
      <vt:lpstr>Courier New</vt:lpstr>
      <vt:lpstr>Gill Sans</vt:lpstr>
      <vt:lpstr>Times</vt:lpstr>
      <vt:lpstr>Times New Roman</vt:lpstr>
      <vt:lpstr>Wingdings</vt:lpstr>
      <vt:lpstr>Wingdings 2</vt:lpstr>
      <vt:lpstr>CG Body - Standard</vt:lpstr>
      <vt:lpstr>Divisive Reorganizations:  Spin-offs, Split-offs, and Split-ups</vt:lpstr>
      <vt:lpstr>Spin-offs: Overview</vt:lpstr>
      <vt:lpstr>Spin-offs: Rockefeller v. US (1921)</vt:lpstr>
      <vt:lpstr>Divisive Reorganizations: Sections 355 and 368(a)(1)(D)</vt:lpstr>
      <vt:lpstr>Section 355(a)(1):  Distributee(s)</vt:lpstr>
      <vt:lpstr>Section 355(a)(1)(D) and Distribution of Control: CIR v. Gordon (1968)</vt:lpstr>
      <vt:lpstr>Section 355: Control and Distribution of Control</vt:lpstr>
      <vt:lpstr>Section 355(a)(1)(B) and Reg. §1.355-2(d): Device</vt:lpstr>
      <vt:lpstr>Active Business and Section 355(b): Rev. Rul. 2003-38</vt:lpstr>
      <vt:lpstr>Active Trade or Business: Section 355(b) and Reg. §1.355-3</vt:lpstr>
      <vt:lpstr>Rev. Rul. 2019-09</vt:lpstr>
      <vt:lpstr>Prop. Reg. 1.355-9 (July 14, 2016): AT/B and Device (“Hot Dog Stand Regs”)</vt:lpstr>
      <vt:lpstr>Business Purpose (Reg. §1.355-2(b)) and Continuity of Interest (Reg. §1.355-2(c))</vt:lpstr>
      <vt:lpstr>Business Purpose</vt:lpstr>
      <vt:lpstr>Distributee’s Tax Consequences</vt:lpstr>
      <vt:lpstr>Tax Consequences to Distributing: Section 355(c)</vt:lpstr>
      <vt:lpstr>Section 355(d)</vt:lpstr>
      <vt:lpstr>Tax Consequences to Distributing: §355(d)</vt:lpstr>
      <vt:lpstr>Tax Consequences to Distributing: 355(d)</vt:lpstr>
      <vt:lpstr>Tax Consequences to Distributing: 355(e) and Morris Trust</vt:lpstr>
      <vt:lpstr>Tax Consequences to Distributing: 355(e)</vt:lpstr>
      <vt:lpstr>Tax Consequences to Distributing: 355(e) and Reverse Morris Trust</vt:lpstr>
      <vt:lpstr>Tax Consequences to Distributing: §355(g)-Cash Rich Spin-offs</vt:lpstr>
    </vt:vector>
  </TitlesOfParts>
  <Company>	鞰]皤</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Promulgating, Interpreting, and Administering  U.S. Tax Law</dc:title>
  <dc:creator>Jeffrey Colon</dc:creator>
  <cp:lastModifiedBy>Colon, Jeffrey M.</cp:lastModifiedBy>
  <cp:revision>695</cp:revision>
  <cp:lastPrinted>2021-04-15T19:44:09Z</cp:lastPrinted>
  <dcterms:created xsi:type="dcterms:W3CDTF">2006-08-02T13:45:39Z</dcterms:created>
  <dcterms:modified xsi:type="dcterms:W3CDTF">2026-04-20T10:38:10Z</dcterms:modified>
</cp:coreProperties>
</file>