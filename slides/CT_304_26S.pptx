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9"/>
  </p:notesMasterIdLst>
  <p:sldIdLst>
    <p:sldId id="258" r:id="rId2"/>
    <p:sldId id="272" r:id="rId3"/>
    <p:sldId id="274" r:id="rId4"/>
    <p:sldId id="278" r:id="rId5"/>
    <p:sldId id="259" r:id="rId6"/>
    <p:sldId id="269" r:id="rId7"/>
    <p:sldId id="273" r:id="rId8"/>
    <p:sldId id="265" r:id="rId9"/>
    <p:sldId id="261" r:id="rId10"/>
    <p:sldId id="277" r:id="rId11"/>
    <p:sldId id="276" r:id="rId12"/>
    <p:sldId id="266" r:id="rId13"/>
    <p:sldId id="279" r:id="rId14"/>
    <p:sldId id="270" r:id="rId15"/>
    <p:sldId id="271" r:id="rId16"/>
    <p:sldId id="267" r:id="rId17"/>
    <p:sldId id="275" r:id="rId18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FA5115-54B1-8A4E-AEFA-AEFFDF5B1265}" v="321" dt="2026-02-28T16:01:33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11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458F5B4D-4674-51EB-AE0A-4CE030354E61}"/>
    <pc:docChg chg="modSld modMainMaster">
      <pc:chgData name="Colon, Jeffrey M." userId="615143b1-cdee-493d-9a9d-1565ce8666d9" providerId="ADAL" clId="{458F5B4D-4674-51EB-AE0A-4CE030354E61}" dt="2026-02-28T16:01:33.380" v="322" actId="20577"/>
      <pc:docMkLst>
        <pc:docMk/>
      </pc:docMkLst>
      <pc:sldChg chg="modSp modAnim">
        <pc:chgData name="Colon, Jeffrey M." userId="615143b1-cdee-493d-9a9d-1565ce8666d9" providerId="ADAL" clId="{458F5B4D-4674-51EB-AE0A-4CE030354E61}" dt="2026-02-28T16:00:16.121" v="312" actId="20577"/>
        <pc:sldMkLst>
          <pc:docMk/>
          <pc:sldMk cId="2836661236" sldId="272"/>
        </pc:sldMkLst>
        <pc:spChg chg="mod">
          <ac:chgData name="Colon, Jeffrey M." userId="615143b1-cdee-493d-9a9d-1565ce8666d9" providerId="ADAL" clId="{458F5B4D-4674-51EB-AE0A-4CE030354E61}" dt="2026-02-28T16:00:16.121" v="312" actId="20577"/>
          <ac:spMkLst>
            <pc:docMk/>
            <pc:sldMk cId="2836661236" sldId="272"/>
            <ac:spMk id="2" creationId="{819D129C-ED24-DF4C-9EB0-CE0415EA2706}"/>
          </ac:spMkLst>
        </pc:spChg>
      </pc:sldChg>
      <pc:sldChg chg="modSp">
        <pc:chgData name="Colon, Jeffrey M." userId="615143b1-cdee-493d-9a9d-1565ce8666d9" providerId="ADAL" clId="{458F5B4D-4674-51EB-AE0A-4CE030354E61}" dt="2026-02-28T16:01:33.380" v="322" actId="20577"/>
        <pc:sldMkLst>
          <pc:docMk/>
          <pc:sldMk cId="2154591165" sldId="274"/>
        </pc:sldMkLst>
        <pc:spChg chg="mod">
          <ac:chgData name="Colon, Jeffrey M." userId="615143b1-cdee-493d-9a9d-1565ce8666d9" providerId="ADAL" clId="{458F5B4D-4674-51EB-AE0A-4CE030354E61}" dt="2026-02-28T16:01:33.380" v="322" actId="20577"/>
          <ac:spMkLst>
            <pc:docMk/>
            <pc:sldMk cId="2154591165" sldId="274"/>
            <ac:spMk id="2" creationId="{F4E6B15B-8531-9149-A075-99D079CB9471}"/>
          </ac:spMkLst>
        </pc:spChg>
      </pc:sldChg>
      <pc:sldMasterChg chg="modSp mod">
        <pc:chgData name="Colon, Jeffrey M." userId="615143b1-cdee-493d-9a9d-1565ce8666d9" providerId="ADAL" clId="{458F5B4D-4674-51EB-AE0A-4CE030354E61}" dt="2026-02-28T15:57:07.992" v="1" actId="20577"/>
        <pc:sldMasterMkLst>
          <pc:docMk/>
          <pc:sldMasterMk cId="371776349" sldId="2147483660"/>
        </pc:sldMasterMkLst>
        <pc:spChg chg="mod">
          <ac:chgData name="Colon, Jeffrey M." userId="615143b1-cdee-493d-9a9d-1565ce8666d9" providerId="ADAL" clId="{458F5B4D-4674-51EB-AE0A-4CE030354E61}" dt="2026-02-28T15:57:07.992" v="1" actId="20577"/>
          <ac:spMkLst>
            <pc:docMk/>
            <pc:sldMasterMk cId="371776349" sldId="2147483660"/>
            <ac:spMk id="9" creationId="{00000000-0000-0000-0000-00000000000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F2E595D-07B5-CF44-AE63-906CA02C7BEF}" type="datetimeFigureOut">
              <a:rPr lang="en-US" smtClean="0"/>
              <a:t>2/28/26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54113"/>
            <a:ext cx="5543550" cy="31194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44864"/>
            <a:ext cx="560832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73"/>
            <a:ext cx="3037840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772673"/>
            <a:ext cx="3037840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2991C84-E9AD-4349-A89D-CDCB4DBB2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392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51494" indent="-289036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56145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18602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81060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43518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005976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68434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930891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33EE0142-2A2D-8C4E-94A7-3BF32D4394A0}" type="slidenum">
              <a:rPr lang="en-US" altLang="en-US">
                <a:latin typeface="Times" charset="0"/>
              </a:rPr>
              <a:pPr/>
              <a:t>1</a:t>
            </a:fld>
            <a:endParaRPr lang="en-US" altLang="en-US">
              <a:latin typeface="Times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7925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91C84-E9AD-4349-A89D-CDCB4DBB2B6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408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51494" indent="-289036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56145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18602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81060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43518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005976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68434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930891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B10000A5-5496-2C4B-96ED-17CE8ECD81A8}" type="slidenum">
              <a:rPr lang="en-US" altLang="en-US">
                <a:latin typeface="Times" charset="0"/>
              </a:rPr>
              <a:pPr/>
              <a:t>5</a:t>
            </a:fld>
            <a:endParaRPr lang="en-US" altLang="en-US">
              <a:latin typeface="Times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0689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51494" indent="-289036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56145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18602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81060" indent="-231229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43518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005976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68434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930891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ED82D742-20FE-7048-9A9D-2504985547BC}" type="slidenum">
              <a:rPr lang="en-US" altLang="en-US">
                <a:latin typeface="Times" charset="0"/>
              </a:rPr>
              <a:pPr/>
              <a:t>9</a:t>
            </a:fld>
            <a:endParaRPr lang="en-US" altLang="en-US">
              <a:latin typeface="Times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3377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74733"/>
            <a:ext cx="3860800" cy="288925"/>
          </a:xfrm>
        </p:spPr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355925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-22860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2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914400" indent="-228600" algn="just">
              <a:buClr>
                <a:srgbClr val="B01C2E"/>
              </a:buClr>
              <a:buSzPct val="60000"/>
              <a:buFont typeface="Arial" charset="0"/>
              <a:buChar char="•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14300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3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395288" algn="l"/>
              </a:tabLst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180064" y="6471105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1CA486-86CB-BA44-A017-D214BB061127}"/>
              </a:ext>
            </a:extLst>
          </p:cNvPr>
          <p:cNvSpPr txBox="1"/>
          <p:nvPr userDrawn="1"/>
        </p:nvSpPr>
        <p:spPr>
          <a:xfrm>
            <a:off x="546100" y="6604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671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748039" y="5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7489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9375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62087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89818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2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09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6254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202452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5359125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5427337" y="3778176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21011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5076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276061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211799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244854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741605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4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4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4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1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8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6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2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4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5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4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33448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878794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 dirty="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91440" bIns="9144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1000" b="1" dirty="0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 dirty="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317036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1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1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1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1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1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1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1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1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2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2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445545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744476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 dirty="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324026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 dirty="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 dirty="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 dirty="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252526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2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2"/>
            <a:ext cx="3364992" cy="276999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778478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64592" indent="-164592" algn="l">
              <a:lnSpc>
                <a:spcPts val="14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1200" b="0">
                <a:solidFill>
                  <a:srgbClr val="000000"/>
                </a:solidFill>
              </a:defRPr>
            </a:lvl1pPr>
            <a:lvl2pPr marL="164592" indent="0" algn="l">
              <a:spcBef>
                <a:spcPts val="700"/>
              </a:spcBef>
              <a:buNone/>
              <a:defRPr sz="1200" b="0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1200" b="1" baseline="0">
                <a:solidFill>
                  <a:srgbClr val="FFFFFF"/>
                </a:solidFill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400491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 dirty="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420984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72000" tIns="72000" rIns="72000" bIns="72000" anchor="ctr"/>
          <a:lstStyle/>
          <a:p>
            <a:endParaRPr lang="en-US" sz="1800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17940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847754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865705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13127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3758672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87194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2354106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15568">
              <a:buClr>
                <a:srgbClr val="B01C1A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706955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631887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 dirty="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609601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 dirty="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4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5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0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3736" indent="-173736">
              <a:lnSpc>
                <a:spcPct val="95000"/>
              </a:lnSpc>
              <a:spcBef>
                <a:spcPts val="720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7472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521208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9144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1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932131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117475" eaLnBrk="0" hangingPunct="0">
              <a:lnSpc>
                <a:spcPct val="95000"/>
              </a:lnSpc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118872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843374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="1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="1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 b="1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985546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8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2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0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4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6195830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 dirty="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3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marR="0" indent="-176213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6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4995828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3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6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2332775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 dirty="0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 dirty="0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2" y="1282930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39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88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73736" indent="-173736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305983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 dirty="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 dirty="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 dirty="0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 dirty="0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1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4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1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7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3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3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3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3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3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3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3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3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3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94301C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8064438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6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5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2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355934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4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4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4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3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3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3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3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4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701816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6" y="1419225"/>
            <a:ext cx="3376247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1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1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1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1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9469236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5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6506504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891282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 dirty="0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 dirty="0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  <a:defRPr sz="1000" b="0" baseline="0"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 "/>
              <a:defRPr sz="100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228600" indent="-228600">
              <a:buClr>
                <a:srgbClr val="B01C2E"/>
              </a:buClr>
              <a:buFont typeface="Wingdings 2" pitchFamily="18" charset="2"/>
              <a:buChar char="¡"/>
              <a:defRPr sz="1000" baseline="0">
                <a:latin typeface="Arial" pitchFamily="34" charset="0"/>
              </a:defRPr>
            </a:lvl3pPr>
            <a:lvl4pPr marL="4572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4pPr>
            <a:lvl5pPr marL="6858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000"/>
              </a:lnSpc>
              <a:buNone/>
              <a:defRPr sz="1000" b="0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NSimSun" pitchFamily="49" charset="-122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Arial" pitchFamily="34" charset="0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2113669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3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2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2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2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498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4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8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89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3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2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498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4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8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89" y="3962401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229889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587117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386922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230243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9207963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4886657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9900634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/>
              <a:t>Section 304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69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371601"/>
            <a:ext cx="53848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1"/>
            <a:ext cx="53848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Section 304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BEE2D7-1F05-0540-AD0D-C8F6AEBAE5C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78493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838200"/>
            <a:ext cx="5537200" cy="5410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5200" y="838200"/>
            <a:ext cx="5537200" cy="5410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FF7ECB-CB75-4948-83AF-408B7FD6609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3688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480800" y="643663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4165600" y="6442487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100" b="1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/>
              <a:t>Section 304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96545" y="6423028"/>
            <a:ext cx="314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dirty="0">
                <a:latin typeface="+mn-lt"/>
              </a:rPr>
              <a:t>CT</a:t>
            </a:r>
            <a:r>
              <a:rPr lang="en-US" sz="800" baseline="0" dirty="0">
                <a:latin typeface="+mn-lt"/>
              </a:rPr>
              <a:t>_304_26S</a:t>
            </a:r>
            <a:endParaRPr lang="en-US" sz="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7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5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6" r:id="rId56"/>
    <p:sldLayoutId id="2147483717" r:id="rId57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>
                <a:ea typeface="ＭＳ Ｐゴシック" charset="-128"/>
              </a:rPr>
              <a:t>Redemptions Through Related Corporations:  Section 304 and Brother-Sister Acquisitions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18439" name="Rectangle 5"/>
          <p:cNvSpPr>
            <a:spLocks noChangeArrowheads="1"/>
          </p:cNvSpPr>
          <p:nvPr/>
        </p:nvSpPr>
        <p:spPr bwMode="auto">
          <a:xfrm>
            <a:off x="947057" y="3048000"/>
            <a:ext cx="1261600" cy="10731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X</a:t>
            </a:r>
          </a:p>
          <a:p>
            <a:pPr algn="ctr"/>
            <a:r>
              <a:rPr lang="en-US" altLang="en-US" b="1" dirty="0"/>
              <a:t>(Issuing) </a:t>
            </a:r>
            <a:endParaRPr lang="en-US" altLang="en-US" dirty="0"/>
          </a:p>
        </p:txBody>
      </p:sp>
      <p:sp>
        <p:nvSpPr>
          <p:cNvPr id="18440" name="Line 6"/>
          <p:cNvSpPr>
            <a:spLocks noChangeShapeType="1"/>
          </p:cNvSpPr>
          <p:nvPr/>
        </p:nvSpPr>
        <p:spPr bwMode="auto">
          <a:xfrm flipH="1" flipV="1">
            <a:off x="2218435" y="2482850"/>
            <a:ext cx="1028699" cy="565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441" name="Oval 7"/>
          <p:cNvSpPr>
            <a:spLocks noChangeArrowheads="1"/>
          </p:cNvSpPr>
          <p:nvPr/>
        </p:nvSpPr>
        <p:spPr bwMode="auto">
          <a:xfrm>
            <a:off x="1751457" y="1905000"/>
            <a:ext cx="1143000" cy="5778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A</a:t>
            </a:r>
          </a:p>
        </p:txBody>
      </p:sp>
      <p:sp>
        <p:nvSpPr>
          <p:cNvPr id="18442" name="Line 8"/>
          <p:cNvSpPr>
            <a:spLocks noChangeShapeType="1"/>
          </p:cNvSpPr>
          <p:nvPr/>
        </p:nvSpPr>
        <p:spPr bwMode="auto">
          <a:xfrm flipV="1">
            <a:off x="1481117" y="2482850"/>
            <a:ext cx="801408" cy="565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443" name="Rectangle 9"/>
          <p:cNvSpPr>
            <a:spLocks noChangeArrowheads="1"/>
          </p:cNvSpPr>
          <p:nvPr/>
        </p:nvSpPr>
        <p:spPr bwMode="auto">
          <a:xfrm>
            <a:off x="2610993" y="3048000"/>
            <a:ext cx="1343718" cy="1073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Y</a:t>
            </a:r>
          </a:p>
          <a:p>
            <a:pPr algn="ctr"/>
            <a:r>
              <a:rPr lang="en-US" altLang="en-US" b="1" dirty="0"/>
              <a:t>(Acquiring) </a:t>
            </a:r>
            <a:endParaRPr lang="en-US" altLang="en-US" dirty="0"/>
          </a:p>
        </p:txBody>
      </p:sp>
      <p:sp>
        <p:nvSpPr>
          <p:cNvPr id="18444" name="Rectangle 12"/>
          <p:cNvSpPr>
            <a:spLocks noChangeArrowheads="1"/>
          </p:cNvSpPr>
          <p:nvPr/>
        </p:nvSpPr>
        <p:spPr bwMode="auto">
          <a:xfrm>
            <a:off x="8632374" y="4267200"/>
            <a:ext cx="1066800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X</a:t>
            </a:r>
          </a:p>
          <a:p>
            <a:pPr algn="ctr"/>
            <a:r>
              <a:rPr lang="en-US" altLang="en-US" b="1" dirty="0"/>
              <a:t>(Issuing) </a:t>
            </a:r>
            <a:endParaRPr lang="en-US" altLang="en-US" dirty="0"/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 flipH="1" flipV="1">
            <a:off x="9089574" y="2286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446" name="Oval 14"/>
          <p:cNvSpPr>
            <a:spLocks noChangeArrowheads="1"/>
          </p:cNvSpPr>
          <p:nvPr/>
        </p:nvSpPr>
        <p:spPr bwMode="auto">
          <a:xfrm>
            <a:off x="8556174" y="1828800"/>
            <a:ext cx="1143000" cy="533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A</a:t>
            </a:r>
          </a:p>
        </p:txBody>
      </p:sp>
      <p:sp>
        <p:nvSpPr>
          <p:cNvPr id="18447" name="Rectangle 16"/>
          <p:cNvSpPr>
            <a:spLocks noChangeArrowheads="1"/>
          </p:cNvSpPr>
          <p:nvPr/>
        </p:nvSpPr>
        <p:spPr bwMode="auto">
          <a:xfrm>
            <a:off x="8632374" y="2819400"/>
            <a:ext cx="9144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dirty="0"/>
              <a:t>Y</a:t>
            </a:r>
          </a:p>
          <a:p>
            <a:pPr algn="ctr"/>
            <a:r>
              <a:rPr lang="en-US" altLang="en-US" b="1" dirty="0"/>
              <a:t>(</a:t>
            </a:r>
            <a:r>
              <a:rPr lang="en-US" altLang="en-US" b="1" dirty="0" err="1"/>
              <a:t>Acq</a:t>
            </a:r>
            <a:r>
              <a:rPr lang="en-US" altLang="en-US" b="1" dirty="0"/>
              <a:t>.) </a:t>
            </a:r>
            <a:endParaRPr lang="en-US" altLang="en-US" dirty="0"/>
          </a:p>
        </p:txBody>
      </p:sp>
      <p:sp>
        <p:nvSpPr>
          <p:cNvPr id="18448" name="Rectangle 17"/>
          <p:cNvSpPr>
            <a:spLocks noChangeArrowheads="1"/>
          </p:cNvSpPr>
          <p:nvPr/>
        </p:nvSpPr>
        <p:spPr bwMode="auto">
          <a:xfrm>
            <a:off x="1599057" y="990600"/>
            <a:ext cx="145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2400" b="1" u="sng"/>
              <a:t>BEFORE</a:t>
            </a:r>
            <a:endParaRPr lang="en-US" altLang="en-US" u="sng"/>
          </a:p>
        </p:txBody>
      </p:sp>
      <p:sp>
        <p:nvSpPr>
          <p:cNvPr id="18449" name="Rectangle 18"/>
          <p:cNvSpPr>
            <a:spLocks noChangeArrowheads="1"/>
          </p:cNvSpPr>
          <p:nvPr/>
        </p:nvSpPr>
        <p:spPr bwMode="auto">
          <a:xfrm>
            <a:off x="8532362" y="1219200"/>
            <a:ext cx="120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2400" b="1" u="sng"/>
              <a:t>AFTER</a:t>
            </a:r>
            <a:endParaRPr lang="en-US" altLang="en-US" u="sng"/>
          </a:p>
        </p:txBody>
      </p:sp>
      <p:sp>
        <p:nvSpPr>
          <p:cNvPr id="18450" name="Line 19"/>
          <p:cNvSpPr>
            <a:spLocks noChangeShapeType="1"/>
          </p:cNvSpPr>
          <p:nvPr/>
        </p:nvSpPr>
        <p:spPr bwMode="auto">
          <a:xfrm flipH="1" flipV="1">
            <a:off x="9089574" y="3733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8451" name="AutoShape 20"/>
          <p:cNvCxnSpPr>
            <a:cxnSpLocks noChangeShapeType="1"/>
            <a:endCxn id="18446" idx="6"/>
          </p:cNvCxnSpPr>
          <p:nvPr/>
        </p:nvCxnSpPr>
        <p:spPr bwMode="auto">
          <a:xfrm rot="5400000" flipH="1" flipV="1">
            <a:off x="8689864" y="2963154"/>
            <a:ext cx="1876964" cy="141656"/>
          </a:xfrm>
          <a:prstGeom prst="bentConnector4">
            <a:avLst>
              <a:gd name="adj1" fmla="val -475"/>
              <a:gd name="adj2" fmla="val 261377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2" name="AutoShape 21"/>
          <p:cNvCxnSpPr>
            <a:cxnSpLocks noChangeShapeType="1"/>
            <a:stCxn id="18446" idx="2"/>
          </p:cNvCxnSpPr>
          <p:nvPr/>
        </p:nvCxnSpPr>
        <p:spPr bwMode="auto">
          <a:xfrm rot="10800000" flipH="1" flipV="1">
            <a:off x="8556174" y="2095500"/>
            <a:ext cx="131064" cy="1905000"/>
          </a:xfrm>
          <a:prstGeom prst="bentConnector4">
            <a:avLst>
              <a:gd name="adj1" fmla="val -174419"/>
              <a:gd name="adj2" fmla="val 10027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53" name="Text Box 22"/>
          <p:cNvSpPr txBox="1">
            <a:spLocks noChangeArrowheads="1"/>
          </p:cNvSpPr>
          <p:nvPr/>
        </p:nvSpPr>
        <p:spPr bwMode="auto">
          <a:xfrm>
            <a:off x="10077863" y="2361557"/>
            <a:ext cx="9380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2400" b="1" dirty="0"/>
              <a:t>Cash</a:t>
            </a:r>
          </a:p>
        </p:txBody>
      </p:sp>
      <p:sp>
        <p:nvSpPr>
          <p:cNvPr id="18454" name="Text Box 23"/>
          <p:cNvSpPr txBox="1">
            <a:spLocks noChangeArrowheads="1"/>
          </p:cNvSpPr>
          <p:nvPr/>
        </p:nvSpPr>
        <p:spPr bwMode="auto">
          <a:xfrm>
            <a:off x="5942555" y="2219235"/>
            <a:ext cx="193728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2400" b="1" dirty="0"/>
              <a:t>A sells X </a:t>
            </a:r>
          </a:p>
          <a:p>
            <a:pPr algn="ctr"/>
            <a:r>
              <a:rPr lang="en-US" altLang="en-US" sz="2400" b="1" dirty="0"/>
              <a:t>stock to Y for cash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5799364" y="794657"/>
            <a:ext cx="21771" cy="4386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4B1EB-1256-6147-988E-0F1394C23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463179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9D129C-ED24-DF4C-9EB0-CE0415EA2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If </a:t>
            </a:r>
            <a:r>
              <a:rPr lang="en-US" altLang="en-US" sz="3600" dirty="0"/>
              <a:t>§</a:t>
            </a:r>
            <a:r>
              <a:rPr lang="en-US" sz="3600" dirty="0"/>
              <a:t>304 applies, the payment for stock is treated as a </a:t>
            </a:r>
            <a:r>
              <a:rPr lang="en-US" sz="3600" b="1" dirty="0"/>
              <a:t>redemption</a:t>
            </a:r>
            <a:r>
              <a:rPr lang="en-US" sz="3600" dirty="0"/>
              <a:t> of </a:t>
            </a:r>
            <a:r>
              <a:rPr lang="en-US" sz="3600" b="1" u="sng" dirty="0"/>
              <a:t>acquiring</a:t>
            </a:r>
            <a:r>
              <a:rPr lang="en-US" sz="3600" b="1" dirty="0"/>
              <a:t>; </a:t>
            </a:r>
            <a:r>
              <a:rPr lang="en-US" sz="3600" dirty="0"/>
              <a:t>the payment is therefore either a:</a:t>
            </a:r>
          </a:p>
          <a:p>
            <a:pPr lvl="1"/>
            <a:r>
              <a:rPr lang="en-US" sz="3200" b="1" dirty="0"/>
              <a:t>S/X, or </a:t>
            </a:r>
          </a:p>
          <a:p>
            <a:pPr lvl="1"/>
            <a:r>
              <a:rPr lang="en-US" sz="3200" b="1" dirty="0"/>
              <a:t>an ordinary distribution (dividend, ROC, S/X)</a:t>
            </a:r>
          </a:p>
          <a:p>
            <a:r>
              <a:rPr lang="en-US" sz="3400" dirty="0"/>
              <a:t>Section 304 was originally an anti-abuse provision: prevent converting ODs (high tax) into CGs (low tax) through related party sales </a:t>
            </a:r>
          </a:p>
          <a:p>
            <a:r>
              <a:rPr lang="en-US" sz="3400" dirty="0"/>
              <a:t>With both CGs and ODs being subject to the same rate, is the administrative complexity of </a:t>
            </a:r>
            <a:r>
              <a:rPr lang="en-US" altLang="en-US" sz="3200" dirty="0"/>
              <a:t>§</a:t>
            </a:r>
            <a:r>
              <a:rPr lang="en-US" sz="3200" dirty="0"/>
              <a:t>304 worth it?</a:t>
            </a:r>
            <a:endParaRPr lang="en-US" sz="3400" dirty="0"/>
          </a:p>
          <a:p>
            <a:pPr marL="0" indent="0">
              <a:buNone/>
            </a:pPr>
            <a:endParaRPr lang="en-US" sz="32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DC6FE2-8226-7B46-84CA-EA31B169A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304: Big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1D1C4-12C8-5440-93A0-7CE6609F23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96F1E-BFB2-1A48-B01E-67C595322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66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E6B15B-8531-9149-A075-99D079CB9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Redemption treated as S/X</a:t>
            </a:r>
          </a:p>
          <a:p>
            <a:pPr lvl="1"/>
            <a:r>
              <a:rPr lang="en-US" dirty="0"/>
              <a:t>Recovery of basis</a:t>
            </a:r>
          </a:p>
          <a:p>
            <a:pPr lvl="1"/>
            <a:r>
              <a:rPr lang="en-US" dirty="0"/>
              <a:t>CG rates (individuals) on gain</a:t>
            </a:r>
          </a:p>
          <a:p>
            <a:pPr lvl="1"/>
            <a:r>
              <a:rPr lang="en-US" dirty="0"/>
              <a:t>Proportionate E&amp;Ps pulled out (</a:t>
            </a:r>
            <a:r>
              <a:rPr lang="en-US" altLang="en-US" sz="2400" dirty="0"/>
              <a:t>§</a:t>
            </a:r>
            <a:r>
              <a:rPr lang="en-US" dirty="0"/>
              <a:t>312(n)(7))</a:t>
            </a:r>
          </a:p>
          <a:p>
            <a:pPr lvl="1"/>
            <a:r>
              <a:rPr lang="en-US" dirty="0"/>
              <a:t>Tax-free for foreigners</a:t>
            </a:r>
          </a:p>
          <a:p>
            <a:pPr lvl="1"/>
            <a:r>
              <a:rPr lang="en-US" dirty="0"/>
              <a:t>No DRD for US corporate shareholders</a:t>
            </a:r>
          </a:p>
          <a:p>
            <a:pPr lvl="1"/>
            <a:endParaRPr lang="en-US" dirty="0"/>
          </a:p>
          <a:p>
            <a:r>
              <a:rPr lang="en-US" b="1" dirty="0"/>
              <a:t>Redemption treated as Ordinary Distribution</a:t>
            </a:r>
          </a:p>
          <a:p>
            <a:pPr lvl="1"/>
            <a:r>
              <a:rPr lang="en-US" dirty="0"/>
              <a:t>No recovery of basis</a:t>
            </a:r>
          </a:p>
          <a:p>
            <a:pPr lvl="1"/>
            <a:r>
              <a:rPr lang="en-US" dirty="0"/>
              <a:t>CG rates for </a:t>
            </a:r>
            <a:r>
              <a:rPr lang="en-US" b="1" dirty="0"/>
              <a:t>qualified</a:t>
            </a:r>
            <a:r>
              <a:rPr lang="en-US" dirty="0"/>
              <a:t> dividends</a:t>
            </a:r>
          </a:p>
          <a:p>
            <a:pPr lvl="1"/>
            <a:r>
              <a:rPr lang="en-US" dirty="0"/>
              <a:t>E&amp;Ps (current, accumulated, recovery of basis, S/X) pulled out</a:t>
            </a:r>
          </a:p>
          <a:p>
            <a:pPr lvl="1"/>
            <a:r>
              <a:rPr lang="en-US" dirty="0"/>
              <a:t>Dividend taxable to foreigners 		</a:t>
            </a:r>
          </a:p>
          <a:p>
            <a:pPr lvl="1"/>
            <a:r>
              <a:rPr lang="en-US" dirty="0"/>
              <a:t>DRD for US corporate shareholders if dividend, but possibly an extraordinary dividend (</a:t>
            </a:r>
            <a:r>
              <a:rPr lang="en-US" altLang="en-US" sz="2000" dirty="0"/>
              <a:t>§1059(e)(1)(A)(iii)(II))</a:t>
            </a:r>
            <a:endParaRPr lang="en-US" dirty="0"/>
          </a:p>
          <a:p>
            <a:pPr lvl="1"/>
            <a:r>
              <a:rPr lang="en-US" b="1" dirty="0"/>
              <a:t>Big Issue:  Allocation of basis of redeemed shares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7D93F0-188E-5B4E-852D-2AF686D0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Differing Consequences of Redemption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D1AB3-0E4C-A34D-A8A3-E5F85C218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E74E9-20BD-8349-8AEE-F8F8775DD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59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DB61CD3F-392C-C448-AF05-5A69D5DBC5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2065" y="560315"/>
            <a:ext cx="11128248" cy="3322398"/>
          </a:xfrm>
          <a:ln w="15875">
            <a:solidFill>
              <a:schemeClr val="accent1">
                <a:shade val="95000"/>
                <a:satMod val="105000"/>
              </a:schemeClr>
            </a:solidFill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101E522-EE9C-1E4A-8AB5-E03C74B7F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304(a)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C883F-D07F-EB47-B567-40BCE3791F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81CAE-A25B-A341-B77B-87DB25B6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98BC0F-870E-7B48-B1A7-5BF72767BCAE}"/>
              </a:ext>
            </a:extLst>
          </p:cNvPr>
          <p:cNvCxnSpPr>
            <a:cxnSpLocks/>
          </p:cNvCxnSpPr>
          <p:nvPr/>
        </p:nvCxnSpPr>
        <p:spPr>
          <a:xfrm>
            <a:off x="2334114" y="1976410"/>
            <a:ext cx="2179865" cy="0"/>
          </a:xfrm>
          <a:prstGeom prst="line">
            <a:avLst/>
          </a:prstGeom>
          <a:ln w="158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237C7D-8197-A440-9D54-CBC30A7052F9}"/>
              </a:ext>
            </a:extLst>
          </p:cNvPr>
          <p:cNvCxnSpPr>
            <a:cxnSpLocks/>
          </p:cNvCxnSpPr>
          <p:nvPr/>
        </p:nvCxnSpPr>
        <p:spPr>
          <a:xfrm>
            <a:off x="5344012" y="1968136"/>
            <a:ext cx="747849" cy="0"/>
          </a:xfrm>
          <a:prstGeom prst="line">
            <a:avLst/>
          </a:prstGeom>
          <a:ln w="158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EBDC1A-BCD1-DE40-A989-743E80C34E7B}"/>
              </a:ext>
            </a:extLst>
          </p:cNvPr>
          <p:cNvCxnSpPr>
            <a:cxnSpLocks/>
          </p:cNvCxnSpPr>
          <p:nvPr/>
        </p:nvCxnSpPr>
        <p:spPr>
          <a:xfrm>
            <a:off x="3883986" y="2181932"/>
            <a:ext cx="955113" cy="0"/>
          </a:xfrm>
          <a:prstGeom prst="line">
            <a:avLst/>
          </a:prstGeom>
          <a:ln w="158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F39041-E0C2-654E-96EE-F972F6279541}"/>
              </a:ext>
            </a:extLst>
          </p:cNvPr>
          <p:cNvCxnSpPr>
            <a:cxnSpLocks/>
          </p:cNvCxnSpPr>
          <p:nvPr/>
        </p:nvCxnSpPr>
        <p:spPr>
          <a:xfrm>
            <a:off x="5694642" y="2651760"/>
            <a:ext cx="5186717" cy="0"/>
          </a:xfrm>
          <a:prstGeom prst="line">
            <a:avLst/>
          </a:prstGeom>
          <a:ln w="158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0DB2C6-8B2C-3649-AD36-523513E9FD70}"/>
              </a:ext>
            </a:extLst>
          </p:cNvPr>
          <p:cNvCxnSpPr>
            <a:cxnSpLocks/>
          </p:cNvCxnSpPr>
          <p:nvPr/>
        </p:nvCxnSpPr>
        <p:spPr>
          <a:xfrm>
            <a:off x="800535" y="2858588"/>
            <a:ext cx="1266009" cy="0"/>
          </a:xfrm>
          <a:prstGeom prst="line">
            <a:avLst/>
          </a:prstGeom>
          <a:ln w="158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C20816B-CC5B-A742-A58D-C4D9A0E42628}"/>
              </a:ext>
            </a:extLst>
          </p:cNvPr>
          <p:cNvCxnSpPr>
            <a:cxnSpLocks/>
          </p:cNvCxnSpPr>
          <p:nvPr/>
        </p:nvCxnSpPr>
        <p:spPr>
          <a:xfrm>
            <a:off x="5694642" y="2855104"/>
            <a:ext cx="126600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515755A-169D-F94F-A249-215BB0A81953}"/>
              </a:ext>
            </a:extLst>
          </p:cNvPr>
          <p:cNvCxnSpPr>
            <a:cxnSpLocks/>
          </p:cNvCxnSpPr>
          <p:nvPr/>
        </p:nvCxnSpPr>
        <p:spPr>
          <a:xfrm>
            <a:off x="915815" y="3236540"/>
            <a:ext cx="10108257" cy="0"/>
          </a:xfrm>
          <a:prstGeom prst="line">
            <a:avLst/>
          </a:prstGeom>
          <a:ln w="158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362ACC-BCD2-004F-871E-4DB9FB55EEF6}"/>
              </a:ext>
            </a:extLst>
          </p:cNvPr>
          <p:cNvCxnSpPr>
            <a:cxnSpLocks/>
          </p:cNvCxnSpPr>
          <p:nvPr/>
        </p:nvCxnSpPr>
        <p:spPr>
          <a:xfrm>
            <a:off x="836076" y="3447288"/>
            <a:ext cx="10187996" cy="0"/>
          </a:xfrm>
          <a:prstGeom prst="line">
            <a:avLst/>
          </a:prstGeom>
          <a:ln w="158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C0AB77E-99F8-A44B-9EB8-562A7DCE1EF2}"/>
              </a:ext>
            </a:extLst>
          </p:cNvPr>
          <p:cNvCxnSpPr>
            <a:cxnSpLocks/>
          </p:cNvCxnSpPr>
          <p:nvPr/>
        </p:nvCxnSpPr>
        <p:spPr>
          <a:xfrm>
            <a:off x="800535" y="3644366"/>
            <a:ext cx="7813113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CF85854-D557-D74A-993A-E9B1DFFEEDC1}"/>
              </a:ext>
            </a:extLst>
          </p:cNvPr>
          <p:cNvCxnSpPr>
            <a:cxnSpLocks/>
          </p:cNvCxnSpPr>
          <p:nvPr/>
        </p:nvCxnSpPr>
        <p:spPr>
          <a:xfrm>
            <a:off x="1701109" y="3846137"/>
            <a:ext cx="480941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86302C5-31C0-6649-B672-92C46CB8AF8A}"/>
              </a:ext>
            </a:extLst>
          </p:cNvPr>
          <p:cNvCxnSpPr>
            <a:cxnSpLocks/>
          </p:cNvCxnSpPr>
          <p:nvPr/>
        </p:nvCxnSpPr>
        <p:spPr>
          <a:xfrm>
            <a:off x="6327646" y="3044080"/>
            <a:ext cx="126600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5" descr="Text&#10;&#10;Description automatically generated">
            <a:extLst>
              <a:ext uri="{FF2B5EF4-FFF2-40B4-BE49-F238E27FC236}">
                <a16:creationId xmlns:a16="http://schemas.microsoft.com/office/drawing/2014/main" id="{91EA126B-5E6E-FC4F-B483-A3D3349B1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14" y="4184110"/>
            <a:ext cx="10994899" cy="1981200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55268DB-103B-9948-B682-4B00054C48DE}"/>
              </a:ext>
            </a:extLst>
          </p:cNvPr>
          <p:cNvCxnSpPr/>
          <p:nvPr/>
        </p:nvCxnSpPr>
        <p:spPr>
          <a:xfrm>
            <a:off x="2999232" y="5212080"/>
            <a:ext cx="420624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4B69D90-D9B8-D548-8CAB-C3687050BCBB}"/>
              </a:ext>
            </a:extLst>
          </p:cNvPr>
          <p:cNvCxnSpPr>
            <a:cxnSpLocks/>
          </p:cNvCxnSpPr>
          <p:nvPr/>
        </p:nvCxnSpPr>
        <p:spPr>
          <a:xfrm>
            <a:off x="4165600" y="5657088"/>
            <a:ext cx="1681442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E1D75E3-9492-D548-850D-00D9E3301097}"/>
              </a:ext>
            </a:extLst>
          </p:cNvPr>
          <p:cNvCxnSpPr>
            <a:cxnSpLocks/>
          </p:cNvCxnSpPr>
          <p:nvPr/>
        </p:nvCxnSpPr>
        <p:spPr>
          <a:xfrm>
            <a:off x="6732016" y="5891784"/>
            <a:ext cx="4716272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81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230188" indent="-230188"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Section 304(a)(1) potentially applies if one or more persons are </a:t>
            </a:r>
            <a:r>
              <a:rPr lang="en-US" altLang="en-US" b="1" i="1" dirty="0">
                <a:ea typeface="ＭＳ Ｐゴシック" charset="-128"/>
              </a:rPr>
              <a:t>in control</a:t>
            </a:r>
            <a:r>
              <a:rPr lang="en-US" altLang="en-US" b="1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</a:rPr>
              <a:t>of each of two corporations and in return for </a:t>
            </a:r>
            <a:r>
              <a:rPr lang="en-US" altLang="en-US" b="1" dirty="0">
                <a:ea typeface="ＭＳ Ｐゴシック" charset="-128"/>
              </a:rPr>
              <a:t>property</a:t>
            </a:r>
            <a:r>
              <a:rPr lang="en-US" altLang="en-US" dirty="0">
                <a:ea typeface="ＭＳ Ｐゴシック" charset="-128"/>
              </a:rPr>
              <a:t>, one of the corporations acquires stock of the other corporation from the person(s) </a:t>
            </a:r>
            <a:r>
              <a:rPr lang="en-US" altLang="en-US" b="1" i="1" dirty="0">
                <a:ea typeface="ＭＳ Ｐゴシック" charset="-128"/>
              </a:rPr>
              <a:t>in control.</a:t>
            </a:r>
            <a:endParaRPr lang="en-US" altLang="en-US" b="1" u="sng" dirty="0">
              <a:ea typeface="ＭＳ Ｐゴシック" charset="-128"/>
            </a:endParaRPr>
          </a:p>
          <a:p>
            <a:pPr marL="230188" indent="-230188">
              <a:lnSpc>
                <a:spcPct val="120000"/>
              </a:lnSpc>
            </a:pPr>
            <a:r>
              <a:rPr lang="en-US" altLang="en-US" b="1" dirty="0">
                <a:ea typeface="ＭＳ Ｐゴシック" charset="-128"/>
              </a:rPr>
              <a:t>Control:</a:t>
            </a:r>
          </a:p>
          <a:p>
            <a:pPr marL="577850" lvl="1" indent="-173038">
              <a:lnSpc>
                <a:spcPct val="120000"/>
              </a:lnSpc>
            </a:pPr>
            <a:r>
              <a:rPr lang="en-US" altLang="en-US" sz="2400" dirty="0">
                <a:ea typeface="ＭＳ Ｐゴシック" charset="-128"/>
              </a:rPr>
              <a:t>≥ </a:t>
            </a:r>
            <a:r>
              <a:rPr lang="en-US" altLang="en-US" sz="2400" b="1" dirty="0">
                <a:ea typeface="ＭＳ Ｐゴシック" charset="-128"/>
              </a:rPr>
              <a:t>50%</a:t>
            </a:r>
            <a:r>
              <a:rPr lang="en-US" altLang="en-US" sz="2400" dirty="0">
                <a:ea typeface="ＭＳ Ｐゴシック" charset="-128"/>
              </a:rPr>
              <a:t> of total combined </a:t>
            </a:r>
            <a:r>
              <a:rPr lang="en-US" altLang="en-US" sz="2400" b="1" dirty="0">
                <a:ea typeface="ＭＳ Ｐゴシック" charset="-128"/>
              </a:rPr>
              <a:t>voting</a:t>
            </a:r>
            <a:r>
              <a:rPr lang="en-US" altLang="en-US" sz="2400" dirty="0">
                <a:ea typeface="ＭＳ Ｐゴシック" charset="-128"/>
              </a:rPr>
              <a:t> power of all classes of stock entitled to vote, </a:t>
            </a:r>
            <a:r>
              <a:rPr lang="en-US" altLang="en-US" sz="2400" b="1" dirty="0">
                <a:ea typeface="ＭＳ Ｐゴシック" charset="-128"/>
              </a:rPr>
              <a:t>or</a:t>
            </a:r>
            <a:r>
              <a:rPr lang="en-US" altLang="en-US" sz="2400" dirty="0">
                <a:ea typeface="ＭＳ Ｐゴシック" charset="-128"/>
              </a:rPr>
              <a:t> </a:t>
            </a:r>
          </a:p>
          <a:p>
            <a:pPr marL="577850" lvl="1" indent="-173038">
              <a:lnSpc>
                <a:spcPct val="120000"/>
              </a:lnSpc>
            </a:pPr>
            <a:r>
              <a:rPr lang="en-US" altLang="en-US" sz="2400" dirty="0">
                <a:ea typeface="ＭＳ Ｐゴシック" charset="-128"/>
              </a:rPr>
              <a:t>≥ </a:t>
            </a:r>
            <a:r>
              <a:rPr lang="en-US" altLang="en-US" sz="2400" b="1" dirty="0">
                <a:ea typeface="ＭＳ Ｐゴシック" charset="-128"/>
              </a:rPr>
              <a:t>50%</a:t>
            </a:r>
            <a:r>
              <a:rPr lang="en-US" altLang="en-US" sz="2400" dirty="0">
                <a:ea typeface="ＭＳ Ｐゴシック" charset="-128"/>
              </a:rPr>
              <a:t> of total </a:t>
            </a:r>
            <a:r>
              <a:rPr lang="en-US" altLang="en-US" sz="2400" b="1" dirty="0">
                <a:ea typeface="ＭＳ Ｐゴシック" charset="-128"/>
              </a:rPr>
              <a:t>value</a:t>
            </a:r>
            <a:r>
              <a:rPr lang="en-US" altLang="en-US" sz="2400" dirty="0">
                <a:ea typeface="ＭＳ Ｐゴシック" charset="-128"/>
              </a:rPr>
              <a:t> of shares of all classes of stock.  </a:t>
            </a:r>
          </a:p>
          <a:p>
            <a:pPr marL="806450" lvl="2" indent="-173038">
              <a:lnSpc>
                <a:spcPct val="120000"/>
              </a:lnSpc>
            </a:pPr>
            <a:r>
              <a:rPr lang="en-US" altLang="en-US" sz="2400" dirty="0">
                <a:ea typeface="ＭＳ Ｐゴシック" charset="-128"/>
              </a:rPr>
              <a:t>If the corporation has more than 1 class of stock, voting power is tested on an aggregate basis.  Rev. Rul. 89-57. </a:t>
            </a:r>
          </a:p>
          <a:p>
            <a:pPr marL="577850" lvl="1" indent="-173038">
              <a:lnSpc>
                <a:spcPct val="120000"/>
              </a:lnSpc>
            </a:pPr>
            <a:r>
              <a:rPr lang="en-US" altLang="en-US" sz="2400" dirty="0">
                <a:ea typeface="ＭＳ Ｐゴシック" charset="-128"/>
              </a:rPr>
              <a:t>If Corp A is controlled by a person(s), and Corp A owns ≥ 50% of vote or value of Corp B, then Corp B is controlled by that person(s). </a:t>
            </a:r>
            <a:r>
              <a:rPr lang="en-US" altLang="en-US" sz="2400" dirty="0"/>
              <a:t>§304(c)(1).</a:t>
            </a:r>
            <a:r>
              <a:rPr lang="en-US" sz="2400" dirty="0"/>
              <a:t> </a:t>
            </a:r>
            <a:endParaRPr lang="en-US" altLang="en-US" sz="2000" dirty="0">
              <a:ea typeface="ＭＳ Ｐゴシック" charset="-128"/>
            </a:endParaRPr>
          </a:p>
          <a:p>
            <a:pPr marL="577850" lvl="1" indent="-173038">
              <a:lnSpc>
                <a:spcPct val="120000"/>
              </a:lnSpc>
            </a:pPr>
            <a:endParaRPr lang="en-US" altLang="en-US" sz="2000" dirty="0">
              <a:ea typeface="ＭＳ Ｐゴシック" charset="-128"/>
            </a:endParaRPr>
          </a:p>
          <a:p>
            <a:pPr marL="230188" indent="-230188">
              <a:lnSpc>
                <a:spcPct val="120000"/>
              </a:lnSpc>
            </a:pPr>
            <a:r>
              <a:rPr lang="en-US" altLang="en-US" b="1" dirty="0">
                <a:ea typeface="ＭＳ Ｐゴシック" charset="-128"/>
              </a:rPr>
              <a:t>318 attribution rules apply to determine control, but with modifications</a:t>
            </a:r>
            <a:r>
              <a:rPr lang="en-US" altLang="en-US" dirty="0">
                <a:ea typeface="ＭＳ Ｐゴシック" charset="-128"/>
              </a:rPr>
              <a:t>:</a:t>
            </a:r>
          </a:p>
          <a:p>
            <a:pPr marL="577850" lvl="1" indent="-173038">
              <a:lnSpc>
                <a:spcPct val="120000"/>
              </a:lnSpc>
            </a:pPr>
            <a:r>
              <a:rPr lang="en-US" altLang="en-US" sz="2400" dirty="0">
                <a:ea typeface="ＭＳ Ｐゴシック" charset="-128"/>
              </a:rPr>
              <a:t>Corporation-to-SH (SH owns what Corp owns) attribution threshold lowered </a:t>
            </a:r>
            <a:r>
              <a:rPr lang="en-US" altLang="en-US" sz="2400" b="1" dirty="0">
                <a:ea typeface="ＭＳ Ｐゴシック" charset="-128"/>
              </a:rPr>
              <a:t>from 50% to 5%; </a:t>
            </a:r>
            <a:r>
              <a:rPr lang="en-US" altLang="en-US" sz="2400" dirty="0">
                <a:ea typeface="ＭＳ Ｐゴシック" charset="-128"/>
              </a:rPr>
              <a:t>and</a:t>
            </a:r>
            <a:endParaRPr lang="en-US" altLang="en-US" sz="2400" b="1" dirty="0">
              <a:ea typeface="ＭＳ Ｐゴシック" charset="-128"/>
            </a:endParaRPr>
          </a:p>
          <a:p>
            <a:pPr marL="577850" lvl="1" indent="-173038">
              <a:lnSpc>
                <a:spcPct val="120000"/>
              </a:lnSpc>
            </a:pPr>
            <a:r>
              <a:rPr lang="en-US" altLang="en-US" sz="2400" dirty="0">
                <a:ea typeface="ＭＳ Ｐゴシック" charset="-128"/>
              </a:rPr>
              <a:t>SH-to-Corporation (Corp owns what SH owns) attribution threshold lowered from </a:t>
            </a:r>
            <a:r>
              <a:rPr lang="en-US" altLang="en-US" sz="2400" b="1" dirty="0">
                <a:ea typeface="ＭＳ Ｐゴシック" charset="-128"/>
              </a:rPr>
              <a:t>50% to 5%, </a:t>
            </a:r>
            <a:r>
              <a:rPr lang="en-US" altLang="en-US" sz="2400" dirty="0">
                <a:ea typeface="ＭＳ Ｐゴシック" charset="-128"/>
              </a:rPr>
              <a:t>but if share ownership is </a:t>
            </a:r>
            <a:r>
              <a:rPr lang="en-US" altLang="en-US" sz="2400" b="1" dirty="0">
                <a:ea typeface="ＭＳ Ｐゴシック" charset="-128"/>
              </a:rPr>
              <a:t>between 5% and 50%</a:t>
            </a:r>
            <a:r>
              <a:rPr lang="en-US" altLang="en-US" sz="2400" dirty="0">
                <a:ea typeface="ＭＳ Ｐゴシック" charset="-128"/>
              </a:rPr>
              <a:t>, the Corporation only owns a </a:t>
            </a:r>
            <a:r>
              <a:rPr lang="en-US" altLang="en-US" sz="2400" b="1" dirty="0">
                <a:ea typeface="ＭＳ Ｐゴシック" charset="-128"/>
              </a:rPr>
              <a:t>proportionate amount </a:t>
            </a:r>
            <a:r>
              <a:rPr lang="en-US" altLang="en-US" sz="2400" dirty="0">
                <a:ea typeface="ＭＳ Ｐゴシック" charset="-128"/>
              </a:rPr>
              <a:t>of the SH’s shares. </a:t>
            </a:r>
            <a:r>
              <a:rPr lang="en-US" altLang="en-US" sz="2400" dirty="0"/>
              <a:t>§304(c)(3)(A) and (B).</a:t>
            </a:r>
            <a:endParaRPr lang="en-US" altLang="en-US" sz="2400" dirty="0">
              <a:ea typeface="ＭＳ Ｐゴシック" charset="-128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ea typeface="ＭＳ Ｐゴシック" charset="-128"/>
              </a:rPr>
              <a:t>Section 304(a)(1):  Does it Apply?</a:t>
            </a:r>
            <a:endParaRPr lang="en-US" altLang="en-US">
              <a:ea typeface="ＭＳ Ｐゴシック" charset="-12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D71C43-C027-8F42-8597-511679843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89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28600" lvl="1">
              <a:buFont typeface="Wingdings 2" pitchFamily="18" charset="2"/>
              <a:buChar char=""/>
            </a:pPr>
            <a:r>
              <a:rPr lang="en-US" sz="2800" dirty="0"/>
              <a:t>In the case of a </a:t>
            </a:r>
            <a:r>
              <a:rPr lang="en-US" sz="2800" i="1" dirty="0"/>
              <a:t>brother-sister</a:t>
            </a:r>
            <a:r>
              <a:rPr lang="en-US" sz="2800" dirty="0"/>
              <a:t> acquisition, the property received by the transferor (the selling shareholder) is treated as a </a:t>
            </a:r>
            <a:r>
              <a:rPr lang="en-US" sz="2800" b="1" dirty="0"/>
              <a:t>distribution in </a:t>
            </a:r>
            <a:r>
              <a:rPr lang="en-US" sz="2800" b="1" i="1" dirty="0"/>
              <a:t>redemption</a:t>
            </a:r>
            <a:r>
              <a:rPr lang="en-US" sz="2800" b="1" dirty="0"/>
              <a:t> </a:t>
            </a:r>
            <a:r>
              <a:rPr lang="en-US" sz="2800" b="1" i="1" dirty="0"/>
              <a:t>of </a:t>
            </a:r>
            <a:r>
              <a:rPr lang="en-US" sz="2800" b="1" i="1" u="sng" dirty="0"/>
              <a:t>acquiring</a:t>
            </a:r>
            <a:r>
              <a:rPr lang="en-US" sz="2800" b="1" i="1" dirty="0"/>
              <a:t> (Y Corp) </a:t>
            </a:r>
            <a:r>
              <a:rPr lang="en-US" sz="2800" i="1" dirty="0"/>
              <a:t>stock.</a:t>
            </a:r>
            <a:r>
              <a:rPr lang="en-US" sz="2800" dirty="0"/>
              <a:t> </a:t>
            </a:r>
          </a:p>
          <a:p>
            <a:pPr marL="228600" lvl="1">
              <a:buFont typeface="Wingdings 2" pitchFamily="18" charset="2"/>
              <a:buChar char=""/>
            </a:pPr>
            <a:endParaRPr lang="en-US" sz="2800" b="1" dirty="0"/>
          </a:p>
          <a:p>
            <a:pPr marL="230188" indent="-230188">
              <a:lnSpc>
                <a:spcPct val="90000"/>
              </a:lnSpc>
            </a:pPr>
            <a:r>
              <a:rPr lang="en-US" altLang="en-US" sz="2800" dirty="0">
                <a:ea typeface="ＭＳ Ｐゴシック" charset="-128"/>
              </a:rPr>
              <a:t>The </a:t>
            </a:r>
            <a:r>
              <a:rPr lang="en-US" altLang="en-US" sz="2800" i="1" dirty="0">
                <a:ea typeface="ＭＳ Ｐゴシック" charset="-128"/>
              </a:rPr>
              <a:t>deemed redemption </a:t>
            </a:r>
            <a:r>
              <a:rPr lang="en-US" altLang="en-US" sz="2800" dirty="0">
                <a:ea typeface="ＭＳ Ｐゴシック" charset="-128"/>
              </a:rPr>
              <a:t>in </a:t>
            </a:r>
            <a:r>
              <a:rPr lang="en-US" altLang="en-US" sz="2800" dirty="0"/>
              <a:t>§</a:t>
            </a:r>
            <a:r>
              <a:rPr lang="en-US" altLang="en-US" sz="2800" dirty="0">
                <a:ea typeface="ＭＳ Ｐゴシック" charset="-128"/>
              </a:rPr>
              <a:t>304(a)(1) is then tested under </a:t>
            </a:r>
            <a:r>
              <a:rPr lang="en-US" altLang="en-US" sz="2800" dirty="0"/>
              <a:t>§</a:t>
            </a:r>
            <a:r>
              <a:rPr lang="en-US" altLang="en-US" sz="2800" dirty="0">
                <a:ea typeface="ＭＳ Ｐゴシック" charset="-128"/>
              </a:rPr>
              <a:t>302 to determine if the deemed redemption is treated as a </a:t>
            </a:r>
            <a:r>
              <a:rPr lang="en-US" altLang="en-US" sz="2800" i="1" dirty="0">
                <a:ea typeface="ＭＳ Ｐゴシック" charset="-128"/>
              </a:rPr>
              <a:t>current distribution</a:t>
            </a:r>
            <a:r>
              <a:rPr lang="en-US" altLang="en-US" sz="2800" dirty="0">
                <a:ea typeface="ＭＳ Ｐゴシック" charset="-128"/>
              </a:rPr>
              <a:t> (dividend to the extent of E&amp;Ps) </a:t>
            </a:r>
            <a:r>
              <a:rPr lang="en-US" altLang="en-US" sz="2800" b="1" dirty="0">
                <a:ea typeface="ＭＳ Ｐゴシック" charset="-128"/>
              </a:rPr>
              <a:t>or</a:t>
            </a:r>
            <a:r>
              <a:rPr lang="en-US" altLang="en-US" sz="2800" dirty="0">
                <a:ea typeface="ＭＳ Ｐゴシック" charset="-128"/>
              </a:rPr>
              <a:t> a </a:t>
            </a:r>
            <a:r>
              <a:rPr lang="en-US" altLang="en-US" sz="2800" i="1" dirty="0">
                <a:ea typeface="ＭＳ Ｐゴシック" charset="-128"/>
              </a:rPr>
              <a:t>sale/exchange</a:t>
            </a:r>
            <a:r>
              <a:rPr lang="en-US" altLang="en-US" sz="2800" dirty="0">
                <a:ea typeface="ＭＳ Ｐゴシック" charset="-128"/>
              </a:rPr>
              <a:t>.</a:t>
            </a:r>
          </a:p>
          <a:p>
            <a:pPr marL="458788" lvl="1" indent="-230188">
              <a:lnSpc>
                <a:spcPct val="90000"/>
              </a:lnSpc>
            </a:pPr>
            <a:r>
              <a:rPr lang="en-US" altLang="en-US" sz="2600" b="1" dirty="0">
                <a:ea typeface="ＭＳ Ｐゴシック" charset="-128"/>
              </a:rPr>
              <a:t>Note: </a:t>
            </a:r>
            <a:r>
              <a:rPr lang="en-US" altLang="en-US" sz="2600" dirty="0">
                <a:ea typeface="ＭＳ Ｐゴシック" charset="-128"/>
              </a:rPr>
              <a:t>The redemption analysis is determined by reference to the stock ownership of the the </a:t>
            </a:r>
            <a:r>
              <a:rPr lang="en-US" altLang="en-US" sz="2600" b="1" i="1" dirty="0">
                <a:ea typeface="ＭＳ Ｐゴシック" charset="-128"/>
              </a:rPr>
              <a:t>issuing [acquired]</a:t>
            </a:r>
            <a:r>
              <a:rPr lang="en-US" altLang="en-US" sz="2600" dirty="0">
                <a:ea typeface="ＭＳ Ｐゴシック" charset="-128"/>
              </a:rPr>
              <a:t> </a:t>
            </a:r>
            <a:r>
              <a:rPr lang="en-US" altLang="en-US" sz="2600" b="1" dirty="0">
                <a:ea typeface="ＭＳ Ｐゴシック" charset="-128"/>
              </a:rPr>
              <a:t>(X Corp) </a:t>
            </a:r>
            <a:r>
              <a:rPr lang="en-US" altLang="en-US" sz="2600" dirty="0">
                <a:ea typeface="ＭＳ Ｐゴシック" charset="-128"/>
              </a:rPr>
              <a:t>corporation. </a:t>
            </a:r>
            <a:r>
              <a:rPr lang="en-US" altLang="en-US" sz="2600" dirty="0"/>
              <a:t>§304(b)(1).</a:t>
            </a:r>
          </a:p>
          <a:p>
            <a:pPr marL="230188" indent="-230188">
              <a:lnSpc>
                <a:spcPct val="90000"/>
              </a:lnSpc>
            </a:pPr>
            <a:endParaRPr lang="en-US" altLang="en-US" sz="2800" dirty="0"/>
          </a:p>
          <a:p>
            <a:pPr marL="230188" indent="-230188">
              <a:lnSpc>
                <a:spcPct val="90000"/>
              </a:lnSpc>
            </a:pPr>
            <a:r>
              <a:rPr lang="en-US" altLang="en-US" sz="2800" dirty="0"/>
              <a:t>In testing whether the redemption is a S/X or ordinary distribution, the §</a:t>
            </a:r>
            <a:r>
              <a:rPr lang="en-US" altLang="en-US" sz="2800" dirty="0">
                <a:ea typeface="ＭＳ Ｐゴシック" charset="-128"/>
              </a:rPr>
              <a:t>318 attribution rules apply, but are (again!) modified:</a:t>
            </a:r>
            <a:endParaRPr lang="en-US" altLang="en-US" sz="3200" dirty="0">
              <a:ea typeface="ＭＳ Ｐゴシック" charset="-128"/>
            </a:endParaRPr>
          </a:p>
          <a:p>
            <a:pPr marL="577850" lvl="1" indent="-173038">
              <a:lnSpc>
                <a:spcPct val="90000"/>
              </a:lnSpc>
            </a:pPr>
            <a:r>
              <a:rPr lang="en-US" altLang="en-US" sz="2400" dirty="0">
                <a:ea typeface="ＭＳ Ｐゴシック" charset="-128"/>
              </a:rPr>
              <a:t>Corporation-to-SH attribution threshold (50%) is </a:t>
            </a:r>
            <a:r>
              <a:rPr lang="en-US" altLang="en-US" sz="2400" b="1" dirty="0">
                <a:ea typeface="ＭＳ Ｐゴシック" charset="-128"/>
              </a:rPr>
              <a:t>disregarded; </a:t>
            </a:r>
            <a:r>
              <a:rPr lang="en-US" altLang="en-US" sz="2400" dirty="0">
                <a:ea typeface="ＭＳ Ｐゴシック" charset="-128"/>
              </a:rPr>
              <a:t>and </a:t>
            </a:r>
            <a:endParaRPr lang="en-US" altLang="en-US" sz="2400" b="1" dirty="0">
              <a:ea typeface="ＭＳ Ｐゴシック" charset="-128"/>
            </a:endParaRPr>
          </a:p>
          <a:p>
            <a:pPr marL="577850" lvl="1" indent="-173038">
              <a:lnSpc>
                <a:spcPct val="90000"/>
              </a:lnSpc>
            </a:pPr>
            <a:r>
              <a:rPr lang="en-US" altLang="en-US" sz="2400" dirty="0">
                <a:ea typeface="ＭＳ Ｐゴシック" charset="-128"/>
              </a:rPr>
              <a:t>SH-to-Corporation attribution threshold (50%) is </a:t>
            </a:r>
            <a:r>
              <a:rPr lang="en-US" altLang="en-US" sz="2400" b="1" dirty="0">
                <a:ea typeface="ＭＳ Ｐゴシック" charset="-128"/>
              </a:rPr>
              <a:t>disregarded.</a:t>
            </a:r>
            <a:r>
              <a:rPr lang="en-US" altLang="en-US" sz="2400" dirty="0"/>
              <a:t> §</a:t>
            </a:r>
            <a:r>
              <a:rPr lang="en-US" altLang="en-US" sz="2400" dirty="0">
                <a:ea typeface="ＭＳ Ｐゴシック" charset="-128"/>
              </a:rPr>
              <a:t>304(b)(1).</a:t>
            </a:r>
          </a:p>
          <a:p>
            <a:pPr marL="228600" lvl="1">
              <a:buFont typeface="Wingdings 2" pitchFamily="18" charset="2"/>
              <a:buChar char=""/>
            </a:pPr>
            <a:endParaRPr lang="en-US" sz="2800" b="1" dirty="0"/>
          </a:p>
          <a:p>
            <a:endParaRPr lang="en-US" sz="30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 dirty="0">
                <a:ea typeface="ＭＳ Ｐゴシック" charset="-128"/>
              </a:rPr>
              <a:t>Section 304(a)(1):  Redemption or Distribution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47EF7-D489-BD48-B78E-898E96C3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6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800" dirty="0"/>
              <a:t>If the redemption is treated as an </a:t>
            </a:r>
            <a:r>
              <a:rPr lang="en-US" sz="2800" b="1" dirty="0"/>
              <a:t>ordinary distribution </a:t>
            </a:r>
            <a:r>
              <a:rPr lang="en-US" sz="2800" dirty="0"/>
              <a:t>(not a S/X), then the transaction is </a:t>
            </a:r>
            <a:r>
              <a:rPr lang="en-US" sz="2800" i="1" dirty="0"/>
              <a:t>recast (deemed transactions) </a:t>
            </a:r>
            <a:r>
              <a:rPr lang="en-US" sz="2800" dirty="0"/>
              <a:t>as follows:</a:t>
            </a:r>
          </a:p>
          <a:p>
            <a:pPr lvl="1"/>
            <a:r>
              <a:rPr lang="en-US" sz="2600" dirty="0"/>
              <a:t>(1) Transferor (seller, A) is treated as if it transferred the stock acquired by the </a:t>
            </a:r>
            <a:r>
              <a:rPr lang="en-US" sz="2600" b="1" i="1" dirty="0"/>
              <a:t>acquiring corporation [Y]</a:t>
            </a:r>
            <a:r>
              <a:rPr lang="en-US" sz="2600" dirty="0"/>
              <a:t> to the </a:t>
            </a:r>
            <a:r>
              <a:rPr lang="en-US" sz="2600" i="1" dirty="0"/>
              <a:t>acquiring corporation </a:t>
            </a:r>
            <a:r>
              <a:rPr lang="en-US" sz="2600" dirty="0"/>
              <a:t>in exchange for stock of the acquiring corporation in a </a:t>
            </a:r>
            <a:r>
              <a:rPr lang="en-US" sz="2600" i="1" dirty="0"/>
              <a:t>deemed tax-free </a:t>
            </a:r>
            <a:r>
              <a:rPr lang="en-US" altLang="en-US" sz="2800" dirty="0"/>
              <a:t>§</a:t>
            </a:r>
            <a:r>
              <a:rPr lang="en-US" sz="2600" dirty="0"/>
              <a:t>351 transaction, </a:t>
            </a:r>
            <a:r>
              <a:rPr lang="en-US" sz="2600" b="1" dirty="0"/>
              <a:t>and then</a:t>
            </a:r>
          </a:p>
          <a:p>
            <a:pPr lvl="1"/>
            <a:r>
              <a:rPr lang="en-US" sz="2600" dirty="0"/>
              <a:t>(2) Acquiring corporation had redeemed the stock it is treated as issuing in the deemed </a:t>
            </a:r>
            <a:r>
              <a:rPr lang="en-US" altLang="en-US" sz="2800" dirty="0"/>
              <a:t>§</a:t>
            </a:r>
            <a:r>
              <a:rPr lang="en-US" sz="2600" dirty="0"/>
              <a:t>351 transaction. </a:t>
            </a:r>
            <a:r>
              <a:rPr lang="en-US" altLang="en-US" sz="2600" dirty="0"/>
              <a:t>§304(a)(1).</a:t>
            </a:r>
            <a:r>
              <a:rPr lang="en-US" sz="2600" dirty="0"/>
              <a:t> </a:t>
            </a:r>
          </a:p>
          <a:p>
            <a:pPr lvl="1"/>
            <a:endParaRPr lang="en-US" sz="2600" dirty="0"/>
          </a:p>
          <a:p>
            <a:r>
              <a:rPr lang="en-US" altLang="en-US" sz="2800" dirty="0">
                <a:ea typeface="ＭＳ Ｐゴシック" charset="-128"/>
              </a:rPr>
              <a:t>If the redemption is treated as an ordinary distribution, it will be treated as a dividend to the extent of the E&amp;Ps of </a:t>
            </a:r>
            <a:r>
              <a:rPr lang="en-US" altLang="en-US" sz="2800" b="1" dirty="0">
                <a:ea typeface="ＭＳ Ｐゴシック" charset="-128"/>
              </a:rPr>
              <a:t>first </a:t>
            </a:r>
            <a:r>
              <a:rPr lang="en-US" altLang="en-US" sz="2800" dirty="0">
                <a:ea typeface="ＭＳ Ｐゴシック" charset="-128"/>
              </a:rPr>
              <a:t>acquiring </a:t>
            </a:r>
            <a:r>
              <a:rPr lang="en-US" altLang="en-US" sz="2800" b="1" i="1" dirty="0">
                <a:ea typeface="ＭＳ Ｐゴシック" charset="-128"/>
              </a:rPr>
              <a:t>and</a:t>
            </a:r>
            <a:r>
              <a:rPr lang="en-US" altLang="en-US" sz="2800" dirty="0">
                <a:ea typeface="ＭＳ Ｐゴシック" charset="-128"/>
              </a:rPr>
              <a:t> then issuing [acquired]. </a:t>
            </a:r>
            <a:r>
              <a:rPr lang="en-US" altLang="en-US" sz="2800" dirty="0"/>
              <a:t>§304(b)(2).</a:t>
            </a:r>
          </a:p>
          <a:p>
            <a:endParaRPr lang="en-US" sz="2800" dirty="0"/>
          </a:p>
          <a:p>
            <a:pPr lvl="1"/>
            <a:endParaRPr lang="en-US" sz="26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 dirty="0">
                <a:ea typeface="ＭＳ Ｐゴシック" charset="-128"/>
              </a:rPr>
              <a:t>Section 304(a)(1):  Redemption or Distribution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47EF7-D489-BD48-B78E-898E96C3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1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Transaction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/>
          </p:nvPr>
        </p:nvSpPr>
        <p:spPr>
          <a:xfrm>
            <a:off x="6127360" y="814835"/>
            <a:ext cx="5386917" cy="380392"/>
          </a:xfrm>
        </p:spPr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21"/>
          </p:nvPr>
        </p:nvSpPr>
        <p:spPr>
          <a:xfrm>
            <a:off x="6127360" y="1195227"/>
            <a:ext cx="5388864" cy="4955707"/>
          </a:xfrm>
        </p:spPr>
        <p:txBody>
          <a:bodyPr/>
          <a:lstStyle/>
          <a:p>
            <a:r>
              <a:rPr lang="en-US" sz="2000" dirty="0"/>
              <a:t>Does </a:t>
            </a:r>
            <a:r>
              <a:rPr lang="en-US" altLang="en-US" sz="2000" dirty="0"/>
              <a:t>§</a:t>
            </a:r>
            <a:r>
              <a:rPr lang="en-US" sz="2000" dirty="0"/>
              <a:t>304(a) apply?</a:t>
            </a:r>
          </a:p>
          <a:p>
            <a:pPr lvl="1"/>
            <a:r>
              <a:rPr lang="en-US" sz="2000" dirty="0"/>
              <a:t>Is A in </a:t>
            </a:r>
            <a:r>
              <a:rPr lang="en-US" sz="2000" b="1" dirty="0"/>
              <a:t>control of both </a:t>
            </a:r>
            <a:r>
              <a:rPr lang="en-US" sz="2000" dirty="0"/>
              <a:t>X and Y?  </a:t>
            </a:r>
            <a:r>
              <a:rPr lang="en-US" sz="2000" i="1" dirty="0"/>
              <a:t>See </a:t>
            </a:r>
            <a:r>
              <a:rPr lang="en-US" altLang="en-US" sz="2000" dirty="0"/>
              <a:t>§</a:t>
            </a:r>
            <a:r>
              <a:rPr lang="en-US" sz="2000" dirty="0"/>
              <a:t>318.</a:t>
            </a:r>
          </a:p>
          <a:p>
            <a:pPr lvl="1"/>
            <a:r>
              <a:rPr lang="en-US" sz="2000" dirty="0"/>
              <a:t>Does Y acquire stock of X in exchange for </a:t>
            </a:r>
            <a:r>
              <a:rPr lang="en-US" sz="2000" b="1" dirty="0"/>
              <a:t>property</a:t>
            </a:r>
            <a:r>
              <a:rPr lang="en-US" sz="2000" dirty="0"/>
              <a:t>?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Is the redemption an ordinary distribution or sale/X?</a:t>
            </a:r>
          </a:p>
          <a:p>
            <a:pPr lvl="1"/>
            <a:r>
              <a:rPr lang="en-US" sz="2000" dirty="0"/>
              <a:t>Are any of the tests in </a:t>
            </a:r>
            <a:r>
              <a:rPr lang="en-US" altLang="en-US" sz="2000" dirty="0"/>
              <a:t>§</a:t>
            </a:r>
            <a:r>
              <a:rPr lang="en-US" sz="2000" dirty="0"/>
              <a:t>302(b) satisfied </a:t>
            </a:r>
            <a:r>
              <a:rPr lang="en-US" sz="2000" b="1" dirty="0"/>
              <a:t>with respect to X (issuing)</a:t>
            </a:r>
            <a:r>
              <a:rPr lang="en-US" sz="2000" dirty="0"/>
              <a:t>, e.g.: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000" dirty="0"/>
              <a:t>disproportionate, complete termination, or not essentially equivalent to a dividend?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2000" dirty="0"/>
              <a:t>A doesn’t own any shares in Y so basis goes </a:t>
            </a:r>
            <a:r>
              <a:rPr lang="en-US" sz="2000" b="1" dirty="0"/>
              <a:t>to A’s X shares</a:t>
            </a:r>
            <a:r>
              <a:rPr lang="en-US" sz="2000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Section 304: Rev. Rul. 71-563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469590" y="2614105"/>
            <a:ext cx="1261600" cy="79360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X</a:t>
            </a:r>
          </a:p>
          <a:p>
            <a:pPr algn="ctr"/>
            <a:r>
              <a:rPr lang="en-US" altLang="en-US" b="1"/>
              <a:t>(Issuing) </a:t>
            </a:r>
            <a:endParaRPr lang="en-US" altLang="en-US"/>
          </a:p>
        </p:txBody>
      </p:sp>
      <p:sp>
        <p:nvSpPr>
          <p:cNvPr id="10" name="Oval 7"/>
          <p:cNvSpPr>
            <a:spLocks noChangeArrowheads="1"/>
          </p:cNvSpPr>
          <p:nvPr/>
        </p:nvSpPr>
        <p:spPr bwMode="auto">
          <a:xfrm>
            <a:off x="1528890" y="1599528"/>
            <a:ext cx="1143000" cy="51268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A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3373447" y="2623239"/>
            <a:ext cx="1406508" cy="7194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Y</a:t>
            </a:r>
          </a:p>
          <a:p>
            <a:pPr algn="ctr"/>
            <a:r>
              <a:rPr lang="en-US" altLang="en-US" b="1"/>
              <a:t>(Acquiring) </a:t>
            </a:r>
            <a:endParaRPr lang="en-US" altLang="en-US"/>
          </a:p>
        </p:txBody>
      </p:sp>
      <p:sp>
        <p:nvSpPr>
          <p:cNvPr id="13" name="Oval 7"/>
          <p:cNvSpPr>
            <a:spLocks noChangeArrowheads="1"/>
          </p:cNvSpPr>
          <p:nvPr/>
        </p:nvSpPr>
        <p:spPr bwMode="auto">
          <a:xfrm>
            <a:off x="3505201" y="1577974"/>
            <a:ext cx="1143000" cy="5993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1400" b="1" dirty="0"/>
              <a:t>B</a:t>
            </a:r>
            <a:br>
              <a:rPr lang="en-US" altLang="en-US" sz="1400" b="1" dirty="0"/>
            </a:br>
            <a:r>
              <a:rPr lang="en-US" altLang="en-US" sz="1400" b="1" dirty="0"/>
              <a:t>(A’s son)</a:t>
            </a:r>
          </a:p>
        </p:txBody>
      </p:sp>
      <p:cxnSp>
        <p:nvCxnSpPr>
          <p:cNvPr id="15" name="Straight Connector 14"/>
          <p:cNvCxnSpPr>
            <a:stCxn id="10" idx="4"/>
            <a:endCxn id="8" idx="0"/>
          </p:cNvCxnSpPr>
          <p:nvPr/>
        </p:nvCxnSpPr>
        <p:spPr>
          <a:xfrm>
            <a:off x="2100390" y="2112212"/>
            <a:ext cx="0" cy="501893"/>
          </a:xfrm>
          <a:prstGeom prst="line">
            <a:avLst/>
          </a:prstGeom>
          <a:ln w="158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3" idx="4"/>
            <a:endCxn id="12" idx="0"/>
          </p:cNvCxnSpPr>
          <p:nvPr/>
        </p:nvCxnSpPr>
        <p:spPr>
          <a:xfrm>
            <a:off x="4076701" y="2177312"/>
            <a:ext cx="0" cy="445927"/>
          </a:xfrm>
          <a:prstGeom prst="line">
            <a:avLst/>
          </a:prstGeom>
          <a:ln w="158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7243" y="2190629"/>
            <a:ext cx="119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100 shares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1525179" y="5442763"/>
            <a:ext cx="1261600" cy="79360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X</a:t>
            </a:r>
          </a:p>
          <a:p>
            <a:pPr algn="ctr"/>
            <a:r>
              <a:rPr lang="en-US" altLang="en-US" b="1"/>
              <a:t>(Issuing) </a:t>
            </a:r>
            <a:endParaRPr lang="en-US" altLang="en-US"/>
          </a:p>
        </p:txBody>
      </p:sp>
      <p:sp>
        <p:nvSpPr>
          <p:cNvPr id="21" name="Oval 7"/>
          <p:cNvSpPr>
            <a:spLocks noChangeArrowheads="1"/>
          </p:cNvSpPr>
          <p:nvPr/>
        </p:nvSpPr>
        <p:spPr bwMode="auto">
          <a:xfrm>
            <a:off x="1592291" y="4239928"/>
            <a:ext cx="1143000" cy="51268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A</a:t>
            </a: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3429036" y="4783479"/>
            <a:ext cx="1406508" cy="7194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Y</a:t>
            </a:r>
          </a:p>
          <a:p>
            <a:pPr algn="ctr"/>
            <a:r>
              <a:rPr lang="en-US" altLang="en-US" b="1"/>
              <a:t>(Acquiring) </a:t>
            </a:r>
            <a:endParaRPr lang="en-US" altLang="en-US"/>
          </a:p>
        </p:txBody>
      </p:sp>
      <p:sp>
        <p:nvSpPr>
          <p:cNvPr id="23" name="Oval 7"/>
          <p:cNvSpPr>
            <a:spLocks noChangeArrowheads="1"/>
          </p:cNvSpPr>
          <p:nvPr/>
        </p:nvSpPr>
        <p:spPr bwMode="auto">
          <a:xfrm>
            <a:off x="3560790" y="3825345"/>
            <a:ext cx="1143000" cy="5993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1400" b="1" dirty="0"/>
              <a:t>B</a:t>
            </a:r>
            <a:br>
              <a:rPr lang="en-US" altLang="en-US" sz="1400" b="1" dirty="0"/>
            </a:br>
            <a:r>
              <a:rPr lang="en-US" altLang="en-US" sz="1400" b="1" dirty="0"/>
              <a:t>(A’s son)</a:t>
            </a:r>
          </a:p>
        </p:txBody>
      </p:sp>
      <p:cxnSp>
        <p:nvCxnSpPr>
          <p:cNvPr id="24" name="Straight Connector 23"/>
          <p:cNvCxnSpPr>
            <a:stCxn id="21" idx="4"/>
            <a:endCxn id="20" idx="0"/>
          </p:cNvCxnSpPr>
          <p:nvPr/>
        </p:nvCxnSpPr>
        <p:spPr>
          <a:xfrm flipH="1">
            <a:off x="2155979" y="4752612"/>
            <a:ext cx="7812" cy="690151"/>
          </a:xfrm>
          <a:prstGeom prst="line">
            <a:avLst/>
          </a:prstGeom>
          <a:ln w="158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23" idx="4"/>
            <a:endCxn id="22" idx="0"/>
          </p:cNvCxnSpPr>
          <p:nvPr/>
        </p:nvCxnSpPr>
        <p:spPr>
          <a:xfrm>
            <a:off x="4132290" y="4424683"/>
            <a:ext cx="0" cy="358796"/>
          </a:xfrm>
          <a:prstGeom prst="line">
            <a:avLst/>
          </a:prstGeom>
          <a:ln w="158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24262" y="4942888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75 shares</a:t>
            </a:r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512064" y="3679371"/>
            <a:ext cx="5279136" cy="4354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2" idx="2"/>
            <a:endCxn id="20" idx="3"/>
          </p:cNvCxnSpPr>
          <p:nvPr/>
        </p:nvCxnSpPr>
        <p:spPr>
          <a:xfrm flipH="1">
            <a:off x="2786779" y="5502889"/>
            <a:ext cx="1345511" cy="336674"/>
          </a:xfrm>
          <a:prstGeom prst="line">
            <a:avLst/>
          </a:prstGeom>
          <a:ln w="158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2671890" y="2112212"/>
            <a:ext cx="615596" cy="501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797665" y="2024169"/>
            <a:ext cx="879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25 shares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H="1" flipV="1">
            <a:off x="2582257" y="2166357"/>
            <a:ext cx="623265" cy="492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580347" y="22533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$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20958" y="5668532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 shares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56F0A94-AD2E-974D-AF6B-04AF335E854A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C1706C-1739-D14B-94B6-AF30BF1456E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3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build="p" animBg="1"/>
      <p:bldP spid="8" grpId="0" animBg="1"/>
      <p:bldP spid="10" grpId="0" animBg="1"/>
      <p:bldP spid="12" grpId="0" animBg="1"/>
      <p:bldP spid="13" grpId="0" animBg="1"/>
      <p:bldP spid="19" grpId="0"/>
      <p:bldP spid="20" grpId="0" animBg="1"/>
      <p:bldP spid="21" grpId="0" animBg="1"/>
      <p:bldP spid="22" grpId="0" animBg="1"/>
      <p:bldP spid="23" grpId="0" animBg="1"/>
      <p:bldP spid="26" grpId="0"/>
      <p:bldP spid="41" grpId="0"/>
      <p:bldP spid="46" grpId="0"/>
      <p:bldP spid="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b="1" dirty="0">
                <a:ea typeface="ＭＳ Ｐゴシック" charset="-128"/>
              </a:rPr>
              <a:t>Shareholder</a:t>
            </a:r>
          </a:p>
          <a:p>
            <a:pPr lvl="1"/>
            <a:r>
              <a:rPr lang="en-US" altLang="en-US" sz="2000" dirty="0">
                <a:ea typeface="ＭＳ Ｐゴシック" charset="-128"/>
              </a:rPr>
              <a:t>If sale is treated as a </a:t>
            </a:r>
            <a:r>
              <a:rPr lang="en-US" altLang="en-US" sz="2000" b="1" dirty="0">
                <a:ea typeface="ＭＳ Ｐゴシック" charset="-128"/>
              </a:rPr>
              <a:t>current distribution</a:t>
            </a:r>
            <a:r>
              <a:rPr lang="en-US" altLang="en-US" sz="2000" dirty="0">
                <a:ea typeface="ＭＳ Ｐゴシック" charset="-128"/>
              </a:rPr>
              <a:t>, the SH’s basis in the transferred shares of </a:t>
            </a:r>
            <a:r>
              <a:rPr lang="en-US" altLang="en-US" sz="2000" b="1" i="1" dirty="0">
                <a:ea typeface="ＭＳ Ｐゴシック" charset="-128"/>
              </a:rPr>
              <a:t>issuing [</a:t>
            </a:r>
            <a:r>
              <a:rPr lang="en-US" altLang="en-US" sz="2000" b="1" i="1" dirty="0" err="1">
                <a:ea typeface="ＭＳ Ｐゴシック" charset="-128"/>
              </a:rPr>
              <a:t>aquired</a:t>
            </a:r>
            <a:r>
              <a:rPr lang="en-US" altLang="en-US" sz="2000" b="1" i="1" dirty="0">
                <a:ea typeface="ＭＳ Ｐゴシック" charset="-128"/>
              </a:rPr>
              <a:t>] </a:t>
            </a:r>
            <a:r>
              <a:rPr lang="en-US" altLang="en-US" sz="2000" dirty="0">
                <a:ea typeface="ＭＳ Ｐゴシック" charset="-128"/>
              </a:rPr>
              <a:t>carries over to the basis of the shares of </a:t>
            </a:r>
            <a:r>
              <a:rPr lang="en-US" altLang="en-US" sz="2000" b="1" i="1" dirty="0">
                <a:ea typeface="ＭＳ Ｐゴシック" charset="-128"/>
              </a:rPr>
              <a:t>acquiring deemed received</a:t>
            </a:r>
            <a:r>
              <a:rPr lang="en-US" altLang="en-US" sz="2000" dirty="0">
                <a:ea typeface="ＭＳ Ｐゴシック" charset="-128"/>
              </a:rPr>
              <a:t>—remember, the controlling shareholder is treated as transferring the shares of </a:t>
            </a:r>
            <a:r>
              <a:rPr lang="en-US" altLang="en-US" sz="2000" b="1" dirty="0">
                <a:ea typeface="ＭＳ Ｐゴシック" charset="-128"/>
              </a:rPr>
              <a:t>issuing </a:t>
            </a:r>
            <a:r>
              <a:rPr lang="en-US" altLang="en-US" sz="2000" dirty="0">
                <a:ea typeface="ＭＳ Ｐゴシック" charset="-128"/>
              </a:rPr>
              <a:t>to </a:t>
            </a:r>
            <a:r>
              <a:rPr lang="en-US" altLang="en-US" sz="2000" b="1" dirty="0">
                <a:ea typeface="ＭＳ Ｐゴシック" charset="-128"/>
              </a:rPr>
              <a:t>acquired </a:t>
            </a:r>
            <a:r>
              <a:rPr lang="en-US" altLang="en-US" sz="2000" dirty="0">
                <a:ea typeface="ＭＳ Ｐゴシック" charset="-128"/>
              </a:rPr>
              <a:t>in a </a:t>
            </a:r>
            <a:r>
              <a:rPr lang="en-US" altLang="en-US" sz="2000" dirty="0"/>
              <a:t>§</a:t>
            </a:r>
            <a:r>
              <a:rPr lang="en-US" altLang="en-US" sz="2000" dirty="0">
                <a:ea typeface="ＭＳ Ｐゴシック" charset="-128"/>
              </a:rPr>
              <a:t>351 transfer.</a:t>
            </a:r>
            <a:r>
              <a:rPr lang="en-US" altLang="en-US" sz="2000" dirty="0"/>
              <a:t> §</a:t>
            </a:r>
            <a:r>
              <a:rPr lang="en-US" altLang="en-US" sz="2000" dirty="0">
                <a:ea typeface="ＭＳ Ｐゴシック" charset="-128"/>
              </a:rPr>
              <a:t>358(a).</a:t>
            </a:r>
          </a:p>
          <a:p>
            <a:pPr lvl="1"/>
            <a:r>
              <a:rPr lang="en-US" altLang="en-US" sz="2000" dirty="0">
                <a:ea typeface="ＭＳ Ｐゴシック" charset="-128"/>
              </a:rPr>
              <a:t>If there are sufficient E&amp;Ps so that the redemption proceeds are treated as a dividend in their entirety, the basis of the shares that are treated as redeemed are transferred to any shares of </a:t>
            </a:r>
            <a:r>
              <a:rPr lang="en-US" altLang="en-US" sz="2000" b="1" dirty="0">
                <a:ea typeface="ＭＳ Ｐゴシック" charset="-128"/>
              </a:rPr>
              <a:t>acquiring</a:t>
            </a:r>
            <a:r>
              <a:rPr lang="en-US" altLang="en-US" sz="2000" i="1" dirty="0">
                <a:ea typeface="ＭＳ Ｐゴシック" charset="-128"/>
              </a:rPr>
              <a:t>. </a:t>
            </a:r>
            <a:r>
              <a:rPr lang="en-US" altLang="en-US" sz="2000" dirty="0">
                <a:ea typeface="ＭＳ Ｐゴシック" charset="-128"/>
              </a:rPr>
              <a:t>Reg. </a:t>
            </a:r>
            <a:r>
              <a:rPr lang="en-US" altLang="en-US" sz="2000" dirty="0"/>
              <a:t>§</a:t>
            </a:r>
            <a:r>
              <a:rPr lang="en-US" altLang="en-US" sz="2000" dirty="0">
                <a:ea typeface="ＭＳ Ｐゴシック" charset="-128"/>
              </a:rPr>
              <a:t>1.302-2(c), Ex. 1.</a:t>
            </a:r>
            <a:endParaRPr lang="en-US" altLang="en-US" sz="2000" i="1" dirty="0">
              <a:ea typeface="ＭＳ Ｐゴシック" charset="-128"/>
            </a:endParaRPr>
          </a:p>
          <a:p>
            <a:pPr lvl="2"/>
            <a:r>
              <a:rPr lang="en-US" altLang="en-US" sz="2000" dirty="0">
                <a:ea typeface="ＭＳ Ｐゴシック" charset="-128"/>
              </a:rPr>
              <a:t>If </a:t>
            </a:r>
            <a:r>
              <a:rPr lang="en-US" altLang="en-US" sz="2000" b="1" dirty="0">
                <a:ea typeface="ＭＳ Ｐゴシック" charset="-128"/>
              </a:rPr>
              <a:t>no shares of acquiring are owned</a:t>
            </a:r>
            <a:r>
              <a:rPr lang="en-US" altLang="en-US" sz="2000" dirty="0">
                <a:ea typeface="ＭＳ Ｐゴシック" charset="-128"/>
              </a:rPr>
              <a:t>, the SH may have a loss that is deferred until the </a:t>
            </a:r>
            <a:r>
              <a:rPr lang="en-US" altLang="en-US" sz="2000" i="1" dirty="0">
                <a:ea typeface="ＭＳ Ｐゴシック" charset="-128"/>
              </a:rPr>
              <a:t>inclusion date</a:t>
            </a:r>
            <a:r>
              <a:rPr lang="en-US" altLang="en-US" sz="2000" dirty="0">
                <a:ea typeface="ＭＳ Ｐゴシック" charset="-128"/>
              </a:rPr>
              <a:t>, Prop. Reg. </a:t>
            </a:r>
            <a:r>
              <a:rPr lang="en-US" altLang="en-US" sz="2000" dirty="0"/>
              <a:t>§</a:t>
            </a:r>
            <a:r>
              <a:rPr lang="en-US" altLang="en-US" sz="2000" dirty="0">
                <a:ea typeface="ＭＳ Ｐゴシック" charset="-128"/>
              </a:rPr>
              <a:t>1.302-5(a)(3) (withdrawn), or the basis may be lost. Rev. Rul. 70-496.</a:t>
            </a:r>
          </a:p>
          <a:p>
            <a:pPr lvl="2"/>
            <a:r>
              <a:rPr lang="en-US" altLang="en-US" sz="2000" dirty="0">
                <a:ea typeface="ＭＳ Ｐゴシック" charset="-128"/>
              </a:rPr>
              <a:t>If </a:t>
            </a:r>
            <a:r>
              <a:rPr lang="en-US" altLang="en-US" sz="2000" b="1" dirty="0">
                <a:ea typeface="ＭＳ Ｐゴシック" charset="-128"/>
              </a:rPr>
              <a:t>no shares of acquiring are owned</a:t>
            </a:r>
            <a:r>
              <a:rPr lang="en-US" altLang="en-US" sz="2000" dirty="0">
                <a:ea typeface="ＭＳ Ｐゴシック" charset="-128"/>
              </a:rPr>
              <a:t>, it may be possible to allocate the basis of the redeemed shares to shares of </a:t>
            </a:r>
            <a:r>
              <a:rPr lang="en-US" altLang="en-US" sz="2000" b="1" i="1" dirty="0">
                <a:ea typeface="ＭＳ Ｐゴシック" charset="-128"/>
              </a:rPr>
              <a:t>issuing [acquired].  </a:t>
            </a:r>
            <a:r>
              <a:rPr lang="en-US" altLang="en-US" sz="2000" dirty="0">
                <a:ea typeface="ＭＳ Ｐゴシック" charset="-128"/>
              </a:rPr>
              <a:t>Rev. Rul. 71-563.</a:t>
            </a:r>
          </a:p>
          <a:p>
            <a:pPr lvl="2"/>
            <a:r>
              <a:rPr lang="en-US" altLang="en-US" sz="2000" dirty="0">
                <a:ea typeface="ＭＳ Ｐゴシック" charset="-128"/>
              </a:rPr>
              <a:t>If the redemption proceeds exceed the E&amp;Ps of </a:t>
            </a:r>
            <a:r>
              <a:rPr lang="en-US" altLang="en-US" sz="2000" b="1" dirty="0">
                <a:ea typeface="ＭＳ Ｐゴシック" charset="-128"/>
              </a:rPr>
              <a:t>acquiring and issuing</a:t>
            </a:r>
            <a:r>
              <a:rPr lang="en-US" altLang="en-US" sz="2000" dirty="0">
                <a:ea typeface="ＭＳ Ｐゴシック" charset="-128"/>
              </a:rPr>
              <a:t>, the basis of all shares of </a:t>
            </a:r>
            <a:r>
              <a:rPr lang="en-US" altLang="en-US" sz="2000" b="1" dirty="0">
                <a:ea typeface="ＭＳ Ｐゴシック" charset="-128"/>
              </a:rPr>
              <a:t>acquiring</a:t>
            </a:r>
            <a:r>
              <a:rPr lang="en-US" altLang="en-US" sz="2000" dirty="0">
                <a:ea typeface="ＭＳ Ｐゴシック" charset="-128"/>
              </a:rPr>
              <a:t> are reduced pro-rata. Prop. Reg. </a:t>
            </a:r>
            <a:r>
              <a:rPr lang="en-US" altLang="en-US" sz="2000" dirty="0"/>
              <a:t>§</a:t>
            </a:r>
            <a:r>
              <a:rPr lang="en-US" altLang="en-US" sz="2000" dirty="0">
                <a:ea typeface="ＭＳ Ｐゴシック" charset="-128"/>
              </a:rPr>
              <a:t>1.301-2(a), Ex. (withdrawn).   If the redemption proceeds exceed the basis of any of the acquiring shares, the SH will have gain. </a:t>
            </a:r>
          </a:p>
          <a:p>
            <a:pPr lvl="1"/>
            <a:r>
              <a:rPr lang="en-US" altLang="en-US" sz="2000" dirty="0">
                <a:ea typeface="ＭＳ Ｐゴシック" charset="-128"/>
              </a:rPr>
              <a:t>If transferor is C Corp, any amount treated as dividend is an </a:t>
            </a:r>
            <a:r>
              <a:rPr lang="en-US" altLang="en-US" sz="2000" b="1" i="1" dirty="0">
                <a:ea typeface="ＭＳ Ｐゴシック" charset="-128"/>
              </a:rPr>
              <a:t>extraordinary dividend </a:t>
            </a:r>
            <a:r>
              <a:rPr lang="en-US" altLang="en-US" sz="2000" dirty="0">
                <a:ea typeface="ＭＳ Ｐゴシック" charset="-128"/>
              </a:rPr>
              <a:t>under section 1059(e)(1)(iii)(II), and transferor must reduce basis in </a:t>
            </a:r>
            <a:r>
              <a:rPr lang="en-US" altLang="en-US" sz="2000" b="1" dirty="0">
                <a:ea typeface="ＭＳ Ｐゴシック" charset="-128"/>
              </a:rPr>
              <a:t>redeemed stock</a:t>
            </a:r>
            <a:r>
              <a:rPr lang="en-US" altLang="en-US" sz="2000" dirty="0">
                <a:ea typeface="ＭＳ Ｐゴシック" charset="-128"/>
              </a:rPr>
              <a:t> by the untaxed portion (probably 65%). </a:t>
            </a:r>
          </a:p>
          <a:p>
            <a:r>
              <a:rPr lang="en-US" altLang="en-US" sz="2600" b="1" dirty="0">
                <a:ea typeface="ＭＳ Ｐゴシック" charset="-128"/>
              </a:rPr>
              <a:t>Acquiring Corporation</a:t>
            </a:r>
          </a:p>
          <a:p>
            <a:pPr lvl="1"/>
            <a:r>
              <a:rPr lang="en-US" altLang="en-US" sz="2200" dirty="0">
                <a:ea typeface="ＭＳ Ｐゴシック" charset="-128"/>
              </a:rPr>
              <a:t>Acquiring takes a carryover basis in the shares of issuing. </a:t>
            </a:r>
            <a:r>
              <a:rPr lang="en-US" altLang="en-US" sz="2200" dirty="0"/>
              <a:t>§</a:t>
            </a:r>
            <a:r>
              <a:rPr lang="en-US" altLang="en-US" sz="2200" dirty="0">
                <a:ea typeface="ＭＳ Ｐゴシック" charset="-128"/>
              </a:rPr>
              <a:t>362(a).     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ea typeface="ＭＳ Ｐゴシック" charset="-128"/>
              </a:rPr>
              <a:t>Section 304: Basis Adjustments in the case of a Section 301 Distribution</a:t>
            </a:r>
            <a:endParaRPr lang="en-US" altLang="en-US">
              <a:ea typeface="ＭＳ Ｐゴシック" charset="-12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993C4-3BD3-1243-84B3-114634676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29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FA180B-B3BB-8A46-AAB4-843598D6B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212121"/>
                </a:solidFill>
                <a:effectLst/>
                <a:latin typeface="OpenSans"/>
              </a:rPr>
              <a:t>The [Gov’t] continue[s] to believe that under current law, the results of a section 301 distribution should derive from the consideration received by a shareholder in respect of </a:t>
            </a:r>
            <a:r>
              <a:rPr lang="en-US" sz="2800" b="1" dirty="0">
                <a:solidFill>
                  <a:srgbClr val="212121"/>
                </a:solidFill>
                <a:effectLst/>
                <a:latin typeface="OpenSans"/>
              </a:rPr>
              <a:t>each share of stock</a:t>
            </a:r>
            <a:r>
              <a:rPr lang="en-US" sz="2800" dirty="0">
                <a:solidFill>
                  <a:srgbClr val="212121"/>
                </a:solidFill>
                <a:effectLst/>
                <a:latin typeface="OpenSans"/>
              </a:rPr>
              <a:t>, notwithstanding designations otherwise. See </a:t>
            </a:r>
            <a:r>
              <a:rPr lang="en-US" sz="2800" i="1" dirty="0">
                <a:solidFill>
                  <a:srgbClr val="212121"/>
                </a:solidFill>
                <a:effectLst/>
                <a:latin typeface="OpenSans"/>
              </a:rPr>
              <a:t>Johnson v. United States</a:t>
            </a:r>
            <a:r>
              <a:rPr lang="en-US" sz="2800" dirty="0">
                <a:solidFill>
                  <a:srgbClr val="212121"/>
                </a:solidFill>
                <a:effectLst/>
                <a:latin typeface="OpenSans"/>
              </a:rPr>
              <a:t>, 435 F.2d 1257 (4th Cir. 1971). </a:t>
            </a:r>
          </a:p>
          <a:p>
            <a:r>
              <a:rPr lang="en-US" sz="2800" dirty="0">
                <a:solidFill>
                  <a:srgbClr val="212121"/>
                </a:solidFill>
                <a:effectLst/>
                <a:latin typeface="OpenSans"/>
              </a:rPr>
              <a:t>The [Gov’t] also continues to believe that, under current law, with respect to redemptions governed by section 302(d), </a:t>
            </a:r>
            <a:r>
              <a:rPr lang="en-US" sz="2800" b="1" dirty="0">
                <a:solidFill>
                  <a:srgbClr val="212121"/>
                </a:solidFill>
                <a:effectLst/>
                <a:latin typeface="OpenSans"/>
              </a:rPr>
              <a:t>any unrecovered basis in the redeemed stock of a shareholder may be shifted to other stock only if such an adjustment is a proper adjustment within the meaning of §1.302-2(c). Not all shifts of a redeemed shareholder's unrecovered basis result in proper adjustments, and certain basis adjustments can lead to inappropriate results. See</a:t>
            </a:r>
            <a:r>
              <a:rPr lang="en-US" sz="2800" b="1" i="1" dirty="0">
                <a:solidFill>
                  <a:srgbClr val="212121"/>
                </a:solidFill>
                <a:effectLst/>
                <a:latin typeface="OpenSans"/>
              </a:rPr>
              <a:t>, e.g.</a:t>
            </a:r>
            <a:r>
              <a:rPr lang="en-US" sz="2800" b="1" dirty="0">
                <a:solidFill>
                  <a:srgbClr val="212121"/>
                </a:solidFill>
                <a:effectLst/>
                <a:latin typeface="OpenSans"/>
              </a:rPr>
              <a:t>, Notice 2001-45, 2001-33 I.R.B. 129. </a:t>
            </a:r>
            <a:endParaRPr lang="en-US" sz="3600" b="1" dirty="0">
              <a:effectLst/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46E158-890C-6244-A819-EE2696695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Stock Basis Withdrawal Notice (Mar. 28, 2019)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32D05-4DBC-BD41-985B-508D632AD2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3CA2C-434E-B741-98AF-D4CE56ED4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9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81E730-262D-D34A-A136-866825848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>
                <a:ea typeface="ＭＳ Ｐゴシック" charset="-128"/>
              </a:rPr>
              <a:t>If transaction treated as S/Ex, </a:t>
            </a:r>
            <a:r>
              <a:rPr lang="en-US" altLang="en-US" sz="3200" b="1" dirty="0">
                <a:ea typeface="ＭＳ Ｐゴシック" charset="-128"/>
              </a:rPr>
              <a:t>shareholder</a:t>
            </a:r>
            <a:r>
              <a:rPr lang="en-US" altLang="en-US" sz="3200" dirty="0">
                <a:ea typeface="ＭＳ Ｐゴシック" charset="-128"/>
              </a:rPr>
              <a:t> recognizes capital gain/loss, subject to </a:t>
            </a:r>
            <a:r>
              <a:rPr lang="en-US" altLang="en-US" sz="3200" dirty="0"/>
              <a:t>§</a:t>
            </a:r>
            <a:r>
              <a:rPr lang="en-US" altLang="en-US" sz="3200" dirty="0">
                <a:ea typeface="ＭＳ Ｐゴシック" charset="-128"/>
              </a:rPr>
              <a:t>267, and </a:t>
            </a:r>
            <a:r>
              <a:rPr lang="en-US" altLang="en-US" sz="3200" b="1" i="1" dirty="0">
                <a:ea typeface="ＭＳ Ｐゴシック" charset="-128"/>
              </a:rPr>
              <a:t>acquiring </a:t>
            </a:r>
            <a:r>
              <a:rPr lang="en-US" altLang="en-US" sz="3200" dirty="0">
                <a:ea typeface="ＭＳ Ｐゴシック" charset="-128"/>
              </a:rPr>
              <a:t>will take a cost basis in the shares.</a:t>
            </a:r>
            <a:r>
              <a:rPr lang="en-US" altLang="en-US" sz="3200" b="1" i="1" dirty="0">
                <a:ea typeface="ＭＳ Ｐゴシック" charset="-128"/>
              </a:rPr>
              <a:t> </a:t>
            </a:r>
            <a:endParaRPr lang="en-US" altLang="en-US" sz="3200" dirty="0">
              <a:ea typeface="ＭＳ Ｐゴシック" charset="-128"/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43CB6A-19AA-6546-BC17-3C3139C53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304 Transaction Treated as S/X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06E06-6364-F44D-B40B-FF5003E50F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50DFD-9EE7-074C-B490-8779EED56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241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>
                <a:ea typeface="ＭＳ Ｐゴシック" charset="-128"/>
              </a:rPr>
              <a:t>Redemptions Through Related Corporations:  Section 304 and Parent-Subsidiary Acquisitions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78326" y="2869134"/>
            <a:ext cx="1261600" cy="10731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X</a:t>
            </a:r>
          </a:p>
          <a:p>
            <a:pPr algn="ctr"/>
            <a:r>
              <a:rPr lang="en-US" altLang="en-US" b="1"/>
              <a:t>(Issuing) </a:t>
            </a:r>
            <a:endParaRPr lang="en-US" altLang="en-US"/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2320507" y="1679486"/>
            <a:ext cx="1177238" cy="57785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A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251081" y="4624429"/>
            <a:ext cx="1316090" cy="1073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Y</a:t>
            </a:r>
          </a:p>
          <a:p>
            <a:pPr algn="ctr"/>
            <a:r>
              <a:rPr lang="en-US" altLang="en-US" b="1"/>
              <a:t>  (Acquiring) </a:t>
            </a:r>
            <a:endParaRPr lang="en-US" altLang="en-US"/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7665929" y="2876193"/>
            <a:ext cx="1388598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X</a:t>
            </a:r>
          </a:p>
          <a:p>
            <a:pPr algn="ctr"/>
            <a:r>
              <a:rPr lang="en-US" altLang="en-US" b="1"/>
              <a:t>(Issuing) </a:t>
            </a:r>
            <a:endParaRPr lang="en-US" altLang="en-US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 flipH="1" flipV="1">
            <a:off x="8351519" y="2292014"/>
            <a:ext cx="8709" cy="57711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Oval 14"/>
          <p:cNvSpPr>
            <a:spLocks noChangeArrowheads="1"/>
          </p:cNvSpPr>
          <p:nvPr/>
        </p:nvSpPr>
        <p:spPr bwMode="auto">
          <a:xfrm>
            <a:off x="7756741" y="1758616"/>
            <a:ext cx="1143000" cy="533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A</a:t>
            </a:r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7665929" y="4505964"/>
            <a:ext cx="1388598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/>
              <a:t>Y</a:t>
            </a:r>
          </a:p>
          <a:p>
            <a:pPr algn="ctr"/>
            <a:r>
              <a:rPr lang="en-US" altLang="en-US" b="1"/>
              <a:t>(</a:t>
            </a:r>
            <a:r>
              <a:rPr lang="en-US" altLang="en-US" b="1" err="1"/>
              <a:t>Acq</a:t>
            </a:r>
            <a:r>
              <a:rPr lang="en-US" altLang="en-US" b="1"/>
              <a:t>.) </a:t>
            </a:r>
            <a:endParaRPr lang="en-US" altLang="en-US"/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2432167" y="668770"/>
            <a:ext cx="11464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u="sng"/>
              <a:t>BEFORE</a:t>
            </a:r>
            <a:endParaRPr lang="en-US" altLang="en-US" sz="1400" u="sng"/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7756741" y="812166"/>
            <a:ext cx="9541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b="1" u="sng"/>
              <a:t>AFTER</a:t>
            </a:r>
            <a:endParaRPr lang="en-US" altLang="en-US" sz="1400" u="sng"/>
          </a:p>
        </p:txBody>
      </p:sp>
      <p:cxnSp>
        <p:nvCxnSpPr>
          <p:cNvPr id="18" name="AutoShape 20"/>
          <p:cNvCxnSpPr>
            <a:cxnSpLocks noChangeShapeType="1"/>
            <a:stCxn id="8" idx="2"/>
            <a:endCxn id="10" idx="1"/>
          </p:cNvCxnSpPr>
          <p:nvPr/>
        </p:nvCxnSpPr>
        <p:spPr bwMode="auto">
          <a:xfrm rot="10800000" flipV="1">
            <a:off x="2251081" y="1968410"/>
            <a:ext cx="69426" cy="3192593"/>
          </a:xfrm>
          <a:prstGeom prst="bentConnector3">
            <a:avLst>
              <a:gd name="adj1" fmla="val 42927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AutoShape 21"/>
          <p:cNvCxnSpPr>
            <a:cxnSpLocks noChangeShapeType="1"/>
            <a:stCxn id="10" idx="3"/>
            <a:endCxn id="8" idx="6"/>
          </p:cNvCxnSpPr>
          <p:nvPr/>
        </p:nvCxnSpPr>
        <p:spPr bwMode="auto">
          <a:xfrm flipH="1" flipV="1">
            <a:off x="3497745" y="1968411"/>
            <a:ext cx="69426" cy="3192593"/>
          </a:xfrm>
          <a:prstGeom prst="bentConnector3">
            <a:avLst>
              <a:gd name="adj1" fmla="val -32927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Connector 21"/>
          <p:cNvCxnSpPr/>
          <p:nvPr/>
        </p:nvCxnSpPr>
        <p:spPr>
          <a:xfrm>
            <a:off x="5791200" y="1676400"/>
            <a:ext cx="21771" cy="4386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8" idx="4"/>
            <a:endCxn id="6" idx="0"/>
          </p:cNvCxnSpPr>
          <p:nvPr/>
        </p:nvCxnSpPr>
        <p:spPr>
          <a:xfrm>
            <a:off x="2909126" y="2257336"/>
            <a:ext cx="0" cy="6117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6" idx="2"/>
            <a:endCxn id="10" idx="0"/>
          </p:cNvCxnSpPr>
          <p:nvPr/>
        </p:nvCxnSpPr>
        <p:spPr>
          <a:xfrm>
            <a:off x="2909126" y="3942284"/>
            <a:ext cx="0" cy="6821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032069" y="32134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$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3843" y="3183370"/>
            <a:ext cx="881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X Stock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4FC3A2-FD9A-2140-B7DB-E171EA3D8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2DBA9B-2D27-EF40-80E7-496ABD0B84B6}"/>
              </a:ext>
            </a:extLst>
          </p:cNvPr>
          <p:cNvSpPr txBox="1"/>
          <p:nvPr/>
        </p:nvSpPr>
        <p:spPr>
          <a:xfrm>
            <a:off x="2854752" y="2310528"/>
            <a:ext cx="859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100 shares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982E09-BFD3-2645-88CD-C9DBF6F96A82}"/>
              </a:ext>
            </a:extLst>
          </p:cNvPr>
          <p:cNvSpPr txBox="1"/>
          <p:nvPr/>
        </p:nvSpPr>
        <p:spPr>
          <a:xfrm>
            <a:off x="1062396" y="3545105"/>
            <a:ext cx="9074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50 X shares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5198DB-722B-E444-B80D-520AAEF26947}"/>
              </a:ext>
            </a:extLst>
          </p:cNvPr>
          <p:cNvSpPr txBox="1"/>
          <p:nvPr/>
        </p:nvSpPr>
        <p:spPr>
          <a:xfrm>
            <a:off x="8348249" y="2457164"/>
            <a:ext cx="787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50 shares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431771-135B-FB48-A07F-687DEB983FF1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>
            <a:off x="8360228" y="3790593"/>
            <a:ext cx="0" cy="7153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CC18919-C218-0946-9FE5-9513B5850120}"/>
              </a:ext>
            </a:extLst>
          </p:cNvPr>
          <p:cNvSpPr txBox="1"/>
          <p:nvPr/>
        </p:nvSpPr>
        <p:spPr>
          <a:xfrm>
            <a:off x="8355873" y="4036757"/>
            <a:ext cx="9074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50 X shares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33AF27-0124-6F46-A9E5-3335DFBF742E}"/>
              </a:ext>
            </a:extLst>
          </p:cNvPr>
          <p:cNvSpPr txBox="1"/>
          <p:nvPr/>
        </p:nvSpPr>
        <p:spPr>
          <a:xfrm>
            <a:off x="7399722" y="4036757"/>
            <a:ext cx="9812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100 Y shares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1EEE04-8D3A-AE4F-976D-37F8E50F106A}"/>
              </a:ext>
            </a:extLst>
          </p:cNvPr>
          <p:cNvSpPr txBox="1"/>
          <p:nvPr/>
        </p:nvSpPr>
        <p:spPr>
          <a:xfrm>
            <a:off x="2839762" y="4092709"/>
            <a:ext cx="859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100 shares</a:t>
            </a:r>
          </a:p>
        </p:txBody>
      </p:sp>
    </p:spTree>
    <p:extLst>
      <p:ext uri="{BB962C8B-B14F-4D97-AF65-F5344CB8AC3E}">
        <p14:creationId xmlns:p14="http://schemas.microsoft.com/office/powerpoint/2010/main" val="87500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39" grpId="0"/>
      <p:bldP spid="42" grpId="0"/>
      <p:bldP spid="5" grpId="0"/>
      <p:bldP spid="23" grpId="0"/>
      <p:bldP spid="25" grpId="0"/>
      <p:bldP spid="30" grpId="0"/>
      <p:bldP spid="31" grpId="0"/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Text&#10;&#10;Description automatically generated">
            <a:extLst>
              <a:ext uri="{FF2B5EF4-FFF2-40B4-BE49-F238E27FC236}">
                <a16:creationId xmlns:a16="http://schemas.microsoft.com/office/drawing/2014/main" id="{E4645015-1A0C-B348-9299-3FD49DC93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752" y="1258220"/>
            <a:ext cx="10597895" cy="278342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229034B-A339-9745-AF29-4BD00D5D1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304(a)(2)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F7E47-8C85-A645-BF7E-E24F7297F4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C5BF7-FB2E-FA4C-A052-009A635AC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DFC23BF-596B-8548-900C-71EFC3C4F3F9}"/>
              </a:ext>
            </a:extLst>
          </p:cNvPr>
          <p:cNvCxnSpPr/>
          <p:nvPr/>
        </p:nvCxnSpPr>
        <p:spPr>
          <a:xfrm>
            <a:off x="2414016" y="2258568"/>
            <a:ext cx="18928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652D04-FEA1-FB4C-8F49-81C0D9B23153}"/>
              </a:ext>
            </a:extLst>
          </p:cNvPr>
          <p:cNvCxnSpPr/>
          <p:nvPr/>
        </p:nvCxnSpPr>
        <p:spPr>
          <a:xfrm>
            <a:off x="2557272" y="3096768"/>
            <a:ext cx="18928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495630-3AFF-544F-B775-BB35F0C34754}"/>
              </a:ext>
            </a:extLst>
          </p:cNvPr>
          <p:cNvCxnSpPr/>
          <p:nvPr/>
        </p:nvCxnSpPr>
        <p:spPr>
          <a:xfrm>
            <a:off x="4815840" y="3096768"/>
            <a:ext cx="189280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8E5937-1236-9E47-82DC-23E4A9222EF1}"/>
              </a:ext>
            </a:extLst>
          </p:cNvPr>
          <p:cNvCxnSpPr>
            <a:cxnSpLocks/>
          </p:cNvCxnSpPr>
          <p:nvPr/>
        </p:nvCxnSpPr>
        <p:spPr>
          <a:xfrm>
            <a:off x="5149596" y="3572256"/>
            <a:ext cx="552145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923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 the case of a </a:t>
            </a:r>
            <a:r>
              <a:rPr lang="en-US" sz="2800" i="1" dirty="0"/>
              <a:t>parent-subsidiary</a:t>
            </a:r>
            <a:r>
              <a:rPr lang="en-US" sz="2800" dirty="0"/>
              <a:t> acquisition, the property received by the shareholder (the seller) is treated as a distribution in </a:t>
            </a:r>
            <a:r>
              <a:rPr lang="en-US" sz="2800" i="1" dirty="0"/>
              <a:t>redemption</a:t>
            </a:r>
            <a:r>
              <a:rPr lang="en-US" sz="2800" dirty="0"/>
              <a:t> </a:t>
            </a:r>
            <a:r>
              <a:rPr lang="en-US" sz="2800" i="1" dirty="0"/>
              <a:t>of </a:t>
            </a:r>
            <a:r>
              <a:rPr lang="en-US" sz="2800" b="1" i="1" dirty="0"/>
              <a:t>issuing [acquired]</a:t>
            </a:r>
            <a:r>
              <a:rPr lang="en-US" sz="2800" i="1" dirty="0"/>
              <a:t> stock.</a:t>
            </a:r>
          </a:p>
          <a:p>
            <a:endParaRPr lang="en-US" sz="2800" i="1" dirty="0"/>
          </a:p>
          <a:p>
            <a:r>
              <a:rPr lang="en-US" sz="2800" dirty="0"/>
              <a:t>In testing whether the redemption is a S/X or an ordinary distribution, the tests under </a:t>
            </a:r>
            <a:r>
              <a:rPr lang="en-US" altLang="en-US" sz="2800" dirty="0"/>
              <a:t>§</a:t>
            </a:r>
            <a:r>
              <a:rPr lang="en-US" sz="2800" dirty="0"/>
              <a:t>302(b) are applied to the stock of </a:t>
            </a:r>
            <a:r>
              <a:rPr lang="en-US" sz="2800" b="1" i="1" dirty="0"/>
              <a:t>issuing [acquired]</a:t>
            </a:r>
            <a:r>
              <a:rPr lang="en-US" sz="2800" i="1" dirty="0"/>
              <a:t>. </a:t>
            </a:r>
            <a:r>
              <a:rPr lang="en-US" altLang="en-US" sz="2800" dirty="0"/>
              <a:t>§304(b)(1).</a:t>
            </a:r>
            <a:endParaRPr lang="en-US" altLang="en-US" dirty="0"/>
          </a:p>
          <a:p>
            <a:pPr lvl="1"/>
            <a:r>
              <a:rPr lang="en-US" altLang="en-US" sz="2400" dirty="0"/>
              <a:t>The same modifications of the §318 rules discussed above apply in determining the SH’s ownership of </a:t>
            </a:r>
            <a:r>
              <a:rPr lang="en-US" altLang="en-US" sz="2400" b="1" i="1" dirty="0"/>
              <a:t>issuing </a:t>
            </a:r>
            <a:r>
              <a:rPr lang="en-US" altLang="en-US" sz="2400" dirty="0"/>
              <a:t>before and after.</a:t>
            </a:r>
            <a:r>
              <a:rPr lang="en-US" sz="2400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>
                <a:ea typeface="ＭＳ Ｐゴシック" charset="-128"/>
              </a:rPr>
              <a:t>Section 304 and Parent-Subsidiary Acquisitions</a:t>
            </a:r>
            <a:endParaRPr lang="en-US"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C17BC-9AE5-1C4B-8F70-148DB0A51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Section 304</a:t>
            </a:r>
          </a:p>
        </p:txBody>
      </p:sp>
    </p:spTree>
    <p:extLst>
      <p:ext uri="{BB962C8B-B14F-4D97-AF65-F5344CB8AC3E}">
        <p14:creationId xmlns:p14="http://schemas.microsoft.com/office/powerpoint/2010/main" val="115688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>
              <a:buFont typeface="Wingdings 2" pitchFamily="18" charset="2"/>
              <a:buChar char=""/>
            </a:pPr>
            <a:r>
              <a:rPr lang="en-US" altLang="en-US" sz="2400" dirty="0">
                <a:ea typeface="ＭＳ Ｐゴシック" charset="-128"/>
              </a:rPr>
              <a:t>If the transfer is treated as an ordinary distribution and there are sufficient E&amp;Ps so that the redemption proceeds are treated as a dividend in their entirety, the basis of the transferred shares is transferred to any shares of </a:t>
            </a:r>
            <a:r>
              <a:rPr lang="en-US" altLang="en-US" sz="2400" b="1" dirty="0">
                <a:ea typeface="ＭＳ Ｐゴシック" charset="-128"/>
              </a:rPr>
              <a:t>issuing (parent/acquired)</a:t>
            </a:r>
            <a:r>
              <a:rPr lang="en-US" altLang="en-US" sz="2400" i="1" dirty="0">
                <a:ea typeface="ＭＳ Ｐゴシック" charset="-128"/>
              </a:rPr>
              <a:t>. </a:t>
            </a:r>
            <a:r>
              <a:rPr lang="en-US" altLang="en-US" sz="2400" dirty="0">
                <a:ea typeface="ＭＳ Ｐゴシック" charset="-128"/>
              </a:rPr>
              <a:t>Reg. </a:t>
            </a:r>
            <a:r>
              <a:rPr lang="en-US" altLang="en-US" sz="2400" dirty="0"/>
              <a:t>§ </a:t>
            </a:r>
            <a:r>
              <a:rPr lang="en-US" altLang="en-US" sz="2400" dirty="0">
                <a:ea typeface="ＭＳ Ｐゴシック" charset="-128"/>
              </a:rPr>
              <a:t>1.302-2(c), Ex. 1.</a:t>
            </a:r>
          </a:p>
          <a:p>
            <a:pPr marL="228600" lvl="1">
              <a:buFont typeface="Wingdings 2" pitchFamily="18" charset="2"/>
              <a:buChar char=""/>
            </a:pPr>
            <a:r>
              <a:rPr lang="en-US" altLang="en-US" sz="2400" dirty="0">
                <a:ea typeface="ＭＳ Ｐゴシック" charset="-128"/>
              </a:rPr>
              <a:t>If the transfer is treated as an ordinary distribution and </a:t>
            </a:r>
            <a:r>
              <a:rPr lang="en-US" altLang="en-US" sz="2400" i="1" dirty="0">
                <a:ea typeface="ＭＳ Ｐゴシック" charset="-128"/>
              </a:rPr>
              <a:t>amount received is more than the total E&amp;Ps, </a:t>
            </a:r>
            <a:r>
              <a:rPr lang="en-US" altLang="en-US" sz="2400" dirty="0">
                <a:ea typeface="ＭＳ Ｐゴシック" charset="-128"/>
              </a:rPr>
              <a:t>the SH’s AB basis in </a:t>
            </a:r>
            <a:r>
              <a:rPr lang="en-US" altLang="en-US" sz="2400" b="1" i="1" dirty="0">
                <a:ea typeface="ＭＳ Ｐゴシック" charset="-128"/>
              </a:rPr>
              <a:t>all of issuing’s </a:t>
            </a:r>
            <a:r>
              <a:rPr lang="en-US" altLang="en-US" sz="2400" dirty="0">
                <a:ea typeface="ＭＳ Ｐゴシック" charset="-128"/>
              </a:rPr>
              <a:t>shares, including those redeemed, are reduced on a share-by-share basis.  Withdrawn Prop. Reg. </a:t>
            </a:r>
            <a:r>
              <a:rPr lang="en-US" altLang="en-US" sz="2400" dirty="0"/>
              <a:t>§ </a:t>
            </a:r>
            <a:r>
              <a:rPr lang="en-US" altLang="en-US" sz="2400" dirty="0">
                <a:ea typeface="ＭＳ Ｐゴシック" charset="-128"/>
              </a:rPr>
              <a:t>1.301-2(a), Ex.  Any remaining basis of the transferred shares is allocated to the remaining </a:t>
            </a:r>
            <a:r>
              <a:rPr lang="en-US" altLang="en-US" sz="2400" b="1" dirty="0">
                <a:ea typeface="ＭＳ Ｐゴシック" charset="-128"/>
              </a:rPr>
              <a:t>issuing </a:t>
            </a:r>
            <a:r>
              <a:rPr lang="en-US" altLang="en-US" sz="2400" dirty="0">
                <a:ea typeface="ＭＳ Ｐゴシック" charset="-128"/>
              </a:rPr>
              <a:t>shares. Prop. Reg. </a:t>
            </a:r>
            <a:r>
              <a:rPr lang="en-US" altLang="en-US" sz="2400" dirty="0"/>
              <a:t>§</a:t>
            </a:r>
            <a:r>
              <a:rPr lang="en-US" altLang="en-US" sz="2400" dirty="0">
                <a:ea typeface="ＭＳ Ｐゴシック" charset="-128"/>
              </a:rPr>
              <a:t>1.302-5(e), Ex. 1 (withdrawn); 1.304-3(a).</a:t>
            </a:r>
          </a:p>
          <a:p>
            <a:pPr marL="228600" lvl="1">
              <a:buFont typeface="Wingdings 2" pitchFamily="18" charset="2"/>
              <a:buChar char=""/>
            </a:pPr>
            <a:r>
              <a:rPr lang="en-US" altLang="en-US" sz="2400" dirty="0">
                <a:ea typeface="ＭＳ Ｐゴシック" charset="-128"/>
              </a:rPr>
              <a:t>If the </a:t>
            </a:r>
            <a:r>
              <a:rPr lang="en-US" altLang="en-US" sz="2400" dirty="0" err="1">
                <a:ea typeface="ＭＳ Ｐゴシック" charset="-128"/>
              </a:rPr>
              <a:t>SH</a:t>
            </a:r>
            <a:r>
              <a:rPr lang="en-US" altLang="en-US" sz="2400" dirty="0">
                <a:ea typeface="ＭＳ Ｐゴシック" charset="-128"/>
              </a:rPr>
              <a:t> doesn’t own any </a:t>
            </a:r>
            <a:r>
              <a:rPr lang="en-US" altLang="en-US" sz="2400" b="1" i="1" dirty="0">
                <a:ea typeface="ＭＳ Ｐゴシック" charset="-128"/>
              </a:rPr>
              <a:t>issuing </a:t>
            </a:r>
            <a:r>
              <a:rPr lang="en-US" altLang="en-US" sz="2400" dirty="0">
                <a:ea typeface="ＭＳ Ｐゴシック" charset="-128"/>
              </a:rPr>
              <a:t>shares, the loss may be taken later (when, for example, the </a:t>
            </a:r>
            <a:r>
              <a:rPr lang="en-US" altLang="en-US" sz="2400" dirty="0" err="1">
                <a:ea typeface="ＭＳ Ｐゴシック" charset="-128"/>
              </a:rPr>
              <a:t>SH</a:t>
            </a:r>
            <a:r>
              <a:rPr lang="en-US" altLang="en-US" sz="2400" dirty="0">
                <a:ea typeface="ＭＳ Ｐゴシック" charset="-128"/>
              </a:rPr>
              <a:t> doesn’t own constructively any </a:t>
            </a:r>
            <a:r>
              <a:rPr lang="en-US" altLang="en-US" sz="2400" b="1" i="1" dirty="0">
                <a:ea typeface="ＭＳ Ｐゴシック" charset="-128"/>
              </a:rPr>
              <a:t>issuing </a:t>
            </a:r>
            <a:r>
              <a:rPr lang="en-US" altLang="en-US" sz="2400" dirty="0">
                <a:ea typeface="ＭＳ Ｐゴシック" charset="-128"/>
              </a:rPr>
              <a:t>shares). Prop. Reg. </a:t>
            </a:r>
            <a:r>
              <a:rPr lang="en-US" altLang="en-US" sz="2400" dirty="0"/>
              <a:t>§</a:t>
            </a:r>
            <a:r>
              <a:rPr lang="en-US" altLang="en-US" sz="2400" dirty="0">
                <a:ea typeface="ＭＳ Ｐゴシック" charset="-128"/>
              </a:rPr>
              <a:t>1.302-5(a)(3) (withdrawn).  </a:t>
            </a:r>
          </a:p>
          <a:p>
            <a:pPr marL="228600" lvl="1">
              <a:buFont typeface="Wingdings 2" pitchFamily="18" charset="2"/>
              <a:buChar char=""/>
            </a:pPr>
            <a:r>
              <a:rPr lang="en-US" sz="2400" dirty="0"/>
              <a:t>The </a:t>
            </a:r>
            <a:r>
              <a:rPr lang="en-US" sz="2400" b="1" dirty="0"/>
              <a:t>acquiring </a:t>
            </a:r>
            <a:r>
              <a:rPr lang="en-US" sz="2400" dirty="0"/>
              <a:t>corporation’s basis in the parent’s (</a:t>
            </a:r>
            <a:r>
              <a:rPr lang="en-US" sz="2400" b="1" dirty="0"/>
              <a:t>issuing) </a:t>
            </a:r>
            <a:r>
              <a:rPr lang="en-US" sz="2400" dirty="0"/>
              <a:t>shares is equal to the amount paid, regardless whether the transfer is treated as a S/X or ordinary distribution.  Rev. Rul. 80-189.</a:t>
            </a:r>
          </a:p>
          <a:p>
            <a:pPr marL="228600" lvl="1">
              <a:buFont typeface="Wingdings 2" pitchFamily="18" charset="2"/>
              <a:buChar char=""/>
            </a:pPr>
            <a:endParaRPr lang="en-US" altLang="en-US" sz="2400" i="1" dirty="0">
              <a:ea typeface="ＭＳ Ｐゴシック" charset="-128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>
                <a:ea typeface="ＭＳ Ｐゴシック" charset="-128"/>
              </a:rPr>
              <a:t>Section 304 and Parent-Subsidiary Acquisitions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5BADD-FA3A-FE42-8108-7A07B6A11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93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Overlap of parent-subsidiary and brother-sister transactions</a:t>
            </a:r>
          </a:p>
          <a:p>
            <a:pPr lvl="1"/>
            <a:r>
              <a:rPr lang="en-US" sz="2800"/>
              <a:t>Statute gives </a:t>
            </a:r>
            <a:r>
              <a:rPr lang="en-US" sz="2800" dirty="0"/>
              <a:t>priority to parent-subsidiary transactions. </a:t>
            </a:r>
            <a:r>
              <a:rPr lang="en-US" altLang="en-US" sz="2800" dirty="0"/>
              <a:t>§304(a)(1) (</a:t>
            </a:r>
            <a:r>
              <a:rPr lang="is-IS" altLang="en-US" sz="2800" dirty="0"/>
              <a:t>…”unless paragraph 2 applies...”).  But if transaction qualifies as a P-S transfer solely because of constructive ownership rules, then the transaction will be covered by the brother-sister rules</a:t>
            </a:r>
            <a:r>
              <a:rPr lang="en-US" altLang="en-US" sz="2800" dirty="0"/>
              <a:t>. 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>
                <a:ea typeface="ＭＳ Ｐゴシック" charset="-128"/>
              </a:rPr>
              <a:t>Section 304 and Parent-Subsidiary Acquisitions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16</a:t>
            </a:fld>
            <a:endParaRPr lang="en-US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BD1FD-32E4-1A48-B273-77675C462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156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CCBAF5-4688-A846-80EC-C9C582510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Overlap with section 351</a:t>
            </a:r>
          </a:p>
          <a:p>
            <a:pPr lvl="1"/>
            <a:r>
              <a:rPr lang="en-US" sz="2800" dirty="0"/>
              <a:t>SH transfers shares of wholly-owned brother </a:t>
            </a:r>
            <a:r>
              <a:rPr lang="en-US" sz="2800" dirty="0" err="1"/>
              <a:t>corp</a:t>
            </a:r>
            <a:r>
              <a:rPr lang="en-US" sz="2800" dirty="0"/>
              <a:t> to wholly-owned sister </a:t>
            </a:r>
            <a:r>
              <a:rPr lang="en-US" sz="2800" dirty="0" err="1"/>
              <a:t>corp</a:t>
            </a:r>
            <a:r>
              <a:rPr lang="en-US" sz="2800" dirty="0"/>
              <a:t> in exchange for: (1) $100 </a:t>
            </a:r>
            <a:r>
              <a:rPr lang="en-US" sz="2800" b="1" dirty="0"/>
              <a:t>and</a:t>
            </a:r>
            <a:r>
              <a:rPr lang="en-US" sz="2800" dirty="0"/>
              <a:t> (2) shares of sister corp.</a:t>
            </a:r>
          </a:p>
          <a:p>
            <a:pPr lvl="1"/>
            <a:r>
              <a:rPr lang="en-US" sz="2800" dirty="0"/>
              <a:t>SH borrows against brother shares and transfers brother shares subject to the liability to sister corp. </a:t>
            </a:r>
          </a:p>
          <a:p>
            <a:r>
              <a:rPr lang="en-US" sz="2800" dirty="0"/>
              <a:t>In the case of overlap, </a:t>
            </a:r>
            <a:r>
              <a:rPr lang="en-US" altLang="en-US" sz="2800" dirty="0"/>
              <a:t>§</a:t>
            </a:r>
            <a:r>
              <a:rPr lang="en-US" sz="2800" dirty="0"/>
              <a:t>304 takes precedence for the non-stock consideration, and </a:t>
            </a:r>
            <a:r>
              <a:rPr lang="en-US" altLang="en-US" sz="2800" dirty="0"/>
              <a:t>§</a:t>
            </a:r>
            <a:r>
              <a:rPr lang="en-US" sz="2800" i="1" dirty="0"/>
              <a:t>351 applies to the stock consideration</a:t>
            </a:r>
            <a:r>
              <a:rPr lang="en-US" sz="2800" dirty="0"/>
              <a:t>. </a:t>
            </a:r>
            <a:r>
              <a:rPr lang="en-US" altLang="en-US" sz="2800" dirty="0"/>
              <a:t>§304(b)(3)(A).   Why? </a:t>
            </a:r>
            <a:r>
              <a:rPr lang="en-US" altLang="en-US" sz="2800" i="1" dirty="0"/>
              <a:t>See</a:t>
            </a:r>
            <a:r>
              <a:rPr lang="en-US" altLang="en-US" sz="2800" dirty="0"/>
              <a:t> §317.</a:t>
            </a:r>
          </a:p>
          <a:p>
            <a:r>
              <a:rPr lang="en-US" altLang="en-US" sz="2800" dirty="0"/>
              <a:t>If acquiring assumes liabilities, generally treated as </a:t>
            </a:r>
            <a:r>
              <a:rPr lang="en-US" altLang="en-US" sz="2800" b="1" dirty="0"/>
              <a:t>property</a:t>
            </a:r>
            <a:r>
              <a:rPr lang="en-US" altLang="en-US" sz="2800" dirty="0"/>
              <a:t> for purposes of §304, but doesn’t apply to </a:t>
            </a:r>
            <a:r>
              <a:rPr lang="en-US" altLang="en-US" sz="2800" b="1" dirty="0"/>
              <a:t>acquisition indebtedness. </a:t>
            </a:r>
            <a:r>
              <a:rPr lang="en-US" altLang="en-US" sz="2800" dirty="0"/>
              <a:t>§304(b)(3)(B). </a:t>
            </a:r>
            <a:r>
              <a:rPr lang="en-US" altLang="en-US" sz="2800" b="1" dirty="0"/>
              <a:t> </a:t>
            </a:r>
            <a:endParaRPr lang="en-US" sz="28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8A387F-8FFE-1B43-949A-3BABCF6D0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Overlap with Section 351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41E97-F7C7-354B-88F5-981ADF0C0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BA06D-0041-0D44-B5E3-A763E4167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Section 304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26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5608</TotalTime>
  <Words>2138</Words>
  <Application>Microsoft Macintosh PowerPoint</Application>
  <PresentationFormat>Widescreen</PresentationFormat>
  <Paragraphs>189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ＭＳ Ｐゴシック</vt:lpstr>
      <vt:lpstr>NSimSun</vt:lpstr>
      <vt:lpstr>Arial</vt:lpstr>
      <vt:lpstr>Calibri</vt:lpstr>
      <vt:lpstr>Courier New</vt:lpstr>
      <vt:lpstr>OpenSans</vt:lpstr>
      <vt:lpstr>Times</vt:lpstr>
      <vt:lpstr>Times New Roman</vt:lpstr>
      <vt:lpstr>Wingdings</vt:lpstr>
      <vt:lpstr>Wingdings 2</vt:lpstr>
      <vt:lpstr>CG Body - Standard</vt:lpstr>
      <vt:lpstr>Redemptions Through Related Corporations:  Section 304 and Brother-Sister Acquisitions</vt:lpstr>
      <vt:lpstr>Section 304: Big Picture</vt:lpstr>
      <vt:lpstr>Review of Differing Consequences of Redemption</vt:lpstr>
      <vt:lpstr>Section 304(a)</vt:lpstr>
      <vt:lpstr>Section 304(a)(1):  Does it Apply?</vt:lpstr>
      <vt:lpstr>Section 304(a)(1):  Redemption or Distribution</vt:lpstr>
      <vt:lpstr>Section 304(a)(1):  Redemption or Distribution</vt:lpstr>
      <vt:lpstr>Section 304: Rev. Rul. 71-563</vt:lpstr>
      <vt:lpstr>Section 304: Basis Adjustments in the case of a Section 301 Distribution</vt:lpstr>
      <vt:lpstr>Proposed Stock Basis Withdrawal Notice (Mar. 28, 2019)</vt:lpstr>
      <vt:lpstr>304 Transaction Treated as S/X</vt:lpstr>
      <vt:lpstr>Redemptions Through Related Corporations:  Section 304 and Parent-Subsidiary Acquisitions</vt:lpstr>
      <vt:lpstr>Section 304(a)(2)</vt:lpstr>
      <vt:lpstr>Section 304 and Parent-Subsidiary Acquisitions</vt:lpstr>
      <vt:lpstr>Section 304 and Parent-Subsidiary Acquisitions</vt:lpstr>
      <vt:lpstr>Section 304 and Parent-Subsidiary Acquisitions</vt:lpstr>
      <vt:lpstr>Overlap with Section 351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 Simplications</dc:title>
  <dc:creator>J Colon</dc:creator>
  <cp:lastModifiedBy>Colon, Jeffrey M.</cp:lastModifiedBy>
  <cp:revision>89</cp:revision>
  <cp:lastPrinted>2021-03-09T13:05:12Z</cp:lastPrinted>
  <dcterms:created xsi:type="dcterms:W3CDTF">2016-08-01T04:04:31Z</dcterms:created>
  <dcterms:modified xsi:type="dcterms:W3CDTF">2026-02-28T16:01:35Z</dcterms:modified>
</cp:coreProperties>
</file>