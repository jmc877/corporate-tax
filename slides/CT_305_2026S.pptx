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85" r:id="rId2"/>
    <p:sldId id="286" r:id="rId3"/>
    <p:sldId id="258" r:id="rId4"/>
    <p:sldId id="289" r:id="rId5"/>
    <p:sldId id="259" r:id="rId6"/>
    <p:sldId id="278" r:id="rId7"/>
    <p:sldId id="275" r:id="rId8"/>
    <p:sldId id="279" r:id="rId9"/>
    <p:sldId id="290" r:id="rId10"/>
    <p:sldId id="276" r:id="rId11"/>
    <p:sldId id="291" r:id="rId12"/>
    <p:sldId id="280" r:id="rId13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408927-E47B-EE4C-BDF6-FD90FD75419B}" v="281" dt="2026-03-10T15:23:27.9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99"/>
    <p:restoredTop sz="94475"/>
  </p:normalViewPr>
  <p:slideViewPr>
    <p:cSldViewPr snapToGrid="0" snapToObjects="1">
      <p:cViewPr varScale="1">
        <p:scale>
          <a:sx n="109" d="100"/>
          <a:sy n="109" d="100"/>
        </p:scale>
        <p:origin x="19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458F5B4D-4674-51EB-AE0A-4CE030354E61}"/>
    <pc:docChg chg="undo custSel addSld delSld modSld sldOrd modMainMaster">
      <pc:chgData name="Colon, Jeffrey M." userId="615143b1-cdee-493d-9a9d-1565ce8666d9" providerId="ADAL" clId="{458F5B4D-4674-51EB-AE0A-4CE030354E61}" dt="2026-03-10T15:23:27.913" v="1223" actId="115"/>
      <pc:docMkLst>
        <pc:docMk/>
      </pc:docMkLst>
      <pc:sldChg chg="modSp mod modAnim">
        <pc:chgData name="Colon, Jeffrey M." userId="615143b1-cdee-493d-9a9d-1565ce8666d9" providerId="ADAL" clId="{458F5B4D-4674-51EB-AE0A-4CE030354E61}" dt="2026-03-10T13:14:27.648" v="1160" actId="20577"/>
        <pc:sldMkLst>
          <pc:docMk/>
          <pc:sldMk cId="1463179221" sldId="258"/>
        </pc:sldMkLst>
        <pc:spChg chg="mod">
          <ac:chgData name="Colon, Jeffrey M." userId="615143b1-cdee-493d-9a9d-1565ce8666d9" providerId="ADAL" clId="{458F5B4D-4674-51EB-AE0A-4CE030354E61}" dt="2026-03-08T20:05:08.702" v="191" actId="1076"/>
          <ac:spMkLst>
            <pc:docMk/>
            <pc:sldMk cId="1463179221" sldId="258"/>
            <ac:spMk id="6" creationId="{00000000-0000-0000-0000-000000000000}"/>
          </ac:spMkLst>
        </pc:spChg>
        <pc:spChg chg="mod">
          <ac:chgData name="Colon, Jeffrey M." userId="615143b1-cdee-493d-9a9d-1565ce8666d9" providerId="ADAL" clId="{458F5B4D-4674-51EB-AE0A-4CE030354E61}" dt="2026-03-10T13:14:27.648" v="1160" actId="20577"/>
          <ac:spMkLst>
            <pc:docMk/>
            <pc:sldMk cId="1463179221" sldId="258"/>
            <ac:spMk id="7" creationId="{00000000-0000-0000-0000-000000000000}"/>
          </ac:spMkLst>
        </pc:spChg>
        <pc:spChg chg="mod">
          <ac:chgData name="Colon, Jeffrey M." userId="615143b1-cdee-493d-9a9d-1565ce8666d9" providerId="ADAL" clId="{458F5B4D-4674-51EB-AE0A-4CE030354E61}" dt="2026-03-08T15:32:35.897" v="22" actId="20577"/>
          <ac:spMkLst>
            <pc:docMk/>
            <pc:sldMk cId="1463179221" sldId="258"/>
            <ac:spMk id="18436" creationId="{00000000-0000-0000-0000-000000000000}"/>
          </ac:spMkLst>
        </pc:spChg>
        <pc:cxnChg chg="mod">
          <ac:chgData name="Colon, Jeffrey M." userId="615143b1-cdee-493d-9a9d-1565ce8666d9" providerId="ADAL" clId="{458F5B4D-4674-51EB-AE0A-4CE030354E61}" dt="2026-03-08T20:05:05.986" v="190" actId="14100"/>
          <ac:cxnSpMkLst>
            <pc:docMk/>
            <pc:sldMk cId="1463179221" sldId="258"/>
            <ac:cxnSpMk id="3" creationId="{00000000-0000-0000-0000-000000000000}"/>
          </ac:cxnSpMkLst>
        </pc:cxnChg>
      </pc:sldChg>
      <pc:sldChg chg="modSp">
        <pc:chgData name="Colon, Jeffrey M." userId="615143b1-cdee-493d-9a9d-1565ce8666d9" providerId="ADAL" clId="{458F5B4D-4674-51EB-AE0A-4CE030354E61}" dt="2026-03-10T13:44:38.862" v="1164" actId="115"/>
        <pc:sldMkLst>
          <pc:docMk/>
          <pc:sldMk cId="831894403" sldId="259"/>
        </pc:sldMkLst>
        <pc:spChg chg="mod">
          <ac:chgData name="Colon, Jeffrey M." userId="615143b1-cdee-493d-9a9d-1565ce8666d9" providerId="ADAL" clId="{458F5B4D-4674-51EB-AE0A-4CE030354E61}" dt="2026-03-10T13:44:38.862" v="1164" actId="115"/>
          <ac:spMkLst>
            <pc:docMk/>
            <pc:sldMk cId="831894403" sldId="259"/>
            <ac:spMk id="19461" creationId="{00000000-0000-0000-0000-000000000000}"/>
          </ac:spMkLst>
        </pc:spChg>
      </pc:sldChg>
      <pc:sldChg chg="modSp ord">
        <pc:chgData name="Colon, Jeffrey M." userId="615143b1-cdee-493d-9a9d-1565ce8666d9" providerId="ADAL" clId="{458F5B4D-4674-51EB-AE0A-4CE030354E61}" dt="2026-03-10T13:58:13.013" v="1215" actId="20577"/>
        <pc:sldMkLst>
          <pc:docMk/>
          <pc:sldMk cId="1737900668" sldId="275"/>
        </pc:sldMkLst>
        <pc:spChg chg="mod">
          <ac:chgData name="Colon, Jeffrey M." userId="615143b1-cdee-493d-9a9d-1565ce8666d9" providerId="ADAL" clId="{458F5B4D-4674-51EB-AE0A-4CE030354E61}" dt="2026-03-10T13:58:13.013" v="1215" actId="20577"/>
          <ac:spMkLst>
            <pc:docMk/>
            <pc:sldMk cId="1737900668" sldId="275"/>
            <ac:spMk id="2" creationId="{00000000-0000-0000-0000-000000000000}"/>
          </ac:spMkLst>
        </pc:spChg>
      </pc:sldChg>
      <pc:sldChg chg="ord">
        <pc:chgData name="Colon, Jeffrey M." userId="615143b1-cdee-493d-9a9d-1565ce8666d9" providerId="ADAL" clId="{458F5B4D-4674-51EB-AE0A-4CE030354E61}" dt="2026-03-08T23:47:10.489" v="1154" actId="20578"/>
        <pc:sldMkLst>
          <pc:docMk/>
          <pc:sldMk cId="1190754410" sldId="276"/>
        </pc:sldMkLst>
      </pc:sldChg>
      <pc:sldChg chg="modSp mod ord">
        <pc:chgData name="Colon, Jeffrey M." userId="615143b1-cdee-493d-9a9d-1565ce8666d9" providerId="ADAL" clId="{458F5B4D-4674-51EB-AE0A-4CE030354E61}" dt="2026-03-10T13:56:15.127" v="1200" actId="20577"/>
        <pc:sldMkLst>
          <pc:docMk/>
          <pc:sldMk cId="1732007949" sldId="278"/>
        </pc:sldMkLst>
        <pc:spChg chg="mod">
          <ac:chgData name="Colon, Jeffrey M." userId="615143b1-cdee-493d-9a9d-1565ce8666d9" providerId="ADAL" clId="{458F5B4D-4674-51EB-AE0A-4CE030354E61}" dt="2026-03-10T13:56:15.127" v="1200" actId="20577"/>
          <ac:spMkLst>
            <pc:docMk/>
            <pc:sldMk cId="1732007949" sldId="278"/>
            <ac:spMk id="2" creationId="{00000000-0000-0000-0000-000000000000}"/>
          </ac:spMkLst>
        </pc:spChg>
        <pc:spChg chg="mod">
          <ac:chgData name="Colon, Jeffrey M." userId="615143b1-cdee-493d-9a9d-1565ce8666d9" providerId="ADAL" clId="{458F5B4D-4674-51EB-AE0A-4CE030354E61}" dt="2026-03-10T13:47:18.478" v="1165" actId="108"/>
          <ac:spMkLst>
            <pc:docMk/>
            <pc:sldMk cId="1732007949" sldId="278"/>
            <ac:spMk id="3" creationId="{00000000-0000-0000-0000-000000000000}"/>
          </ac:spMkLst>
        </pc:spChg>
      </pc:sldChg>
      <pc:sldChg chg="modSp ord modAnim">
        <pc:chgData name="Colon, Jeffrey M." userId="615143b1-cdee-493d-9a9d-1565ce8666d9" providerId="ADAL" clId="{458F5B4D-4674-51EB-AE0A-4CE030354E61}" dt="2026-03-10T15:23:27.913" v="1223" actId="115"/>
        <pc:sldMkLst>
          <pc:docMk/>
          <pc:sldMk cId="3647195986" sldId="279"/>
        </pc:sldMkLst>
        <pc:spChg chg="mod">
          <ac:chgData name="Colon, Jeffrey M." userId="615143b1-cdee-493d-9a9d-1565ce8666d9" providerId="ADAL" clId="{458F5B4D-4674-51EB-AE0A-4CE030354E61}" dt="2026-03-10T15:23:27.913" v="1223" actId="115"/>
          <ac:spMkLst>
            <pc:docMk/>
            <pc:sldMk cId="3647195986" sldId="279"/>
            <ac:spMk id="2" creationId="{00000000-0000-0000-0000-000000000000}"/>
          </ac:spMkLst>
        </pc:spChg>
      </pc:sldChg>
      <pc:sldChg chg="modSp new mod modAnim">
        <pc:chgData name="Colon, Jeffrey M." userId="615143b1-cdee-493d-9a9d-1565ce8666d9" providerId="ADAL" clId="{458F5B4D-4674-51EB-AE0A-4CE030354E61}" dt="2026-03-08T20:21:56.428" v="331" actId="20577"/>
        <pc:sldMkLst>
          <pc:docMk/>
          <pc:sldMk cId="71335038" sldId="286"/>
        </pc:sldMkLst>
        <pc:spChg chg="mod">
          <ac:chgData name="Colon, Jeffrey M." userId="615143b1-cdee-493d-9a9d-1565ce8666d9" providerId="ADAL" clId="{458F5B4D-4674-51EB-AE0A-4CE030354E61}" dt="2026-03-08T20:18:48.291" v="304" actId="20577"/>
          <ac:spMkLst>
            <pc:docMk/>
            <pc:sldMk cId="71335038" sldId="286"/>
            <ac:spMk id="2" creationId="{77AE07B2-DBF2-8F40-8EC9-DBF9A6737AB9}"/>
          </ac:spMkLst>
        </pc:spChg>
        <pc:spChg chg="mod">
          <ac:chgData name="Colon, Jeffrey M." userId="615143b1-cdee-493d-9a9d-1565ce8666d9" providerId="ADAL" clId="{458F5B4D-4674-51EB-AE0A-4CE030354E61}" dt="2026-03-08T20:21:56.428" v="331" actId="20577"/>
          <ac:spMkLst>
            <pc:docMk/>
            <pc:sldMk cId="71335038" sldId="286"/>
            <ac:spMk id="3" creationId="{FAC18BDC-1040-237C-4DFB-11B59264E746}"/>
          </ac:spMkLst>
        </pc:spChg>
      </pc:sldChg>
      <pc:sldChg chg="addSp delSp modSp new mod modAnim">
        <pc:chgData name="Colon, Jeffrey M." userId="615143b1-cdee-493d-9a9d-1565ce8666d9" providerId="ADAL" clId="{458F5B4D-4674-51EB-AE0A-4CE030354E61}" dt="2026-03-08T20:52:35.626" v="528" actId="20577"/>
        <pc:sldMkLst>
          <pc:docMk/>
          <pc:sldMk cId="3313712330" sldId="289"/>
        </pc:sldMkLst>
        <pc:spChg chg="mod">
          <ac:chgData name="Colon, Jeffrey M." userId="615143b1-cdee-493d-9a9d-1565ce8666d9" providerId="ADAL" clId="{458F5B4D-4674-51EB-AE0A-4CE030354E61}" dt="2026-03-08T20:30:15.235" v="477" actId="20577"/>
          <ac:spMkLst>
            <pc:docMk/>
            <pc:sldMk cId="3313712330" sldId="289"/>
            <ac:spMk id="3" creationId="{1088F30B-6EB8-0EB3-91A1-CA29D2D6C515}"/>
          </ac:spMkLst>
        </pc:spChg>
        <pc:spChg chg="add mod">
          <ac:chgData name="Colon, Jeffrey M." userId="615143b1-cdee-493d-9a9d-1565ce8666d9" providerId="ADAL" clId="{458F5B4D-4674-51EB-AE0A-4CE030354E61}" dt="2026-03-08T20:39:43.462" v="510" actId="255"/>
          <ac:spMkLst>
            <pc:docMk/>
            <pc:sldMk cId="3313712330" sldId="289"/>
            <ac:spMk id="8" creationId="{77303B6A-844A-3A89-F937-69FF3563E74C}"/>
          </ac:spMkLst>
        </pc:spChg>
        <pc:spChg chg="add mod">
          <ac:chgData name="Colon, Jeffrey M." userId="615143b1-cdee-493d-9a9d-1565ce8666d9" providerId="ADAL" clId="{458F5B4D-4674-51EB-AE0A-4CE030354E61}" dt="2026-03-08T20:39:48.845" v="511" actId="255"/>
          <ac:spMkLst>
            <pc:docMk/>
            <pc:sldMk cId="3313712330" sldId="289"/>
            <ac:spMk id="10" creationId="{D8809669-17F4-0103-FC25-AF4F0A2E59DE}"/>
          </ac:spMkLst>
        </pc:spChg>
        <pc:spChg chg="add mod">
          <ac:chgData name="Colon, Jeffrey M." userId="615143b1-cdee-493d-9a9d-1565ce8666d9" providerId="ADAL" clId="{458F5B4D-4674-51EB-AE0A-4CE030354E61}" dt="2026-03-08T20:34:19.848" v="504" actId="14100"/>
          <ac:spMkLst>
            <pc:docMk/>
            <pc:sldMk cId="3313712330" sldId="289"/>
            <ac:spMk id="11" creationId="{98D972F6-7B02-E327-4F96-476E8DECEB86}"/>
          </ac:spMkLst>
        </pc:spChg>
        <pc:spChg chg="add mod">
          <ac:chgData name="Colon, Jeffrey M." userId="615143b1-cdee-493d-9a9d-1565ce8666d9" providerId="ADAL" clId="{458F5B4D-4674-51EB-AE0A-4CE030354E61}" dt="2026-03-08T20:40:15.407" v="521" actId="20577"/>
          <ac:spMkLst>
            <pc:docMk/>
            <pc:sldMk cId="3313712330" sldId="289"/>
            <ac:spMk id="12" creationId="{8811A72D-1A63-D51F-029E-362914ABBFAE}"/>
          </ac:spMkLst>
        </pc:spChg>
        <pc:spChg chg="add mod">
          <ac:chgData name="Colon, Jeffrey M." userId="615143b1-cdee-493d-9a9d-1565ce8666d9" providerId="ADAL" clId="{458F5B4D-4674-51EB-AE0A-4CE030354E61}" dt="2026-03-08T20:34:19.848" v="504" actId="14100"/>
          <ac:spMkLst>
            <pc:docMk/>
            <pc:sldMk cId="3313712330" sldId="289"/>
            <ac:spMk id="13" creationId="{0A614160-4C01-6A5A-16FC-B0B321E0026E}"/>
          </ac:spMkLst>
        </pc:spChg>
        <pc:spChg chg="add mod">
          <ac:chgData name="Colon, Jeffrey M." userId="615143b1-cdee-493d-9a9d-1565ce8666d9" providerId="ADAL" clId="{458F5B4D-4674-51EB-AE0A-4CE030354E61}" dt="2026-03-08T20:40:28.495" v="523" actId="113"/>
          <ac:spMkLst>
            <pc:docMk/>
            <pc:sldMk cId="3313712330" sldId="289"/>
            <ac:spMk id="14" creationId="{303EF1DD-8B4C-0FD0-5417-EA31D0B12C3E}"/>
          </ac:spMkLst>
        </pc:spChg>
        <pc:spChg chg="add mod">
          <ac:chgData name="Colon, Jeffrey M." userId="615143b1-cdee-493d-9a9d-1565ce8666d9" providerId="ADAL" clId="{458F5B4D-4674-51EB-AE0A-4CE030354E61}" dt="2026-03-08T20:34:19.848" v="504" actId="14100"/>
          <ac:spMkLst>
            <pc:docMk/>
            <pc:sldMk cId="3313712330" sldId="289"/>
            <ac:spMk id="15" creationId="{D01962E2-B809-E0F9-DE69-EC76BB17F4AD}"/>
          </ac:spMkLst>
        </pc:spChg>
        <pc:spChg chg="add mod">
          <ac:chgData name="Colon, Jeffrey M." userId="615143b1-cdee-493d-9a9d-1565ce8666d9" providerId="ADAL" clId="{458F5B4D-4674-51EB-AE0A-4CE030354E61}" dt="2026-03-08T20:40:40.577" v="525" actId="255"/>
          <ac:spMkLst>
            <pc:docMk/>
            <pc:sldMk cId="3313712330" sldId="289"/>
            <ac:spMk id="16" creationId="{BCC822B4-9BDB-F5ED-1615-F2DA8D9BCD63}"/>
          </ac:spMkLst>
        </pc:spChg>
        <pc:spChg chg="add mod">
          <ac:chgData name="Colon, Jeffrey M." userId="615143b1-cdee-493d-9a9d-1565ce8666d9" providerId="ADAL" clId="{458F5B4D-4674-51EB-AE0A-4CE030354E61}" dt="2026-03-08T20:34:19.848" v="504" actId="14100"/>
          <ac:spMkLst>
            <pc:docMk/>
            <pc:sldMk cId="3313712330" sldId="289"/>
            <ac:spMk id="24" creationId="{C5BD4FE4-2CE7-4815-DE18-1EE71DF0FCB9}"/>
          </ac:spMkLst>
        </pc:spChg>
        <pc:spChg chg="add mod">
          <ac:chgData name="Colon, Jeffrey M." userId="615143b1-cdee-493d-9a9d-1565ce8666d9" providerId="ADAL" clId="{458F5B4D-4674-51EB-AE0A-4CE030354E61}" dt="2026-03-08T20:39:26.182" v="509" actId="14100"/>
          <ac:spMkLst>
            <pc:docMk/>
            <pc:sldMk cId="3313712330" sldId="289"/>
            <ac:spMk id="26" creationId="{86D5EAEB-B7C3-DE1B-812C-22D77302A457}"/>
          </ac:spMkLst>
        </pc:spChg>
        <pc:spChg chg="add mod">
          <ac:chgData name="Colon, Jeffrey M." userId="615143b1-cdee-493d-9a9d-1565ce8666d9" providerId="ADAL" clId="{458F5B4D-4674-51EB-AE0A-4CE030354E61}" dt="2026-03-08T20:52:35.626" v="528" actId="20577"/>
          <ac:spMkLst>
            <pc:docMk/>
            <pc:sldMk cId="3313712330" sldId="289"/>
            <ac:spMk id="28" creationId="{821C3EFE-F92A-56CF-9A15-5BE332564404}"/>
          </ac:spMkLst>
        </pc:spChg>
      </pc:sldChg>
      <pc:sldChg chg="modSp new mod ord modAnim">
        <pc:chgData name="Colon, Jeffrey M." userId="615143b1-cdee-493d-9a9d-1565ce8666d9" providerId="ADAL" clId="{458F5B4D-4674-51EB-AE0A-4CE030354E61}" dt="2026-03-10T14:15:21.458" v="1218" actId="115"/>
        <pc:sldMkLst>
          <pc:docMk/>
          <pc:sldMk cId="3376943419" sldId="290"/>
        </pc:sldMkLst>
        <pc:spChg chg="mod">
          <ac:chgData name="Colon, Jeffrey M." userId="615143b1-cdee-493d-9a9d-1565ce8666d9" providerId="ADAL" clId="{458F5B4D-4674-51EB-AE0A-4CE030354E61}" dt="2026-03-10T14:15:21.458" v="1218" actId="115"/>
          <ac:spMkLst>
            <pc:docMk/>
            <pc:sldMk cId="3376943419" sldId="290"/>
            <ac:spMk id="2" creationId="{79C07A9D-D1AD-7726-3305-EF72497ADCA1}"/>
          </ac:spMkLst>
        </pc:spChg>
        <pc:spChg chg="mod">
          <ac:chgData name="Colon, Jeffrey M." userId="615143b1-cdee-493d-9a9d-1565ce8666d9" providerId="ADAL" clId="{458F5B4D-4674-51EB-AE0A-4CE030354E61}" dt="2026-03-08T22:10:11.782" v="569" actId="20577"/>
          <ac:spMkLst>
            <pc:docMk/>
            <pc:sldMk cId="3376943419" sldId="290"/>
            <ac:spMk id="3" creationId="{EE87B468-609B-68CA-73A3-F60751BF5CBE}"/>
          </ac:spMkLst>
        </pc:spChg>
      </pc:sldChg>
      <pc:sldChg chg="modSp new mod">
        <pc:chgData name="Colon, Jeffrey M." userId="615143b1-cdee-493d-9a9d-1565ce8666d9" providerId="ADAL" clId="{458F5B4D-4674-51EB-AE0A-4CE030354E61}" dt="2026-03-10T14:32:43.985" v="1220" actId="113"/>
        <pc:sldMkLst>
          <pc:docMk/>
          <pc:sldMk cId="2012334462" sldId="291"/>
        </pc:sldMkLst>
        <pc:spChg chg="mod">
          <ac:chgData name="Colon, Jeffrey M." userId="615143b1-cdee-493d-9a9d-1565ce8666d9" providerId="ADAL" clId="{458F5B4D-4674-51EB-AE0A-4CE030354E61}" dt="2026-03-10T14:32:43.985" v="1220" actId="113"/>
          <ac:spMkLst>
            <pc:docMk/>
            <pc:sldMk cId="2012334462" sldId="291"/>
            <ac:spMk id="2" creationId="{9BCDADA2-559E-108C-E0DE-0B0B7162CBE0}"/>
          </ac:spMkLst>
        </pc:spChg>
        <pc:spChg chg="mod">
          <ac:chgData name="Colon, Jeffrey M." userId="615143b1-cdee-493d-9a9d-1565ce8666d9" providerId="ADAL" clId="{458F5B4D-4674-51EB-AE0A-4CE030354E61}" dt="2026-03-08T23:43:45.403" v="1121" actId="20577"/>
          <ac:spMkLst>
            <pc:docMk/>
            <pc:sldMk cId="2012334462" sldId="291"/>
            <ac:spMk id="3" creationId="{F8FA7B2E-2F5D-FB4A-DA37-872B2B96A816}"/>
          </ac:spMkLst>
        </pc:spChg>
      </pc:sldChg>
      <pc:sldMasterChg chg="modSp mod">
        <pc:chgData name="Colon, Jeffrey M." userId="615143b1-cdee-493d-9a9d-1565ce8666d9" providerId="ADAL" clId="{458F5B4D-4674-51EB-AE0A-4CE030354E61}" dt="2026-03-08T15:28:22.344" v="4" actId="20577"/>
        <pc:sldMasterMkLst>
          <pc:docMk/>
          <pc:sldMasterMk cId="371776349" sldId="2147483660"/>
        </pc:sldMasterMkLst>
        <pc:spChg chg="mod">
          <ac:chgData name="Colon, Jeffrey M." userId="615143b1-cdee-493d-9a9d-1565ce8666d9" providerId="ADAL" clId="{458F5B4D-4674-51EB-AE0A-4CE030354E61}" dt="2026-03-08T15:28:22.344" v="4" actId="20577"/>
          <ac:spMkLst>
            <pc:docMk/>
            <pc:sldMasterMk cId="371776349" sldId="2147483660"/>
            <ac:spMk id="9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F2E595D-07B5-CF44-AE63-906CA02C7BEF}" type="datetimeFigureOut">
              <a:rPr lang="en-US" smtClean="0"/>
              <a:t>3/10/26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94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44863"/>
            <a:ext cx="560832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1"/>
            <a:ext cx="3037840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772671"/>
            <a:ext cx="3037840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2991C84-E9AD-4349-A89D-CDCB4DBB2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392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51494" indent="-289036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56145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18602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81060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33EE0142-2A2D-8C4E-94A7-3BF32D4394A0}" type="slidenum">
              <a:rPr lang="en-US" altLang="en-US">
                <a:latin typeface="Times" charset="0"/>
              </a:rPr>
              <a:pPr/>
              <a:t>3</a:t>
            </a:fld>
            <a:endParaRPr lang="en-US" altLang="en-US">
              <a:latin typeface="Times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7925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51494" indent="-289036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56145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18602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81060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10000A5-5496-2C4B-96ED-17CE8ECD81A8}" type="slidenum">
              <a:rPr lang="en-US" altLang="en-US">
                <a:latin typeface="Times" charset="0"/>
              </a:rPr>
              <a:pPr/>
              <a:t>5</a:t>
            </a:fld>
            <a:endParaRPr lang="en-US" altLang="en-US">
              <a:latin typeface="Times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0689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2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 dirty="0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 dirty="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 dirty="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 dirty="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 dirty="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 dirty="0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 dirty="0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 dirty="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 dirty="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 dirty="0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 dirty="0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 dirty="0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 dirty="0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Stock Distributions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371601"/>
            <a:ext cx="53848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1"/>
            <a:ext cx="53848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Stock Distributions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BEE2D7-1F05-0540-AD0D-C8F6AEBAE5C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78493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838200"/>
            <a:ext cx="5537200" cy="5410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5200" y="838200"/>
            <a:ext cx="5537200" cy="5410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FF7ECB-CB75-4948-83AF-408B7FD6609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3688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8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dirty="0">
                <a:latin typeface="+mn-lt"/>
              </a:rPr>
              <a:t>CT</a:t>
            </a:r>
            <a:r>
              <a:rPr lang="en-US" sz="800" baseline="0" dirty="0">
                <a:latin typeface="+mn-lt"/>
              </a:rPr>
              <a:t>_305_2026S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6" r:id="rId56"/>
    <p:sldLayoutId id="2147483717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 txBox="1">
            <a:spLocks/>
          </p:cNvSpPr>
          <p:nvPr/>
        </p:nvSpPr>
        <p:spPr bwMode="auto">
          <a:xfrm>
            <a:off x="1828800" y="1600200"/>
            <a:ext cx="8534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4400" b="1" dirty="0">
                <a:latin typeface="Calibri" charset="0"/>
              </a:rPr>
              <a:t>Corporate Taxation:  </a:t>
            </a:r>
          </a:p>
          <a:p>
            <a:pPr algn="ctr" eaLnBrk="1" hangingPunct="1"/>
            <a:r>
              <a:rPr lang="en-US" sz="4400">
                <a:latin typeface="Calibri" charset="0"/>
              </a:rPr>
              <a:t>Stock Distributions and </a:t>
            </a:r>
            <a:r>
              <a:rPr lang="en-US" sz="4400" dirty="0">
                <a:latin typeface="Calibri" charset="0"/>
              </a:rPr>
              <a:t>Section 305</a:t>
            </a:r>
            <a:endParaRPr lang="en-US" sz="4400" b="1" dirty="0">
              <a:latin typeface="Calibri" charset="0"/>
            </a:endParaRPr>
          </a:p>
        </p:txBody>
      </p:sp>
      <p:pic>
        <p:nvPicPr>
          <p:cNvPr id="17411" name="Picture 4" descr="pic1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9314" y="5486400"/>
            <a:ext cx="2873375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C9858D-ABDF-98B8-1DE5-49972F4B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530B2-D7A6-9274-8F38-92F5C05EF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D706CB-156B-8643-9A07-D8448DABBCBD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AE07B2-DBF2-8F40-8EC9-DBF9A6737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buFont typeface="Wingdings" pitchFamily="2" charset="2"/>
              <a:buChar char="§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305 governs distributions of a corporation's own stock (or rights to acquire stock to SHs</a:t>
            </a:r>
            <a:endParaRPr lang="en-US" sz="2800" dirty="0">
              <a:ea typeface="Calibri" pitchFamily="34" charset="-122"/>
            </a:endParaRPr>
          </a:p>
          <a:p>
            <a:pPr lvl="1"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apply to transfers of stock to creditors, vendors, or employees in those capacities</a:t>
            </a:r>
            <a:endParaRPr lang="en-US" sz="2400" dirty="0"/>
          </a:p>
          <a:p>
            <a:pPr>
              <a:spcAft>
                <a:spcPts val="600"/>
              </a:spcAft>
              <a:buFont typeface="Wingdings" pitchFamily="2" charset="2"/>
              <a:buChar char="§"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305(d): warrants are treated as stock; holders of warrants and convertible debt are treated as shareholders</a:t>
            </a:r>
            <a:endParaRPr lang="en-US" sz="2800" dirty="0"/>
          </a:p>
          <a:p>
            <a:pPr>
              <a:spcAft>
                <a:spcPts val="600"/>
              </a:spcAft>
              <a:buFont typeface="Wingdings" pitchFamily="2" charset="2"/>
              <a:buChar char="§"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does a stock distribution alter the relative economic interests of shareholders (taxable), or merely divide the same pie into smaller slices (non-taxable)?</a:t>
            </a:r>
            <a:endParaRPr lang="en-US" sz="28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C18BDC-1040-237C-4DFB-11B59264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Section 305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B05F3-10E6-AFD0-BDDA-4783E8249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80E89-6BF6-8AA4-7CC5-F4B63F14E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3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000" dirty="0">
                <a:ea typeface="ＭＳ Ｐゴシック" charset="-128"/>
              </a:rPr>
              <a:t>Stock Distributions: Section 305(a)</a:t>
            </a:r>
          </a:p>
        </p:txBody>
      </p:sp>
      <p:sp>
        <p:nvSpPr>
          <p:cNvPr id="18438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654800" y="838200"/>
            <a:ext cx="5537200" cy="54102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ea typeface="ＭＳ Ｐゴシック" charset="-128"/>
              </a:rPr>
              <a:t> </a:t>
            </a:r>
          </a:p>
        </p:txBody>
      </p:sp>
      <p:sp>
        <p:nvSpPr>
          <p:cNvPr id="18440" name="Line 6"/>
          <p:cNvSpPr>
            <a:spLocks noChangeShapeType="1"/>
          </p:cNvSpPr>
          <p:nvPr/>
        </p:nvSpPr>
        <p:spPr bwMode="auto">
          <a:xfrm flipH="1" flipV="1">
            <a:off x="1886194" y="2507049"/>
            <a:ext cx="913649" cy="4110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441" name="Oval 7"/>
          <p:cNvSpPr>
            <a:spLocks noChangeArrowheads="1"/>
          </p:cNvSpPr>
          <p:nvPr/>
        </p:nvSpPr>
        <p:spPr bwMode="auto">
          <a:xfrm>
            <a:off x="1412236" y="2119700"/>
            <a:ext cx="676022" cy="3873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A</a:t>
            </a:r>
          </a:p>
        </p:txBody>
      </p:sp>
      <p:sp>
        <p:nvSpPr>
          <p:cNvPr id="18442" name="Line 8"/>
          <p:cNvSpPr>
            <a:spLocks noChangeShapeType="1"/>
          </p:cNvSpPr>
          <p:nvPr/>
        </p:nvSpPr>
        <p:spPr bwMode="auto">
          <a:xfrm flipV="1">
            <a:off x="2799843" y="2403900"/>
            <a:ext cx="833665" cy="5142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443" name="Rectangle 9"/>
          <p:cNvSpPr>
            <a:spLocks noChangeArrowheads="1"/>
          </p:cNvSpPr>
          <p:nvPr/>
        </p:nvSpPr>
        <p:spPr bwMode="auto">
          <a:xfrm>
            <a:off x="2057401" y="2918140"/>
            <a:ext cx="1279076" cy="1073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endParaRPr lang="en-US" altLang="en-US" b="1" dirty="0"/>
          </a:p>
          <a:p>
            <a:pPr algn="ctr"/>
            <a:r>
              <a:rPr lang="en-US" altLang="en-US" b="1" dirty="0"/>
              <a:t>Y</a:t>
            </a:r>
          </a:p>
          <a:p>
            <a:pPr algn="ctr"/>
            <a:endParaRPr lang="en-US" altLang="en-US" dirty="0"/>
          </a:p>
        </p:txBody>
      </p:sp>
      <p:sp>
        <p:nvSpPr>
          <p:cNvPr id="18448" name="Rectangle 17"/>
          <p:cNvSpPr>
            <a:spLocks noChangeArrowheads="1"/>
          </p:cNvSpPr>
          <p:nvPr/>
        </p:nvSpPr>
        <p:spPr bwMode="auto">
          <a:xfrm>
            <a:off x="1599057" y="990600"/>
            <a:ext cx="145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2400" b="1" u="sng"/>
              <a:t>BEFORE</a:t>
            </a:r>
            <a:endParaRPr lang="en-US" altLang="en-US" u="sng"/>
          </a:p>
        </p:txBody>
      </p:sp>
      <p:sp>
        <p:nvSpPr>
          <p:cNvPr id="18449" name="Rectangle 18"/>
          <p:cNvSpPr>
            <a:spLocks noChangeArrowheads="1"/>
          </p:cNvSpPr>
          <p:nvPr/>
        </p:nvSpPr>
        <p:spPr bwMode="auto">
          <a:xfrm>
            <a:off x="8532362" y="1219200"/>
            <a:ext cx="120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2400" b="1" u="sng"/>
              <a:t>AFTER</a:t>
            </a:r>
            <a:endParaRPr lang="en-US" altLang="en-US" u="sng"/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>
            <a:off x="5824601" y="720392"/>
            <a:ext cx="0" cy="3828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23" name="Oval 7"/>
          <p:cNvSpPr>
            <a:spLocks noChangeArrowheads="1"/>
          </p:cNvSpPr>
          <p:nvPr/>
        </p:nvSpPr>
        <p:spPr bwMode="auto">
          <a:xfrm>
            <a:off x="3267789" y="2034433"/>
            <a:ext cx="676022" cy="3873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9010" y="2729199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 shares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031" y="2702717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 shares</a:t>
            </a:r>
          </a:p>
        </p:txBody>
      </p:sp>
      <p:sp>
        <p:nvSpPr>
          <p:cNvPr id="26" name="Line 6"/>
          <p:cNvSpPr>
            <a:spLocks noChangeShapeType="1"/>
          </p:cNvSpPr>
          <p:nvPr/>
        </p:nvSpPr>
        <p:spPr bwMode="auto">
          <a:xfrm flipH="1" flipV="1">
            <a:off x="7988376" y="2507048"/>
            <a:ext cx="913649" cy="4110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" name="Oval 7"/>
          <p:cNvSpPr>
            <a:spLocks noChangeArrowheads="1"/>
          </p:cNvSpPr>
          <p:nvPr/>
        </p:nvSpPr>
        <p:spPr bwMode="auto">
          <a:xfrm>
            <a:off x="7514418" y="2119699"/>
            <a:ext cx="676022" cy="3873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A</a:t>
            </a:r>
          </a:p>
        </p:txBody>
      </p:sp>
      <p:sp>
        <p:nvSpPr>
          <p:cNvPr id="28" name="Line 8"/>
          <p:cNvSpPr>
            <a:spLocks noChangeShapeType="1"/>
          </p:cNvSpPr>
          <p:nvPr/>
        </p:nvSpPr>
        <p:spPr bwMode="auto">
          <a:xfrm flipV="1">
            <a:off x="8902025" y="2403899"/>
            <a:ext cx="833665" cy="5142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8159583" y="2918139"/>
            <a:ext cx="1279076" cy="1073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endParaRPr lang="en-US" altLang="en-US" b="1" dirty="0"/>
          </a:p>
          <a:p>
            <a:pPr algn="ctr"/>
            <a:r>
              <a:rPr lang="en-US" altLang="en-US" b="1" dirty="0"/>
              <a:t>Y</a:t>
            </a:r>
          </a:p>
          <a:p>
            <a:pPr algn="ctr"/>
            <a:endParaRPr lang="en-US" altLang="en-US" dirty="0"/>
          </a:p>
        </p:txBody>
      </p:sp>
      <p:sp>
        <p:nvSpPr>
          <p:cNvPr id="30" name="Oval 7"/>
          <p:cNvSpPr>
            <a:spLocks noChangeArrowheads="1"/>
          </p:cNvSpPr>
          <p:nvPr/>
        </p:nvSpPr>
        <p:spPr bwMode="auto">
          <a:xfrm>
            <a:off x="9369971" y="2034432"/>
            <a:ext cx="676022" cy="3873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1192" y="2729198"/>
            <a:ext cx="119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 shares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8213" y="2702716"/>
            <a:ext cx="119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 shares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8692" y="4081403"/>
            <a:ext cx="339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declares a 2-for-1 stock dividend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8692" y="4802706"/>
            <a:ext cx="10640969" cy="1170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30188" lvl="1" indent="-230188">
              <a:lnSpc>
                <a:spcPct val="120000"/>
              </a:lnSpc>
              <a:buFont typeface="Wingdings 2" pitchFamily="18" charset="2"/>
              <a:buChar char=""/>
            </a:pPr>
            <a:r>
              <a:rPr lang="en-US" altLang="en-US" sz="2000" i="1" dirty="0"/>
              <a:t>Eisner v. Macomber</a:t>
            </a:r>
            <a:r>
              <a:rPr lang="en-US" altLang="en-US" sz="2000" dirty="0"/>
              <a:t>, 252 US 189 (1920) (taxing stock dividends is unconstitutional) </a:t>
            </a:r>
            <a:endParaRPr lang="en-US" sz="2000" dirty="0"/>
          </a:p>
          <a:p>
            <a:pPr marL="230188" lvl="1" indent="-230188">
              <a:lnSpc>
                <a:spcPct val="120000"/>
              </a:lnSpc>
              <a:buFont typeface="Wingdings 2" pitchFamily="18" charset="2"/>
              <a:buChar char=""/>
            </a:pPr>
            <a:r>
              <a:rPr lang="en-US" altLang="en-US" sz="2000" b="1" dirty="0">
                <a:ea typeface="ＭＳ Ｐゴシック" charset="-128"/>
              </a:rPr>
              <a:t>General rule</a:t>
            </a:r>
            <a:r>
              <a:rPr lang="en-US" altLang="en-US" sz="2000" dirty="0">
                <a:ea typeface="ＭＳ Ｐゴシック" charset="-128"/>
              </a:rPr>
              <a:t>: Stock distributions (including distributions of </a:t>
            </a:r>
            <a:r>
              <a:rPr lang="en-US" altLang="en-US" sz="2000" i="1" dirty="0">
                <a:ea typeface="ＭＳ Ｐゴシック" charset="-128"/>
              </a:rPr>
              <a:t>stock rights (warrants</a:t>
            </a:r>
            <a:r>
              <a:rPr lang="en-US" altLang="en-US" sz="2000" dirty="0">
                <a:ea typeface="ＭＳ Ｐゴシック" charset="-128"/>
              </a:rPr>
              <a:t>)) are excluded from gross income. </a:t>
            </a:r>
            <a:r>
              <a:rPr lang="en-US" altLang="en-US" sz="2000" dirty="0"/>
              <a:t>§</a:t>
            </a:r>
            <a:r>
              <a:rPr lang="en-US" altLang="en-US" sz="2000" dirty="0">
                <a:ea typeface="ＭＳ Ｐゴシック" charset="-128"/>
              </a:rPr>
              <a:t>305(a), (d)(1). </a:t>
            </a:r>
            <a:endParaRPr lang="en-US" sz="2000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317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0" grpId="0" animBg="1"/>
      <p:bldP spid="18441" grpId="0" animBg="1"/>
      <p:bldP spid="18442" grpId="0" animBg="1"/>
      <p:bldP spid="18443" grpId="0" animBg="1"/>
      <p:bldP spid="18448" grpId="0"/>
      <p:bldP spid="18449" grpId="0"/>
      <p:bldP spid="23" grpId="0" animBg="1"/>
      <p:bldP spid="5" grpId="0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6" grpId="0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88F30B-6EB8-0EB3-91A1-CA29D2D6C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 to </a:t>
            </a:r>
            <a:r>
              <a:rPr lang="en-US" altLang="en-US" sz="2400" dirty="0"/>
              <a:t>§</a:t>
            </a:r>
            <a:r>
              <a:rPr lang="en-US" dirty="0"/>
              <a:t>305(a)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105DF-0C60-D501-3ECE-D7F483FA35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6D4F4-D52E-7E58-BC90-73FEEA5DA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7303B6A-844A-3A89-F937-69FF3563E74C}"/>
              </a:ext>
            </a:extLst>
          </p:cNvPr>
          <p:cNvSpPr/>
          <p:nvPr/>
        </p:nvSpPr>
        <p:spPr>
          <a:xfrm>
            <a:off x="2950464" y="1045029"/>
            <a:ext cx="8839200" cy="917883"/>
          </a:xfrm>
          <a:prstGeom prst="rect">
            <a:avLst/>
          </a:prstGeom>
          <a:noFill/>
          <a:ln w="34925">
            <a:solidFill>
              <a:schemeClr val="accent1"/>
            </a:solidFill>
          </a:ln>
        </p:spPr>
        <p:txBody>
          <a:bodyPr wrap="square" rtlCol="0" anchor="ctr"/>
          <a:lstStyle/>
          <a:p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distributions — shareholder may elect cash or stock</a:t>
            </a:r>
            <a:endParaRPr lang="en-US" sz="22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D8809669-17F4-0103-FC25-AF4F0A2E59DE}"/>
              </a:ext>
            </a:extLst>
          </p:cNvPr>
          <p:cNvSpPr/>
          <p:nvPr/>
        </p:nvSpPr>
        <p:spPr>
          <a:xfrm>
            <a:off x="2950464" y="1874085"/>
            <a:ext cx="8839200" cy="91788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 anchor="ctr"/>
          <a:lstStyle/>
          <a:p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Disproportionate distributions — increases proportionate interests</a:t>
            </a:r>
            <a:endParaRPr lang="en-US" sz="220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98D972F6-7B02-E327-4F96-476E8DECEB86}"/>
              </a:ext>
            </a:extLst>
          </p:cNvPr>
          <p:cNvSpPr/>
          <p:nvPr/>
        </p:nvSpPr>
        <p:spPr>
          <a:xfrm>
            <a:off x="670559" y="2703141"/>
            <a:ext cx="1985617" cy="917883"/>
          </a:xfrm>
          <a:prstGeom prst="rect">
            <a:avLst/>
          </a:prstGeom>
          <a:noFill/>
          <a:ln w="34925">
            <a:solidFill>
              <a:srgbClr val="1E2761"/>
            </a:solidFill>
          </a:ln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305(b)(3)</a:t>
            </a:r>
            <a:endParaRPr lang="en-US" sz="1867" dirty="0">
              <a:solidFill>
                <a:schemeClr val="tx2"/>
              </a:solidFill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8811A72D-1A63-D51F-029E-362914ABBFAE}"/>
              </a:ext>
            </a:extLst>
          </p:cNvPr>
          <p:cNvSpPr/>
          <p:nvPr/>
        </p:nvSpPr>
        <p:spPr>
          <a:xfrm>
            <a:off x="2950464" y="2703141"/>
            <a:ext cx="8839200" cy="91788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 anchor="ctr"/>
          <a:lstStyle/>
          <a:p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Common/preferred mix: some shareholders get preferred, others common</a:t>
            </a:r>
            <a:endParaRPr lang="en-US" sz="2200" dirty="0"/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0A614160-4C01-6A5A-16FC-B0B321E0026E}"/>
              </a:ext>
            </a:extLst>
          </p:cNvPr>
          <p:cNvSpPr/>
          <p:nvPr/>
        </p:nvSpPr>
        <p:spPr>
          <a:xfrm>
            <a:off x="670559" y="3532197"/>
            <a:ext cx="1985617" cy="917883"/>
          </a:xfrm>
          <a:prstGeom prst="rect">
            <a:avLst/>
          </a:prstGeom>
          <a:noFill/>
          <a:ln w="34925">
            <a:solidFill>
              <a:srgbClr val="1E2761"/>
            </a:solidFill>
          </a:ln>
        </p:spPr>
        <p:txBody>
          <a:bodyPr wrap="square" rtlCol="0" anchor="ctr"/>
          <a:lstStyle/>
          <a:p>
            <a:pPr algn="ctr"/>
            <a:r>
              <a:rPr lang="en-US" sz="1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§ 305(b)(4)</a:t>
            </a:r>
            <a:endParaRPr lang="en-US" sz="1867" dirty="0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303EF1DD-8B4C-0FD0-5417-EA31D0B12C3E}"/>
              </a:ext>
            </a:extLst>
          </p:cNvPr>
          <p:cNvSpPr/>
          <p:nvPr/>
        </p:nvSpPr>
        <p:spPr>
          <a:xfrm>
            <a:off x="2950464" y="3532197"/>
            <a:ext cx="8839200" cy="91788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 anchor="ctr"/>
          <a:lstStyle/>
          <a:p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</a:t>
            </a: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preferred stock</a:t>
            </a:r>
            <a:endParaRPr lang="en-US" sz="2200" dirty="0"/>
          </a:p>
        </p:txBody>
      </p:sp>
      <p:sp>
        <p:nvSpPr>
          <p:cNvPr id="15" name="Text 21">
            <a:extLst>
              <a:ext uri="{FF2B5EF4-FFF2-40B4-BE49-F238E27FC236}">
                <a16:creationId xmlns:a16="http://schemas.microsoft.com/office/drawing/2014/main" id="{D01962E2-B809-E0F9-DE69-EC76BB17F4AD}"/>
              </a:ext>
            </a:extLst>
          </p:cNvPr>
          <p:cNvSpPr/>
          <p:nvPr/>
        </p:nvSpPr>
        <p:spPr>
          <a:xfrm>
            <a:off x="670559" y="4361253"/>
            <a:ext cx="1985617" cy="917883"/>
          </a:xfrm>
          <a:prstGeom prst="rect">
            <a:avLst/>
          </a:prstGeom>
          <a:noFill/>
          <a:ln w="34925">
            <a:solidFill>
              <a:srgbClr val="1E2761"/>
            </a:solidFill>
          </a:ln>
        </p:spPr>
        <p:txBody>
          <a:bodyPr wrap="square" rtlCol="0" anchor="ctr"/>
          <a:lstStyle/>
          <a:p>
            <a:pPr algn="ctr"/>
            <a:r>
              <a:rPr lang="en-US" sz="1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§ 305(b)(5)</a:t>
            </a:r>
            <a:endParaRPr lang="en-US" sz="1867" dirty="0"/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BCC822B4-9BDB-F5ED-1615-F2DA8D9BCD63}"/>
              </a:ext>
            </a:extLst>
          </p:cNvPr>
          <p:cNvSpPr/>
          <p:nvPr/>
        </p:nvSpPr>
        <p:spPr>
          <a:xfrm>
            <a:off x="2950464" y="4361253"/>
            <a:ext cx="8839200" cy="91788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 anchor="ctr"/>
          <a:lstStyle/>
          <a:p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</a:t>
            </a: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convertible preferred stock</a:t>
            </a:r>
            <a:endParaRPr lang="en-US" sz="2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BD4FE4-2CE7-4815-DE18-1EE71DF0FCB9}"/>
              </a:ext>
            </a:extLst>
          </p:cNvPr>
          <p:cNvSpPr txBox="1"/>
          <p:nvPr/>
        </p:nvSpPr>
        <p:spPr>
          <a:xfrm>
            <a:off x="1567543" y="1619794"/>
            <a:ext cx="194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D5EAEB-B7C3-DE1B-812C-22D77302A457}"/>
              </a:ext>
            </a:extLst>
          </p:cNvPr>
          <p:cNvSpPr txBox="1"/>
          <p:nvPr/>
        </p:nvSpPr>
        <p:spPr>
          <a:xfrm>
            <a:off x="651600" y="1045029"/>
            <a:ext cx="2023534" cy="829054"/>
          </a:xfrm>
          <a:prstGeom prst="rect">
            <a:avLst/>
          </a:prstGeom>
          <a:noFill/>
          <a:ln w="34925">
            <a:solidFill>
              <a:srgbClr val="1E2761"/>
            </a:solidFill>
          </a:ln>
        </p:spPr>
        <p:txBody>
          <a:bodyPr wrap="square" rtlCol="0" anchor="ctr"/>
          <a:lstStyle>
            <a:defPPr>
              <a:defRPr lang="en-US"/>
            </a:defPPr>
            <a:lvl1pPr algn="ctr">
              <a:defRPr sz="1867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§ 305(b)(1)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1C3EFE-F92A-56CF-9A15-5BE332564404}"/>
              </a:ext>
            </a:extLst>
          </p:cNvPr>
          <p:cNvSpPr txBox="1"/>
          <p:nvPr/>
        </p:nvSpPr>
        <p:spPr>
          <a:xfrm>
            <a:off x="670560" y="1962912"/>
            <a:ext cx="1985616" cy="829055"/>
          </a:xfrm>
          <a:prstGeom prst="rect">
            <a:avLst/>
          </a:prstGeom>
          <a:noFill/>
          <a:ln w="34925">
            <a:solidFill>
              <a:srgbClr val="1E2761"/>
            </a:solidFill>
          </a:ln>
        </p:spPr>
        <p:txBody>
          <a:bodyPr wrap="square" rtlCol="0" anchor="ctr"/>
          <a:lstStyle>
            <a:defPPr>
              <a:defRPr lang="en-US"/>
            </a:defPPr>
            <a:lvl1pPr algn="ctr">
              <a:defRPr sz="1867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§ 305(b)(2)</a:t>
            </a:r>
          </a:p>
        </p:txBody>
      </p:sp>
    </p:spTree>
    <p:extLst>
      <p:ext uri="{BB962C8B-B14F-4D97-AF65-F5344CB8AC3E}">
        <p14:creationId xmlns:p14="http://schemas.microsoft.com/office/powerpoint/2010/main" val="331371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6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30188" indent="-230188"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</a:t>
            </a:r>
            <a:r>
              <a:rPr lang="en-US" altLang="en-US" b="1" u="sng" dirty="0">
                <a:ea typeface="ＭＳ Ｐゴシック" charset="-128"/>
              </a:rPr>
              <a:t>any</a:t>
            </a:r>
            <a:r>
              <a:rPr lang="en-US" altLang="en-US" b="1" i="1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</a:rPr>
              <a:t>shareholder can </a:t>
            </a:r>
            <a:r>
              <a:rPr lang="en-US" altLang="en-US" b="1" dirty="0">
                <a:ea typeface="ＭＳ Ｐゴシック" charset="-128"/>
              </a:rPr>
              <a:t>elect</a:t>
            </a:r>
            <a:r>
              <a:rPr lang="en-US" altLang="en-US" dirty="0">
                <a:ea typeface="ＭＳ Ｐゴシック" charset="-128"/>
              </a:rPr>
              <a:t> (either before or after declaration of the distribution) to </a:t>
            </a:r>
            <a:r>
              <a:rPr lang="en-US" altLang="en-US" b="1" dirty="0">
                <a:ea typeface="ＭＳ Ｐゴシック" charset="-128"/>
              </a:rPr>
              <a:t>receive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b="1" dirty="0">
                <a:ea typeface="ＭＳ Ｐゴシック" charset="-128"/>
              </a:rPr>
              <a:t>stock </a:t>
            </a:r>
            <a:r>
              <a:rPr lang="en-US" altLang="en-US" b="1" u="sng" dirty="0">
                <a:ea typeface="ＭＳ Ｐゴシック" charset="-128"/>
              </a:rPr>
              <a:t>or</a:t>
            </a:r>
            <a:r>
              <a:rPr lang="en-US" altLang="en-US" b="1" dirty="0">
                <a:ea typeface="ＭＳ Ｐゴシック" charset="-128"/>
              </a:rPr>
              <a:t> property, </a:t>
            </a:r>
            <a:r>
              <a:rPr lang="en-US" altLang="en-US" dirty="0">
                <a:ea typeface="ＭＳ Ｐゴシック" charset="-128"/>
              </a:rPr>
              <a:t>the distribution is </a:t>
            </a:r>
            <a:r>
              <a:rPr lang="en-US" altLang="en-US" b="1" dirty="0">
                <a:ea typeface="ＭＳ Ｐゴシック" charset="-128"/>
              </a:rPr>
              <a:t>taxable in its entirety to </a:t>
            </a:r>
            <a:r>
              <a:rPr lang="en-US" altLang="en-US" b="1" u="sng" dirty="0">
                <a:ea typeface="ＭＳ Ｐゴシック" charset="-128"/>
              </a:rPr>
              <a:t>all </a:t>
            </a:r>
            <a:r>
              <a:rPr lang="en-US" altLang="en-US" b="1" dirty="0">
                <a:ea typeface="ＭＳ Ｐゴシック" charset="-128"/>
              </a:rPr>
              <a:t>shareholders. </a:t>
            </a:r>
            <a:r>
              <a:rPr lang="en-US" altLang="en-US" dirty="0"/>
              <a:t>§</a:t>
            </a:r>
            <a:r>
              <a:rPr lang="en-US" altLang="en-US" dirty="0">
                <a:ea typeface="ＭＳ Ｐゴシック" charset="-128"/>
              </a:rPr>
              <a:t>305(b)(1).</a:t>
            </a:r>
            <a:endParaRPr lang="en-US" altLang="en-US" b="1" dirty="0">
              <a:ea typeface="ＭＳ Ｐゴシック" charset="-128"/>
            </a:endParaRPr>
          </a:p>
          <a:p>
            <a:pPr marL="230188" indent="-230188">
              <a:lnSpc>
                <a:spcPct val="120000"/>
              </a:lnSpc>
            </a:pPr>
            <a:r>
              <a:rPr lang="en-US" altLang="en-US" b="1" dirty="0">
                <a:ea typeface="ＭＳ Ｐゴシック" charset="-128"/>
              </a:rPr>
              <a:t>Rev. Rul. 83-68</a:t>
            </a:r>
          </a:p>
          <a:p>
            <a:pPr marL="458788" lvl="1" indent="-230188"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6% </a:t>
            </a:r>
            <a:r>
              <a:rPr lang="en-US" altLang="en-US" i="1" dirty="0">
                <a:ea typeface="ＭＳ Ｐゴシック" charset="-128"/>
              </a:rPr>
              <a:t>stock dividend </a:t>
            </a:r>
            <a:r>
              <a:rPr lang="en-US" altLang="en-US" dirty="0">
                <a:ea typeface="ＭＳ Ｐゴシック" charset="-128"/>
              </a:rPr>
              <a:t>to FHLB members of FHLB of City R.</a:t>
            </a:r>
          </a:p>
          <a:p>
            <a:pPr marL="458788" lvl="1" indent="-230188"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Each member advised that it could tender excess shares for redemption, </a:t>
            </a:r>
            <a:r>
              <a:rPr lang="en-US" altLang="en-US" u="sng" dirty="0">
                <a:ea typeface="ＭＳ Ｐゴシック" charset="-128"/>
              </a:rPr>
              <a:t>and at least one of the banks could have tendered all of its shares</a:t>
            </a:r>
            <a:r>
              <a:rPr lang="en-US" altLang="en-US" dirty="0">
                <a:ea typeface="ＭＳ Ｐゴシック" charset="-128"/>
              </a:rPr>
              <a:t>.</a:t>
            </a:r>
          </a:p>
          <a:p>
            <a:pPr marL="458788" lvl="1" indent="-230188"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All redemption requests honored in full.</a:t>
            </a:r>
          </a:p>
          <a:p>
            <a:pPr marL="230188" indent="-230188">
              <a:lnSpc>
                <a:spcPct val="120000"/>
              </a:lnSpc>
            </a:pPr>
            <a:r>
              <a:rPr lang="en-US" altLang="en-US" b="1" dirty="0">
                <a:ea typeface="ＭＳ Ｐゴシック" charset="-128"/>
              </a:rPr>
              <a:t>DRIPs</a:t>
            </a:r>
            <a:r>
              <a:rPr lang="en-US" altLang="en-US" dirty="0">
                <a:ea typeface="ＭＳ Ｐゴシック" charset="-128"/>
              </a:rPr>
              <a:t>: SH elects to participate in DRIP whereby cash dividends are payable in additional shares that are purchased at 95% of FMV.  Under Rev. Rul. 76-53, SH has </a:t>
            </a:r>
            <a:r>
              <a:rPr lang="en-US" altLang="en-US" dirty="0"/>
              <a:t>§</a:t>
            </a:r>
            <a:r>
              <a:rPr lang="en-US" altLang="en-US" dirty="0">
                <a:ea typeface="ＭＳ Ｐゴシック" charset="-128"/>
              </a:rPr>
              <a:t>301 distribution to the extent of the FMV of the stock received. Rev. Rul. 76-53.</a:t>
            </a:r>
          </a:p>
          <a:p>
            <a:pPr marL="230188" indent="-230188">
              <a:lnSpc>
                <a:spcPct val="120000"/>
              </a:lnSpc>
            </a:pPr>
            <a:r>
              <a:rPr lang="en-US" altLang="en-US" b="1" dirty="0">
                <a:ea typeface="ＭＳ Ｐゴシック" charset="-128"/>
              </a:rPr>
              <a:t>Rev. Rul. 80-154</a:t>
            </a:r>
            <a:r>
              <a:rPr lang="en-US" altLang="en-US" dirty="0">
                <a:ea typeface="ＭＳ Ｐゴシック" charset="-128"/>
              </a:rPr>
              <a:t>: Corp declares a </a:t>
            </a:r>
            <a:r>
              <a:rPr lang="en-US" altLang="en-US" i="1" dirty="0">
                <a:ea typeface="ＭＳ Ｐゴシック" charset="-128"/>
              </a:rPr>
              <a:t>cash</a:t>
            </a:r>
            <a:r>
              <a:rPr lang="en-US" altLang="en-US" dirty="0">
                <a:ea typeface="ＭＳ Ｐゴシック" charset="-128"/>
              </a:rPr>
              <a:t> dividend, but it </a:t>
            </a:r>
            <a:r>
              <a:rPr lang="en-US" altLang="en-US" i="1" dirty="0">
                <a:ea typeface="ＭＳ Ｐゴシック" charset="-128"/>
              </a:rPr>
              <a:t>requires</a:t>
            </a:r>
            <a:r>
              <a:rPr lang="en-US" altLang="en-US" dirty="0">
                <a:ea typeface="ＭＳ Ｐゴシック" charset="-128"/>
              </a:rPr>
              <a:t> that the cash be invested in corporation; no cash or shares were actually distributed, but Corp’s capital was increased. </a:t>
            </a:r>
          </a:p>
          <a:p>
            <a:pPr marL="230188" indent="-230188"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Corp distributes stock dividends to all SHs and grants 1 SH the option to receive $.  </a:t>
            </a:r>
            <a:r>
              <a:rPr lang="en-US" altLang="en-US" dirty="0" err="1">
                <a:ea typeface="ＭＳ Ｐゴシック" charset="-128"/>
              </a:rPr>
              <a:t>SH</a:t>
            </a:r>
            <a:r>
              <a:rPr lang="en-US" altLang="en-US" dirty="0">
                <a:ea typeface="ＭＳ Ｐゴシック" charset="-128"/>
              </a:rPr>
              <a:t> opts for stock instead of money.  Result? </a:t>
            </a:r>
          </a:p>
          <a:p>
            <a:pPr marL="458788" lvl="1" indent="-230188">
              <a:lnSpc>
                <a:spcPct val="120000"/>
              </a:lnSpc>
            </a:pPr>
            <a:endParaRPr lang="en-US" altLang="en-US" dirty="0">
              <a:ea typeface="ＭＳ Ｐゴシック" charset="-128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 dirty="0">
                <a:ea typeface="ＭＳ Ｐゴシック" charset="-128"/>
              </a:rPr>
              <a:t>Section 305(b)(1): Distributions in Lieu of Money under </a:t>
            </a:r>
            <a:r>
              <a:rPr lang="en-US" altLang="en-US" sz="2000" dirty="0"/>
              <a:t>§</a:t>
            </a:r>
            <a:r>
              <a:rPr lang="en-US" altLang="en-US" sz="2000" dirty="0">
                <a:ea typeface="ＭＳ Ｐゴシック" charset="-128"/>
              </a:rPr>
              <a:t>305(b)(1)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189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600" dirty="0"/>
              <a:t>Distribution has </a:t>
            </a:r>
            <a:r>
              <a:rPr lang="en-US" sz="2600" b="1" i="1" dirty="0">
                <a:solidFill>
                  <a:srgbClr val="FF0000"/>
                </a:solidFill>
              </a:rPr>
              <a:t>the result of</a:t>
            </a:r>
            <a:r>
              <a:rPr lang="en-US" sz="2600" i="1" dirty="0"/>
              <a:t>:</a:t>
            </a:r>
            <a:r>
              <a:rPr lang="en-US" sz="2600" dirty="0"/>
              <a:t> </a:t>
            </a:r>
          </a:p>
          <a:p>
            <a:pPr lvl="2"/>
            <a:r>
              <a:rPr lang="en-US" sz="2400" dirty="0"/>
              <a:t>(1) </a:t>
            </a:r>
            <a:r>
              <a:rPr lang="en-US" sz="2400" b="1" dirty="0"/>
              <a:t>receipt of property by some shareholders; </a:t>
            </a:r>
            <a:r>
              <a:rPr lang="en-US" sz="2400" b="1" u="sng" dirty="0"/>
              <a:t>and </a:t>
            </a:r>
          </a:p>
          <a:p>
            <a:pPr lvl="2"/>
            <a:r>
              <a:rPr lang="en-US" sz="2400" dirty="0"/>
              <a:t>(2) </a:t>
            </a:r>
            <a:r>
              <a:rPr lang="en-US" sz="2400" b="1" dirty="0"/>
              <a:t>an increase in the proportionate interest of other SHs in assets or E&amp;Ps of the corporation</a:t>
            </a:r>
            <a:r>
              <a:rPr lang="en-US" sz="2400" dirty="0"/>
              <a:t>. </a:t>
            </a:r>
            <a:r>
              <a:rPr lang="en-US" altLang="en-US" sz="2400" dirty="0"/>
              <a:t>§305(b)(2).</a:t>
            </a:r>
          </a:p>
          <a:p>
            <a:pPr lvl="1"/>
            <a:r>
              <a:rPr lang="en-US" altLang="en-US" sz="2400" dirty="0"/>
              <a:t>Corp has 2 classes of CS outstanding; $ on Class A &amp; Stock Dividend on Class B. Reg. §1.305-3(e), Ex. 1 </a:t>
            </a:r>
          </a:p>
          <a:p>
            <a:pPr lvl="1"/>
            <a:r>
              <a:rPr lang="en-US" altLang="en-US" sz="2400" dirty="0"/>
              <a:t>Corp has 1 class of CS outstanding and distributes CS and </a:t>
            </a:r>
            <a:r>
              <a:rPr lang="en-US" altLang="en-US" sz="2400" dirty="0" err="1"/>
              <a:t>Prd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Stk</a:t>
            </a:r>
            <a:r>
              <a:rPr lang="en-US" altLang="en-US" sz="2400" dirty="0"/>
              <a:t> to common </a:t>
            </a:r>
            <a:r>
              <a:rPr lang="en-US" altLang="en-US" sz="2400" dirty="0" err="1"/>
              <a:t>SHs</a:t>
            </a:r>
            <a:endParaRPr lang="en-US" altLang="en-US" sz="2400" dirty="0"/>
          </a:p>
          <a:p>
            <a:pPr lvl="1"/>
            <a:r>
              <a:rPr lang="en-US" altLang="en-US" sz="2400" dirty="0"/>
              <a:t>Corp has 1 class of CS and 1 class of </a:t>
            </a:r>
            <a:r>
              <a:rPr lang="en-US" altLang="en-US" sz="2400" dirty="0" err="1"/>
              <a:t>Prd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Stk</a:t>
            </a:r>
            <a:r>
              <a:rPr lang="en-US" altLang="en-US" sz="2400" dirty="0"/>
              <a:t> outstanding and distributes cash to </a:t>
            </a:r>
            <a:r>
              <a:rPr lang="en-US" altLang="en-US" sz="2400" dirty="0" err="1"/>
              <a:t>Prd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SHs</a:t>
            </a:r>
            <a:r>
              <a:rPr lang="en-US" altLang="en-US" sz="2400" dirty="0"/>
              <a:t> and CS to CS </a:t>
            </a:r>
            <a:r>
              <a:rPr lang="en-US" altLang="en-US" sz="2400" dirty="0" err="1"/>
              <a:t>SHs</a:t>
            </a:r>
            <a:r>
              <a:rPr lang="en-US" altLang="en-US" sz="2400" dirty="0"/>
              <a:t>. Reg. §1.305-3(e), Ex. 2 </a:t>
            </a:r>
          </a:p>
          <a:p>
            <a:pPr lvl="1"/>
            <a:r>
              <a:rPr lang="en-US" altLang="en-US" sz="2400" dirty="0"/>
              <a:t>Corp has 1 class of CS and 1 class of </a:t>
            </a:r>
            <a:r>
              <a:rPr lang="en-US" altLang="en-US" sz="2400" dirty="0" err="1"/>
              <a:t>Prd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Stk</a:t>
            </a:r>
            <a:r>
              <a:rPr lang="en-US" altLang="en-US" sz="2400" dirty="0"/>
              <a:t> outstanding and distributes cash to </a:t>
            </a:r>
            <a:r>
              <a:rPr lang="en-US" altLang="en-US" sz="2400" dirty="0" err="1"/>
              <a:t>Prd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SHs</a:t>
            </a:r>
            <a:r>
              <a:rPr lang="en-US" altLang="en-US" sz="2400" dirty="0"/>
              <a:t> and </a:t>
            </a:r>
            <a:r>
              <a:rPr lang="en-US" altLang="en-US" sz="2400" dirty="0" err="1"/>
              <a:t>Prd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Stk</a:t>
            </a:r>
            <a:r>
              <a:rPr lang="en-US" altLang="en-US" sz="2400" dirty="0"/>
              <a:t> to CS </a:t>
            </a:r>
            <a:r>
              <a:rPr lang="en-US" altLang="en-US" sz="2400" dirty="0" err="1"/>
              <a:t>SHs</a:t>
            </a:r>
            <a:r>
              <a:rPr lang="en-US" altLang="en-US" sz="2400" dirty="0"/>
              <a:t>. Reg. §1.305-3(e), Ex. 3</a:t>
            </a:r>
          </a:p>
          <a:p>
            <a:r>
              <a:rPr lang="en-US" altLang="en-US" sz="2600" dirty="0"/>
              <a:t>A distribution of property in an </a:t>
            </a:r>
            <a:r>
              <a:rPr lang="en-US" altLang="en-US" sz="2600" b="1" i="1" dirty="0"/>
              <a:t>isolated redemption, </a:t>
            </a:r>
            <a:r>
              <a:rPr lang="en-US" altLang="en-US" sz="2600" dirty="0"/>
              <a:t>even if it is treated as an ordinary distribution under §301 is not disproportionate. Reg. §1.305-3(b)(3).</a:t>
            </a:r>
            <a:endParaRPr lang="en-US" altLang="en-US" sz="2600" b="1" i="1" dirty="0"/>
          </a:p>
          <a:p>
            <a:r>
              <a:rPr lang="en-US" altLang="en-US" sz="2600" dirty="0"/>
              <a:t>Distributions of stock and receipt of property separated by more than 36 months are presumed not to result in the receipt of property/increase in interest. Reg. §1.305-3(b)(4).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 dirty="0">
                <a:ea typeface="ＭＳ Ｐゴシック" charset="-128"/>
              </a:rPr>
              <a:t>Section 305(b)(2): </a:t>
            </a:r>
            <a:r>
              <a:rPr lang="en-US" sz="2000" dirty="0">
                <a:ea typeface="ＭＳ Ｐゴシック" charset="-128"/>
              </a:rPr>
              <a:t>Disproportionate Distributions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00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Rev. Rul. 78-60</a:t>
            </a:r>
          </a:p>
          <a:p>
            <a:pPr lvl="1"/>
            <a:r>
              <a:rPr lang="en-US" sz="2800" dirty="0"/>
              <a:t>Corp Z has 1 class of 6,000 CS outstanding, all of which is owned by 24 </a:t>
            </a:r>
            <a:r>
              <a:rPr lang="en-US" sz="2800" dirty="0" err="1"/>
              <a:t>SHs</a:t>
            </a:r>
            <a:r>
              <a:rPr lang="en-US" sz="2800" dirty="0"/>
              <a:t>.</a:t>
            </a:r>
          </a:p>
          <a:p>
            <a:pPr lvl="1"/>
            <a:r>
              <a:rPr lang="en-US" altLang="en-US" sz="2800" dirty="0"/>
              <a:t>Corp Z adopts annual redemption plan to redeem up to 40 shares</a:t>
            </a:r>
          </a:p>
          <a:p>
            <a:pPr lvl="1"/>
            <a:r>
              <a:rPr lang="en-US" altLang="en-US" sz="2800" dirty="0"/>
              <a:t>Each SH may (but is not obligated to) submit for redemption up to 2/3 of 1%;  any unused percentage rolls over to the other redeeming SHs for a total of up to 40 shares.</a:t>
            </a:r>
          </a:p>
          <a:p>
            <a:pPr lvl="1"/>
            <a:r>
              <a:rPr lang="en-US" altLang="en-US" sz="2800" dirty="0"/>
              <a:t>In ‘76, 8 SHs participate, and because of the attribution rules, all the redemptions are treated as </a:t>
            </a:r>
            <a:r>
              <a:rPr lang="en-US" altLang="en-US" sz="2800" b="1" i="1" dirty="0"/>
              <a:t>ordinary distributions under §301 .</a:t>
            </a:r>
          </a:p>
          <a:p>
            <a:pPr lvl="1"/>
            <a:r>
              <a:rPr lang="en-US" altLang="en-US" sz="2800" b="1" i="1" dirty="0"/>
              <a:t>Why do the </a:t>
            </a:r>
            <a:r>
              <a:rPr lang="en-US" altLang="en-US" sz="2800" b="1" i="1" u="sng" dirty="0"/>
              <a:t>non-redeeming</a:t>
            </a:r>
            <a:r>
              <a:rPr lang="en-US" altLang="en-US" sz="2800" b="1" i="1" dirty="0"/>
              <a:t> </a:t>
            </a:r>
            <a:r>
              <a:rPr lang="en-US" altLang="en-US" sz="2800" b="1" i="1" dirty="0" err="1"/>
              <a:t>SHs</a:t>
            </a:r>
            <a:r>
              <a:rPr lang="en-US" altLang="en-US" sz="2800" b="1" i="1" dirty="0"/>
              <a:t> have a deemed distribution?  See</a:t>
            </a:r>
            <a:r>
              <a:rPr lang="en-US" altLang="en-US" sz="2800" b="1" dirty="0"/>
              <a:t> §305(c) and Reg. §1.305-7(a)(2).  </a:t>
            </a:r>
            <a:r>
              <a:rPr lang="en-US" altLang="en-US" sz="2800" dirty="0"/>
              <a:t> </a:t>
            </a:r>
          </a:p>
          <a:p>
            <a:pPr lvl="1"/>
            <a:r>
              <a:rPr lang="en-US" altLang="en-US" sz="2400" dirty="0"/>
              <a:t>What if the redemption weren’t part of a plan? </a:t>
            </a:r>
            <a:r>
              <a:rPr lang="en-US" altLang="en-US" sz="2400" i="1" dirty="0"/>
              <a:t>See </a:t>
            </a:r>
            <a:r>
              <a:rPr lang="en-US" altLang="en-US" sz="2400" dirty="0"/>
              <a:t>Reg. §1.305-3(b)(3); (e), Ex. 10.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>
              <a:tabLst>
                <a:tab pos="395288" algn="l"/>
              </a:tabLst>
            </a:pPr>
            <a:r>
              <a:rPr lang="en-US" altLang="en-US" sz="2000" b="1" dirty="0">
                <a:ea typeface="ＭＳ Ｐゴシック" charset="-128"/>
              </a:rPr>
              <a:t>Section 305(b)(2): </a:t>
            </a:r>
            <a:r>
              <a:rPr lang="en-US" sz="2200" b="1" dirty="0"/>
              <a:t>Disproportionate Distributions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90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dirty="0"/>
              <a:t>Distribution has </a:t>
            </a:r>
            <a:r>
              <a:rPr lang="en-US" altLang="en-US" b="1" u="sng" dirty="0"/>
              <a:t>the result</a:t>
            </a:r>
            <a:r>
              <a:rPr lang="en-US" altLang="en-US" dirty="0"/>
              <a:t> of: </a:t>
            </a:r>
          </a:p>
          <a:p>
            <a:pPr lvl="1"/>
            <a:r>
              <a:rPr lang="en-US" altLang="en-US" dirty="0"/>
              <a:t>(1) </a:t>
            </a:r>
            <a:r>
              <a:rPr lang="en-US" altLang="en-US" b="1" dirty="0"/>
              <a:t>receipt of </a:t>
            </a:r>
            <a:r>
              <a:rPr lang="en-US" altLang="en-US" b="1" dirty="0" err="1"/>
              <a:t>Prd</a:t>
            </a:r>
            <a:r>
              <a:rPr lang="en-US" altLang="en-US" b="1" dirty="0"/>
              <a:t> </a:t>
            </a:r>
            <a:r>
              <a:rPr lang="en-US" altLang="en-US" b="1" dirty="0" err="1"/>
              <a:t>Stk</a:t>
            </a:r>
            <a:r>
              <a:rPr lang="en-US" altLang="en-US" b="1" dirty="0"/>
              <a:t> by some CS SHs</a:t>
            </a:r>
            <a:r>
              <a:rPr lang="en-US" altLang="en-US" dirty="0"/>
              <a:t>; </a:t>
            </a:r>
            <a:r>
              <a:rPr lang="en-US" altLang="en-US" u="sng" dirty="0"/>
              <a:t>and</a:t>
            </a:r>
            <a:r>
              <a:rPr lang="en-US" altLang="en-US" dirty="0"/>
              <a:t> (2) </a:t>
            </a:r>
            <a:r>
              <a:rPr lang="en-US" altLang="en-US" b="1" dirty="0"/>
              <a:t>receipt of CS by other CS SHs</a:t>
            </a:r>
            <a:r>
              <a:rPr lang="en-US" altLang="en-US" dirty="0"/>
              <a:t>. §305(b)(3).  </a:t>
            </a:r>
          </a:p>
          <a:p>
            <a:pPr lvl="2"/>
            <a:r>
              <a:rPr lang="en-US" altLang="en-US" dirty="0"/>
              <a:t>Why is this a concern?  Who benefits?</a:t>
            </a:r>
          </a:p>
          <a:p>
            <a:pPr lvl="1"/>
            <a:r>
              <a:rPr lang="en-US" altLang="en-US" dirty="0"/>
              <a:t>Note: if this rule applies, </a:t>
            </a:r>
            <a:r>
              <a:rPr lang="en-US" altLang="en-US" b="1" i="1" dirty="0"/>
              <a:t>all</a:t>
            </a:r>
            <a:r>
              <a:rPr lang="en-US" altLang="en-US" dirty="0"/>
              <a:t> SHs are taxed on the receipt of their stock, even the SHs whose interests are reduced!</a:t>
            </a:r>
          </a:p>
          <a:p>
            <a:pPr lvl="1"/>
            <a:r>
              <a:rPr lang="en-US" altLang="en-US" dirty="0"/>
              <a:t>Ex: Distributions of </a:t>
            </a:r>
            <a:r>
              <a:rPr lang="en-US" altLang="en-US" i="1" dirty="0"/>
              <a:t>convertible preferred</a:t>
            </a:r>
            <a:r>
              <a:rPr lang="en-US" altLang="en-US" dirty="0"/>
              <a:t> on CS are taxable if it is </a:t>
            </a:r>
            <a:r>
              <a:rPr lang="en-US" altLang="en-US" i="1" dirty="0"/>
              <a:t>reasonable to anticipate</a:t>
            </a:r>
            <a:r>
              <a:rPr lang="en-US" altLang="en-US" dirty="0"/>
              <a:t> based on the dividend rate, redemptions provisions, and conversion price, that some SHs will convert and others will not. Reg. §1.305-4(b), Ex. 2.</a:t>
            </a:r>
          </a:p>
          <a:p>
            <a:pPr lvl="1"/>
            <a:endParaRPr lang="en-US" altLang="en-US" dirty="0"/>
          </a:p>
          <a:p>
            <a:pPr marL="228600" lvl="1">
              <a:buFont typeface="Wingdings 2" pitchFamily="18" charset="2"/>
              <a:buChar char=""/>
            </a:pPr>
            <a:r>
              <a:rPr lang="en-US" altLang="en-US" b="1" dirty="0"/>
              <a:t>Distributions </a:t>
            </a:r>
            <a:r>
              <a:rPr lang="en-US" altLang="en-US" b="1" u="sng" dirty="0"/>
              <a:t>of</a:t>
            </a:r>
            <a:r>
              <a:rPr lang="en-US" altLang="en-US" b="1" dirty="0"/>
              <a:t> </a:t>
            </a:r>
            <a:r>
              <a:rPr lang="en-US" altLang="en-US" b="1" i="1" dirty="0"/>
              <a:t>convertible preferred </a:t>
            </a:r>
            <a:r>
              <a:rPr lang="en-US" altLang="en-US" dirty="0"/>
              <a:t>are taxable, unless corporation establishes that the distribution isn’t disproportional. §305(b)(5).  Under the </a:t>
            </a:r>
            <a:r>
              <a:rPr lang="en-US" altLang="en-US" dirty="0" err="1"/>
              <a:t>regs</a:t>
            </a:r>
            <a:r>
              <a:rPr lang="en-US" altLang="en-US" dirty="0"/>
              <a:t>, the analysis is whether the conversion right is short-term, </a:t>
            </a:r>
            <a:r>
              <a:rPr lang="en-US" altLang="en-US" b="1" dirty="0"/>
              <a:t>AND</a:t>
            </a:r>
            <a:r>
              <a:rPr lang="en-US" altLang="en-US" dirty="0"/>
              <a:t> it’s anticipated that some SHs will exercise and others will not. Reg. §1.305-6(a)(2).    </a:t>
            </a:r>
          </a:p>
          <a:p>
            <a:pPr marL="228600" lvl="1">
              <a:buFont typeface="Wingdings 2" pitchFamily="18" charset="2"/>
              <a:buChar char=""/>
            </a:pPr>
            <a:endParaRPr lang="en-US" altLang="en-US" dirty="0"/>
          </a:p>
          <a:p>
            <a:pPr marL="228600" lvl="1">
              <a:buFont typeface="Wingdings 2" pitchFamily="18" charset="2"/>
              <a:buChar char=""/>
            </a:pPr>
            <a:r>
              <a:rPr lang="en-US" altLang="en-US" sz="2400" b="1" i="1" dirty="0"/>
              <a:t>All stock distributions </a:t>
            </a:r>
            <a:r>
              <a:rPr lang="en-US" altLang="en-US" sz="2400" b="1" i="1" u="sng" dirty="0"/>
              <a:t>on</a:t>
            </a:r>
            <a:r>
              <a:rPr lang="en-US" altLang="en-US" sz="2400" b="1" i="1" dirty="0"/>
              <a:t> preferred stock </a:t>
            </a:r>
            <a:r>
              <a:rPr lang="en-US" altLang="en-US" sz="2400" dirty="0"/>
              <a:t>are taxable, even if there is no disproportionate effect. §305(b)(4).</a:t>
            </a:r>
          </a:p>
          <a:p>
            <a:pPr lvl="1"/>
            <a:r>
              <a:rPr lang="en-US" altLang="en-US" i="1" dirty="0"/>
              <a:t>Exceptions</a:t>
            </a:r>
            <a:r>
              <a:rPr lang="en-US" altLang="en-US" dirty="0"/>
              <a:t>: </a:t>
            </a:r>
            <a:r>
              <a:rPr lang="en-US" altLang="en-US" u="sng" dirty="0"/>
              <a:t>Increase in conversion ratio </a:t>
            </a:r>
            <a:r>
              <a:rPr lang="en-US" altLang="en-US" dirty="0"/>
              <a:t>of convertible </a:t>
            </a:r>
            <a:r>
              <a:rPr lang="en-US" altLang="en-US" dirty="0" err="1"/>
              <a:t>prd</a:t>
            </a:r>
            <a:r>
              <a:rPr lang="en-US" altLang="en-US" dirty="0"/>
              <a:t> stock to take into account a stock dividend/split with respect to the stock into which the </a:t>
            </a:r>
            <a:r>
              <a:rPr lang="en-US" altLang="en-US" dirty="0" err="1"/>
              <a:t>prd</a:t>
            </a:r>
            <a:r>
              <a:rPr lang="en-US" altLang="en-US" dirty="0"/>
              <a:t> is convertible.</a:t>
            </a:r>
          </a:p>
          <a:p>
            <a:pPr lvl="1"/>
            <a:r>
              <a:rPr lang="en-US" altLang="en-US" dirty="0"/>
              <a:t>Ex: Corp T has outstanding cumulative </a:t>
            </a:r>
            <a:r>
              <a:rPr lang="en-US" altLang="en-US" dirty="0" err="1"/>
              <a:t>prd</a:t>
            </a:r>
            <a:r>
              <a:rPr lang="en-US" altLang="en-US" dirty="0"/>
              <a:t> stock with dividends in arrears and an issue price of 100.  It recapitalizes with </a:t>
            </a:r>
            <a:r>
              <a:rPr lang="en-US" altLang="en-US" dirty="0" err="1"/>
              <a:t>prd</a:t>
            </a:r>
            <a:r>
              <a:rPr lang="en-US" altLang="en-US" dirty="0"/>
              <a:t> stock on a 1.2 : 1 basis (the 20% difference being the dividend arrearage).  The </a:t>
            </a:r>
            <a:r>
              <a:rPr lang="en-US" altLang="en-US" dirty="0" err="1"/>
              <a:t>prd</a:t>
            </a:r>
            <a:r>
              <a:rPr lang="en-US" altLang="en-US" dirty="0"/>
              <a:t> </a:t>
            </a:r>
            <a:r>
              <a:rPr lang="en-US" altLang="en-US" dirty="0" err="1"/>
              <a:t>SHs</a:t>
            </a:r>
            <a:r>
              <a:rPr lang="en-US" altLang="en-US" dirty="0"/>
              <a:t> are </a:t>
            </a:r>
            <a:r>
              <a:rPr lang="en-US" altLang="en-US" i="1" dirty="0"/>
              <a:t>deemed</a:t>
            </a:r>
            <a:r>
              <a:rPr lang="en-US" altLang="en-US" dirty="0"/>
              <a:t> to receive a 20 distribution on each share under 305(b)(4). Reg. §1.305-5(d), Ex. 1.</a:t>
            </a:r>
          </a:p>
          <a:p>
            <a:pPr lvl="1"/>
            <a:r>
              <a:rPr lang="en-US" altLang="en-US" dirty="0"/>
              <a:t>Redemption premiums can be treated as additional distributions. §305(c)(3).  </a:t>
            </a:r>
          </a:p>
          <a:p>
            <a:pPr marL="228600" lvl="1" indent="0">
              <a:buNone/>
            </a:pPr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>
              <a:tabLst>
                <a:tab pos="395288" algn="l"/>
              </a:tabLst>
            </a:pPr>
            <a:r>
              <a:rPr lang="en-US" altLang="en-US" sz="1800" b="1" dirty="0">
                <a:ea typeface="ＭＳ Ｐゴシック" charset="-128"/>
              </a:rPr>
              <a:t>Section 305(b)(3), (4), and (5): Distributions of CS &amp; </a:t>
            </a:r>
            <a:r>
              <a:rPr lang="en-US" altLang="en-US" sz="1800" b="1" dirty="0" err="1">
                <a:ea typeface="ＭＳ Ｐゴシック" charset="-128"/>
              </a:rPr>
              <a:t>Prd</a:t>
            </a:r>
            <a:r>
              <a:rPr lang="en-US" altLang="en-US" sz="1800" b="1" dirty="0">
                <a:ea typeface="ＭＳ Ｐゴシック" charset="-128"/>
              </a:rPr>
              <a:t> and </a:t>
            </a:r>
            <a:r>
              <a:rPr lang="en-US" altLang="en-US" sz="1800" b="1" dirty="0" err="1">
                <a:ea typeface="ＭＳ Ｐゴシック" charset="-128"/>
              </a:rPr>
              <a:t>Conver</a:t>
            </a:r>
            <a:r>
              <a:rPr lang="en-US" altLang="en-US" sz="1800" b="1" dirty="0">
                <a:ea typeface="ＭＳ Ｐゴシック" charset="-128"/>
              </a:rPr>
              <a:t>. </a:t>
            </a:r>
            <a:r>
              <a:rPr lang="en-US" altLang="en-US" sz="1800" b="1" dirty="0" err="1">
                <a:ea typeface="ＭＳ Ｐゴシック" charset="-128"/>
              </a:rPr>
              <a:t>Prd</a:t>
            </a:r>
            <a:r>
              <a:rPr lang="en-US" altLang="en-US" sz="1800" b="1" dirty="0">
                <a:ea typeface="ＭＳ Ｐゴシック" charset="-128"/>
              </a:rPr>
              <a:t>, and Distributions on </a:t>
            </a:r>
            <a:r>
              <a:rPr lang="en-US" altLang="en-US" sz="1800" b="1" dirty="0" err="1">
                <a:ea typeface="ＭＳ Ｐゴシック" charset="-128"/>
              </a:rPr>
              <a:t>Prd</a:t>
            </a: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19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C07A9D-D1AD-7726-3305-EF72497AD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305(c) treats certain </a:t>
            </a:r>
            <a:r>
              <a:rPr lang="en-US" sz="32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non-distribution</a:t>
            </a:r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events </a:t>
            </a:r>
            <a:r>
              <a:rPr lang="en-US" sz="3200" i="1" u="sng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if</a:t>
            </a:r>
            <a:r>
              <a:rPr lang="en-US" sz="32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taxable stock distribution under §305(b) had occurred (that is, even if no shares are actually distributed).</a:t>
            </a:r>
            <a:endParaRPr lang="en-US" sz="3200" dirty="0"/>
          </a:p>
          <a:p>
            <a:pPr lvl="1"/>
            <a:r>
              <a:rPr lang="en-US" sz="2800" dirty="0"/>
              <a:t>Change in conversion ratio</a:t>
            </a:r>
          </a:p>
          <a:p>
            <a:pPr lvl="1"/>
            <a:r>
              <a:rPr lang="en-US" sz="2800" dirty="0"/>
              <a:t>Change in redemption price</a:t>
            </a:r>
          </a:p>
          <a:p>
            <a:pPr lvl="1"/>
            <a:r>
              <a:rPr lang="en-US" sz="2800" dirty="0"/>
              <a:t>Difference in redemption price and issue price</a:t>
            </a:r>
          </a:p>
          <a:p>
            <a:pPr lvl="1"/>
            <a:r>
              <a:rPr lang="en-US" sz="2800" dirty="0"/>
              <a:t>Redemption treated as a distribution to which </a:t>
            </a: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§301 applies, or</a:t>
            </a:r>
          </a:p>
          <a:p>
            <a:pPr lvl="1"/>
            <a:r>
              <a:rPr lang="en-US" sz="2800" i="1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Any transaction</a:t>
            </a:r>
            <a:r>
              <a:rPr lang="en-US" sz="28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 having a similar effect on the interest of any shareholder</a:t>
            </a:r>
            <a:endParaRPr lang="en-US" sz="2800" i="1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87B468-609B-68CA-73A3-F60751BF5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305(c)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1D39A-D66A-B36C-B285-D89F6D4940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25732-8A16-C2C6-3BA7-9227CFA3D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94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Assume that Corp X has outstanding 2 classes of stock, class A and class B.</a:t>
            </a:r>
          </a:p>
          <a:p>
            <a:pPr lvl="1"/>
            <a:r>
              <a:rPr lang="en-US" dirty="0"/>
              <a:t>Class A is convertible into class B on a 1:1 basis.  </a:t>
            </a:r>
          </a:p>
          <a:p>
            <a:pPr lvl="1"/>
            <a:r>
              <a:rPr lang="en-US" dirty="0"/>
              <a:t>Assume that Corp X distributes a stock dividend to the holders of the class B shares </a:t>
            </a:r>
            <a:r>
              <a:rPr lang="en-US" b="1" i="1" dirty="0"/>
              <a:t>without </a:t>
            </a:r>
            <a:r>
              <a:rPr lang="en-US" dirty="0"/>
              <a:t>an adjustment to the conversion ratio.  </a:t>
            </a:r>
            <a:r>
              <a:rPr lang="en-US" b="1" dirty="0"/>
              <a:t>What has happened to the interest of the class A shareholders?</a:t>
            </a:r>
          </a:p>
          <a:p>
            <a:pPr lvl="1"/>
            <a:r>
              <a:rPr lang="en-US" dirty="0"/>
              <a:t>If there is a distribution of cash on the class A, the stock dividend to the class B shareholders can be treated as a disproportionate distribution </a:t>
            </a:r>
            <a:r>
              <a:rPr lang="en-US" i="1" dirty="0"/>
              <a:t>unless there is a </a:t>
            </a:r>
            <a:r>
              <a:rPr lang="en-US" b="1" i="1" dirty="0"/>
              <a:t>full adjustment</a:t>
            </a:r>
            <a:r>
              <a:rPr lang="en-US" i="1" dirty="0"/>
              <a:t> in the conversion ratio/price to reflect the stock dividend. </a:t>
            </a:r>
            <a:r>
              <a:rPr lang="en-US" altLang="en-US" dirty="0"/>
              <a:t>Reg. §1.305-3(d)(1)(</a:t>
            </a:r>
            <a:r>
              <a:rPr lang="en-US" altLang="en-US" dirty="0" err="1"/>
              <a:t>i</a:t>
            </a:r>
            <a:r>
              <a:rPr lang="en-US" altLang="en-US" dirty="0"/>
              <a:t>).</a:t>
            </a:r>
          </a:p>
          <a:p>
            <a:r>
              <a:rPr lang="en-US" altLang="en-US" dirty="0"/>
              <a:t>The same issue arises in the case of convertible debt paying interest that is not subject to a </a:t>
            </a:r>
            <a:r>
              <a:rPr lang="en-US" altLang="en-US" b="1" dirty="0"/>
              <a:t>full adjustment</a:t>
            </a:r>
            <a:r>
              <a:rPr lang="en-US" altLang="en-US" dirty="0"/>
              <a:t> in the event of a stock distribution. Reg. §1.305-3(e), Ex. 4. </a:t>
            </a:r>
          </a:p>
          <a:p>
            <a:r>
              <a:rPr lang="en-US" dirty="0"/>
              <a:t> Increases in conversion ratios can treat SHs as receiving a constructive stock distribution.</a:t>
            </a:r>
          </a:p>
          <a:p>
            <a:pPr lvl="1"/>
            <a:r>
              <a:rPr lang="en-US" dirty="0"/>
              <a:t>Ex:  Class B is convertible into class A on a 1:1 basis.  The conversion ratio is adjusted to 1.05 class A : 1 class B, and Corp pays cash dividend on class A shares.  Class B is treated as receiving a constructive stock dividend of 5%. </a:t>
            </a:r>
            <a:r>
              <a:rPr lang="en-US" altLang="en-US" dirty="0"/>
              <a:t>Reg. §1.305-3(e). Ex. 6.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>
              <a:tabLst>
                <a:tab pos="395288" algn="l"/>
              </a:tabLst>
            </a:pPr>
            <a:r>
              <a:rPr lang="en-US" altLang="en-US" sz="2000" b="1" dirty="0">
                <a:ea typeface="ＭＳ Ｐゴシック" charset="-128"/>
              </a:rPr>
              <a:t>Stock Distributions: Conversion Ratios</a:t>
            </a:r>
            <a:endParaRPr lang="en-US" sz="2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75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CDADA2-559E-108C-E0DE-0B0B7162C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i="1" dirty="0"/>
              <a:t>Example 8</a:t>
            </a:r>
            <a:r>
              <a:rPr lang="en-US" sz="2800" dirty="0"/>
              <a:t>. Corporation T has 1,000 shares of stock outstanding. C owns 100 shares. Nine other shareholders each owns 100 shares. Pursuant to a plan for periodic redemptions, T redeems up to 5 percent of each shareholder's stock each year. During the year, </a:t>
            </a:r>
            <a:r>
              <a:rPr lang="en-US" sz="2800" b="1" dirty="0"/>
              <a:t>each of the nine other shareholders has 5 shares of his stock redeemed for cash</a:t>
            </a:r>
            <a:r>
              <a:rPr lang="en-US" sz="2800" dirty="0"/>
              <a:t>. Thus, C's proportionate interest in the assets and earnings and profits of T is increased. Assuming that the cash received by the nine other shareholders is taxable under 301, </a:t>
            </a:r>
            <a:r>
              <a:rPr lang="en-US" sz="2800" b="1" dirty="0"/>
              <a:t>C is deemed under section 305(c) </a:t>
            </a:r>
            <a:r>
              <a:rPr lang="en-US" sz="2800" dirty="0"/>
              <a:t>to have received a distribution under section 305(b)(2)… [amount of distribution omitted]. Reg. 1.305-3(e), Ex. 8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FA7B2E-2F5D-FB4A-DA37-872B2B96A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305(c): Periodic Redemptions Treated as Disproportionate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FFEDB-6EFD-BC34-7CC9-044F8D774C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D5694-49C7-CE04-CA65-E9C20A62F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334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Tax-free Distributions</a:t>
            </a:r>
          </a:p>
          <a:p>
            <a:pPr lvl="1"/>
            <a:r>
              <a:rPr lang="en-US" sz="2400" dirty="0"/>
              <a:t>If the stock distribution is tax free, the SH must allocate its basis between the old and new shares based on FMV. </a:t>
            </a:r>
            <a:r>
              <a:rPr lang="en-US" altLang="en-US" sz="2400" dirty="0"/>
              <a:t>Reg. §1.307-1.</a:t>
            </a:r>
          </a:p>
          <a:p>
            <a:pPr lvl="1"/>
            <a:r>
              <a:rPr lang="en-US" sz="2400" dirty="0"/>
              <a:t>Holding period is tacked. </a:t>
            </a:r>
            <a:r>
              <a:rPr lang="en-US" altLang="en-US" sz="2400" dirty="0"/>
              <a:t>§1223(4).</a:t>
            </a:r>
          </a:p>
          <a:p>
            <a:pPr lvl="1"/>
            <a:r>
              <a:rPr lang="en-US" sz="2400" dirty="0"/>
              <a:t>No effect on </a:t>
            </a:r>
            <a:r>
              <a:rPr lang="en-US" sz="2400" dirty="0" err="1"/>
              <a:t>payor</a:t>
            </a:r>
            <a:r>
              <a:rPr lang="en-US" sz="2400" dirty="0"/>
              <a:t> or recipient’s E&amp;Ps. </a:t>
            </a:r>
            <a:r>
              <a:rPr lang="en-US" altLang="en-US" sz="2400" dirty="0"/>
              <a:t>§312(d)(1)(B), (f)(2).</a:t>
            </a:r>
          </a:p>
          <a:p>
            <a:endParaRPr lang="en-US" altLang="en-US" sz="2800" b="1" dirty="0"/>
          </a:p>
          <a:p>
            <a:r>
              <a:rPr lang="en-US" altLang="en-US" sz="2800" b="1" dirty="0"/>
              <a:t>Taxable Distributions</a:t>
            </a:r>
          </a:p>
          <a:p>
            <a:pPr lvl="1"/>
            <a:r>
              <a:rPr lang="en-US" altLang="en-US" sz="2400" dirty="0"/>
              <a:t>Treated as ordinary distribution under §301 based on the FMV of the stock. Reg. §1.305-1(b).</a:t>
            </a:r>
          </a:p>
          <a:p>
            <a:pPr lvl="1"/>
            <a:r>
              <a:rPr lang="en-US" altLang="en-US" sz="2400" dirty="0"/>
              <a:t>Holding period starts the day after. 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 Distributions:  Tax Consequences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Stock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90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4636</TotalTime>
  <Words>1841</Words>
  <Application>Microsoft Macintosh PowerPoint</Application>
  <PresentationFormat>Widescreen</PresentationFormat>
  <Paragraphs>130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ＭＳ Ｐゴシック</vt:lpstr>
      <vt:lpstr>NSimSun</vt:lpstr>
      <vt:lpstr>Arial</vt:lpstr>
      <vt:lpstr>Calibri</vt:lpstr>
      <vt:lpstr>Courier New</vt:lpstr>
      <vt:lpstr>Times</vt:lpstr>
      <vt:lpstr>Times New Roman</vt:lpstr>
      <vt:lpstr>Wingdings</vt:lpstr>
      <vt:lpstr>Wingdings 2</vt:lpstr>
      <vt:lpstr>CG Body - Standard</vt:lpstr>
      <vt:lpstr>PowerPoint Presentation</vt:lpstr>
      <vt:lpstr>Overview of Section 305</vt:lpstr>
      <vt:lpstr>Stock Distributions: Section 305(a)</vt:lpstr>
      <vt:lpstr>Exceptions to §305(a) </vt:lpstr>
      <vt:lpstr>Section 305(b)(1): Distributions in Lieu of Money under §305(b)(1)</vt:lpstr>
      <vt:lpstr>Section 305(b)(2): Disproportionate Distributions</vt:lpstr>
      <vt:lpstr>Section 305(b)(2): Disproportionate Distributions</vt:lpstr>
      <vt:lpstr>Section 305(b)(3), (4), and (5): Distributions of CS &amp; Prd and Conver. Prd, and Distributions on Prd</vt:lpstr>
      <vt:lpstr>Section 305(c)</vt:lpstr>
      <vt:lpstr>Stock Distributions: Conversion Ratios</vt:lpstr>
      <vt:lpstr>Section 305(c): Periodic Redemptions Treated as Disproportionate Distributions</vt:lpstr>
      <vt:lpstr>Stock Distributions:  Tax Consequences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 Simplications</dc:title>
  <dc:creator>J Colon</dc:creator>
  <cp:lastModifiedBy>Colon, Jeffrey M.</cp:lastModifiedBy>
  <cp:revision>115</cp:revision>
  <cp:lastPrinted>2023-03-18T15:46:48Z</cp:lastPrinted>
  <dcterms:created xsi:type="dcterms:W3CDTF">2016-08-01T04:04:31Z</dcterms:created>
  <dcterms:modified xsi:type="dcterms:W3CDTF">2026-03-10T15:23:30Z</dcterms:modified>
</cp:coreProperties>
</file>