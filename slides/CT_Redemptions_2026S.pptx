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306" r:id="rId2"/>
    <p:sldId id="256" r:id="rId3"/>
    <p:sldId id="263" r:id="rId4"/>
    <p:sldId id="257" r:id="rId5"/>
    <p:sldId id="311" r:id="rId6"/>
    <p:sldId id="264" r:id="rId7"/>
    <p:sldId id="286" r:id="rId8"/>
    <p:sldId id="288" r:id="rId9"/>
    <p:sldId id="314" r:id="rId10"/>
    <p:sldId id="290" r:id="rId11"/>
    <p:sldId id="315" r:id="rId12"/>
    <p:sldId id="291" r:id="rId13"/>
    <p:sldId id="293" r:id="rId14"/>
    <p:sldId id="294" r:id="rId15"/>
    <p:sldId id="289" r:id="rId16"/>
    <p:sldId id="296" r:id="rId17"/>
    <p:sldId id="297" r:id="rId18"/>
    <p:sldId id="298" r:id="rId19"/>
    <p:sldId id="299" r:id="rId20"/>
    <p:sldId id="300" r:id="rId21"/>
    <p:sldId id="301" r:id="rId22"/>
    <p:sldId id="303" r:id="rId23"/>
    <p:sldId id="304" r:id="rId24"/>
    <p:sldId id="307" r:id="rId25"/>
    <p:sldId id="309" r:id="rId26"/>
    <p:sldId id="310" r:id="rId27"/>
    <p:sldId id="308" r:id="rId28"/>
    <p:sldId id="324" r:id="rId29"/>
    <p:sldId id="321" r:id="rId30"/>
    <p:sldId id="282" r:id="rId31"/>
    <p:sldId id="316" r:id="rId32"/>
    <p:sldId id="325" r:id="rId33"/>
    <p:sldId id="285" r:id="rId34"/>
    <p:sldId id="326" r:id="rId35"/>
    <p:sldId id="295" r:id="rId36"/>
    <p:sldId id="259" r:id="rId37"/>
    <p:sldId id="27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838FAB-BC31-EB47-8595-246A37D29B3B}" v="36" dt="2026-02-28T23:13:34.9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50"/>
    <p:restoredTop sz="94898"/>
  </p:normalViewPr>
  <p:slideViewPr>
    <p:cSldViewPr snapToGrid="0" snapToObjects="1">
      <p:cViewPr varScale="1">
        <p:scale>
          <a:sx n="117" d="100"/>
          <a:sy n="117" d="100"/>
        </p:scale>
        <p:origin x="408" y="168"/>
      </p:cViewPr>
      <p:guideLst>
        <p:guide orient="horz" pos="2160"/>
        <p:guide pos="3840"/>
      </p:guideLst>
    </p:cSldViewPr>
  </p:slideViewPr>
  <p:notesTextViewPr>
    <p:cViewPr>
      <p:scale>
        <a:sx n="1" d="1"/>
        <a:sy n="1" d="1"/>
      </p:scale>
      <p:origin x="0" y="0"/>
    </p:cViewPr>
  </p:notesTextViewPr>
  <p:sorterViewPr>
    <p:cViewPr>
      <p:scale>
        <a:sx n="181" d="100"/>
        <a:sy n="18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458F5B4D-4674-51EB-AE0A-4CE030354E61}"/>
    <pc:docChg chg="modSld">
      <pc:chgData name="Colon, Jeffrey M." userId="615143b1-cdee-493d-9a9d-1565ce8666d9" providerId="ADAL" clId="{458F5B4D-4674-51EB-AE0A-4CE030354E61}" dt="2026-02-28T23:13:34.966" v="35" actId="20577"/>
      <pc:docMkLst>
        <pc:docMk/>
      </pc:docMkLst>
      <pc:sldChg chg="modSp">
        <pc:chgData name="Colon, Jeffrey M." userId="615143b1-cdee-493d-9a9d-1565ce8666d9" providerId="ADAL" clId="{458F5B4D-4674-51EB-AE0A-4CE030354E61}" dt="2026-02-28T20:42:49.627" v="25" actId="20577"/>
        <pc:sldMkLst>
          <pc:docMk/>
          <pc:sldMk cId="2113857364" sldId="297"/>
        </pc:sldMkLst>
        <pc:spChg chg="mod">
          <ac:chgData name="Colon, Jeffrey M." userId="615143b1-cdee-493d-9a9d-1565ce8666d9" providerId="ADAL" clId="{458F5B4D-4674-51EB-AE0A-4CE030354E61}" dt="2026-02-28T20:42:49.627" v="25" actId="20577"/>
          <ac:spMkLst>
            <pc:docMk/>
            <pc:sldMk cId="2113857364" sldId="297"/>
            <ac:spMk id="2" creationId="{00000000-0000-0000-0000-000000000000}"/>
          </ac:spMkLst>
        </pc:spChg>
      </pc:sldChg>
      <pc:sldChg chg="modSp">
        <pc:chgData name="Colon, Jeffrey M." userId="615143b1-cdee-493d-9a9d-1565ce8666d9" providerId="ADAL" clId="{458F5B4D-4674-51EB-AE0A-4CE030354E61}" dt="2026-02-28T23:13:28.896" v="34" actId="20577"/>
        <pc:sldMkLst>
          <pc:docMk/>
          <pc:sldMk cId="1700855817" sldId="307"/>
        </pc:sldMkLst>
        <pc:spChg chg="mod">
          <ac:chgData name="Colon, Jeffrey M." userId="615143b1-cdee-493d-9a9d-1565ce8666d9" providerId="ADAL" clId="{458F5B4D-4674-51EB-AE0A-4CE030354E61}" dt="2026-02-28T23:13:28.896" v="34" actId="20577"/>
          <ac:spMkLst>
            <pc:docMk/>
            <pc:sldMk cId="1700855817" sldId="307"/>
            <ac:spMk id="2" creationId="{00000000-0000-0000-0000-000000000000}"/>
          </ac:spMkLst>
        </pc:spChg>
      </pc:sldChg>
      <pc:sldChg chg="modSp">
        <pc:chgData name="Colon, Jeffrey M." userId="615143b1-cdee-493d-9a9d-1565ce8666d9" providerId="ADAL" clId="{458F5B4D-4674-51EB-AE0A-4CE030354E61}" dt="2026-02-28T23:13:34.966" v="35" actId="20577"/>
        <pc:sldMkLst>
          <pc:docMk/>
          <pc:sldMk cId="570771202" sldId="308"/>
        </pc:sldMkLst>
        <pc:spChg chg="mod">
          <ac:chgData name="Colon, Jeffrey M." userId="615143b1-cdee-493d-9a9d-1565ce8666d9" providerId="ADAL" clId="{458F5B4D-4674-51EB-AE0A-4CE030354E61}" dt="2026-02-28T23:13:34.966" v="35" actId="20577"/>
          <ac:spMkLst>
            <pc:docMk/>
            <pc:sldMk cId="570771202" sldId="308"/>
            <ac:spMk id="2" creationId="{00000000-0000-0000-0000-000000000000}"/>
          </ac:spMkLst>
        </pc:spChg>
      </pc:sldChg>
    </pc:docChg>
  </pc:docChgLst>
  <pc:docChgLst>
    <pc:chgData name="Colon, Jeffrey M." userId="615143b1-cdee-493d-9a9d-1565ce8666d9" providerId="ADAL" clId="{DC1DB158-BAB1-5930-B714-AEF472873853}"/>
    <pc:docChg chg="addSld delSld modSld sldOrd modMainMaster">
      <pc:chgData name="Colon, Jeffrey M." userId="615143b1-cdee-493d-9a9d-1565ce8666d9" providerId="ADAL" clId="{DC1DB158-BAB1-5930-B714-AEF472873853}" dt="2026-02-26T11:36:07.244" v="154"/>
      <pc:docMkLst>
        <pc:docMk/>
      </pc:docMkLst>
      <pc:sldChg chg="modSp modAnim">
        <pc:chgData name="Colon, Jeffrey M." userId="615143b1-cdee-493d-9a9d-1565ce8666d9" providerId="ADAL" clId="{DC1DB158-BAB1-5930-B714-AEF472873853}" dt="2026-02-25T20:26:35.984" v="90" actId="20577"/>
        <pc:sldMkLst>
          <pc:docMk/>
          <pc:sldMk cId="739887545" sldId="257"/>
        </pc:sldMkLst>
        <pc:spChg chg="mod">
          <ac:chgData name="Colon, Jeffrey M." userId="615143b1-cdee-493d-9a9d-1565ce8666d9" providerId="ADAL" clId="{DC1DB158-BAB1-5930-B714-AEF472873853}" dt="2026-02-25T20:26:35.984" v="90" actId="20577"/>
          <ac:spMkLst>
            <pc:docMk/>
            <pc:sldMk cId="739887545" sldId="257"/>
            <ac:spMk id="2" creationId="{00000000-0000-0000-0000-000000000000}"/>
          </ac:spMkLst>
        </pc:spChg>
      </pc:sldChg>
      <pc:sldChg chg="modSp">
        <pc:chgData name="Colon, Jeffrey M." userId="615143b1-cdee-493d-9a9d-1565ce8666d9" providerId="ADAL" clId="{DC1DB158-BAB1-5930-B714-AEF472873853}" dt="2026-02-25T20:24:22.720" v="22" actId="113"/>
        <pc:sldMkLst>
          <pc:docMk/>
          <pc:sldMk cId="1267834532" sldId="263"/>
        </pc:sldMkLst>
        <pc:spChg chg="mod">
          <ac:chgData name="Colon, Jeffrey M." userId="615143b1-cdee-493d-9a9d-1565ce8666d9" providerId="ADAL" clId="{DC1DB158-BAB1-5930-B714-AEF472873853}" dt="2026-02-25T20:24:22.720" v="22" actId="113"/>
          <ac:spMkLst>
            <pc:docMk/>
            <pc:sldMk cId="1267834532" sldId="263"/>
            <ac:spMk id="71" creationId="{00000000-0000-0000-0000-000000000000}"/>
          </ac:spMkLst>
        </pc:spChg>
      </pc:sldChg>
      <pc:sldChg chg="ord">
        <pc:chgData name="Colon, Jeffrey M." userId="615143b1-cdee-493d-9a9d-1565ce8666d9" providerId="ADAL" clId="{DC1DB158-BAB1-5930-B714-AEF472873853}" dt="2026-02-26T11:34:55.560" v="152" actId="20578"/>
        <pc:sldMkLst>
          <pc:docMk/>
          <pc:sldMk cId="1449324710" sldId="285"/>
        </pc:sldMkLst>
      </pc:sldChg>
      <pc:sldChg chg="add del">
        <pc:chgData name="Colon, Jeffrey M." userId="615143b1-cdee-493d-9a9d-1565ce8666d9" providerId="ADAL" clId="{DC1DB158-BAB1-5930-B714-AEF472873853}" dt="2026-02-26T11:36:07.244" v="154"/>
        <pc:sldMkLst>
          <pc:docMk/>
          <pc:sldMk cId="3592352395" sldId="295"/>
        </pc:sldMkLst>
      </pc:sldChg>
      <pc:sldChg chg="modSp">
        <pc:chgData name="Colon, Jeffrey M." userId="615143b1-cdee-493d-9a9d-1565ce8666d9" providerId="ADAL" clId="{DC1DB158-BAB1-5930-B714-AEF472873853}" dt="2026-02-20T14:09:13.785" v="6" actId="20577"/>
        <pc:sldMkLst>
          <pc:docMk/>
          <pc:sldMk cId="1700855817" sldId="307"/>
        </pc:sldMkLst>
        <pc:spChg chg="mod">
          <ac:chgData name="Colon, Jeffrey M." userId="615143b1-cdee-493d-9a9d-1565ce8666d9" providerId="ADAL" clId="{DC1DB158-BAB1-5930-B714-AEF472873853}" dt="2026-02-20T14:09:13.785" v="6" actId="20577"/>
          <ac:spMkLst>
            <pc:docMk/>
            <pc:sldMk cId="1700855817" sldId="307"/>
            <ac:spMk id="2" creationId="{00000000-0000-0000-0000-000000000000}"/>
          </ac:spMkLst>
        </pc:spChg>
      </pc:sldChg>
      <pc:sldChg chg="modSp">
        <pc:chgData name="Colon, Jeffrey M." userId="615143b1-cdee-493d-9a9d-1565ce8666d9" providerId="ADAL" clId="{DC1DB158-BAB1-5930-B714-AEF472873853}" dt="2026-02-20T14:10:36.166" v="10" actId="6549"/>
        <pc:sldMkLst>
          <pc:docMk/>
          <pc:sldMk cId="570771202" sldId="308"/>
        </pc:sldMkLst>
        <pc:spChg chg="mod">
          <ac:chgData name="Colon, Jeffrey M." userId="615143b1-cdee-493d-9a9d-1565ce8666d9" providerId="ADAL" clId="{DC1DB158-BAB1-5930-B714-AEF472873853}" dt="2026-02-20T14:10:36.166" v="10" actId="6549"/>
          <ac:spMkLst>
            <pc:docMk/>
            <pc:sldMk cId="570771202" sldId="308"/>
            <ac:spMk id="2" creationId="{00000000-0000-0000-0000-000000000000}"/>
          </ac:spMkLst>
        </pc:spChg>
      </pc:sldChg>
      <pc:sldChg chg="modSp">
        <pc:chgData name="Colon, Jeffrey M." userId="615143b1-cdee-493d-9a9d-1565ce8666d9" providerId="ADAL" clId="{DC1DB158-BAB1-5930-B714-AEF472873853}" dt="2026-02-20T14:10:07.575" v="8" actId="113"/>
        <pc:sldMkLst>
          <pc:docMk/>
          <pc:sldMk cId="786165608" sldId="310"/>
        </pc:sldMkLst>
        <pc:spChg chg="mod">
          <ac:chgData name="Colon, Jeffrey M." userId="615143b1-cdee-493d-9a9d-1565ce8666d9" providerId="ADAL" clId="{DC1DB158-BAB1-5930-B714-AEF472873853}" dt="2026-02-20T14:10:07.575" v="8" actId="113"/>
          <ac:spMkLst>
            <pc:docMk/>
            <pc:sldMk cId="786165608" sldId="310"/>
            <ac:spMk id="5" creationId="{00000000-0000-0000-0000-000000000000}"/>
          </ac:spMkLst>
        </pc:spChg>
      </pc:sldChg>
      <pc:sldChg chg="modSp">
        <pc:chgData name="Colon, Jeffrey M." userId="615143b1-cdee-493d-9a9d-1565ce8666d9" providerId="ADAL" clId="{DC1DB158-BAB1-5930-B714-AEF472873853}" dt="2026-02-25T20:30:13.174" v="148" actId="20577"/>
        <pc:sldMkLst>
          <pc:docMk/>
          <pc:sldMk cId="256159335" sldId="311"/>
        </pc:sldMkLst>
        <pc:spChg chg="mod">
          <ac:chgData name="Colon, Jeffrey M." userId="615143b1-cdee-493d-9a9d-1565ce8666d9" providerId="ADAL" clId="{DC1DB158-BAB1-5930-B714-AEF472873853}" dt="2026-02-25T20:30:13.174" v="148" actId="20577"/>
          <ac:spMkLst>
            <pc:docMk/>
            <pc:sldMk cId="256159335" sldId="311"/>
            <ac:spMk id="2" creationId="{47276C90-C919-DF43-8DA4-70419AB9FF0F}"/>
          </ac:spMkLst>
        </pc:spChg>
      </pc:sldChg>
      <pc:sldChg chg="add">
        <pc:chgData name="Colon, Jeffrey M." userId="615143b1-cdee-493d-9a9d-1565ce8666d9" providerId="ADAL" clId="{DC1DB158-BAB1-5930-B714-AEF472873853}" dt="2026-02-26T11:36:07.244" v="154"/>
        <pc:sldMkLst>
          <pc:docMk/>
          <pc:sldMk cId="4016756246" sldId="326"/>
        </pc:sldMkLst>
      </pc:sldChg>
      <pc:sldMasterChg chg="modSp mod">
        <pc:chgData name="Colon, Jeffrey M." userId="615143b1-cdee-493d-9a9d-1565ce8666d9" providerId="ADAL" clId="{DC1DB158-BAB1-5930-B714-AEF472873853}" dt="2026-02-20T14:06:41.088" v="4" actId="20577"/>
        <pc:sldMasterMkLst>
          <pc:docMk/>
          <pc:sldMasterMk cId="371776349" sldId="2147483660"/>
        </pc:sldMasterMkLst>
        <pc:spChg chg="mod">
          <ac:chgData name="Colon, Jeffrey M." userId="615143b1-cdee-493d-9a9d-1565ce8666d9" providerId="ADAL" clId="{DC1DB158-BAB1-5930-B714-AEF472873853}" dt="2026-02-20T14:06:41.088" v="4" actId="20577"/>
          <ac:spMkLst>
            <pc:docMk/>
            <pc:sldMasterMk cId="371776349" sldId="2147483660"/>
            <ac:spMk id="9"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F2E595D-07B5-CF44-AE63-906CA02C7BEF}" type="datetimeFigureOut">
              <a:rPr lang="en-US" smtClean="0"/>
              <a:t>2/28/26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91C84-E9AD-4349-A89D-CDCB4DBB2B68}" type="slidenum">
              <a:rPr lang="en-US" smtClean="0"/>
              <a:t>‹#›</a:t>
            </a:fld>
            <a:endParaRPr lang="en-US"/>
          </a:p>
        </p:txBody>
      </p:sp>
    </p:spTree>
    <p:extLst>
      <p:ext uri="{BB962C8B-B14F-4D97-AF65-F5344CB8AC3E}">
        <p14:creationId xmlns:p14="http://schemas.microsoft.com/office/powerpoint/2010/main" val="951392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72E6F7-09F5-B04E-8141-9A4144300CC5}" type="slidenum">
              <a:rPr lang="en-US" smtClean="0"/>
              <a:t>2</a:t>
            </a:fld>
            <a:endParaRPr lang="en-US" dirty="0"/>
          </a:p>
        </p:txBody>
      </p:sp>
    </p:spTree>
    <p:extLst>
      <p:ext uri="{BB962C8B-B14F-4D97-AF65-F5344CB8AC3E}">
        <p14:creationId xmlns:p14="http://schemas.microsoft.com/office/powerpoint/2010/main" val="143643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991C84-E9AD-4349-A89D-CDCB4DBB2B68}" type="slidenum">
              <a:rPr lang="en-US" smtClean="0"/>
              <a:t>3</a:t>
            </a:fld>
            <a:endParaRPr lang="en-US"/>
          </a:p>
        </p:txBody>
      </p:sp>
    </p:spTree>
    <p:extLst>
      <p:ext uri="{BB962C8B-B14F-4D97-AF65-F5344CB8AC3E}">
        <p14:creationId xmlns:p14="http://schemas.microsoft.com/office/powerpoint/2010/main" val="835008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991C84-E9AD-4349-A89D-CDCB4DBB2B68}" type="slidenum">
              <a:rPr lang="en-US" smtClean="0"/>
              <a:t>4</a:t>
            </a:fld>
            <a:endParaRPr lang="en-US"/>
          </a:p>
        </p:txBody>
      </p:sp>
    </p:spTree>
    <p:extLst>
      <p:ext uri="{BB962C8B-B14F-4D97-AF65-F5344CB8AC3E}">
        <p14:creationId xmlns:p14="http://schemas.microsoft.com/office/powerpoint/2010/main" val="545915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7</a:t>
            </a:fld>
            <a:endParaRPr lang="en-US"/>
          </a:p>
        </p:txBody>
      </p:sp>
    </p:spTree>
    <p:extLst>
      <p:ext uri="{BB962C8B-B14F-4D97-AF65-F5344CB8AC3E}">
        <p14:creationId xmlns:p14="http://schemas.microsoft.com/office/powerpoint/2010/main" val="1717033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8</a:t>
            </a:fld>
            <a:endParaRPr lang="en-US"/>
          </a:p>
        </p:txBody>
      </p:sp>
    </p:spTree>
    <p:extLst>
      <p:ext uri="{BB962C8B-B14F-4D97-AF65-F5344CB8AC3E}">
        <p14:creationId xmlns:p14="http://schemas.microsoft.com/office/powerpoint/2010/main" val="73599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10</a:t>
            </a:fld>
            <a:endParaRPr lang="en-US"/>
          </a:p>
        </p:txBody>
      </p:sp>
    </p:spTree>
    <p:extLst>
      <p:ext uri="{BB962C8B-B14F-4D97-AF65-F5344CB8AC3E}">
        <p14:creationId xmlns:p14="http://schemas.microsoft.com/office/powerpoint/2010/main" val="2004802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13</a:t>
            </a:fld>
            <a:endParaRPr lang="en-US"/>
          </a:p>
        </p:txBody>
      </p:sp>
    </p:spTree>
    <p:extLst>
      <p:ext uri="{BB962C8B-B14F-4D97-AF65-F5344CB8AC3E}">
        <p14:creationId xmlns:p14="http://schemas.microsoft.com/office/powerpoint/2010/main" val="451813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72E6F7-09F5-B04E-8141-9A4144300CC5}" type="slidenum">
              <a:rPr lang="en-US" smtClean="0"/>
              <a:t>28</a:t>
            </a:fld>
            <a:endParaRPr lang="en-US" dirty="0"/>
          </a:p>
        </p:txBody>
      </p:sp>
    </p:spTree>
    <p:extLst>
      <p:ext uri="{BB962C8B-B14F-4D97-AF65-F5344CB8AC3E}">
        <p14:creationId xmlns:p14="http://schemas.microsoft.com/office/powerpoint/2010/main" val="215478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Redemptions</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1200" smtClean="0"/>
            </a:lvl1pPr>
          </a:lstStyle>
          <a:p>
            <a:pPr>
              <a:defRPr/>
            </a:pPr>
            <a:r>
              <a:rPr lang="en-US"/>
              <a:t>Redemptions</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extBox 1">
            <a:extLst>
              <a:ext uri="{FF2B5EF4-FFF2-40B4-BE49-F238E27FC236}">
                <a16:creationId xmlns:a16="http://schemas.microsoft.com/office/drawing/2014/main" id="{5C00252E-F219-3A4E-A2D5-45D5E8996C76}"/>
              </a:ext>
            </a:extLst>
          </p:cNvPr>
          <p:cNvSpPr txBox="1"/>
          <p:nvPr userDrawn="1"/>
        </p:nvSpPr>
        <p:spPr>
          <a:xfrm>
            <a:off x="792480" y="6614160"/>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6C024E14-BAC5-CA48-9381-DA8C004CA200}"/>
              </a:ext>
            </a:extLst>
          </p:cNvPr>
          <p:cNvSpPr txBox="1"/>
          <p:nvPr userDrawn="1"/>
        </p:nvSpPr>
        <p:spPr>
          <a:xfrm>
            <a:off x="640080" y="657352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Redemptions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SzPct val="75000"/>
              <a:buFont typeface="Wingdings 2" pitchFamily="18" charset="2"/>
              <a:buChar char=""/>
              <a:defRPr sz="1600"/>
            </a:lvl1pPr>
            <a:lvl2pPr marL="457200" indent="-228600">
              <a:buClr>
                <a:schemeClr val="accent1"/>
              </a:buClr>
              <a:buSzPct val="75000"/>
              <a:buFont typeface="Wingdings" panose="05000000000000000000" pitchFamily="2" charset="2"/>
              <a:buChar char="Ø"/>
              <a:defRPr lang="en-US" sz="1600" kern="1200" dirty="0" smtClean="0">
                <a:solidFill>
                  <a:schemeClr val="tx1"/>
                </a:solidFill>
                <a:latin typeface="+mn-lt"/>
                <a:ea typeface="+mn-ea"/>
                <a:cs typeface="Arial" pitchFamily="34" charset="0"/>
              </a:defRPr>
            </a:lvl2pPr>
            <a:lvl3pPr marL="685800" indent="-228600">
              <a:buClr>
                <a:schemeClr val="accent1"/>
              </a:buClr>
              <a:buSzPct val="75000"/>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Redemptions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Redemptions</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Redemptions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Redemptions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Redemptions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609600" y="1371601"/>
            <a:ext cx="53848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71601"/>
            <a:ext cx="53848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Redemptions</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5027849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Redemptions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9013948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100" b="1" smtClean="0">
                <a:solidFill>
                  <a:srgbClr val="898989"/>
                </a:solidFill>
                <a:latin typeface="+mn-lt"/>
                <a:ea typeface="+mn-ea"/>
              </a:defRPr>
            </a:lvl1pPr>
          </a:lstStyle>
          <a:p>
            <a:pPr>
              <a:defRPr/>
            </a:pPr>
            <a:r>
              <a:rPr lang="en-US"/>
              <a:t>Redemptions</a:t>
            </a:r>
            <a:endParaRPr lang="en-US" dirty="0"/>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_Redemptions_2026S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3191"/>
            <a:ext cx="9144000" cy="3380871"/>
          </a:xfrm>
        </p:spPr>
        <p:txBody>
          <a:bodyPr>
            <a:normAutofit/>
          </a:bodyPr>
          <a:lstStyle/>
          <a:p>
            <a:r>
              <a:rPr lang="en-US" b="1" dirty="0"/>
              <a:t>Corporate Taxation</a:t>
            </a:r>
            <a:r>
              <a:rPr lang="en-US" dirty="0"/>
              <a:t>: </a:t>
            </a:r>
            <a:r>
              <a:rPr lang="en-US" sz="6000" b="1" dirty="0"/>
              <a:t>Redemptions</a:t>
            </a:r>
            <a:br>
              <a:rPr lang="en-US" sz="6000" b="1" dirty="0"/>
            </a:br>
            <a:endParaRPr lang="en-US" dirty="0"/>
          </a:p>
        </p:txBody>
      </p:sp>
      <p:sp>
        <p:nvSpPr>
          <p:cNvPr id="6" name="Footer Placeholder 5"/>
          <p:cNvSpPr>
            <a:spLocks noGrp="1"/>
          </p:cNvSpPr>
          <p:nvPr>
            <p:ph type="ftr" sz="quarter" idx="11"/>
          </p:nvPr>
        </p:nvSpPr>
        <p:spPr/>
        <p:txBody>
          <a:bodyPr/>
          <a:lstStyle/>
          <a:p>
            <a:r>
              <a:rPr lang="en-US"/>
              <a:t>Redemptions</a:t>
            </a:r>
            <a:endParaRPr lang="en-US" dirty="0"/>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572001" y="5486401"/>
            <a:ext cx="2873661" cy="649527"/>
          </a:xfrm>
          <a:prstGeom prst="rect">
            <a:avLst/>
          </a:prstGeom>
        </p:spPr>
      </p:pic>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492760" indent="-342900">
              <a:lnSpc>
                <a:spcPts val="3180"/>
              </a:lnSpc>
            </a:pPr>
            <a:r>
              <a:rPr lang="en-US" sz="2800" dirty="0">
                <a:latin typeface="+mn-lt"/>
              </a:rPr>
              <a:t>What can a company do with its earnings?</a:t>
            </a:r>
          </a:p>
          <a:p>
            <a:pPr marL="721360" lvl="1" indent="-342900">
              <a:lnSpc>
                <a:spcPts val="3180"/>
              </a:lnSpc>
            </a:pPr>
            <a:r>
              <a:rPr lang="en-US" sz="2400" dirty="0">
                <a:latin typeface="+mn-lt"/>
              </a:rPr>
              <a:t>Retain them and then either spend or reinvest </a:t>
            </a:r>
          </a:p>
          <a:p>
            <a:pPr marL="721360" lvl="1" indent="-342900">
              <a:lnSpc>
                <a:spcPts val="3180"/>
              </a:lnSpc>
            </a:pPr>
            <a:r>
              <a:rPr lang="en-US" sz="2400" dirty="0">
                <a:latin typeface="+mn-lt"/>
              </a:rPr>
              <a:t>Pay off liabilities</a:t>
            </a:r>
          </a:p>
          <a:p>
            <a:pPr marL="721360" lvl="1" indent="-342900">
              <a:lnSpc>
                <a:spcPts val="3180"/>
              </a:lnSpc>
            </a:pPr>
            <a:r>
              <a:rPr lang="en-US" sz="2400" b="1" dirty="0">
                <a:solidFill>
                  <a:srgbClr val="FF0000"/>
                </a:solidFill>
                <a:latin typeface="+mn-lt"/>
              </a:rPr>
              <a:t>Pay dividends in cash or (very rarely) in property </a:t>
            </a:r>
          </a:p>
          <a:p>
            <a:pPr marL="721360" lvl="1" indent="-342900">
              <a:lnSpc>
                <a:spcPts val="3180"/>
              </a:lnSpc>
            </a:pPr>
            <a:r>
              <a:rPr lang="en-US" sz="2400" b="1" dirty="0">
                <a:solidFill>
                  <a:srgbClr val="FF0000"/>
                </a:solidFill>
                <a:latin typeface="+mn-lt"/>
              </a:rPr>
              <a:t>Repurchase shares from shareholders</a:t>
            </a:r>
          </a:p>
          <a:p>
            <a:endParaRPr lang="en-US" dirty="0">
              <a:latin typeface="+mn-lt"/>
            </a:endParaRPr>
          </a:p>
        </p:txBody>
      </p:sp>
      <p:sp>
        <p:nvSpPr>
          <p:cNvPr id="4" name="Title 3"/>
          <p:cNvSpPr>
            <a:spLocks noGrp="1"/>
          </p:cNvSpPr>
          <p:nvPr>
            <p:ph type="title"/>
          </p:nvPr>
        </p:nvSpPr>
        <p:spPr/>
        <p:txBody>
          <a:bodyPr/>
          <a:lstStyle/>
          <a:p>
            <a:r>
              <a:rPr lang="en-US" dirty="0"/>
              <a:t>Equity Payouts: Dividends and Share Repurchases</a:t>
            </a:r>
          </a:p>
        </p:txBody>
      </p:sp>
      <p:sp>
        <p:nvSpPr>
          <p:cNvPr id="2" name="Slide Number Placeholder 1"/>
          <p:cNvSpPr>
            <a:spLocks noGrp="1"/>
          </p:cNvSpPr>
          <p:nvPr>
            <p:ph type="sldNum" sz="quarter" idx="10"/>
          </p:nvPr>
        </p:nvSpPr>
        <p:spPr/>
        <p:txBody>
          <a:bodyPr/>
          <a:lstStyle/>
          <a:p>
            <a:fld id="{22D706CB-156B-8643-9A07-D8448DABBCBD}" type="slidenum">
              <a:rPr lang="en-US" altLang="en-US" smtClean="0"/>
              <a:pPr/>
              <a:t>2</a:t>
            </a:fld>
            <a:endParaRPr lang="en-US" altLang="en-US" dirty="0"/>
          </a:p>
        </p:txBody>
      </p:sp>
      <p:sp>
        <p:nvSpPr>
          <p:cNvPr id="3" name="Footer Placeholder 2"/>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31222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7" name="Rectangle 6"/>
          <p:cNvSpPr/>
          <p:nvPr/>
        </p:nvSpPr>
        <p:spPr>
          <a:xfrm>
            <a:off x="3428488" y="2819204"/>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8" name="Straight Connector 7"/>
          <p:cNvCxnSpPr>
            <a:endCxn id="7" idx="0"/>
          </p:cNvCxnSpPr>
          <p:nvPr/>
        </p:nvCxnSpPr>
        <p:spPr>
          <a:xfrm flipH="1">
            <a:off x="3949299" y="1821053"/>
            <a:ext cx="2" cy="9981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582888" y="2862630"/>
            <a:ext cx="1041622" cy="8889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11" name="Straight Connector 10"/>
          <p:cNvCxnSpPr>
            <a:stCxn id="20" idx="4"/>
            <a:endCxn id="10" idx="0"/>
          </p:cNvCxnSpPr>
          <p:nvPr/>
        </p:nvCxnSpPr>
        <p:spPr>
          <a:xfrm>
            <a:off x="9103699" y="2042013"/>
            <a:ext cx="0" cy="820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944179" y="641674"/>
            <a:ext cx="2219262" cy="369332"/>
          </a:xfrm>
          <a:prstGeom prst="rect">
            <a:avLst/>
          </a:prstGeom>
          <a:noFill/>
        </p:spPr>
        <p:txBody>
          <a:bodyPr wrap="none" rtlCol="0">
            <a:spAutoFit/>
          </a:bodyPr>
          <a:lstStyle/>
          <a:p>
            <a:r>
              <a:rPr lang="en-US" b="1" dirty="0"/>
              <a:t>Ordinary Distribution</a:t>
            </a:r>
          </a:p>
        </p:txBody>
      </p:sp>
      <p:cxnSp>
        <p:nvCxnSpPr>
          <p:cNvPr id="16" name="Straight Connector 15"/>
          <p:cNvCxnSpPr/>
          <p:nvPr/>
        </p:nvCxnSpPr>
        <p:spPr>
          <a:xfrm>
            <a:off x="6065197" y="469141"/>
            <a:ext cx="30803" cy="5973346"/>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AutoShape 12"/>
          <p:cNvCxnSpPr>
            <a:cxnSpLocks noChangeShapeType="1"/>
            <a:stCxn id="10" idx="1"/>
            <a:endCxn id="20" idx="2"/>
          </p:cNvCxnSpPr>
          <p:nvPr/>
        </p:nvCxnSpPr>
        <p:spPr bwMode="auto">
          <a:xfrm rot="10800000" flipH="1">
            <a:off x="8582888" y="1597520"/>
            <a:ext cx="36504" cy="1709605"/>
          </a:xfrm>
          <a:prstGeom prst="curvedConnector3">
            <a:avLst>
              <a:gd name="adj1" fmla="val -626233"/>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2"/>
          <p:cNvCxnSpPr>
            <a:cxnSpLocks noChangeShapeType="1"/>
            <a:stCxn id="7" idx="1"/>
            <a:endCxn id="19" idx="2"/>
          </p:cNvCxnSpPr>
          <p:nvPr/>
        </p:nvCxnSpPr>
        <p:spPr bwMode="auto">
          <a:xfrm rot="10800000" flipH="1">
            <a:off x="3428487" y="1487099"/>
            <a:ext cx="78683" cy="1666061"/>
          </a:xfrm>
          <a:prstGeom prst="curvedConnector3">
            <a:avLst>
              <a:gd name="adj1" fmla="val -449006"/>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Oval 18"/>
          <p:cNvSpPr/>
          <p:nvPr/>
        </p:nvSpPr>
        <p:spPr>
          <a:xfrm>
            <a:off x="3507171" y="1153143"/>
            <a:ext cx="968614" cy="66791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SH</a:t>
            </a:r>
            <a:endParaRPr lang="en-US" sz="1600" dirty="0">
              <a:solidFill>
                <a:schemeClr val="tx1"/>
              </a:solidFill>
            </a:endParaRPr>
          </a:p>
        </p:txBody>
      </p:sp>
      <p:sp>
        <p:nvSpPr>
          <p:cNvPr id="20" name="Oval 19"/>
          <p:cNvSpPr/>
          <p:nvPr/>
        </p:nvSpPr>
        <p:spPr>
          <a:xfrm>
            <a:off x="8619392" y="1153025"/>
            <a:ext cx="968614" cy="8889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SH</a:t>
            </a:r>
            <a:endParaRPr lang="en-US" sz="1600" dirty="0">
              <a:solidFill>
                <a:schemeClr val="tx1"/>
              </a:solidFill>
            </a:endParaRPr>
          </a:p>
        </p:txBody>
      </p:sp>
      <p:cxnSp>
        <p:nvCxnSpPr>
          <p:cNvPr id="32" name="AutoShape 12"/>
          <p:cNvCxnSpPr>
            <a:cxnSpLocks noChangeShapeType="1"/>
            <a:stCxn id="10" idx="3"/>
            <a:endCxn id="20" idx="6"/>
          </p:cNvCxnSpPr>
          <p:nvPr/>
        </p:nvCxnSpPr>
        <p:spPr bwMode="auto">
          <a:xfrm flipH="1" flipV="1">
            <a:off x="9588006" y="1512038"/>
            <a:ext cx="36504" cy="1880566"/>
          </a:xfrm>
          <a:prstGeom prst="curvedConnector3">
            <a:avLst>
              <a:gd name="adj1" fmla="val -626233"/>
            </a:avLst>
          </a:prstGeom>
          <a:noFill/>
          <a:ln w="9525">
            <a:solidFill>
              <a:schemeClr val="tx1"/>
            </a:solidFill>
            <a:round/>
            <a:headEnd type="stealth" w="lg"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Box 55"/>
          <p:cNvSpPr txBox="1"/>
          <p:nvPr/>
        </p:nvSpPr>
        <p:spPr>
          <a:xfrm>
            <a:off x="8507873" y="545172"/>
            <a:ext cx="1358962" cy="491581"/>
          </a:xfrm>
          <a:prstGeom prst="rect">
            <a:avLst/>
          </a:prstGeom>
          <a:noFill/>
        </p:spPr>
        <p:txBody>
          <a:bodyPr wrap="none" rtlCol="0">
            <a:spAutoFit/>
          </a:bodyPr>
          <a:lstStyle/>
          <a:p>
            <a:r>
              <a:rPr lang="en-US" b="1" dirty="0"/>
              <a:t>Redemption</a:t>
            </a:r>
          </a:p>
        </p:txBody>
      </p:sp>
      <p:sp>
        <p:nvSpPr>
          <p:cNvPr id="67" name="TextBox 66"/>
          <p:cNvSpPr txBox="1"/>
          <p:nvPr/>
        </p:nvSpPr>
        <p:spPr>
          <a:xfrm>
            <a:off x="1552731" y="1977298"/>
            <a:ext cx="1424877" cy="369332"/>
          </a:xfrm>
          <a:prstGeom prst="rect">
            <a:avLst/>
          </a:prstGeom>
          <a:noFill/>
        </p:spPr>
        <p:txBody>
          <a:bodyPr wrap="none" rtlCol="0">
            <a:spAutoFit/>
          </a:bodyPr>
          <a:lstStyle/>
          <a:p>
            <a:r>
              <a:rPr lang="en-US" dirty="0"/>
              <a:t>$ or Property</a:t>
            </a:r>
          </a:p>
        </p:txBody>
      </p:sp>
      <p:sp>
        <p:nvSpPr>
          <p:cNvPr id="68" name="TextBox 67"/>
          <p:cNvSpPr txBox="1"/>
          <p:nvPr/>
        </p:nvSpPr>
        <p:spPr>
          <a:xfrm>
            <a:off x="6661817" y="2100840"/>
            <a:ext cx="1424877" cy="491581"/>
          </a:xfrm>
          <a:prstGeom prst="rect">
            <a:avLst/>
          </a:prstGeom>
          <a:noFill/>
        </p:spPr>
        <p:txBody>
          <a:bodyPr wrap="none" rtlCol="0">
            <a:spAutoFit/>
          </a:bodyPr>
          <a:lstStyle/>
          <a:p>
            <a:r>
              <a:rPr lang="en-US" dirty="0"/>
              <a:t>$ or Property</a:t>
            </a:r>
          </a:p>
        </p:txBody>
      </p:sp>
      <p:sp>
        <p:nvSpPr>
          <p:cNvPr id="69" name="TextBox 68"/>
          <p:cNvSpPr txBox="1"/>
          <p:nvPr/>
        </p:nvSpPr>
        <p:spPr>
          <a:xfrm>
            <a:off x="10059987" y="2100840"/>
            <a:ext cx="805220" cy="491581"/>
          </a:xfrm>
          <a:prstGeom prst="rect">
            <a:avLst/>
          </a:prstGeom>
          <a:noFill/>
        </p:spPr>
        <p:txBody>
          <a:bodyPr wrap="none" rtlCol="0">
            <a:spAutoFit/>
          </a:bodyPr>
          <a:lstStyle/>
          <a:p>
            <a:r>
              <a:rPr lang="en-US" dirty="0"/>
              <a:t>Shares</a:t>
            </a:r>
          </a:p>
        </p:txBody>
      </p:sp>
      <p:sp>
        <p:nvSpPr>
          <p:cNvPr id="70" name="TextBox 69"/>
          <p:cNvSpPr txBox="1"/>
          <p:nvPr/>
        </p:nvSpPr>
        <p:spPr>
          <a:xfrm>
            <a:off x="1106894" y="4265003"/>
            <a:ext cx="4507425" cy="1600438"/>
          </a:xfrm>
          <a:prstGeom prst="rect">
            <a:avLst/>
          </a:prstGeom>
          <a:noFill/>
          <a:ln>
            <a:solidFill>
              <a:schemeClr val="accent1">
                <a:lumMod val="40000"/>
                <a:lumOff val="60000"/>
              </a:schemeClr>
            </a:solidFill>
          </a:ln>
        </p:spPr>
        <p:txBody>
          <a:bodyPr wrap="square" rtlCol="0">
            <a:spAutoFit/>
          </a:bodyPr>
          <a:lstStyle/>
          <a:p>
            <a:pPr algn="ctr"/>
            <a:r>
              <a:rPr lang="en-US" sz="2000" b="1" u="sng" dirty="0"/>
              <a:t>Tax Treatment</a:t>
            </a:r>
          </a:p>
          <a:p>
            <a:pPr marL="285750" indent="-285750">
              <a:buFont typeface="Arial" charset="0"/>
              <a:buChar char="•"/>
            </a:pPr>
            <a:r>
              <a:rPr lang="en-US" sz="2000" dirty="0"/>
              <a:t>Dividend to the extent of </a:t>
            </a:r>
            <a:r>
              <a:rPr lang="en-US" sz="2000" dirty="0" err="1"/>
              <a:t>E&amp;Ps</a:t>
            </a:r>
            <a:endParaRPr lang="en-US" sz="2000" dirty="0"/>
          </a:p>
          <a:p>
            <a:pPr marL="285750" indent="-285750">
              <a:buFont typeface="Arial" charset="0"/>
              <a:buChar char="•"/>
            </a:pPr>
            <a:r>
              <a:rPr lang="en-US" sz="2000" dirty="0"/>
              <a:t>Recovery of Basis</a:t>
            </a:r>
          </a:p>
          <a:p>
            <a:pPr marL="285750" indent="-285750">
              <a:buFont typeface="Arial" charset="0"/>
              <a:buChar char="•"/>
            </a:pPr>
            <a:r>
              <a:rPr lang="en-US" sz="2000" dirty="0"/>
              <a:t>Capital Gains</a:t>
            </a:r>
          </a:p>
          <a:p>
            <a:endParaRPr lang="en-US" dirty="0"/>
          </a:p>
        </p:txBody>
      </p:sp>
      <p:sp>
        <p:nvSpPr>
          <p:cNvPr id="71" name="TextBox 70"/>
          <p:cNvSpPr txBox="1"/>
          <p:nvPr/>
        </p:nvSpPr>
        <p:spPr>
          <a:xfrm>
            <a:off x="6259700" y="4147314"/>
            <a:ext cx="5130543" cy="2031325"/>
          </a:xfrm>
          <a:prstGeom prst="rect">
            <a:avLst/>
          </a:prstGeom>
          <a:noFill/>
          <a:ln>
            <a:solidFill>
              <a:schemeClr val="accent1">
                <a:lumMod val="40000"/>
                <a:lumOff val="60000"/>
              </a:schemeClr>
            </a:solidFill>
          </a:ln>
        </p:spPr>
        <p:txBody>
          <a:bodyPr wrap="square" rtlCol="0">
            <a:spAutoFit/>
          </a:bodyPr>
          <a:lstStyle/>
          <a:p>
            <a:pPr algn="ctr"/>
            <a:r>
              <a:rPr lang="en-US" b="1" u="sng" dirty="0"/>
              <a:t>Tax Treatment</a:t>
            </a:r>
          </a:p>
          <a:p>
            <a:pPr marL="285750" indent="-285750">
              <a:buFont typeface="Arial" charset="0"/>
              <a:buChar char="•"/>
            </a:pPr>
            <a:r>
              <a:rPr lang="en-US" dirty="0"/>
              <a:t>Dividend or Sale/X depending on whether SH’s interest in the corporation is significantly reduced</a:t>
            </a:r>
          </a:p>
          <a:p>
            <a:pPr marL="285750" indent="-285750">
              <a:buFont typeface="Arial" charset="0"/>
              <a:buChar char="•"/>
            </a:pPr>
            <a:r>
              <a:rPr lang="en-US" b="1" dirty="0"/>
              <a:t>Difference less important since tax rates on NCGs and Dividends are identical</a:t>
            </a:r>
            <a:r>
              <a:rPr lang="en-US" dirty="0"/>
              <a:t>, </a:t>
            </a:r>
            <a:r>
              <a:rPr lang="en-US" b="1" u="sng" dirty="0"/>
              <a:t>but recovery of basis in S/X</a:t>
            </a:r>
          </a:p>
          <a:p>
            <a:pPr marL="285750" indent="-285750">
              <a:buFont typeface="Arial" charset="0"/>
              <a:buChar char="•"/>
            </a:pPr>
            <a:r>
              <a:rPr lang="en-US" b="1" dirty="0">
                <a:solidFill>
                  <a:schemeClr val="accent1"/>
                </a:solidFill>
              </a:rPr>
              <a:t>Foreign v. U.S. shareholders</a:t>
            </a:r>
            <a:endParaRPr lang="en-US" sz="2000" b="1" dirty="0">
              <a:solidFill>
                <a:schemeClr val="accent1"/>
              </a:solidFill>
            </a:endParaRPr>
          </a:p>
        </p:txBody>
      </p:sp>
      <p:sp>
        <p:nvSpPr>
          <p:cNvPr id="6" name="TextBox 5">
            <a:extLst>
              <a:ext uri="{FF2B5EF4-FFF2-40B4-BE49-F238E27FC236}">
                <a16:creationId xmlns:a16="http://schemas.microsoft.com/office/drawing/2014/main" id="{65054BD3-FF88-8E44-8B76-71075D155672}"/>
              </a:ext>
            </a:extLst>
          </p:cNvPr>
          <p:cNvSpPr txBox="1"/>
          <p:nvPr/>
        </p:nvSpPr>
        <p:spPr>
          <a:xfrm>
            <a:off x="1480930" y="864704"/>
            <a:ext cx="184731" cy="369332"/>
          </a:xfrm>
          <a:prstGeom prst="rect">
            <a:avLst/>
          </a:prstGeom>
          <a:noFill/>
        </p:spPr>
        <p:txBody>
          <a:bodyPr wrap="none" rtlCol="0">
            <a:spAutoFit/>
          </a:bodyPr>
          <a:lstStyle/>
          <a:p>
            <a:endParaRPr lang="en-US"/>
          </a:p>
        </p:txBody>
      </p:sp>
      <p:sp>
        <p:nvSpPr>
          <p:cNvPr id="9" name="TextBox 8">
            <a:extLst>
              <a:ext uri="{FF2B5EF4-FFF2-40B4-BE49-F238E27FC236}">
                <a16:creationId xmlns:a16="http://schemas.microsoft.com/office/drawing/2014/main" id="{0EDB5E64-7458-8C47-808C-C33F9764ADC7}"/>
              </a:ext>
            </a:extLst>
          </p:cNvPr>
          <p:cNvSpPr txBox="1"/>
          <p:nvPr/>
        </p:nvSpPr>
        <p:spPr>
          <a:xfrm>
            <a:off x="4631635" y="1977887"/>
            <a:ext cx="184731" cy="369332"/>
          </a:xfrm>
          <a:prstGeom prst="rect">
            <a:avLst/>
          </a:prstGeom>
          <a:noFill/>
        </p:spPr>
        <p:txBody>
          <a:bodyPr wrap="none" rtlCol="0">
            <a:spAutoFit/>
          </a:bodyPr>
          <a:lstStyle/>
          <a:p>
            <a:endParaRPr lang="en-US" dirty="0"/>
          </a:p>
        </p:txBody>
      </p:sp>
      <p:sp>
        <p:nvSpPr>
          <p:cNvPr id="12" name="TextBox 11">
            <a:extLst>
              <a:ext uri="{FF2B5EF4-FFF2-40B4-BE49-F238E27FC236}">
                <a16:creationId xmlns:a16="http://schemas.microsoft.com/office/drawing/2014/main" id="{B475CD9B-FF6F-494D-B2B3-E68384818B00}"/>
              </a:ext>
            </a:extLst>
          </p:cNvPr>
          <p:cNvSpPr txBox="1"/>
          <p:nvPr/>
        </p:nvSpPr>
        <p:spPr>
          <a:xfrm>
            <a:off x="11390243" y="1918252"/>
            <a:ext cx="184731" cy="369332"/>
          </a:xfrm>
          <a:prstGeom prst="rect">
            <a:avLst/>
          </a:prstGeom>
          <a:noFill/>
        </p:spPr>
        <p:txBody>
          <a:bodyPr wrap="none" rtlCol="0">
            <a:spAutoFit/>
          </a:bodyPr>
          <a:lstStyle/>
          <a:p>
            <a:endParaRPr lang="en-US"/>
          </a:p>
        </p:txBody>
      </p:sp>
      <p:sp>
        <p:nvSpPr>
          <p:cNvPr id="13" name="Footer Placeholder 12">
            <a:extLst>
              <a:ext uri="{FF2B5EF4-FFF2-40B4-BE49-F238E27FC236}">
                <a16:creationId xmlns:a16="http://schemas.microsoft.com/office/drawing/2014/main" id="{332E892D-DF8A-154A-9C36-7DCA6230CEDF}"/>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26783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0">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0">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0">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0">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1"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1">
                                            <p:bg/>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0" grpId="1" animBg="1"/>
      <p:bldP spid="14" grpId="0"/>
      <p:bldP spid="19" grpId="0" animBg="1"/>
      <p:bldP spid="20" grpId="0" animBg="1"/>
      <p:bldP spid="56" grpId="0"/>
      <p:bldP spid="67" grpId="0"/>
      <p:bldP spid="68" grpId="0"/>
      <p:bldP spid="69" grpId="0"/>
      <p:bldP spid="70" grpId="0" uiExpand="1" build="allAtOnce" animBg="1"/>
      <p:bldP spid="71" grpId="0" uiExpand="1" build="allAtOnce" animBg="1"/>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200" dirty="0"/>
              <a:t>Redemptions treated as S/X:</a:t>
            </a:r>
          </a:p>
          <a:p>
            <a:pPr lvl="1"/>
            <a:r>
              <a:rPr lang="en-US" sz="2800" b="1" dirty="0"/>
              <a:t>Not essentially equivalent to a dividend (§302(b)(1))—hazy </a:t>
            </a:r>
          </a:p>
          <a:p>
            <a:pPr lvl="1"/>
            <a:r>
              <a:rPr lang="en-US" sz="2800" b="1" dirty="0"/>
              <a:t>Substantially disproportionate (§302(b)(2))—bright line</a:t>
            </a:r>
          </a:p>
          <a:p>
            <a:pPr lvl="1"/>
            <a:r>
              <a:rPr lang="en-US" sz="2800" b="1" dirty="0"/>
              <a:t>Termination of SH’s interest (§302(b)(3))—bright line &amp; hazy</a:t>
            </a:r>
          </a:p>
          <a:p>
            <a:pPr lvl="1"/>
            <a:r>
              <a:rPr lang="en-US" sz="2800" b="1" dirty="0"/>
              <a:t>Redemption from noncorporate SH in partial liquidation (§302(b)(4))—hazy</a:t>
            </a:r>
          </a:p>
          <a:p>
            <a:pPr lvl="1"/>
            <a:r>
              <a:rPr lang="en-US" sz="2800" dirty="0"/>
              <a:t>Redemption by a mutual fund/ETF (§302(b)(5))—bright line</a:t>
            </a:r>
          </a:p>
          <a:p>
            <a:pPr lvl="1"/>
            <a:r>
              <a:rPr lang="en-US" sz="2800" dirty="0"/>
              <a:t>Redemptions to pay estate taxes (§303)</a:t>
            </a:r>
          </a:p>
          <a:p>
            <a:pPr marL="228600" lvl="1" indent="0">
              <a:buNone/>
            </a:pPr>
            <a:endParaRPr lang="en-US" sz="2800" dirty="0"/>
          </a:p>
        </p:txBody>
      </p:sp>
      <p:sp>
        <p:nvSpPr>
          <p:cNvPr id="3" name="Title 2"/>
          <p:cNvSpPr>
            <a:spLocks noGrp="1"/>
          </p:cNvSpPr>
          <p:nvPr>
            <p:ph type="title"/>
          </p:nvPr>
        </p:nvSpPr>
        <p:spPr/>
        <p:txBody>
          <a:bodyPr/>
          <a:lstStyle/>
          <a:p>
            <a:r>
              <a:rPr lang="en-US" dirty="0"/>
              <a:t>Redemptions: Shareholder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E86107A8-C09B-2345-A9CE-6A0079C5CFB9}"/>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73988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276C90-C919-DF43-8DA4-70419AB9FF0F}"/>
              </a:ext>
            </a:extLst>
          </p:cNvPr>
          <p:cNvSpPr>
            <a:spLocks noGrp="1"/>
          </p:cNvSpPr>
          <p:nvPr>
            <p:ph idx="1"/>
          </p:nvPr>
        </p:nvSpPr>
        <p:spPr/>
        <p:txBody>
          <a:bodyPr/>
          <a:lstStyle/>
          <a:p>
            <a:r>
              <a:rPr lang="en-US" sz="2800" dirty="0"/>
              <a:t>Constructive ownership rules of §318 apply to determine ownership changes. §302(c)(1).</a:t>
            </a:r>
          </a:p>
          <a:p>
            <a:pPr lvl="1"/>
            <a:r>
              <a:rPr lang="en-US" sz="2400" dirty="0"/>
              <a:t>Attribution among Members of Family (§318(a)(1))</a:t>
            </a:r>
          </a:p>
          <a:p>
            <a:pPr lvl="1"/>
            <a:r>
              <a:rPr lang="en-US" sz="2400" dirty="0"/>
              <a:t>Attribution </a:t>
            </a:r>
            <a:r>
              <a:rPr lang="en-US" sz="2400" b="1" dirty="0"/>
              <a:t>from</a:t>
            </a:r>
            <a:r>
              <a:rPr lang="en-US" sz="2400" dirty="0"/>
              <a:t> Partnerships and Corporations  (§318(a)(2))</a:t>
            </a:r>
          </a:p>
          <a:p>
            <a:pPr lvl="1"/>
            <a:r>
              <a:rPr lang="en-US" sz="2400" dirty="0"/>
              <a:t>Attribution </a:t>
            </a:r>
            <a:r>
              <a:rPr lang="en-US" sz="2400" b="1" dirty="0"/>
              <a:t>to </a:t>
            </a:r>
            <a:r>
              <a:rPr lang="en-US" sz="2400" dirty="0"/>
              <a:t>Partnership and Corporations (§318(a)(3))</a:t>
            </a:r>
          </a:p>
          <a:p>
            <a:pPr lvl="1"/>
            <a:r>
              <a:rPr lang="en-US" sz="2400" dirty="0"/>
              <a:t>Options  (§318(a)(4))</a:t>
            </a:r>
          </a:p>
          <a:p>
            <a:pPr lvl="1"/>
            <a:r>
              <a:rPr lang="en-US" sz="2400" dirty="0"/>
              <a:t>Important </a:t>
            </a:r>
            <a:r>
              <a:rPr lang="en-US" sz="2400" b="1" dirty="0">
                <a:solidFill>
                  <a:srgbClr val="FF0000"/>
                </a:solidFill>
              </a:rPr>
              <a:t>Operating Rules</a:t>
            </a:r>
          </a:p>
          <a:p>
            <a:pPr lvl="2"/>
            <a:r>
              <a:rPr lang="en-US" sz="2400" dirty="0"/>
              <a:t>Reattribution </a:t>
            </a:r>
            <a:r>
              <a:rPr lang="en-US" sz="2400" b="1" dirty="0"/>
              <a:t>in general </a:t>
            </a:r>
            <a:r>
              <a:rPr lang="en-US" sz="2400" dirty="0"/>
              <a:t>(§318(a)(5)(A))—generally yes</a:t>
            </a:r>
          </a:p>
          <a:p>
            <a:pPr lvl="2"/>
            <a:r>
              <a:rPr lang="en-US" sz="2400" dirty="0"/>
              <a:t>Reattribution </a:t>
            </a:r>
            <a:r>
              <a:rPr lang="en-US" sz="2400" b="1" dirty="0"/>
              <a:t>among family members </a:t>
            </a:r>
            <a:r>
              <a:rPr lang="en-US" sz="2400" dirty="0"/>
              <a:t>(§318(a)(5)(B))—generally no</a:t>
            </a:r>
          </a:p>
          <a:p>
            <a:pPr lvl="2"/>
            <a:r>
              <a:rPr lang="en-US" sz="2400" dirty="0"/>
              <a:t>Reattribution </a:t>
            </a:r>
            <a:r>
              <a:rPr lang="en-US" sz="2400" b="1" dirty="0"/>
              <a:t>from</a:t>
            </a:r>
            <a:r>
              <a:rPr lang="en-US" sz="2400" dirty="0"/>
              <a:t> Partnerships and Corporations (§318(a)(5)(C))—no down/up</a:t>
            </a:r>
          </a:p>
          <a:p>
            <a:pPr lvl="2"/>
            <a:endParaRPr lang="en-US" sz="2000" dirty="0"/>
          </a:p>
          <a:p>
            <a:pPr lvl="2"/>
            <a:endParaRPr lang="en-US" sz="2000" dirty="0"/>
          </a:p>
          <a:p>
            <a:pPr lvl="2"/>
            <a:endParaRPr lang="en-US" sz="2000" dirty="0"/>
          </a:p>
          <a:p>
            <a:pPr lvl="2"/>
            <a:endParaRPr lang="en-US" sz="2000" dirty="0"/>
          </a:p>
          <a:p>
            <a:pPr lvl="1"/>
            <a:endParaRPr lang="en-US" sz="2000" dirty="0"/>
          </a:p>
          <a:p>
            <a:endParaRPr lang="en-US" dirty="0"/>
          </a:p>
        </p:txBody>
      </p:sp>
      <p:sp>
        <p:nvSpPr>
          <p:cNvPr id="3" name="Title 2">
            <a:extLst>
              <a:ext uri="{FF2B5EF4-FFF2-40B4-BE49-F238E27FC236}">
                <a16:creationId xmlns:a16="http://schemas.microsoft.com/office/drawing/2014/main" id="{31293BF4-DC7B-DA45-8F87-A095B8A95161}"/>
              </a:ext>
            </a:extLst>
          </p:cNvPr>
          <p:cNvSpPr>
            <a:spLocks noGrp="1"/>
          </p:cNvSpPr>
          <p:nvPr>
            <p:ph type="title"/>
          </p:nvPr>
        </p:nvSpPr>
        <p:spPr/>
        <p:txBody>
          <a:bodyPr/>
          <a:lstStyle/>
          <a:p>
            <a:r>
              <a:rPr lang="en-US" dirty="0"/>
              <a:t>Constructive Ownership Rules</a:t>
            </a:r>
          </a:p>
        </p:txBody>
      </p:sp>
      <p:sp>
        <p:nvSpPr>
          <p:cNvPr id="4" name="Slide Number Placeholder 3">
            <a:extLst>
              <a:ext uri="{FF2B5EF4-FFF2-40B4-BE49-F238E27FC236}">
                <a16:creationId xmlns:a16="http://schemas.microsoft.com/office/drawing/2014/main" id="{E9EDAF0B-7CD4-C441-B16A-65C1A12FD1DB}"/>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6" name="Footer Placeholder 5">
            <a:extLst>
              <a:ext uri="{FF2B5EF4-FFF2-40B4-BE49-F238E27FC236}">
                <a16:creationId xmlns:a16="http://schemas.microsoft.com/office/drawing/2014/main" id="{FD7A9ECD-250A-BB46-8EA0-B04EF123B30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5615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ea typeface="ＭＳ Ｐゴシック" charset="-128"/>
              </a:rPr>
              <a:t>Immediately after redemption </a:t>
            </a:r>
            <a:r>
              <a:rPr lang="en-US" altLang="en-US" dirty="0" err="1">
                <a:ea typeface="ＭＳ Ｐゴシック" charset="-128"/>
              </a:rPr>
              <a:t>SH</a:t>
            </a:r>
            <a:r>
              <a:rPr lang="en-US" altLang="en-US" dirty="0">
                <a:ea typeface="ＭＳ Ｐゴシック" charset="-128"/>
              </a:rPr>
              <a:t> owns &lt;50% of total combined </a:t>
            </a:r>
            <a:r>
              <a:rPr lang="en-US" altLang="en-US" i="1" dirty="0">
                <a:ea typeface="ＭＳ Ｐゴシック" charset="-128"/>
              </a:rPr>
              <a:t>voting power</a:t>
            </a:r>
            <a:r>
              <a:rPr lang="en-US" altLang="en-US" dirty="0">
                <a:ea typeface="ＭＳ Ｐゴシック" charset="-128"/>
              </a:rPr>
              <a:t> of all classes entitled to vote</a:t>
            </a:r>
          </a:p>
          <a:p>
            <a:endParaRPr lang="en-US" altLang="en-US" dirty="0">
              <a:ea typeface="ＭＳ Ｐゴシック" charset="-128"/>
            </a:endParaRPr>
          </a:p>
          <a:p>
            <a:r>
              <a:rPr lang="en-US" altLang="en-US" dirty="0">
                <a:ea typeface="ＭＳ Ｐゴシック" charset="-128"/>
              </a:rPr>
              <a:t> </a:t>
            </a:r>
          </a:p>
          <a:p>
            <a:endParaRPr lang="en-US" altLang="en-US" dirty="0">
              <a:ea typeface="ＭＳ Ｐゴシック" charset="-128"/>
            </a:endParaRPr>
          </a:p>
          <a:p>
            <a:endParaRPr lang="en-US" altLang="en-US" dirty="0">
              <a:ea typeface="ＭＳ Ｐゴシック" charset="-128"/>
            </a:endParaRPr>
          </a:p>
          <a:p>
            <a:r>
              <a:rPr lang="en-US" altLang="en-US" dirty="0" err="1">
                <a:ea typeface="ＭＳ Ｐゴシック" charset="-128"/>
              </a:rPr>
              <a:t>SH’s</a:t>
            </a:r>
            <a:r>
              <a:rPr lang="en-US" altLang="en-US" dirty="0">
                <a:ea typeface="ＭＳ Ｐゴシック" charset="-128"/>
              </a:rPr>
              <a:t> ownership of common stock (</a:t>
            </a:r>
            <a:r>
              <a:rPr lang="en-US" altLang="en-US" i="1" dirty="0">
                <a:ea typeface="ＭＳ Ｐゴシック" charset="-128"/>
              </a:rPr>
              <a:t>voting and nonvoting</a:t>
            </a:r>
            <a:r>
              <a:rPr lang="en-US" altLang="en-US" dirty="0">
                <a:ea typeface="ＭＳ Ｐゴシック" charset="-128"/>
              </a:rPr>
              <a:t>) after and before redemption also satisfies the 80% requirement.</a:t>
            </a:r>
          </a:p>
          <a:p>
            <a:pPr lvl="1"/>
            <a:r>
              <a:rPr lang="en-US" altLang="en-US" sz="2400" dirty="0">
                <a:ea typeface="ＭＳ Ｐゴシック" charset="-128"/>
              </a:rPr>
              <a:t>Reduction is tested on an </a:t>
            </a:r>
            <a:r>
              <a:rPr lang="en-US" altLang="en-US" sz="2400" b="1" dirty="0">
                <a:ea typeface="ＭＳ Ｐゴシック" charset="-128"/>
              </a:rPr>
              <a:t>aggregate </a:t>
            </a:r>
            <a:r>
              <a:rPr lang="en-US" altLang="en-US" sz="2400" dirty="0">
                <a:ea typeface="ＭＳ Ｐゴシック" charset="-128"/>
              </a:rPr>
              <a:t>and not class-by-class basis.  Rev. Rul. 87-88</a:t>
            </a:r>
          </a:p>
          <a:p>
            <a:pPr lvl="1"/>
            <a:endParaRPr lang="en-US" altLang="en-US" dirty="0">
              <a:ea typeface="ＭＳ Ｐゴシック" charset="-128"/>
            </a:endParaRPr>
          </a:p>
          <a:p>
            <a:endParaRPr lang="en-US" altLang="en-US" dirty="0">
              <a:ea typeface="ＭＳ Ｐゴシック" charset="-128"/>
            </a:endParaRPr>
          </a:p>
          <a:p>
            <a:endParaRPr lang="en-US" altLang="en-US" dirty="0">
              <a:ea typeface="ＭＳ Ｐゴシック" charset="-128"/>
            </a:endParaRPr>
          </a:p>
        </p:txBody>
      </p:sp>
      <p:sp>
        <p:nvSpPr>
          <p:cNvPr id="3" name="Title 2"/>
          <p:cNvSpPr>
            <a:spLocks noGrp="1"/>
          </p:cNvSpPr>
          <p:nvPr>
            <p:ph type="title"/>
          </p:nvPr>
        </p:nvSpPr>
        <p:spPr/>
        <p:txBody>
          <a:bodyPr/>
          <a:lstStyle/>
          <a:p>
            <a:r>
              <a:rPr lang="en-US" dirty="0"/>
              <a:t>Substantially Disproportionate Redemptions: §302(b)(2)</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graphicFrame>
        <p:nvGraphicFramePr>
          <p:cNvPr id="6" name="Object 1027"/>
          <p:cNvGraphicFramePr>
            <a:graphicFrameLocks noChangeAspect="1"/>
          </p:cNvGraphicFramePr>
          <p:nvPr>
            <p:extLst>
              <p:ext uri="{D42A27DB-BD31-4B8C-83A1-F6EECF244321}">
                <p14:modId xmlns:p14="http://schemas.microsoft.com/office/powerpoint/2010/main" val="2462296605"/>
              </p:ext>
            </p:extLst>
          </p:nvPr>
        </p:nvGraphicFramePr>
        <p:xfrm>
          <a:off x="990599" y="1915885"/>
          <a:ext cx="9889435" cy="933331"/>
        </p:xfrm>
        <a:graphic>
          <a:graphicData uri="http://schemas.openxmlformats.org/presentationml/2006/ole">
            <mc:AlternateContent xmlns:mc="http://schemas.openxmlformats.org/markup-compatibility/2006">
              <mc:Choice xmlns:v="urn:schemas-microsoft-com:vml" Requires="v">
                <p:oleObj name="Equation" r:id="rId2" imgW="4724280" imgH="419040" progId="Equation.3">
                  <p:embed/>
                </p:oleObj>
              </mc:Choice>
              <mc:Fallback>
                <p:oleObj name="Equation" r:id="rId2" imgW="4724280" imgH="419040" progId="Equation.3">
                  <p:embed/>
                  <p:pic>
                    <p:nvPicPr>
                      <p:cNvPr id="6" name="Object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599" y="1915885"/>
                        <a:ext cx="9889435" cy="933331"/>
                      </a:xfrm>
                      <a:prstGeom prst="rect">
                        <a:avLst/>
                      </a:prstGeom>
                      <a:noFill/>
                      <a:ln>
                        <a:noFill/>
                      </a:ln>
                      <a:effectLst/>
                    </p:spPr>
                  </p:pic>
                </p:oleObj>
              </mc:Fallback>
            </mc:AlternateContent>
          </a:graphicData>
        </a:graphic>
      </p:graphicFrame>
      <p:sp>
        <p:nvSpPr>
          <p:cNvPr id="5" name="Footer Placeholder 4">
            <a:extLst>
              <a:ext uri="{FF2B5EF4-FFF2-40B4-BE49-F238E27FC236}">
                <a16:creationId xmlns:a16="http://schemas.microsoft.com/office/drawing/2014/main" id="{E0DF4CB5-18B2-0846-A59F-5C8AC1F53C56}"/>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90215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Substantially Disproportionate Redemptions: Rev. Rul. 81-41</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7" name="Rectangle 6"/>
          <p:cNvSpPr/>
          <p:nvPr/>
        </p:nvSpPr>
        <p:spPr>
          <a:xfrm>
            <a:off x="2739220" y="3188632"/>
            <a:ext cx="1041622" cy="80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8" name="Straight Connector 7"/>
          <p:cNvCxnSpPr>
            <a:stCxn id="19" idx="4"/>
            <a:endCxn id="7" idx="0"/>
          </p:cNvCxnSpPr>
          <p:nvPr/>
        </p:nvCxnSpPr>
        <p:spPr>
          <a:xfrm flipH="1">
            <a:off x="3260031" y="2256293"/>
            <a:ext cx="784812" cy="9323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582888" y="3188632"/>
            <a:ext cx="1041622" cy="8889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11" name="Straight Connector 10"/>
          <p:cNvCxnSpPr>
            <a:stCxn id="20" idx="4"/>
            <a:endCxn id="10" idx="0"/>
          </p:cNvCxnSpPr>
          <p:nvPr/>
        </p:nvCxnSpPr>
        <p:spPr>
          <a:xfrm flipH="1">
            <a:off x="9103699" y="2368015"/>
            <a:ext cx="943941" cy="820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05469" y="876994"/>
            <a:ext cx="816634" cy="369332"/>
          </a:xfrm>
          <a:prstGeom prst="rect">
            <a:avLst/>
          </a:prstGeom>
          <a:noFill/>
        </p:spPr>
        <p:txBody>
          <a:bodyPr wrap="none" rtlCol="0">
            <a:spAutoFit/>
          </a:bodyPr>
          <a:lstStyle/>
          <a:p>
            <a:r>
              <a:rPr lang="en-US" b="1" dirty="0"/>
              <a:t>Before</a:t>
            </a:r>
          </a:p>
        </p:txBody>
      </p:sp>
      <p:sp>
        <p:nvSpPr>
          <p:cNvPr id="19" name="Oval 18"/>
          <p:cNvSpPr/>
          <p:nvPr/>
        </p:nvSpPr>
        <p:spPr>
          <a:xfrm>
            <a:off x="3560536" y="1588383"/>
            <a:ext cx="968614" cy="66791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OtherSHs</a:t>
            </a:r>
            <a:endParaRPr lang="en-US" sz="1600" dirty="0">
              <a:solidFill>
                <a:schemeClr val="tx1"/>
              </a:solidFill>
            </a:endParaRPr>
          </a:p>
        </p:txBody>
      </p:sp>
      <p:sp>
        <p:nvSpPr>
          <p:cNvPr id="20" name="Oval 19"/>
          <p:cNvSpPr/>
          <p:nvPr/>
        </p:nvSpPr>
        <p:spPr>
          <a:xfrm>
            <a:off x="9563333" y="1479027"/>
            <a:ext cx="968614" cy="8889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OtherSHs</a:t>
            </a:r>
            <a:endParaRPr lang="en-US" sz="1600" dirty="0">
              <a:solidFill>
                <a:schemeClr val="tx1"/>
              </a:solidFill>
            </a:endParaRPr>
          </a:p>
        </p:txBody>
      </p:sp>
      <p:sp>
        <p:nvSpPr>
          <p:cNvPr id="56" name="TextBox 55"/>
          <p:cNvSpPr txBox="1"/>
          <p:nvPr/>
        </p:nvSpPr>
        <p:spPr>
          <a:xfrm>
            <a:off x="8767485" y="980625"/>
            <a:ext cx="672428" cy="369332"/>
          </a:xfrm>
          <a:prstGeom prst="rect">
            <a:avLst/>
          </a:prstGeom>
          <a:noFill/>
        </p:spPr>
        <p:txBody>
          <a:bodyPr wrap="none" rtlCol="0">
            <a:spAutoFit/>
          </a:bodyPr>
          <a:lstStyle/>
          <a:p>
            <a:r>
              <a:rPr lang="en-US" b="1"/>
              <a:t>After</a:t>
            </a:r>
            <a:endParaRPr lang="en-US" b="1" dirty="0"/>
          </a:p>
        </p:txBody>
      </p:sp>
      <p:sp>
        <p:nvSpPr>
          <p:cNvPr id="71" name="TextBox 70"/>
          <p:cNvSpPr txBox="1"/>
          <p:nvPr/>
        </p:nvSpPr>
        <p:spPr>
          <a:xfrm>
            <a:off x="2311591" y="5201624"/>
            <a:ext cx="8443493" cy="707886"/>
          </a:xfrm>
          <a:prstGeom prst="rect">
            <a:avLst/>
          </a:prstGeom>
          <a:noFill/>
          <a:ln>
            <a:solidFill>
              <a:schemeClr val="accent1">
                <a:lumMod val="40000"/>
                <a:lumOff val="60000"/>
              </a:schemeClr>
            </a:solidFill>
          </a:ln>
        </p:spPr>
        <p:txBody>
          <a:bodyPr wrap="square" rtlCol="0">
            <a:spAutoFit/>
          </a:bodyPr>
          <a:lstStyle/>
          <a:p>
            <a:r>
              <a:rPr lang="en-US" sz="2000" b="1" dirty="0"/>
              <a:t>Why doesn’t this qualify as a substantially disproportionate redemption under section 302(b)(2)(C)? </a:t>
            </a:r>
          </a:p>
        </p:txBody>
      </p:sp>
      <p:cxnSp>
        <p:nvCxnSpPr>
          <p:cNvPr id="24" name="Straight Connector 23"/>
          <p:cNvCxnSpPr>
            <a:stCxn id="25" idx="4"/>
            <a:endCxn id="7" idx="0"/>
          </p:cNvCxnSpPr>
          <p:nvPr/>
        </p:nvCxnSpPr>
        <p:spPr>
          <a:xfrm>
            <a:off x="2601877" y="2300302"/>
            <a:ext cx="658154" cy="888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2117570" y="1632392"/>
            <a:ext cx="968614" cy="66791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a:t>
            </a:r>
          </a:p>
        </p:txBody>
      </p:sp>
      <p:sp>
        <p:nvSpPr>
          <p:cNvPr id="21" name="TextBox 20"/>
          <p:cNvSpPr txBox="1"/>
          <p:nvPr/>
        </p:nvSpPr>
        <p:spPr>
          <a:xfrm>
            <a:off x="3894268" y="2560320"/>
            <a:ext cx="999441" cy="369332"/>
          </a:xfrm>
          <a:prstGeom prst="rect">
            <a:avLst/>
          </a:prstGeom>
          <a:noFill/>
        </p:spPr>
        <p:txBody>
          <a:bodyPr wrap="none" rtlCol="0">
            <a:spAutoFit/>
          </a:bodyPr>
          <a:lstStyle/>
          <a:p>
            <a:r>
              <a:rPr lang="en-US" dirty="0"/>
              <a:t>5,100 VS</a:t>
            </a:r>
          </a:p>
        </p:txBody>
      </p:sp>
      <p:sp>
        <p:nvSpPr>
          <p:cNvPr id="31" name="TextBox 30"/>
          <p:cNvSpPr txBox="1"/>
          <p:nvPr/>
        </p:nvSpPr>
        <p:spPr>
          <a:xfrm>
            <a:off x="1473937" y="2518565"/>
            <a:ext cx="1265283" cy="369332"/>
          </a:xfrm>
          <a:prstGeom prst="rect">
            <a:avLst/>
          </a:prstGeom>
          <a:noFill/>
        </p:spPr>
        <p:txBody>
          <a:bodyPr wrap="none" rtlCol="0">
            <a:spAutoFit/>
          </a:bodyPr>
          <a:lstStyle/>
          <a:p>
            <a:r>
              <a:rPr lang="en-US" dirty="0"/>
              <a:t>4,900 V </a:t>
            </a:r>
            <a:r>
              <a:rPr lang="en-US" dirty="0" err="1"/>
              <a:t>Prd</a:t>
            </a:r>
            <a:endParaRPr lang="en-US" dirty="0"/>
          </a:p>
        </p:txBody>
      </p:sp>
      <p:sp>
        <p:nvSpPr>
          <p:cNvPr id="34" name="TextBox 33"/>
          <p:cNvSpPr txBox="1"/>
          <p:nvPr/>
        </p:nvSpPr>
        <p:spPr>
          <a:xfrm>
            <a:off x="7317605" y="2655174"/>
            <a:ext cx="1265155" cy="369332"/>
          </a:xfrm>
          <a:prstGeom prst="rect">
            <a:avLst/>
          </a:prstGeom>
          <a:noFill/>
        </p:spPr>
        <p:txBody>
          <a:bodyPr wrap="none" rtlCol="0">
            <a:spAutoFit/>
          </a:bodyPr>
          <a:lstStyle/>
          <a:p>
            <a:r>
              <a:rPr lang="en-US" dirty="0"/>
              <a:t>2,900 V </a:t>
            </a:r>
            <a:r>
              <a:rPr lang="en-US" dirty="0" err="1"/>
              <a:t>Prd</a:t>
            </a:r>
            <a:endParaRPr lang="en-US" dirty="0"/>
          </a:p>
        </p:txBody>
      </p:sp>
      <p:cxnSp>
        <p:nvCxnSpPr>
          <p:cNvPr id="37" name="Straight Connector 36"/>
          <p:cNvCxnSpPr>
            <a:stCxn id="38" idx="4"/>
            <a:endCxn id="10" idx="0"/>
          </p:cNvCxnSpPr>
          <p:nvPr/>
        </p:nvCxnSpPr>
        <p:spPr>
          <a:xfrm>
            <a:off x="8246074" y="2352894"/>
            <a:ext cx="857625" cy="8357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7761767" y="1571638"/>
            <a:ext cx="968614" cy="7812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a:t>
            </a:r>
          </a:p>
        </p:txBody>
      </p:sp>
      <p:sp>
        <p:nvSpPr>
          <p:cNvPr id="44" name="TextBox 43"/>
          <p:cNvSpPr txBox="1"/>
          <p:nvPr/>
        </p:nvSpPr>
        <p:spPr>
          <a:xfrm>
            <a:off x="9901898" y="2703231"/>
            <a:ext cx="999441" cy="369332"/>
          </a:xfrm>
          <a:prstGeom prst="rect">
            <a:avLst/>
          </a:prstGeom>
          <a:noFill/>
        </p:spPr>
        <p:txBody>
          <a:bodyPr wrap="none" rtlCol="0">
            <a:spAutoFit/>
          </a:bodyPr>
          <a:lstStyle/>
          <a:p>
            <a:r>
              <a:rPr lang="en-US" dirty="0"/>
              <a:t>5,100 VS</a:t>
            </a:r>
          </a:p>
        </p:txBody>
      </p:sp>
      <p:sp>
        <p:nvSpPr>
          <p:cNvPr id="47" name="Left Arrow 46"/>
          <p:cNvSpPr/>
          <p:nvPr/>
        </p:nvSpPr>
        <p:spPr>
          <a:xfrm flipH="1">
            <a:off x="4311042" y="3794667"/>
            <a:ext cx="4005648" cy="749969"/>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X redeems 2,000 of </a:t>
            </a:r>
            <a:r>
              <a:rPr lang="en-US" dirty="0" err="1">
                <a:solidFill>
                  <a:schemeClr val="tx1"/>
                </a:solidFill>
              </a:rPr>
              <a:t>SH</a:t>
            </a:r>
            <a:r>
              <a:rPr lang="en-US" dirty="0">
                <a:solidFill>
                  <a:schemeClr val="tx1"/>
                </a:solidFill>
              </a:rPr>
              <a:t> A’s V </a:t>
            </a:r>
            <a:r>
              <a:rPr lang="en-US" dirty="0" err="1">
                <a:solidFill>
                  <a:schemeClr val="tx1"/>
                </a:solidFill>
              </a:rPr>
              <a:t>prd</a:t>
            </a:r>
            <a:r>
              <a:rPr lang="en-US" dirty="0">
                <a:solidFill>
                  <a:schemeClr val="tx1"/>
                </a:solidFill>
              </a:rPr>
              <a:t> stock </a:t>
            </a:r>
          </a:p>
        </p:txBody>
      </p:sp>
      <p:sp>
        <p:nvSpPr>
          <p:cNvPr id="5" name="Footer Placeholder 4">
            <a:extLst>
              <a:ext uri="{FF2B5EF4-FFF2-40B4-BE49-F238E27FC236}">
                <a16:creationId xmlns:a16="http://schemas.microsoft.com/office/drawing/2014/main" id="{DBCB60B6-CEA4-A943-9381-DE5E81EEA496}"/>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79382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4" grpId="0"/>
      <p:bldP spid="19" grpId="0" animBg="1"/>
      <p:bldP spid="20" grpId="0" animBg="1"/>
      <p:bldP spid="56" grpId="0"/>
      <p:bldP spid="71" grpId="0" animBg="1"/>
      <p:bldP spid="25" grpId="0" animBg="1"/>
      <p:bldP spid="21" grpId="0"/>
      <p:bldP spid="31" grpId="0"/>
      <p:bldP spid="34" grpId="0"/>
      <p:bldP spid="38" grpId="0" animBg="1"/>
      <p:bldP spid="44" grpId="0"/>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Tax Consequences</a:t>
            </a:r>
          </a:p>
        </p:txBody>
      </p:sp>
      <p:sp>
        <p:nvSpPr>
          <p:cNvPr id="3" name="Text Placeholder 2"/>
          <p:cNvSpPr>
            <a:spLocks noGrp="1"/>
          </p:cNvSpPr>
          <p:nvPr>
            <p:ph type="body" idx="19"/>
          </p:nvPr>
        </p:nvSpPr>
        <p:spPr/>
        <p:txBody>
          <a:bodyPr/>
          <a:lstStyle/>
          <a:p>
            <a:r>
              <a:rPr lang="en-US" dirty="0"/>
              <a:t>Ownership Structure</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8</a:t>
            </a:fld>
            <a:endParaRPr lang="en-US" altLang="en-US"/>
          </a:p>
        </p:txBody>
      </p:sp>
      <p:sp>
        <p:nvSpPr>
          <p:cNvPr id="8" name="Title 7"/>
          <p:cNvSpPr>
            <a:spLocks noGrp="1"/>
          </p:cNvSpPr>
          <p:nvPr>
            <p:ph type="title"/>
          </p:nvPr>
        </p:nvSpPr>
        <p:spPr/>
        <p:txBody>
          <a:bodyPr/>
          <a:lstStyle/>
          <a:p>
            <a:r>
              <a:rPr lang="en-US" dirty="0"/>
              <a:t>Substantially Disproportionate Redemptions and §302(b)(2)(D): Rev. Rul. 85-14</a:t>
            </a:r>
          </a:p>
        </p:txBody>
      </p:sp>
      <p:sp>
        <p:nvSpPr>
          <p:cNvPr id="21" name="Oval 7"/>
          <p:cNvSpPr>
            <a:spLocks noChangeArrowheads="1"/>
          </p:cNvSpPr>
          <p:nvPr/>
        </p:nvSpPr>
        <p:spPr bwMode="auto">
          <a:xfrm>
            <a:off x="7448212" y="1639830"/>
            <a:ext cx="533400" cy="533400"/>
          </a:xfrm>
          <a:prstGeom prst="ellipse">
            <a:avLst/>
          </a:prstGeom>
          <a:solidFill>
            <a:schemeClr val="accent3">
              <a:lumMod val="10000"/>
              <a:lumOff val="9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A</a:t>
            </a:r>
          </a:p>
        </p:txBody>
      </p:sp>
      <p:sp>
        <p:nvSpPr>
          <p:cNvPr id="23" name="Oval 9"/>
          <p:cNvSpPr>
            <a:spLocks noChangeArrowheads="1"/>
          </p:cNvSpPr>
          <p:nvPr/>
        </p:nvSpPr>
        <p:spPr bwMode="auto">
          <a:xfrm>
            <a:off x="8269538" y="1620467"/>
            <a:ext cx="533400" cy="533400"/>
          </a:xfrm>
          <a:prstGeom prst="ellipse">
            <a:avLst/>
          </a:prstGeom>
          <a:solidFill>
            <a:schemeClr val="accent3">
              <a:lumMod val="10000"/>
              <a:lumOff val="9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B</a:t>
            </a:r>
          </a:p>
        </p:txBody>
      </p:sp>
      <p:sp>
        <p:nvSpPr>
          <p:cNvPr id="24" name="Oval 10"/>
          <p:cNvSpPr>
            <a:spLocks noChangeArrowheads="1"/>
          </p:cNvSpPr>
          <p:nvPr/>
        </p:nvSpPr>
        <p:spPr bwMode="auto">
          <a:xfrm>
            <a:off x="9132646" y="1620467"/>
            <a:ext cx="533400" cy="533400"/>
          </a:xfrm>
          <a:prstGeom prst="ellipse">
            <a:avLst/>
          </a:prstGeom>
          <a:solidFill>
            <a:schemeClr val="accent3">
              <a:lumMod val="10000"/>
              <a:lumOff val="9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C</a:t>
            </a:r>
          </a:p>
        </p:txBody>
      </p:sp>
      <p:sp>
        <p:nvSpPr>
          <p:cNvPr id="25" name="Oval 11"/>
          <p:cNvSpPr>
            <a:spLocks noChangeArrowheads="1"/>
          </p:cNvSpPr>
          <p:nvPr/>
        </p:nvSpPr>
        <p:spPr bwMode="auto">
          <a:xfrm>
            <a:off x="9895161" y="1620467"/>
            <a:ext cx="534499" cy="533400"/>
          </a:xfrm>
          <a:prstGeom prst="ellipse">
            <a:avLst/>
          </a:prstGeom>
          <a:solidFill>
            <a:schemeClr val="accent3">
              <a:lumMod val="10000"/>
              <a:lumOff val="9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D</a:t>
            </a:r>
          </a:p>
        </p:txBody>
      </p:sp>
      <p:sp>
        <p:nvSpPr>
          <p:cNvPr id="5" name="Rectangle 4"/>
          <p:cNvSpPr/>
          <p:nvPr/>
        </p:nvSpPr>
        <p:spPr>
          <a:xfrm>
            <a:off x="8269538" y="2746525"/>
            <a:ext cx="1201929" cy="69521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cxnSp>
        <p:nvCxnSpPr>
          <p:cNvPr id="10" name="Straight Connector 9"/>
          <p:cNvCxnSpPr>
            <a:stCxn id="24" idx="4"/>
            <a:endCxn id="5" idx="0"/>
          </p:cNvCxnSpPr>
          <p:nvPr/>
        </p:nvCxnSpPr>
        <p:spPr>
          <a:xfrm flipH="1">
            <a:off x="8870503" y="2153867"/>
            <a:ext cx="528843" cy="592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25" idx="4"/>
            <a:endCxn id="5" idx="0"/>
          </p:cNvCxnSpPr>
          <p:nvPr/>
        </p:nvCxnSpPr>
        <p:spPr>
          <a:xfrm flipH="1">
            <a:off x="8870503" y="2153867"/>
            <a:ext cx="1291908" cy="592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endCxn id="5" idx="0"/>
          </p:cNvCxnSpPr>
          <p:nvPr/>
        </p:nvCxnSpPr>
        <p:spPr>
          <a:xfrm>
            <a:off x="7909002" y="2137671"/>
            <a:ext cx="961501" cy="6088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3" idx="4"/>
            <a:endCxn id="5" idx="0"/>
          </p:cNvCxnSpPr>
          <p:nvPr/>
        </p:nvCxnSpPr>
        <p:spPr>
          <a:xfrm>
            <a:off x="8536238" y="2153867"/>
            <a:ext cx="334265" cy="59265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2" name="Table 51"/>
          <p:cNvGraphicFramePr>
            <a:graphicFrameLocks noGrp="1"/>
          </p:cNvGraphicFramePr>
          <p:nvPr>
            <p:extLst>
              <p:ext uri="{D42A27DB-BD31-4B8C-83A1-F6EECF244321}">
                <p14:modId xmlns:p14="http://schemas.microsoft.com/office/powerpoint/2010/main" val="429528546"/>
              </p:ext>
            </p:extLst>
          </p:nvPr>
        </p:nvGraphicFramePr>
        <p:xfrm>
          <a:off x="6707438" y="4034398"/>
          <a:ext cx="4606557" cy="1981200"/>
        </p:xfrm>
        <a:graphic>
          <a:graphicData uri="http://schemas.openxmlformats.org/drawingml/2006/table">
            <a:tbl>
              <a:tblPr firstRow="1" bandRow="1">
                <a:tableStyleId>{8799B23B-EC83-4686-B30A-512413B5E67A}</a:tableStyleId>
              </a:tblPr>
              <a:tblGrid>
                <a:gridCol w="1005067">
                  <a:extLst>
                    <a:ext uri="{9D8B030D-6E8A-4147-A177-3AD203B41FA5}">
                      <a16:colId xmlns:a16="http://schemas.microsoft.com/office/drawing/2014/main" val="20000"/>
                    </a:ext>
                  </a:extLst>
                </a:gridCol>
                <a:gridCol w="878039">
                  <a:extLst>
                    <a:ext uri="{9D8B030D-6E8A-4147-A177-3AD203B41FA5}">
                      <a16:colId xmlns:a16="http://schemas.microsoft.com/office/drawing/2014/main" val="20001"/>
                    </a:ext>
                  </a:extLst>
                </a:gridCol>
                <a:gridCol w="1299606">
                  <a:extLst>
                    <a:ext uri="{9D8B030D-6E8A-4147-A177-3AD203B41FA5}">
                      <a16:colId xmlns:a16="http://schemas.microsoft.com/office/drawing/2014/main" val="20002"/>
                    </a:ext>
                  </a:extLst>
                </a:gridCol>
                <a:gridCol w="1423845">
                  <a:extLst>
                    <a:ext uri="{9D8B030D-6E8A-4147-A177-3AD203B41FA5}">
                      <a16:colId xmlns:a16="http://schemas.microsoft.com/office/drawing/2014/main" val="20003"/>
                    </a:ext>
                  </a:extLst>
                </a:gridCol>
              </a:tblGrid>
              <a:tr h="360181">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err="1">
                          <a:ln>
                            <a:noFill/>
                          </a:ln>
                          <a:effectLst/>
                          <a:latin typeface="+mn-lt"/>
                        </a:rPr>
                        <a:t>SHs</a:t>
                      </a:r>
                      <a:endParaRPr kumimoji="0" lang="en-US" altLang="en-US" sz="2000" b="1" i="0" u="none" strike="noStrike" cap="none" normalizeH="0" baseline="0" dirty="0">
                        <a:ln>
                          <a:noFill/>
                        </a:ln>
                        <a:solidFill>
                          <a:schemeClr val="tx1"/>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Jan 1</a:t>
                      </a:r>
                      <a:endParaRPr kumimoji="0" lang="en-US" altLang="en-US" sz="2000" b="1" i="0" u="none" strike="noStrike" cap="none" normalizeH="0" baseline="0" dirty="0">
                        <a:ln>
                          <a:noFill/>
                        </a:ln>
                        <a:solidFill>
                          <a:schemeClr val="tx1"/>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Mar 15</a:t>
                      </a:r>
                      <a:endParaRPr kumimoji="0" lang="en-US" altLang="en-US" sz="2000" b="1" i="0" u="none" strike="noStrike" cap="none" normalizeH="0" baseline="0" dirty="0">
                        <a:ln>
                          <a:noFill/>
                        </a:ln>
                        <a:solidFill>
                          <a:schemeClr val="tx1"/>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Sept 22</a:t>
                      </a:r>
                      <a:endParaRPr kumimoji="0" lang="en-US" altLang="en-US" sz="2000" b="1" i="0" u="none" strike="noStrike" cap="none" normalizeH="0" baseline="0" dirty="0">
                        <a:ln>
                          <a:noFill/>
                        </a:ln>
                        <a:solidFill>
                          <a:schemeClr val="tx1"/>
                        </a:solidFill>
                        <a:effectLst/>
                        <a:latin typeface="+mn-lt"/>
                        <a:ea typeface="ＭＳ Ｐゴシック" charset="-128"/>
                      </a:endParaRPr>
                    </a:p>
                  </a:txBody>
                  <a:tcPr horzOverflow="overflow"/>
                </a:tc>
                <a:extLst>
                  <a:ext uri="{0D108BD9-81ED-4DB2-BD59-A6C34878D82A}">
                    <a16:rowId xmlns:a16="http://schemas.microsoft.com/office/drawing/2014/main" val="10000"/>
                  </a:ext>
                </a:extLst>
              </a:tr>
              <a:tr h="351901">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A</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ea typeface="ＭＳ Ｐゴシック" charset="-128"/>
                        </a:rPr>
                        <a:t>1466</a:t>
                      </a: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564</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solidFill>
                      <a:schemeClr val="accent1">
                        <a:lumMod val="20000"/>
                        <a:lumOff val="80000"/>
                        <a:alpha val="20000"/>
                      </a:schemeClr>
                    </a:solidFill>
                  </a:tcPr>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564</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extLst>
                  <a:ext uri="{0D108BD9-81ED-4DB2-BD59-A6C34878D82A}">
                    <a16:rowId xmlns:a16="http://schemas.microsoft.com/office/drawing/2014/main" val="10001"/>
                  </a:ext>
                </a:extLst>
              </a:tr>
              <a:tr h="351901">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a:ln>
                            <a:noFill/>
                          </a:ln>
                          <a:effectLst/>
                          <a:latin typeface="+mn-lt"/>
                        </a:rPr>
                        <a:t>B</a:t>
                      </a:r>
                      <a:endParaRPr kumimoji="0" lang="en-US" altLang="en-US" sz="2000" b="0" i="0" u="none" strike="noStrike" cap="none" normalizeH="0" baseline="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mn-lt"/>
                          <a:ea typeface="ＭＳ Ｐゴシック" charset="-128"/>
                        </a:rPr>
                        <a:t>210</a:t>
                      </a: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210</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0</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extLst>
                  <a:ext uri="{0D108BD9-81ED-4DB2-BD59-A6C34878D82A}">
                    <a16:rowId xmlns:a16="http://schemas.microsoft.com/office/drawing/2014/main" val="10002"/>
                  </a:ext>
                </a:extLst>
              </a:tr>
              <a:tr h="351901">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a:ln>
                            <a:noFill/>
                          </a:ln>
                          <a:effectLst/>
                          <a:latin typeface="+mn-lt"/>
                        </a:rPr>
                        <a:t>C</a:t>
                      </a:r>
                      <a:endParaRPr kumimoji="0" lang="en-US" altLang="en-US" sz="2000" b="0" i="0" u="none" strike="noStrike" cap="none" normalizeH="0" baseline="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200</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200</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200</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extLst>
                  <a:ext uri="{0D108BD9-81ED-4DB2-BD59-A6C34878D82A}">
                    <a16:rowId xmlns:a16="http://schemas.microsoft.com/office/drawing/2014/main" val="10003"/>
                  </a:ext>
                </a:extLst>
              </a:tr>
              <a:tr h="351901">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D</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155</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155</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tc>
                  <a:txBody>
                    <a:bodyPr/>
                    <a:lstStyle>
                      <a:lvl1pPr defTabSz="457200">
                        <a:spcBef>
                          <a:spcPct val="20000"/>
                        </a:spcBef>
                        <a:buSzPct val="75000"/>
                        <a:defRPr sz="2400">
                          <a:solidFill>
                            <a:schemeClr val="tx1"/>
                          </a:solidFill>
                          <a:latin typeface="Verdana" charset="0"/>
                          <a:ea typeface="ＭＳ Ｐゴシック" charset="-128"/>
                        </a:defRPr>
                      </a:lvl1pPr>
                      <a:lvl2pPr marL="742950" indent="-285750" defTabSz="457200">
                        <a:spcBef>
                          <a:spcPct val="20000"/>
                        </a:spcBef>
                        <a:buSzPct val="75000"/>
                        <a:buFont typeface="Wingdings" charset="2"/>
                        <a:defRPr sz="2000">
                          <a:solidFill>
                            <a:schemeClr val="tx1"/>
                          </a:solidFill>
                          <a:latin typeface="Verdana" charset="0"/>
                          <a:ea typeface="ＭＳ Ｐゴシック" charset="-128"/>
                        </a:defRPr>
                      </a:lvl2pPr>
                      <a:lvl3pPr marL="1143000" indent="-228600" defTabSz="457200">
                        <a:spcBef>
                          <a:spcPct val="20000"/>
                        </a:spcBef>
                        <a:buSzPct val="70000"/>
                        <a:buFont typeface="Symbol" charset="2"/>
                        <a:defRPr>
                          <a:solidFill>
                            <a:schemeClr val="tx1"/>
                          </a:solidFill>
                          <a:latin typeface="Verdana" charset="0"/>
                          <a:ea typeface="ＭＳ Ｐゴシック" charset="-128"/>
                        </a:defRPr>
                      </a:lvl3pPr>
                      <a:lvl4pPr marL="1600200" indent="-228600" defTabSz="457200">
                        <a:spcBef>
                          <a:spcPct val="20000"/>
                        </a:spcBef>
                        <a:defRPr>
                          <a:solidFill>
                            <a:schemeClr val="tx1"/>
                          </a:solidFill>
                          <a:latin typeface="Verdana" charset="0"/>
                          <a:ea typeface="ＭＳ Ｐゴシック" charset="-128"/>
                        </a:defRPr>
                      </a:lvl4pPr>
                      <a:lvl5pPr marL="2057400" indent="-228600" defTabSz="457200">
                        <a:spcBef>
                          <a:spcPct val="20000"/>
                        </a:spcBef>
                        <a:defRPr>
                          <a:solidFill>
                            <a:schemeClr val="tx1"/>
                          </a:solidFill>
                          <a:latin typeface="Verdana" charset="0"/>
                          <a:ea typeface="ＭＳ Ｐゴシック" charset="-128"/>
                        </a:defRPr>
                      </a:lvl5pPr>
                      <a:lvl6pPr marL="2514600" indent="-228600" defTabSz="457200" eaLnBrk="0" fontAlgn="base" hangingPunct="0">
                        <a:spcBef>
                          <a:spcPct val="20000"/>
                        </a:spcBef>
                        <a:spcAft>
                          <a:spcPct val="0"/>
                        </a:spcAft>
                        <a:defRPr>
                          <a:solidFill>
                            <a:schemeClr val="tx1"/>
                          </a:solidFill>
                          <a:latin typeface="Verdana" charset="0"/>
                          <a:ea typeface="ＭＳ Ｐゴシック" charset="-128"/>
                        </a:defRPr>
                      </a:lvl6pPr>
                      <a:lvl7pPr marL="2971800" indent="-228600" defTabSz="457200" eaLnBrk="0" fontAlgn="base" hangingPunct="0">
                        <a:spcBef>
                          <a:spcPct val="20000"/>
                        </a:spcBef>
                        <a:spcAft>
                          <a:spcPct val="0"/>
                        </a:spcAft>
                        <a:defRPr>
                          <a:solidFill>
                            <a:schemeClr val="tx1"/>
                          </a:solidFill>
                          <a:latin typeface="Verdana" charset="0"/>
                          <a:ea typeface="ＭＳ Ｐゴシック" charset="-128"/>
                        </a:defRPr>
                      </a:lvl7pPr>
                      <a:lvl8pPr marL="3429000" indent="-228600" defTabSz="457200" eaLnBrk="0" fontAlgn="base" hangingPunct="0">
                        <a:spcBef>
                          <a:spcPct val="20000"/>
                        </a:spcBef>
                        <a:spcAft>
                          <a:spcPct val="0"/>
                        </a:spcAft>
                        <a:defRPr>
                          <a:solidFill>
                            <a:schemeClr val="tx1"/>
                          </a:solidFill>
                          <a:latin typeface="Verdana" charset="0"/>
                          <a:ea typeface="ＭＳ Ｐゴシック" charset="-128"/>
                        </a:defRPr>
                      </a:lvl8pPr>
                      <a:lvl9pPr marL="3886200" indent="-228600" defTabSz="457200" eaLnBrk="0" fontAlgn="base" hangingPunct="0">
                        <a:spcBef>
                          <a:spcPct val="20000"/>
                        </a:spcBef>
                        <a:spcAft>
                          <a:spcPct val="0"/>
                        </a:spcAft>
                        <a:defRPr>
                          <a:solidFill>
                            <a:schemeClr val="tx1"/>
                          </a:solidFill>
                          <a:latin typeface="Verdan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2000" u="none" strike="noStrike" cap="none" normalizeH="0" baseline="0" dirty="0">
                          <a:ln>
                            <a:noFill/>
                          </a:ln>
                          <a:effectLst/>
                          <a:latin typeface="+mn-lt"/>
                        </a:rPr>
                        <a:t>155</a:t>
                      </a:r>
                      <a:endParaRPr kumimoji="0" lang="en-US" altLang="en-US" sz="2000" b="0" i="0" u="none" strike="noStrike" cap="none" normalizeH="0" baseline="0" dirty="0">
                        <a:ln>
                          <a:noFill/>
                        </a:ln>
                        <a:solidFill>
                          <a:srgbClr val="000000"/>
                        </a:solidFill>
                        <a:effectLst/>
                        <a:latin typeface="+mn-lt"/>
                        <a:ea typeface="ＭＳ Ｐゴシック" charset="-128"/>
                      </a:endParaRPr>
                    </a:p>
                  </a:txBody>
                  <a:tcPr horzOverflow="overflow"/>
                </a:tc>
                <a:extLst>
                  <a:ext uri="{0D108BD9-81ED-4DB2-BD59-A6C34878D82A}">
                    <a16:rowId xmlns:a16="http://schemas.microsoft.com/office/drawing/2014/main" val="10004"/>
                  </a:ext>
                </a:extLst>
              </a:tr>
            </a:tbl>
          </a:graphicData>
        </a:graphic>
      </p:graphicFrame>
      <p:sp>
        <p:nvSpPr>
          <p:cNvPr id="54" name="Content Placeholder 53"/>
          <p:cNvSpPr>
            <a:spLocks noGrp="1"/>
          </p:cNvSpPr>
          <p:nvPr>
            <p:ph sz="quarter" idx="20"/>
          </p:nvPr>
        </p:nvSpPr>
        <p:spPr/>
        <p:txBody>
          <a:bodyPr/>
          <a:lstStyle/>
          <a:p>
            <a:pPr algn="just"/>
            <a:r>
              <a:rPr lang="en-US" sz="2000" dirty="0"/>
              <a:t>Repurchase agreement between X and B, C, and D:  </a:t>
            </a:r>
          </a:p>
          <a:p>
            <a:pPr lvl="1" algn="just"/>
            <a:r>
              <a:rPr lang="en-US" sz="2000" dirty="0"/>
              <a:t>If any SH ceases to work in the business, he must tender shares to X for book value</a:t>
            </a:r>
          </a:p>
          <a:p>
            <a:pPr algn="just"/>
            <a:r>
              <a:rPr lang="en-US" sz="2000" dirty="0"/>
              <a:t>B announced on 1/1/83 his intention to resign on 3/22/83.</a:t>
            </a:r>
          </a:p>
          <a:p>
            <a:pPr algn="just"/>
            <a:r>
              <a:rPr lang="en-US" sz="2000" dirty="0"/>
              <a:t>A caused X to redeem 902 shares from A on 3/15/83 for 700X, which reduced A’s ownership to 49.96% from 72.18%</a:t>
            </a:r>
          </a:p>
          <a:p>
            <a:pPr algn="just"/>
            <a:r>
              <a:rPr lang="en-US" sz="2000" dirty="0"/>
              <a:t>On 3/22/83, B resigned, and X redeemed B’s shares over the next 6 months.</a:t>
            </a:r>
          </a:p>
          <a:p>
            <a:pPr algn="just"/>
            <a:r>
              <a:rPr lang="en-US" sz="2000" dirty="0"/>
              <a:t>After the dust settles, A owns &gt;50% of X, and A’s ownership was reduced from 72.18% to 61.37%</a:t>
            </a:r>
          </a:p>
          <a:p>
            <a:endParaRPr lang="en-US" dirty="0"/>
          </a:p>
          <a:p>
            <a:endParaRPr lang="en-US" dirty="0"/>
          </a:p>
        </p:txBody>
      </p:sp>
      <p:sp>
        <p:nvSpPr>
          <p:cNvPr id="7" name="Footer Placeholder 6">
            <a:extLst>
              <a:ext uri="{FF2B5EF4-FFF2-40B4-BE49-F238E27FC236}">
                <a16:creationId xmlns:a16="http://schemas.microsoft.com/office/drawing/2014/main" id="{5AED232E-F2EB-FB48-B527-D45AE912FE3A}"/>
              </a:ext>
            </a:extLst>
          </p:cNvPr>
          <p:cNvSpPr>
            <a:spLocks noGrp="1"/>
          </p:cNvSpPr>
          <p:nvPr>
            <p:ph type="ftr" sz="quarter" idx="23"/>
          </p:nvPr>
        </p:nvSpPr>
        <p:spPr/>
        <p:txBody>
          <a:bodyPr/>
          <a:lstStyle/>
          <a:p>
            <a:pPr>
              <a:defRPr/>
            </a:pPr>
            <a:r>
              <a:rPr lang="en-US"/>
              <a:t>Redemptions</a:t>
            </a:r>
          </a:p>
        </p:txBody>
      </p:sp>
    </p:spTree>
    <p:extLst>
      <p:ext uri="{BB962C8B-B14F-4D97-AF65-F5344CB8AC3E}">
        <p14:creationId xmlns:p14="http://schemas.microsoft.com/office/powerpoint/2010/main" val="120464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4880B0-2204-2640-B543-73735A266D5C}"/>
              </a:ext>
            </a:extLst>
          </p:cNvPr>
          <p:cNvSpPr>
            <a:spLocks noGrp="1"/>
          </p:cNvSpPr>
          <p:nvPr>
            <p:ph idx="1"/>
          </p:nvPr>
        </p:nvSpPr>
        <p:spPr/>
        <p:txBody>
          <a:bodyPr/>
          <a:lstStyle/>
          <a:p>
            <a:r>
              <a:rPr lang="en-US" dirty="0"/>
              <a:t>Redemptions that completely terminate a shareholder’s interest are treated as S/X. §302(b)(2)</a:t>
            </a:r>
          </a:p>
          <a:p>
            <a:r>
              <a:rPr lang="en-US" dirty="0"/>
              <a:t>Issues:</a:t>
            </a:r>
          </a:p>
          <a:p>
            <a:pPr lvl="1"/>
            <a:r>
              <a:rPr lang="en-US" dirty="0"/>
              <a:t>Redemptions of a family member in a family-held corporation and the constructive ownership rules</a:t>
            </a:r>
          </a:p>
          <a:p>
            <a:endParaRPr lang="en-US" dirty="0"/>
          </a:p>
          <a:p>
            <a:endParaRPr lang="en-US" dirty="0"/>
          </a:p>
        </p:txBody>
      </p:sp>
      <p:sp>
        <p:nvSpPr>
          <p:cNvPr id="3" name="Title 2">
            <a:extLst>
              <a:ext uri="{FF2B5EF4-FFF2-40B4-BE49-F238E27FC236}">
                <a16:creationId xmlns:a16="http://schemas.microsoft.com/office/drawing/2014/main" id="{ADA6D73D-72CB-6647-B813-AE9D6C443B61}"/>
              </a:ext>
            </a:extLst>
          </p:cNvPr>
          <p:cNvSpPr>
            <a:spLocks noGrp="1"/>
          </p:cNvSpPr>
          <p:nvPr>
            <p:ph type="title"/>
          </p:nvPr>
        </p:nvSpPr>
        <p:spPr/>
        <p:txBody>
          <a:bodyPr/>
          <a:lstStyle/>
          <a:p>
            <a:r>
              <a:rPr lang="en-US" dirty="0"/>
              <a:t>Redemptions that Completely Terminate a Shareholder’s Interest: §302(b)(3) and (c)(2) </a:t>
            </a:r>
          </a:p>
        </p:txBody>
      </p:sp>
      <p:sp>
        <p:nvSpPr>
          <p:cNvPr id="4" name="Slide Number Placeholder 3">
            <a:extLst>
              <a:ext uri="{FF2B5EF4-FFF2-40B4-BE49-F238E27FC236}">
                <a16:creationId xmlns:a16="http://schemas.microsoft.com/office/drawing/2014/main" id="{5A97E888-017C-CF4B-8505-D8501D1C2EA9}"/>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pic>
        <p:nvPicPr>
          <p:cNvPr id="7" name="Picture 6">
            <a:extLst>
              <a:ext uri="{FF2B5EF4-FFF2-40B4-BE49-F238E27FC236}">
                <a16:creationId xmlns:a16="http://schemas.microsoft.com/office/drawing/2014/main" id="{66768949-4C35-6B4D-B4C4-8E294AEB157D}"/>
              </a:ext>
            </a:extLst>
          </p:cNvPr>
          <p:cNvPicPr>
            <a:picLocks noChangeAspect="1"/>
          </p:cNvPicPr>
          <p:nvPr/>
        </p:nvPicPr>
        <p:blipFill>
          <a:blip r:embed="rId2"/>
          <a:stretch>
            <a:fillRect/>
          </a:stretch>
        </p:blipFill>
        <p:spPr>
          <a:xfrm>
            <a:off x="1200150" y="2882900"/>
            <a:ext cx="9486900" cy="2870200"/>
          </a:xfrm>
          <a:prstGeom prst="rect">
            <a:avLst/>
          </a:prstGeom>
        </p:spPr>
      </p:pic>
      <p:sp>
        <p:nvSpPr>
          <p:cNvPr id="8" name="Footer Placeholder 7">
            <a:extLst>
              <a:ext uri="{FF2B5EF4-FFF2-40B4-BE49-F238E27FC236}">
                <a16:creationId xmlns:a16="http://schemas.microsoft.com/office/drawing/2014/main" id="{EC63D8BF-AF16-5740-BC38-4C49FBCDCBE3}"/>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5954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a:t>
            </a:r>
            <a:r>
              <a:rPr lang="en-US" i="1" dirty="0"/>
              <a:t>Lynch v. CIR</a:t>
            </a:r>
            <a:r>
              <a:rPr lang="en-US" dirty="0"/>
              <a:t>, 801 F.2d 1176 (9</a:t>
            </a:r>
            <a:r>
              <a:rPr lang="en-US" baseline="30000" dirty="0"/>
              <a:t>th</a:t>
            </a:r>
            <a:r>
              <a:rPr lang="en-US" dirty="0"/>
              <a:t> Cir. 1986)</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7" name="Rectangle 6"/>
          <p:cNvSpPr/>
          <p:nvPr/>
        </p:nvSpPr>
        <p:spPr>
          <a:xfrm>
            <a:off x="1497274" y="2683661"/>
            <a:ext cx="1041622" cy="80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Lynch Co.</a:t>
            </a:r>
          </a:p>
        </p:txBody>
      </p:sp>
      <p:sp>
        <p:nvSpPr>
          <p:cNvPr id="10" name="Rectangle 9"/>
          <p:cNvSpPr/>
          <p:nvPr/>
        </p:nvSpPr>
        <p:spPr>
          <a:xfrm>
            <a:off x="8582888" y="2683661"/>
            <a:ext cx="1041622" cy="8889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Lynch Co.</a:t>
            </a:r>
          </a:p>
        </p:txBody>
      </p:sp>
      <p:cxnSp>
        <p:nvCxnSpPr>
          <p:cNvPr id="11" name="Straight Connector 10"/>
          <p:cNvCxnSpPr>
            <a:stCxn id="42" idx="4"/>
            <a:endCxn id="10" idx="0"/>
          </p:cNvCxnSpPr>
          <p:nvPr/>
        </p:nvCxnSpPr>
        <p:spPr>
          <a:xfrm flipH="1">
            <a:off x="9103699" y="1752506"/>
            <a:ext cx="996293" cy="931155"/>
          </a:xfrm>
          <a:prstGeom prst="line">
            <a:avLst/>
          </a:prstGeom>
          <a:ln w="25400">
            <a:solidFill>
              <a:schemeClr val="tx1">
                <a:alpha val="3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299983" y="575461"/>
            <a:ext cx="1546770" cy="369332"/>
          </a:xfrm>
          <a:prstGeom prst="rect">
            <a:avLst/>
          </a:prstGeom>
          <a:noFill/>
        </p:spPr>
        <p:txBody>
          <a:bodyPr wrap="none" rtlCol="0">
            <a:spAutoFit/>
          </a:bodyPr>
          <a:lstStyle/>
          <a:p>
            <a:r>
              <a:rPr lang="en-US" b="1" u="sng" dirty="0"/>
              <a:t>Sale to Gilbert</a:t>
            </a:r>
          </a:p>
        </p:txBody>
      </p:sp>
      <p:sp>
        <p:nvSpPr>
          <p:cNvPr id="56" name="TextBox 55"/>
          <p:cNvSpPr txBox="1"/>
          <p:nvPr/>
        </p:nvSpPr>
        <p:spPr>
          <a:xfrm>
            <a:off x="7810295" y="575461"/>
            <a:ext cx="3369769" cy="369332"/>
          </a:xfrm>
          <a:prstGeom prst="rect">
            <a:avLst/>
          </a:prstGeom>
          <a:noFill/>
        </p:spPr>
        <p:txBody>
          <a:bodyPr wrap="none" rtlCol="0">
            <a:spAutoFit/>
          </a:bodyPr>
          <a:lstStyle/>
          <a:p>
            <a:r>
              <a:rPr lang="en-US" b="1" u="sng" dirty="0"/>
              <a:t>Complete Redemption of William</a:t>
            </a:r>
          </a:p>
        </p:txBody>
      </p:sp>
      <p:sp>
        <p:nvSpPr>
          <p:cNvPr id="71" name="TextBox 70"/>
          <p:cNvSpPr txBox="1"/>
          <p:nvPr/>
        </p:nvSpPr>
        <p:spPr>
          <a:xfrm>
            <a:off x="2165299" y="4438895"/>
            <a:ext cx="8443493" cy="1015663"/>
          </a:xfrm>
          <a:prstGeom prst="rect">
            <a:avLst/>
          </a:prstGeom>
          <a:noFill/>
          <a:ln>
            <a:solidFill>
              <a:schemeClr val="accent1">
                <a:lumMod val="40000"/>
                <a:lumOff val="60000"/>
              </a:schemeClr>
            </a:solidFill>
          </a:ln>
        </p:spPr>
        <p:txBody>
          <a:bodyPr wrap="square" rtlCol="0">
            <a:spAutoFit/>
          </a:bodyPr>
          <a:lstStyle/>
          <a:p>
            <a:pPr marL="342900" indent="-342900">
              <a:buFont typeface="Arial" charset="0"/>
              <a:buChar char="•"/>
            </a:pPr>
            <a:r>
              <a:rPr lang="en-US" sz="2000" b="1" dirty="0"/>
              <a:t>Does the transaction qualify as a complete redemption under §302(b)(3)? Why not? </a:t>
            </a:r>
            <a:r>
              <a:rPr lang="en-US" sz="2000" b="1" i="1" dirty="0"/>
              <a:t>See </a:t>
            </a:r>
            <a:r>
              <a:rPr lang="en-US" sz="2000" b="1" dirty="0"/>
              <a:t>§302(c)(2)(A)(</a:t>
            </a:r>
            <a:r>
              <a:rPr lang="en-US" sz="2000" b="1" dirty="0" err="1"/>
              <a:t>i</a:t>
            </a:r>
            <a:r>
              <a:rPr lang="en-US" sz="2000" b="1" dirty="0"/>
              <a:t>).</a:t>
            </a:r>
          </a:p>
          <a:p>
            <a:pPr marL="342900" indent="-342900">
              <a:buFont typeface="Arial" charset="0"/>
              <a:buChar char="•"/>
            </a:pPr>
            <a:r>
              <a:rPr lang="en-US" sz="2000" b="1" dirty="0"/>
              <a:t>What was William’s relationship to the company after the redemption? </a:t>
            </a:r>
          </a:p>
        </p:txBody>
      </p:sp>
      <p:cxnSp>
        <p:nvCxnSpPr>
          <p:cNvPr id="24" name="Straight Connector 23"/>
          <p:cNvCxnSpPr>
            <a:stCxn id="25" idx="4"/>
            <a:endCxn id="7" idx="0"/>
          </p:cNvCxnSpPr>
          <p:nvPr/>
        </p:nvCxnSpPr>
        <p:spPr>
          <a:xfrm flipH="1">
            <a:off x="2018085" y="1807078"/>
            <a:ext cx="15431" cy="87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1378423" y="1139168"/>
            <a:ext cx="1310185" cy="667910"/>
          </a:xfrm>
          <a:prstGeom prst="ellipse">
            <a:avLst/>
          </a:prstGeom>
          <a:solidFill>
            <a:schemeClr val="bg2">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William</a:t>
            </a:r>
          </a:p>
        </p:txBody>
      </p:sp>
      <p:sp>
        <p:nvSpPr>
          <p:cNvPr id="31" name="TextBox 30"/>
          <p:cNvSpPr txBox="1"/>
          <p:nvPr/>
        </p:nvSpPr>
        <p:spPr>
          <a:xfrm>
            <a:off x="634586" y="1964299"/>
            <a:ext cx="1367875" cy="369332"/>
          </a:xfrm>
          <a:prstGeom prst="rect">
            <a:avLst/>
          </a:prstGeom>
          <a:noFill/>
        </p:spPr>
        <p:txBody>
          <a:bodyPr wrap="none" rtlCol="0">
            <a:spAutoFit/>
          </a:bodyPr>
          <a:lstStyle/>
          <a:p>
            <a:r>
              <a:rPr lang="en-US" dirty="0"/>
              <a:t>2,350 shares</a:t>
            </a:r>
          </a:p>
        </p:txBody>
      </p:sp>
      <p:cxnSp>
        <p:nvCxnSpPr>
          <p:cNvPr id="37" name="Straight Connector 36"/>
          <p:cNvCxnSpPr>
            <a:stCxn id="38" idx="4"/>
            <a:endCxn id="10" idx="0"/>
          </p:cNvCxnSpPr>
          <p:nvPr/>
        </p:nvCxnSpPr>
        <p:spPr>
          <a:xfrm>
            <a:off x="8335004" y="1847923"/>
            <a:ext cx="768695" cy="8357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7761767" y="1066667"/>
            <a:ext cx="1146474" cy="7812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Gilbert</a:t>
            </a:r>
            <a:endParaRPr lang="en-US" sz="1600" dirty="0">
              <a:solidFill>
                <a:schemeClr val="tx1"/>
              </a:solidFill>
            </a:endParaRPr>
          </a:p>
        </p:txBody>
      </p:sp>
      <p:sp>
        <p:nvSpPr>
          <p:cNvPr id="44" name="TextBox 43"/>
          <p:cNvSpPr txBox="1"/>
          <p:nvPr/>
        </p:nvSpPr>
        <p:spPr>
          <a:xfrm>
            <a:off x="9969900" y="1934839"/>
            <a:ext cx="2307427" cy="646331"/>
          </a:xfrm>
          <a:prstGeom prst="rect">
            <a:avLst/>
          </a:prstGeom>
          <a:noFill/>
        </p:spPr>
        <p:txBody>
          <a:bodyPr wrap="none" rtlCol="0">
            <a:spAutoFit/>
          </a:bodyPr>
          <a:lstStyle/>
          <a:p>
            <a:r>
              <a:rPr lang="en-US" dirty="0"/>
              <a:t>Complete redemption</a:t>
            </a:r>
            <a:br>
              <a:rPr lang="en-US" dirty="0"/>
            </a:br>
            <a:r>
              <a:rPr lang="en-US" dirty="0"/>
              <a:t>for 17,900 and Note</a:t>
            </a:r>
          </a:p>
        </p:txBody>
      </p:sp>
      <p:sp>
        <p:nvSpPr>
          <p:cNvPr id="29" name="TextBox 28"/>
          <p:cNvSpPr txBox="1"/>
          <p:nvPr/>
        </p:nvSpPr>
        <p:spPr>
          <a:xfrm>
            <a:off x="1683993" y="588448"/>
            <a:ext cx="816634" cy="369332"/>
          </a:xfrm>
          <a:prstGeom prst="rect">
            <a:avLst/>
          </a:prstGeom>
          <a:noFill/>
        </p:spPr>
        <p:txBody>
          <a:bodyPr wrap="none" rtlCol="0">
            <a:spAutoFit/>
          </a:bodyPr>
          <a:lstStyle/>
          <a:p>
            <a:r>
              <a:rPr lang="en-US" b="1" u="sng" dirty="0"/>
              <a:t>Before</a:t>
            </a:r>
          </a:p>
        </p:txBody>
      </p:sp>
      <p:sp>
        <p:nvSpPr>
          <p:cNvPr id="30" name="Rectangle 29"/>
          <p:cNvSpPr/>
          <p:nvPr/>
        </p:nvSpPr>
        <p:spPr>
          <a:xfrm>
            <a:off x="4121957" y="2707579"/>
            <a:ext cx="1041622" cy="80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Lynch Co.</a:t>
            </a:r>
          </a:p>
        </p:txBody>
      </p:sp>
      <p:cxnSp>
        <p:nvCxnSpPr>
          <p:cNvPr id="32" name="Straight Connector 31"/>
          <p:cNvCxnSpPr>
            <a:cxnSpLocks/>
            <a:stCxn id="33" idx="4"/>
            <a:endCxn id="30" idx="0"/>
          </p:cNvCxnSpPr>
          <p:nvPr/>
        </p:nvCxnSpPr>
        <p:spPr>
          <a:xfrm flipH="1">
            <a:off x="4642768" y="1833351"/>
            <a:ext cx="1121269" cy="8742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5108944" y="1165441"/>
            <a:ext cx="1310185" cy="667910"/>
          </a:xfrm>
          <a:prstGeom prst="ellipse">
            <a:avLst/>
          </a:prstGeom>
          <a:solidFill>
            <a:schemeClr val="bg2">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William</a:t>
            </a:r>
          </a:p>
        </p:txBody>
      </p:sp>
      <p:sp>
        <p:nvSpPr>
          <p:cNvPr id="35" name="TextBox 34"/>
          <p:cNvSpPr txBox="1"/>
          <p:nvPr/>
        </p:nvSpPr>
        <p:spPr>
          <a:xfrm>
            <a:off x="5438023" y="2090374"/>
            <a:ext cx="1367875" cy="369332"/>
          </a:xfrm>
          <a:prstGeom prst="rect">
            <a:avLst/>
          </a:prstGeom>
          <a:noFill/>
        </p:spPr>
        <p:txBody>
          <a:bodyPr wrap="none" rtlCol="0">
            <a:spAutoFit/>
          </a:bodyPr>
          <a:lstStyle/>
          <a:p>
            <a:r>
              <a:rPr lang="en-US" dirty="0"/>
              <a:t>2,300 shares</a:t>
            </a:r>
          </a:p>
        </p:txBody>
      </p:sp>
      <p:sp>
        <p:nvSpPr>
          <p:cNvPr id="36" name="Oval 35"/>
          <p:cNvSpPr/>
          <p:nvPr/>
        </p:nvSpPr>
        <p:spPr>
          <a:xfrm>
            <a:off x="3187494" y="1158274"/>
            <a:ext cx="1146474" cy="66791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Gilbert</a:t>
            </a:r>
            <a:endParaRPr lang="en-US" sz="1600" dirty="0">
              <a:solidFill>
                <a:schemeClr val="tx1"/>
              </a:solidFill>
            </a:endParaRPr>
          </a:p>
        </p:txBody>
      </p:sp>
      <p:cxnSp>
        <p:nvCxnSpPr>
          <p:cNvPr id="17" name="Straight Arrow Connector 16"/>
          <p:cNvCxnSpPr>
            <a:cxnSpLocks/>
            <a:stCxn id="33" idx="2"/>
            <a:endCxn id="36" idx="6"/>
          </p:cNvCxnSpPr>
          <p:nvPr/>
        </p:nvCxnSpPr>
        <p:spPr>
          <a:xfrm flipH="1" flipV="1">
            <a:off x="4333968" y="1492230"/>
            <a:ext cx="774976" cy="7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4354934" y="1625745"/>
            <a:ext cx="879600" cy="523220"/>
          </a:xfrm>
          <a:prstGeom prst="rect">
            <a:avLst/>
          </a:prstGeom>
          <a:noFill/>
        </p:spPr>
        <p:txBody>
          <a:bodyPr wrap="none" rtlCol="0">
            <a:spAutoFit/>
          </a:bodyPr>
          <a:lstStyle/>
          <a:p>
            <a:r>
              <a:rPr lang="en-US" sz="1400" dirty="0"/>
              <a:t>Sale of </a:t>
            </a:r>
          </a:p>
          <a:p>
            <a:r>
              <a:rPr lang="en-US" sz="1400" dirty="0"/>
              <a:t>50 shares</a:t>
            </a:r>
          </a:p>
        </p:txBody>
      </p:sp>
      <p:sp>
        <p:nvSpPr>
          <p:cNvPr id="41" name="TextBox 40"/>
          <p:cNvSpPr txBox="1"/>
          <p:nvPr/>
        </p:nvSpPr>
        <p:spPr>
          <a:xfrm>
            <a:off x="7409970" y="2027172"/>
            <a:ext cx="1076128" cy="369332"/>
          </a:xfrm>
          <a:prstGeom prst="rect">
            <a:avLst/>
          </a:prstGeom>
          <a:noFill/>
        </p:spPr>
        <p:txBody>
          <a:bodyPr wrap="none" rtlCol="0">
            <a:spAutoFit/>
          </a:bodyPr>
          <a:lstStyle/>
          <a:p>
            <a:r>
              <a:rPr lang="en-US" dirty="0"/>
              <a:t>50 shares</a:t>
            </a:r>
          </a:p>
        </p:txBody>
      </p:sp>
      <p:sp>
        <p:nvSpPr>
          <p:cNvPr id="42" name="Oval 41"/>
          <p:cNvSpPr/>
          <p:nvPr/>
        </p:nvSpPr>
        <p:spPr>
          <a:xfrm>
            <a:off x="9444899" y="1084596"/>
            <a:ext cx="1310185" cy="667910"/>
          </a:xfrm>
          <a:prstGeom prst="ellipse">
            <a:avLst/>
          </a:prstGeom>
          <a:solidFill>
            <a:schemeClr val="bg2">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William</a:t>
            </a:r>
          </a:p>
        </p:txBody>
      </p:sp>
      <p:cxnSp>
        <p:nvCxnSpPr>
          <p:cNvPr id="6" name="Straight Connector 5">
            <a:extLst>
              <a:ext uri="{FF2B5EF4-FFF2-40B4-BE49-F238E27FC236}">
                <a16:creationId xmlns:a16="http://schemas.microsoft.com/office/drawing/2014/main" id="{185B65E1-1DA6-104F-9A69-69CBE1341E73}"/>
              </a:ext>
            </a:extLst>
          </p:cNvPr>
          <p:cNvCxnSpPr/>
          <p:nvPr/>
        </p:nvCxnSpPr>
        <p:spPr>
          <a:xfrm>
            <a:off x="2959768" y="685800"/>
            <a:ext cx="0" cy="29083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F1F5F9-191A-594B-B312-4BA5C5B3AC86}"/>
              </a:ext>
            </a:extLst>
          </p:cNvPr>
          <p:cNvCxnSpPr/>
          <p:nvPr/>
        </p:nvCxnSpPr>
        <p:spPr>
          <a:xfrm>
            <a:off x="7238999" y="778042"/>
            <a:ext cx="0" cy="2908318"/>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A3A5CDD-5C61-CF48-891D-0C357870DB11}"/>
              </a:ext>
            </a:extLst>
          </p:cNvPr>
          <p:cNvSpPr txBox="1"/>
          <p:nvPr/>
        </p:nvSpPr>
        <p:spPr>
          <a:xfrm>
            <a:off x="4523874" y="-2598821"/>
            <a:ext cx="184731" cy="369332"/>
          </a:xfrm>
          <a:prstGeom prst="rect">
            <a:avLst/>
          </a:prstGeom>
          <a:noFill/>
        </p:spPr>
        <p:txBody>
          <a:bodyPr wrap="none" rtlCol="0">
            <a:spAutoFit/>
          </a:bodyPr>
          <a:lstStyle/>
          <a:p>
            <a:endParaRPr lang="en-US" dirty="0"/>
          </a:p>
        </p:txBody>
      </p:sp>
      <p:cxnSp>
        <p:nvCxnSpPr>
          <p:cNvPr id="49" name="Straight Connector 48">
            <a:extLst>
              <a:ext uri="{FF2B5EF4-FFF2-40B4-BE49-F238E27FC236}">
                <a16:creationId xmlns:a16="http://schemas.microsoft.com/office/drawing/2014/main" id="{CD9DFFA3-24A5-274C-9C09-CA9F24C3D73F}"/>
              </a:ext>
            </a:extLst>
          </p:cNvPr>
          <p:cNvCxnSpPr>
            <a:cxnSpLocks/>
            <a:stCxn id="36" idx="4"/>
            <a:endCxn id="30" idx="0"/>
          </p:cNvCxnSpPr>
          <p:nvPr/>
        </p:nvCxnSpPr>
        <p:spPr>
          <a:xfrm>
            <a:off x="3760731" y="1826185"/>
            <a:ext cx="882037" cy="881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DAC73E-F7AF-954F-ACB1-61C1774D9EE8}"/>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55912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4" grpId="0"/>
      <p:bldP spid="56" grpId="0"/>
      <p:bldP spid="71" grpId="0" animBg="1"/>
      <p:bldP spid="25" grpId="0" animBg="1"/>
      <p:bldP spid="31" grpId="0"/>
      <p:bldP spid="38" grpId="0" animBg="1"/>
      <p:bldP spid="44" grpId="0"/>
      <p:bldP spid="29" grpId="0"/>
      <p:bldP spid="29" grpId="1"/>
      <p:bldP spid="30" grpId="0" animBg="1"/>
      <p:bldP spid="33" grpId="0" animBg="1"/>
      <p:bldP spid="35" grpId="0"/>
      <p:bldP spid="36" grpId="0" animBg="1"/>
      <p:bldP spid="39" grpId="0"/>
      <p:bldP spid="41" grpId="0"/>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F4DC25-62EC-3845-8933-46F735989B61}"/>
              </a:ext>
            </a:extLst>
          </p:cNvPr>
          <p:cNvSpPr>
            <a:spLocks noGrp="1"/>
          </p:cNvSpPr>
          <p:nvPr>
            <p:ph idx="1"/>
          </p:nvPr>
        </p:nvSpPr>
        <p:spPr/>
        <p:txBody>
          <a:bodyPr/>
          <a:lstStyle/>
          <a:p>
            <a:r>
              <a:rPr lang="en-US" dirty="0"/>
              <a:t>In English, what does this mean?</a:t>
            </a:r>
          </a:p>
        </p:txBody>
      </p:sp>
      <p:sp>
        <p:nvSpPr>
          <p:cNvPr id="3" name="Title 2">
            <a:extLst>
              <a:ext uri="{FF2B5EF4-FFF2-40B4-BE49-F238E27FC236}">
                <a16:creationId xmlns:a16="http://schemas.microsoft.com/office/drawing/2014/main" id="{D733B1F4-CBED-1642-A442-4183E1196B84}"/>
              </a:ext>
            </a:extLst>
          </p:cNvPr>
          <p:cNvSpPr>
            <a:spLocks noGrp="1"/>
          </p:cNvSpPr>
          <p:nvPr>
            <p:ph type="title"/>
          </p:nvPr>
        </p:nvSpPr>
        <p:spPr/>
        <p:txBody>
          <a:bodyPr/>
          <a:lstStyle/>
          <a:p>
            <a:r>
              <a:rPr lang="en-US" dirty="0"/>
              <a:t>Redemptions: Section 302(b)(6)</a:t>
            </a:r>
          </a:p>
        </p:txBody>
      </p:sp>
      <p:sp>
        <p:nvSpPr>
          <p:cNvPr id="4" name="Slide Number Placeholder 3">
            <a:extLst>
              <a:ext uri="{FF2B5EF4-FFF2-40B4-BE49-F238E27FC236}">
                <a16:creationId xmlns:a16="http://schemas.microsoft.com/office/drawing/2014/main" id="{13F4E824-36FF-4240-ADA9-842D1D6D37F2}"/>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pic>
        <p:nvPicPr>
          <p:cNvPr id="6" name="Content Placeholder 5">
            <a:extLst>
              <a:ext uri="{FF2B5EF4-FFF2-40B4-BE49-F238E27FC236}">
                <a16:creationId xmlns:a16="http://schemas.microsoft.com/office/drawing/2014/main" id="{517036CE-4EB8-5D4A-AFE8-91F587CF20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064" y="1746762"/>
            <a:ext cx="11043630" cy="2889974"/>
          </a:xfrm>
          <a:prstGeom prst="rect">
            <a:avLst/>
          </a:prstGeom>
        </p:spPr>
      </p:pic>
      <p:sp>
        <p:nvSpPr>
          <p:cNvPr id="7" name="Footer Placeholder 6">
            <a:extLst>
              <a:ext uri="{FF2B5EF4-FFF2-40B4-BE49-F238E27FC236}">
                <a16:creationId xmlns:a16="http://schemas.microsoft.com/office/drawing/2014/main" id="{D693EB6E-FF4E-AC4F-A242-C74589AAE293}"/>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392870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Section 302(c)(2)(B)(</a:t>
            </a:r>
            <a:r>
              <a:rPr lang="en-US" dirty="0" err="1"/>
              <a:t>i</a:t>
            </a:r>
            <a:r>
              <a:rPr lang="en-US" dirty="0"/>
              <a:t>) and (ii)</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0646" y="985406"/>
            <a:ext cx="7264400" cy="431800"/>
          </a:xfrm>
          <a:prstGeom prst="rect">
            <a:avLst/>
          </a:prstGeom>
        </p:spPr>
      </p:pic>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28713" y="1561763"/>
            <a:ext cx="10045700" cy="4175490"/>
          </a:xfrm>
        </p:spPr>
      </p:pic>
      <p:sp>
        <p:nvSpPr>
          <p:cNvPr id="5" name="Footer Placeholder 4">
            <a:extLst>
              <a:ext uri="{FF2B5EF4-FFF2-40B4-BE49-F238E27FC236}">
                <a16:creationId xmlns:a16="http://schemas.microsoft.com/office/drawing/2014/main" id="{3F15A18D-E25F-F340-B653-28FC88C92B94}"/>
              </a:ext>
            </a:extLst>
          </p:cNvPr>
          <p:cNvSpPr>
            <a:spLocks noGrp="1"/>
          </p:cNvSpPr>
          <p:nvPr>
            <p:ph type="ftr" sz="quarter" idx="11"/>
          </p:nvPr>
        </p:nvSpPr>
        <p:spPr/>
        <p:txBody>
          <a:bodyPr/>
          <a:lstStyle/>
          <a:p>
            <a:pPr>
              <a:defRPr/>
            </a:pPr>
            <a:r>
              <a:rPr lang="en-US"/>
              <a:t>Redemptions</a:t>
            </a:r>
            <a:endParaRPr lang="en-US" dirty="0"/>
          </a:p>
        </p:txBody>
      </p:sp>
      <p:sp>
        <p:nvSpPr>
          <p:cNvPr id="2" name="TextBox 1">
            <a:extLst>
              <a:ext uri="{FF2B5EF4-FFF2-40B4-BE49-F238E27FC236}">
                <a16:creationId xmlns:a16="http://schemas.microsoft.com/office/drawing/2014/main" id="{86C2C560-2D39-1145-ADBC-008E7D76D542}"/>
              </a:ext>
            </a:extLst>
          </p:cNvPr>
          <p:cNvSpPr txBox="1"/>
          <p:nvPr/>
        </p:nvSpPr>
        <p:spPr>
          <a:xfrm>
            <a:off x="453957" y="551617"/>
            <a:ext cx="3249095" cy="369332"/>
          </a:xfrm>
          <a:prstGeom prst="rect">
            <a:avLst/>
          </a:prstGeom>
          <a:noFill/>
        </p:spPr>
        <p:txBody>
          <a:bodyPr wrap="none" rtlCol="0">
            <a:spAutoFit/>
          </a:bodyPr>
          <a:lstStyle/>
          <a:p>
            <a:r>
              <a:rPr lang="en-US" dirty="0"/>
              <a:t>In English, what does this mean?</a:t>
            </a:r>
          </a:p>
        </p:txBody>
      </p:sp>
    </p:spTree>
    <p:extLst>
      <p:ext uri="{BB962C8B-B14F-4D97-AF65-F5344CB8AC3E}">
        <p14:creationId xmlns:p14="http://schemas.microsoft.com/office/powerpoint/2010/main" val="147707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Rev. Rul. 77-293</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7" name="Rectangle 6"/>
          <p:cNvSpPr/>
          <p:nvPr/>
        </p:nvSpPr>
        <p:spPr>
          <a:xfrm>
            <a:off x="1497274" y="2683661"/>
            <a:ext cx="1041622" cy="80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sp>
        <p:nvSpPr>
          <p:cNvPr id="10" name="Rectangle 9"/>
          <p:cNvSpPr/>
          <p:nvPr/>
        </p:nvSpPr>
        <p:spPr>
          <a:xfrm>
            <a:off x="8582888" y="2683661"/>
            <a:ext cx="1041622" cy="8889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cxnSp>
        <p:nvCxnSpPr>
          <p:cNvPr id="11" name="Straight Connector 10"/>
          <p:cNvCxnSpPr>
            <a:stCxn id="42" idx="4"/>
            <a:endCxn id="10" idx="0"/>
          </p:cNvCxnSpPr>
          <p:nvPr/>
        </p:nvCxnSpPr>
        <p:spPr>
          <a:xfrm flipH="1">
            <a:off x="9103699" y="1752506"/>
            <a:ext cx="996293" cy="931155"/>
          </a:xfrm>
          <a:prstGeom prst="line">
            <a:avLst/>
          </a:prstGeom>
          <a:ln w="25400">
            <a:solidFill>
              <a:schemeClr val="tx1">
                <a:alpha val="3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299983" y="575461"/>
            <a:ext cx="979307" cy="369332"/>
          </a:xfrm>
          <a:prstGeom prst="rect">
            <a:avLst/>
          </a:prstGeom>
          <a:noFill/>
        </p:spPr>
        <p:txBody>
          <a:bodyPr wrap="none" rtlCol="0">
            <a:spAutoFit/>
          </a:bodyPr>
          <a:lstStyle/>
          <a:p>
            <a:r>
              <a:rPr lang="en-US" b="1" u="sng" dirty="0"/>
              <a:t>Gift to B</a:t>
            </a:r>
          </a:p>
        </p:txBody>
      </p:sp>
      <p:sp>
        <p:nvSpPr>
          <p:cNvPr id="56" name="TextBox 55"/>
          <p:cNvSpPr txBox="1"/>
          <p:nvPr/>
        </p:nvSpPr>
        <p:spPr>
          <a:xfrm>
            <a:off x="7810295" y="575461"/>
            <a:ext cx="2773452" cy="369332"/>
          </a:xfrm>
          <a:prstGeom prst="rect">
            <a:avLst/>
          </a:prstGeom>
          <a:noFill/>
        </p:spPr>
        <p:txBody>
          <a:bodyPr wrap="none" rtlCol="0">
            <a:spAutoFit/>
          </a:bodyPr>
          <a:lstStyle/>
          <a:p>
            <a:r>
              <a:rPr lang="en-US" b="1" u="sng" dirty="0"/>
              <a:t>Complete Redemption of A</a:t>
            </a:r>
          </a:p>
        </p:txBody>
      </p:sp>
      <p:sp>
        <p:nvSpPr>
          <p:cNvPr id="71" name="TextBox 70"/>
          <p:cNvSpPr txBox="1"/>
          <p:nvPr/>
        </p:nvSpPr>
        <p:spPr>
          <a:xfrm>
            <a:off x="2025800" y="4070290"/>
            <a:ext cx="8443493" cy="1938992"/>
          </a:xfrm>
          <a:prstGeom prst="rect">
            <a:avLst/>
          </a:prstGeom>
          <a:noFill/>
          <a:ln>
            <a:solidFill>
              <a:schemeClr val="accent1">
                <a:lumMod val="40000"/>
                <a:lumOff val="60000"/>
              </a:schemeClr>
            </a:solidFill>
          </a:ln>
        </p:spPr>
        <p:txBody>
          <a:bodyPr wrap="square" rtlCol="0">
            <a:spAutoFit/>
          </a:bodyPr>
          <a:lstStyle/>
          <a:p>
            <a:pPr marL="342900" indent="-342900">
              <a:buFont typeface="Arial" charset="0"/>
              <a:buChar char="•"/>
            </a:pPr>
            <a:r>
              <a:rPr lang="en-US" sz="2400" b="1" dirty="0"/>
              <a:t>Does the transaction qualify as a complete redemption under section 302(b)(3)? </a:t>
            </a:r>
          </a:p>
          <a:p>
            <a:pPr marL="342900" indent="-342900">
              <a:buFont typeface="Arial" charset="0"/>
              <a:buChar char="•"/>
            </a:pPr>
            <a:r>
              <a:rPr lang="en-US" sz="2400" b="1" i="1" dirty="0"/>
              <a:t>But see </a:t>
            </a:r>
            <a:r>
              <a:rPr lang="en-US" sz="2400" b="1" dirty="0"/>
              <a:t>§302(c)(2)(A)(</a:t>
            </a:r>
            <a:r>
              <a:rPr lang="en-US" sz="2400" b="1" dirty="0" err="1"/>
              <a:t>i</a:t>
            </a:r>
            <a:r>
              <a:rPr lang="en-US" sz="2400" b="1" dirty="0"/>
              <a:t>)</a:t>
            </a:r>
          </a:p>
          <a:p>
            <a:pPr marL="342900" indent="-342900">
              <a:buFont typeface="Arial" charset="0"/>
              <a:buChar char="•"/>
            </a:pPr>
            <a:r>
              <a:rPr lang="en-US" sz="2400" b="1" i="1" dirty="0"/>
              <a:t>But see </a:t>
            </a:r>
            <a:r>
              <a:rPr lang="en-US" sz="2400" b="1" dirty="0"/>
              <a:t>302(c)(2)(B)(ii)</a:t>
            </a:r>
          </a:p>
          <a:p>
            <a:pPr marL="342900" indent="-342900">
              <a:buFont typeface="Arial" charset="0"/>
              <a:buChar char="•"/>
            </a:pPr>
            <a:r>
              <a:rPr lang="en-US" sz="2400" b="1" i="1" dirty="0"/>
              <a:t>But see </a:t>
            </a:r>
            <a:r>
              <a:rPr lang="en-US" sz="2400" b="1" dirty="0"/>
              <a:t>302(c)(2)(B)(ii) flush language.</a:t>
            </a:r>
          </a:p>
        </p:txBody>
      </p:sp>
      <p:cxnSp>
        <p:nvCxnSpPr>
          <p:cNvPr id="24" name="Straight Connector 23"/>
          <p:cNvCxnSpPr>
            <a:stCxn id="25" idx="4"/>
            <a:endCxn id="7" idx="0"/>
          </p:cNvCxnSpPr>
          <p:nvPr/>
        </p:nvCxnSpPr>
        <p:spPr>
          <a:xfrm flipH="1">
            <a:off x="2018085" y="1807078"/>
            <a:ext cx="15431" cy="87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1378423" y="1139168"/>
            <a:ext cx="1310185" cy="667910"/>
          </a:xfrm>
          <a:prstGeom prst="ellipse">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a:t>
            </a:r>
          </a:p>
        </p:txBody>
      </p:sp>
      <p:sp>
        <p:nvSpPr>
          <p:cNvPr id="31" name="TextBox 30"/>
          <p:cNvSpPr txBox="1"/>
          <p:nvPr/>
        </p:nvSpPr>
        <p:spPr>
          <a:xfrm>
            <a:off x="634586" y="1964299"/>
            <a:ext cx="1193147" cy="369332"/>
          </a:xfrm>
          <a:prstGeom prst="rect">
            <a:avLst/>
          </a:prstGeom>
          <a:noFill/>
        </p:spPr>
        <p:txBody>
          <a:bodyPr wrap="none" rtlCol="0">
            <a:spAutoFit/>
          </a:bodyPr>
          <a:lstStyle/>
          <a:p>
            <a:r>
              <a:rPr lang="en-US" dirty="0"/>
              <a:t>120 shares</a:t>
            </a:r>
          </a:p>
        </p:txBody>
      </p:sp>
      <p:cxnSp>
        <p:nvCxnSpPr>
          <p:cNvPr id="37" name="Straight Connector 36"/>
          <p:cNvCxnSpPr>
            <a:stCxn id="38" idx="4"/>
            <a:endCxn id="10" idx="0"/>
          </p:cNvCxnSpPr>
          <p:nvPr/>
        </p:nvCxnSpPr>
        <p:spPr>
          <a:xfrm>
            <a:off x="8335004" y="1847923"/>
            <a:ext cx="768695" cy="8357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7761767" y="1066667"/>
            <a:ext cx="1146474" cy="7812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a:t>
            </a:r>
          </a:p>
        </p:txBody>
      </p:sp>
      <p:sp>
        <p:nvSpPr>
          <p:cNvPr id="44" name="TextBox 43"/>
          <p:cNvSpPr txBox="1"/>
          <p:nvPr/>
        </p:nvSpPr>
        <p:spPr>
          <a:xfrm>
            <a:off x="9969900" y="1934839"/>
            <a:ext cx="2038681" cy="923330"/>
          </a:xfrm>
          <a:prstGeom prst="rect">
            <a:avLst/>
          </a:prstGeom>
          <a:noFill/>
        </p:spPr>
        <p:txBody>
          <a:bodyPr wrap="square" rtlCol="0">
            <a:spAutoFit/>
          </a:bodyPr>
          <a:lstStyle/>
          <a:p>
            <a:r>
              <a:rPr lang="en-US" dirty="0"/>
              <a:t>Complete redemption</a:t>
            </a:r>
            <a:br>
              <a:rPr lang="en-US" dirty="0"/>
            </a:br>
            <a:endParaRPr lang="en-US" dirty="0"/>
          </a:p>
        </p:txBody>
      </p:sp>
      <p:sp>
        <p:nvSpPr>
          <p:cNvPr id="29" name="TextBox 28"/>
          <p:cNvSpPr txBox="1"/>
          <p:nvPr/>
        </p:nvSpPr>
        <p:spPr>
          <a:xfrm>
            <a:off x="1683993" y="588448"/>
            <a:ext cx="816634" cy="369332"/>
          </a:xfrm>
          <a:prstGeom prst="rect">
            <a:avLst/>
          </a:prstGeom>
          <a:noFill/>
        </p:spPr>
        <p:txBody>
          <a:bodyPr wrap="none" rtlCol="0">
            <a:spAutoFit/>
          </a:bodyPr>
          <a:lstStyle/>
          <a:p>
            <a:r>
              <a:rPr lang="en-US" b="1" u="sng" dirty="0"/>
              <a:t>Before</a:t>
            </a:r>
          </a:p>
        </p:txBody>
      </p:sp>
      <p:sp>
        <p:nvSpPr>
          <p:cNvPr id="30" name="Rectangle 29"/>
          <p:cNvSpPr/>
          <p:nvPr/>
        </p:nvSpPr>
        <p:spPr>
          <a:xfrm>
            <a:off x="4101664" y="2791664"/>
            <a:ext cx="1041622" cy="80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cxnSp>
        <p:nvCxnSpPr>
          <p:cNvPr id="32" name="Straight Connector 31"/>
          <p:cNvCxnSpPr/>
          <p:nvPr/>
        </p:nvCxnSpPr>
        <p:spPr>
          <a:xfrm flipH="1">
            <a:off x="4622475" y="1915081"/>
            <a:ext cx="15431" cy="87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3982813" y="1247171"/>
            <a:ext cx="1310185" cy="667910"/>
          </a:xfrm>
          <a:prstGeom prst="ellipse">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a:t>
            </a:r>
          </a:p>
        </p:txBody>
      </p:sp>
      <p:sp>
        <p:nvSpPr>
          <p:cNvPr id="35" name="TextBox 34"/>
          <p:cNvSpPr txBox="1"/>
          <p:nvPr/>
        </p:nvSpPr>
        <p:spPr>
          <a:xfrm>
            <a:off x="3238976" y="2072302"/>
            <a:ext cx="1076128" cy="369332"/>
          </a:xfrm>
          <a:prstGeom prst="rect">
            <a:avLst/>
          </a:prstGeom>
          <a:noFill/>
        </p:spPr>
        <p:txBody>
          <a:bodyPr wrap="none" rtlCol="0">
            <a:spAutoFit/>
          </a:bodyPr>
          <a:lstStyle/>
          <a:p>
            <a:r>
              <a:rPr lang="en-US" dirty="0"/>
              <a:t>60 shares</a:t>
            </a:r>
          </a:p>
        </p:txBody>
      </p:sp>
      <p:sp>
        <p:nvSpPr>
          <p:cNvPr id="36" name="Oval 35"/>
          <p:cNvSpPr/>
          <p:nvPr/>
        </p:nvSpPr>
        <p:spPr>
          <a:xfrm>
            <a:off x="6035801" y="1194382"/>
            <a:ext cx="1292866" cy="7812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a:t>
            </a:r>
          </a:p>
          <a:p>
            <a:pPr algn="ctr"/>
            <a:r>
              <a:rPr lang="en-US" sz="1600" dirty="0">
                <a:solidFill>
                  <a:schemeClr val="tx1"/>
                </a:solidFill>
              </a:rPr>
              <a:t>(A’s son)</a:t>
            </a:r>
          </a:p>
        </p:txBody>
      </p:sp>
      <p:cxnSp>
        <p:nvCxnSpPr>
          <p:cNvPr id="17" name="Straight Arrow Connector 16"/>
          <p:cNvCxnSpPr>
            <a:stCxn id="33" idx="6"/>
            <a:endCxn id="36" idx="2"/>
          </p:cNvCxnSpPr>
          <p:nvPr/>
        </p:nvCxnSpPr>
        <p:spPr>
          <a:xfrm>
            <a:off x="5292998" y="1581126"/>
            <a:ext cx="742803" cy="3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4852373" y="1956659"/>
            <a:ext cx="1720536" cy="369332"/>
          </a:xfrm>
          <a:prstGeom prst="rect">
            <a:avLst/>
          </a:prstGeom>
          <a:noFill/>
        </p:spPr>
        <p:txBody>
          <a:bodyPr wrap="none" rtlCol="0">
            <a:spAutoFit/>
          </a:bodyPr>
          <a:lstStyle/>
          <a:p>
            <a:r>
              <a:rPr lang="en-US" dirty="0"/>
              <a:t>Gift of 60 shares</a:t>
            </a:r>
          </a:p>
        </p:txBody>
      </p:sp>
      <p:sp>
        <p:nvSpPr>
          <p:cNvPr id="41" name="TextBox 40"/>
          <p:cNvSpPr txBox="1"/>
          <p:nvPr/>
        </p:nvSpPr>
        <p:spPr>
          <a:xfrm>
            <a:off x="7524125" y="1908552"/>
            <a:ext cx="1076128" cy="369332"/>
          </a:xfrm>
          <a:prstGeom prst="rect">
            <a:avLst/>
          </a:prstGeom>
          <a:noFill/>
        </p:spPr>
        <p:txBody>
          <a:bodyPr wrap="none" rtlCol="0">
            <a:spAutoFit/>
          </a:bodyPr>
          <a:lstStyle/>
          <a:p>
            <a:r>
              <a:rPr lang="en-US" dirty="0"/>
              <a:t>60 shares</a:t>
            </a:r>
          </a:p>
        </p:txBody>
      </p:sp>
      <p:sp>
        <p:nvSpPr>
          <p:cNvPr id="42" name="Oval 41"/>
          <p:cNvSpPr/>
          <p:nvPr/>
        </p:nvSpPr>
        <p:spPr>
          <a:xfrm>
            <a:off x="9444899" y="1084596"/>
            <a:ext cx="1310185" cy="667910"/>
          </a:xfrm>
          <a:prstGeom prst="ellipse">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a:t>
            </a:r>
          </a:p>
        </p:txBody>
      </p:sp>
      <p:cxnSp>
        <p:nvCxnSpPr>
          <p:cNvPr id="27" name="Straight Connector 26">
            <a:extLst>
              <a:ext uri="{FF2B5EF4-FFF2-40B4-BE49-F238E27FC236}">
                <a16:creationId xmlns:a16="http://schemas.microsoft.com/office/drawing/2014/main" id="{9B8F0749-B46B-F042-8F4A-3D913D374B70}"/>
              </a:ext>
            </a:extLst>
          </p:cNvPr>
          <p:cNvCxnSpPr/>
          <p:nvPr/>
        </p:nvCxnSpPr>
        <p:spPr>
          <a:xfrm>
            <a:off x="2959768" y="685800"/>
            <a:ext cx="0" cy="29083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230AF80-7E44-7F42-9BFE-4D01D0B63643}"/>
              </a:ext>
            </a:extLst>
          </p:cNvPr>
          <p:cNvCxnSpPr/>
          <p:nvPr/>
        </p:nvCxnSpPr>
        <p:spPr>
          <a:xfrm>
            <a:off x="7520114" y="685800"/>
            <a:ext cx="0" cy="2908318"/>
          </a:xfrm>
          <a:prstGeom prst="line">
            <a:avLst/>
          </a:prstGeom>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CDFB36B-F95D-004C-AF1F-298D8CD6F26D}"/>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73037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4" grpId="0"/>
      <p:bldP spid="56" grpId="0"/>
      <p:bldP spid="71" grpId="0" animBg="1"/>
      <p:bldP spid="25" grpId="0" animBg="1"/>
      <p:bldP spid="31" grpId="0"/>
      <p:bldP spid="38" grpId="0" animBg="1"/>
      <p:bldP spid="44" grpId="0"/>
      <p:bldP spid="29" grpId="0"/>
      <p:bldP spid="30" grpId="0" animBg="1"/>
      <p:bldP spid="33" grpId="0" animBg="1"/>
      <p:bldP spid="35" grpId="0"/>
      <p:bldP spid="36" grpId="0" animBg="1"/>
      <p:bldP spid="39" grpId="0"/>
      <p:bldP spid="41" grpId="0"/>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28624" y="3946312"/>
            <a:ext cx="9626461" cy="2181479"/>
          </a:xfrm>
          <a:ln>
            <a:solidFill>
              <a:schemeClr val="accent1">
                <a:shade val="50000"/>
              </a:schemeClr>
            </a:solidFill>
          </a:ln>
        </p:spPr>
        <p:txBody>
          <a:bodyPr/>
          <a:lstStyle/>
          <a:p>
            <a:r>
              <a:rPr lang="en-US" dirty="0"/>
              <a:t>Why did Davis argue that the redemption was not essentially equivalent to a dividend?</a:t>
            </a:r>
          </a:p>
          <a:p>
            <a:r>
              <a:rPr lang="en-US" dirty="0"/>
              <a:t>“To qualify for preferred treatment under [302(b)(1)], a redemption must result in a </a:t>
            </a:r>
            <a:r>
              <a:rPr lang="en-US" b="1" i="1" dirty="0"/>
              <a:t>meaningful reduction </a:t>
            </a:r>
            <a:r>
              <a:rPr lang="en-US" dirty="0"/>
              <a:t>of the shareholder’s proportionate interest in the corporation.”</a:t>
            </a:r>
            <a:endParaRPr lang="en-US" i="1" dirty="0"/>
          </a:p>
        </p:txBody>
      </p:sp>
      <p:sp>
        <p:nvSpPr>
          <p:cNvPr id="3" name="Title 2"/>
          <p:cNvSpPr>
            <a:spLocks noGrp="1"/>
          </p:cNvSpPr>
          <p:nvPr>
            <p:ph type="title"/>
          </p:nvPr>
        </p:nvSpPr>
        <p:spPr/>
        <p:txBody>
          <a:bodyPr/>
          <a:lstStyle/>
          <a:p>
            <a:r>
              <a:rPr lang="en-US" dirty="0"/>
              <a:t>Redemptions: </a:t>
            </a:r>
            <a:r>
              <a:rPr lang="en-US" i="1" dirty="0"/>
              <a:t>US v. Davis, </a:t>
            </a:r>
            <a:r>
              <a:rPr lang="en-US" dirty="0"/>
              <a:t>397 US 301 (1970) </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6" name="Rectangle 5"/>
          <p:cNvSpPr/>
          <p:nvPr/>
        </p:nvSpPr>
        <p:spPr>
          <a:xfrm>
            <a:off x="4506803" y="2791663"/>
            <a:ext cx="1699327" cy="9739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X</a:t>
            </a:r>
          </a:p>
        </p:txBody>
      </p:sp>
      <p:sp>
        <p:nvSpPr>
          <p:cNvPr id="8" name="Oval 7"/>
          <p:cNvSpPr/>
          <p:nvPr/>
        </p:nvSpPr>
        <p:spPr>
          <a:xfrm>
            <a:off x="4299873" y="1209323"/>
            <a:ext cx="1310185" cy="71852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Wife</a:t>
            </a:r>
          </a:p>
        </p:txBody>
      </p:sp>
      <p:sp>
        <p:nvSpPr>
          <p:cNvPr id="9" name="Oval 8"/>
          <p:cNvSpPr/>
          <p:nvPr/>
        </p:nvSpPr>
        <p:spPr>
          <a:xfrm>
            <a:off x="5919404" y="1158704"/>
            <a:ext cx="1292866" cy="71852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Son</a:t>
            </a:r>
          </a:p>
        </p:txBody>
      </p:sp>
      <p:sp>
        <p:nvSpPr>
          <p:cNvPr id="12" name="Oval 11"/>
          <p:cNvSpPr/>
          <p:nvPr/>
        </p:nvSpPr>
        <p:spPr>
          <a:xfrm>
            <a:off x="2588187" y="1209323"/>
            <a:ext cx="1310185" cy="66791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Davis</a:t>
            </a:r>
          </a:p>
        </p:txBody>
      </p:sp>
      <p:sp>
        <p:nvSpPr>
          <p:cNvPr id="13" name="Oval 12"/>
          <p:cNvSpPr/>
          <p:nvPr/>
        </p:nvSpPr>
        <p:spPr>
          <a:xfrm>
            <a:off x="7578271" y="1158704"/>
            <a:ext cx="1310185" cy="76914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Daughter</a:t>
            </a:r>
          </a:p>
        </p:txBody>
      </p:sp>
      <p:cxnSp>
        <p:nvCxnSpPr>
          <p:cNvPr id="19" name="Straight Connector 18"/>
          <p:cNvCxnSpPr>
            <a:cxnSpLocks/>
            <a:stCxn id="12" idx="4"/>
            <a:endCxn id="6" idx="0"/>
          </p:cNvCxnSpPr>
          <p:nvPr/>
        </p:nvCxnSpPr>
        <p:spPr>
          <a:xfrm>
            <a:off x="3243280" y="1877233"/>
            <a:ext cx="2113187" cy="914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cxnSpLocks/>
            <a:stCxn id="9" idx="4"/>
            <a:endCxn id="6" idx="0"/>
          </p:cNvCxnSpPr>
          <p:nvPr/>
        </p:nvCxnSpPr>
        <p:spPr>
          <a:xfrm flipH="1">
            <a:off x="5356467" y="1877233"/>
            <a:ext cx="1209370" cy="914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a:stCxn id="13" idx="4"/>
            <a:endCxn id="6" idx="0"/>
          </p:cNvCxnSpPr>
          <p:nvPr/>
        </p:nvCxnSpPr>
        <p:spPr>
          <a:xfrm flipH="1">
            <a:off x="5356467" y="1927852"/>
            <a:ext cx="2876897" cy="8638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a:stCxn id="8" idx="4"/>
            <a:endCxn id="6" idx="0"/>
          </p:cNvCxnSpPr>
          <p:nvPr/>
        </p:nvCxnSpPr>
        <p:spPr>
          <a:xfrm>
            <a:off x="4954966" y="1927852"/>
            <a:ext cx="401501" cy="863811"/>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007242" y="1734145"/>
            <a:ext cx="926692" cy="461665"/>
          </a:xfrm>
          <a:prstGeom prst="rect">
            <a:avLst/>
          </a:prstGeom>
          <a:noFill/>
        </p:spPr>
        <p:txBody>
          <a:bodyPr wrap="square" rtlCol="0">
            <a:spAutoFit/>
          </a:bodyPr>
          <a:lstStyle/>
          <a:p>
            <a:r>
              <a:rPr lang="en-US" sz="1200" dirty="0"/>
              <a:t>250 CS</a:t>
            </a:r>
          </a:p>
          <a:p>
            <a:r>
              <a:rPr lang="en-US" sz="1200" dirty="0"/>
              <a:t>1000 </a:t>
            </a:r>
            <a:r>
              <a:rPr lang="en-US" sz="1200" dirty="0" err="1"/>
              <a:t>prd</a:t>
            </a:r>
            <a:endParaRPr lang="en-US" sz="1200" dirty="0"/>
          </a:p>
        </p:txBody>
      </p:sp>
      <p:sp>
        <p:nvSpPr>
          <p:cNvPr id="54" name="TextBox 53"/>
          <p:cNvSpPr txBox="1"/>
          <p:nvPr/>
        </p:nvSpPr>
        <p:spPr>
          <a:xfrm>
            <a:off x="4285167" y="1969150"/>
            <a:ext cx="787996" cy="276999"/>
          </a:xfrm>
          <a:prstGeom prst="rect">
            <a:avLst/>
          </a:prstGeom>
          <a:noFill/>
        </p:spPr>
        <p:txBody>
          <a:bodyPr wrap="square" rtlCol="0">
            <a:spAutoFit/>
          </a:bodyPr>
          <a:lstStyle/>
          <a:p>
            <a:r>
              <a:rPr lang="en-US" sz="1200"/>
              <a:t>250 CS</a:t>
            </a:r>
            <a:endParaRPr lang="en-US" sz="1200" dirty="0"/>
          </a:p>
        </p:txBody>
      </p:sp>
      <p:sp>
        <p:nvSpPr>
          <p:cNvPr id="55" name="TextBox 54"/>
          <p:cNvSpPr txBox="1"/>
          <p:nvPr/>
        </p:nvSpPr>
        <p:spPr>
          <a:xfrm>
            <a:off x="5574574" y="1929800"/>
            <a:ext cx="787996" cy="276999"/>
          </a:xfrm>
          <a:prstGeom prst="rect">
            <a:avLst/>
          </a:prstGeom>
          <a:noFill/>
        </p:spPr>
        <p:txBody>
          <a:bodyPr wrap="square" rtlCol="0">
            <a:spAutoFit/>
          </a:bodyPr>
          <a:lstStyle/>
          <a:p>
            <a:r>
              <a:rPr lang="en-US" sz="1200"/>
              <a:t>250 CS</a:t>
            </a:r>
            <a:endParaRPr lang="en-US" sz="1200" dirty="0"/>
          </a:p>
        </p:txBody>
      </p:sp>
      <p:sp>
        <p:nvSpPr>
          <p:cNvPr id="56" name="TextBox 55"/>
          <p:cNvSpPr txBox="1"/>
          <p:nvPr/>
        </p:nvSpPr>
        <p:spPr>
          <a:xfrm>
            <a:off x="7889794" y="1964978"/>
            <a:ext cx="787996" cy="276999"/>
          </a:xfrm>
          <a:prstGeom prst="rect">
            <a:avLst/>
          </a:prstGeom>
          <a:noFill/>
        </p:spPr>
        <p:txBody>
          <a:bodyPr wrap="square" rtlCol="0">
            <a:spAutoFit/>
          </a:bodyPr>
          <a:lstStyle/>
          <a:p>
            <a:r>
              <a:rPr lang="en-US" sz="1200"/>
              <a:t>250 CS</a:t>
            </a:r>
            <a:endParaRPr lang="en-US" sz="1200" dirty="0"/>
          </a:p>
        </p:txBody>
      </p:sp>
      <p:sp>
        <p:nvSpPr>
          <p:cNvPr id="62" name="TextBox 61"/>
          <p:cNvSpPr txBox="1"/>
          <p:nvPr/>
        </p:nvSpPr>
        <p:spPr>
          <a:xfrm>
            <a:off x="1907988" y="2392453"/>
            <a:ext cx="2269083" cy="276999"/>
          </a:xfrm>
          <a:prstGeom prst="rect">
            <a:avLst/>
          </a:prstGeom>
          <a:noFill/>
          <a:ln>
            <a:solidFill>
              <a:schemeClr val="accent1">
                <a:shade val="95000"/>
                <a:satMod val="105000"/>
              </a:schemeClr>
            </a:solidFill>
          </a:ln>
        </p:spPr>
        <p:txBody>
          <a:bodyPr wrap="none" rtlCol="0">
            <a:spAutoFit/>
          </a:bodyPr>
          <a:lstStyle/>
          <a:p>
            <a:r>
              <a:rPr lang="en-US" sz="1200" b="1" dirty="0"/>
              <a:t>X redeems D’s </a:t>
            </a:r>
            <a:r>
              <a:rPr lang="en-US" sz="1200" b="1" dirty="0" err="1"/>
              <a:t>prd</a:t>
            </a:r>
            <a:r>
              <a:rPr lang="en-US" sz="1200" b="1" dirty="0"/>
              <a:t> shares for 25k</a:t>
            </a:r>
          </a:p>
        </p:txBody>
      </p:sp>
      <p:sp>
        <p:nvSpPr>
          <p:cNvPr id="23" name="Oval 22"/>
          <p:cNvSpPr/>
          <p:nvPr/>
        </p:nvSpPr>
        <p:spPr>
          <a:xfrm>
            <a:off x="1522275" y="2334448"/>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Footer Placeholder 4">
            <a:extLst>
              <a:ext uri="{FF2B5EF4-FFF2-40B4-BE49-F238E27FC236}">
                <a16:creationId xmlns:a16="http://schemas.microsoft.com/office/drawing/2014/main" id="{73B8E61A-966B-EF41-91F6-117000D2ECD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30332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bg/>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6" grpId="0" animBg="1"/>
      <p:bldP spid="8" grpId="0" animBg="1"/>
      <p:bldP spid="9" grpId="0" animBg="1"/>
      <p:bldP spid="12" grpId="0" animBg="1"/>
      <p:bldP spid="13" grpId="0" animBg="1"/>
      <p:bldP spid="53" grpId="0"/>
      <p:bldP spid="54" grpId="0"/>
      <p:bldP spid="55" grpId="0"/>
      <p:bldP spid="56" grpId="0"/>
      <p:bldP spid="6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Rev. Rul. 76-385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6" name="Rectangle 5"/>
          <p:cNvSpPr/>
          <p:nvPr/>
        </p:nvSpPr>
        <p:spPr>
          <a:xfrm>
            <a:off x="2298200" y="801994"/>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sp>
        <p:nvSpPr>
          <p:cNvPr id="7" name="Rectangle 6"/>
          <p:cNvSpPr/>
          <p:nvPr/>
        </p:nvSpPr>
        <p:spPr>
          <a:xfrm>
            <a:off x="2298200" y="213715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Y</a:t>
            </a:r>
          </a:p>
        </p:txBody>
      </p:sp>
      <p:cxnSp>
        <p:nvCxnSpPr>
          <p:cNvPr id="8" name="Straight Connector 7"/>
          <p:cNvCxnSpPr>
            <a:stCxn id="6" idx="2"/>
            <a:endCxn id="7" idx="0"/>
          </p:cNvCxnSpPr>
          <p:nvPr/>
        </p:nvCxnSpPr>
        <p:spPr>
          <a:xfrm>
            <a:off x="2819011" y="1469904"/>
            <a:ext cx="0" cy="6672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3634966" y="3232346"/>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Z</a:t>
            </a:r>
          </a:p>
        </p:txBody>
      </p:sp>
      <p:cxnSp>
        <p:nvCxnSpPr>
          <p:cNvPr id="32" name="Straight Connector 31"/>
          <p:cNvCxnSpPr>
            <a:stCxn id="7" idx="2"/>
            <a:endCxn id="31" idx="0"/>
          </p:cNvCxnSpPr>
          <p:nvPr/>
        </p:nvCxnSpPr>
        <p:spPr>
          <a:xfrm>
            <a:off x="2819011" y="2805060"/>
            <a:ext cx="1336766" cy="427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6" idx="2"/>
            <a:endCxn id="31" idx="0"/>
          </p:cNvCxnSpPr>
          <p:nvPr/>
        </p:nvCxnSpPr>
        <p:spPr>
          <a:xfrm>
            <a:off x="2819011" y="1469904"/>
            <a:ext cx="1336766" cy="1762442"/>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1173997" y="3496524"/>
            <a:ext cx="1990177" cy="261610"/>
          </a:xfrm>
          <a:prstGeom prst="rect">
            <a:avLst/>
          </a:prstGeom>
          <a:noFill/>
          <a:ln>
            <a:solidFill>
              <a:schemeClr val="accent1">
                <a:shade val="95000"/>
                <a:satMod val="105000"/>
              </a:schemeClr>
            </a:solidFill>
          </a:ln>
        </p:spPr>
        <p:txBody>
          <a:bodyPr wrap="square" rtlCol="0">
            <a:spAutoFit/>
          </a:bodyPr>
          <a:lstStyle/>
          <a:p>
            <a:r>
              <a:rPr lang="en-US" sz="1100" b="1" dirty="0"/>
              <a:t>Z redeems Corp Y’s shares</a:t>
            </a:r>
          </a:p>
        </p:txBody>
      </p:sp>
      <p:sp>
        <p:nvSpPr>
          <p:cNvPr id="38" name="Oval 37"/>
          <p:cNvSpPr/>
          <p:nvPr/>
        </p:nvSpPr>
        <p:spPr>
          <a:xfrm>
            <a:off x="3236559" y="3462084"/>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9" name="Rectangle 38"/>
          <p:cNvSpPr/>
          <p:nvPr/>
        </p:nvSpPr>
        <p:spPr>
          <a:xfrm>
            <a:off x="6984779" y="801994"/>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sp>
        <p:nvSpPr>
          <p:cNvPr id="40" name="Rectangle 39"/>
          <p:cNvSpPr/>
          <p:nvPr/>
        </p:nvSpPr>
        <p:spPr>
          <a:xfrm>
            <a:off x="7000309" y="2023584"/>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Y</a:t>
            </a:r>
          </a:p>
        </p:txBody>
      </p:sp>
      <p:cxnSp>
        <p:nvCxnSpPr>
          <p:cNvPr id="41" name="Straight Connector 40"/>
          <p:cNvCxnSpPr/>
          <p:nvPr/>
        </p:nvCxnSpPr>
        <p:spPr>
          <a:xfrm flipH="1">
            <a:off x="7531144" y="1482229"/>
            <a:ext cx="1" cy="529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8584353" y="2006297"/>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Z</a:t>
            </a:r>
          </a:p>
        </p:txBody>
      </p:sp>
      <p:cxnSp>
        <p:nvCxnSpPr>
          <p:cNvPr id="44" name="Straight Connector 43"/>
          <p:cNvCxnSpPr>
            <a:stCxn id="39" idx="2"/>
            <a:endCxn id="42" idx="0"/>
          </p:cNvCxnSpPr>
          <p:nvPr/>
        </p:nvCxnSpPr>
        <p:spPr>
          <a:xfrm>
            <a:off x="7505590" y="1469904"/>
            <a:ext cx="1599574" cy="536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6091969" y="709645"/>
            <a:ext cx="4031" cy="3431115"/>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392419" y="2916637"/>
            <a:ext cx="853182" cy="276999"/>
          </a:xfrm>
          <a:prstGeom prst="rect">
            <a:avLst/>
          </a:prstGeom>
          <a:noFill/>
        </p:spPr>
        <p:txBody>
          <a:bodyPr wrap="none" rtlCol="0">
            <a:spAutoFit/>
          </a:bodyPr>
          <a:lstStyle/>
          <a:p>
            <a:r>
              <a:rPr lang="en-US" sz="1200" dirty="0"/>
              <a:t>few shares</a:t>
            </a:r>
          </a:p>
        </p:txBody>
      </p:sp>
      <p:sp>
        <p:nvSpPr>
          <p:cNvPr id="56" name="TextBox 55"/>
          <p:cNvSpPr txBox="1"/>
          <p:nvPr/>
        </p:nvSpPr>
        <p:spPr>
          <a:xfrm>
            <a:off x="3716964" y="2575322"/>
            <a:ext cx="853182" cy="276999"/>
          </a:xfrm>
          <a:prstGeom prst="rect">
            <a:avLst/>
          </a:prstGeom>
          <a:noFill/>
        </p:spPr>
        <p:txBody>
          <a:bodyPr wrap="none" rtlCol="0">
            <a:spAutoFit/>
          </a:bodyPr>
          <a:lstStyle/>
          <a:p>
            <a:r>
              <a:rPr lang="en-US" sz="1200" dirty="0"/>
              <a:t>few shares</a:t>
            </a:r>
          </a:p>
        </p:txBody>
      </p:sp>
      <p:sp>
        <p:nvSpPr>
          <p:cNvPr id="57" name="TextBox 56"/>
          <p:cNvSpPr txBox="1"/>
          <p:nvPr/>
        </p:nvSpPr>
        <p:spPr>
          <a:xfrm>
            <a:off x="8239748" y="1449446"/>
            <a:ext cx="853182" cy="276999"/>
          </a:xfrm>
          <a:prstGeom prst="rect">
            <a:avLst/>
          </a:prstGeom>
          <a:noFill/>
        </p:spPr>
        <p:txBody>
          <a:bodyPr wrap="none" rtlCol="0">
            <a:spAutoFit/>
          </a:bodyPr>
          <a:lstStyle/>
          <a:p>
            <a:r>
              <a:rPr lang="en-US" sz="1200" dirty="0"/>
              <a:t>few shares</a:t>
            </a:r>
          </a:p>
        </p:txBody>
      </p:sp>
      <p:sp>
        <p:nvSpPr>
          <p:cNvPr id="58" name="Content Placeholder 1"/>
          <p:cNvSpPr>
            <a:spLocks noGrp="1"/>
          </p:cNvSpPr>
          <p:nvPr>
            <p:ph idx="1"/>
          </p:nvPr>
        </p:nvSpPr>
        <p:spPr>
          <a:xfrm>
            <a:off x="1356796" y="4601959"/>
            <a:ext cx="10432868" cy="1028387"/>
          </a:xfrm>
          <a:ln>
            <a:solidFill>
              <a:schemeClr val="accent1">
                <a:lumMod val="40000"/>
                <a:lumOff val="60000"/>
              </a:schemeClr>
            </a:solidFill>
          </a:ln>
        </p:spPr>
        <p:txBody>
          <a:bodyPr/>
          <a:lstStyle/>
          <a:p>
            <a:r>
              <a:rPr lang="en-US" sz="2000" dirty="0"/>
              <a:t>Why isn’t the redemption of Corp Y’s shares treated as a complete termination?</a:t>
            </a:r>
          </a:p>
          <a:p>
            <a:pPr lvl="1"/>
            <a:r>
              <a:rPr lang="en-US" sz="1800" i="1" dirty="0"/>
              <a:t>See</a:t>
            </a:r>
            <a:r>
              <a:rPr lang="en-US" sz="1800" dirty="0"/>
              <a:t> §318(a)(3)(C)</a:t>
            </a:r>
          </a:p>
          <a:p>
            <a:r>
              <a:rPr lang="en-US" sz="2000" dirty="0"/>
              <a:t>What was Corp Y’s ownership interest before and after the redemption? </a:t>
            </a:r>
          </a:p>
        </p:txBody>
      </p:sp>
      <p:sp>
        <p:nvSpPr>
          <p:cNvPr id="59" name="TextBox 58"/>
          <p:cNvSpPr txBox="1"/>
          <p:nvPr/>
        </p:nvSpPr>
        <p:spPr>
          <a:xfrm>
            <a:off x="4799694" y="3335468"/>
            <a:ext cx="1062727" cy="461665"/>
          </a:xfrm>
          <a:prstGeom prst="rect">
            <a:avLst/>
          </a:prstGeom>
          <a:noFill/>
        </p:spPr>
        <p:txBody>
          <a:bodyPr wrap="none" rtlCol="0">
            <a:spAutoFit/>
          </a:bodyPr>
          <a:lstStyle/>
          <a:p>
            <a:r>
              <a:rPr lang="en-US" sz="1200" dirty="0"/>
              <a:t>28mm </a:t>
            </a:r>
            <a:r>
              <a:rPr lang="en-US" sz="1200"/>
              <a:t>shares </a:t>
            </a:r>
          </a:p>
          <a:p>
            <a:r>
              <a:rPr lang="en-US" sz="1200" dirty="0"/>
              <a:t>outstanding</a:t>
            </a:r>
          </a:p>
        </p:txBody>
      </p:sp>
      <p:sp>
        <p:nvSpPr>
          <p:cNvPr id="5" name="Footer Placeholder 4">
            <a:extLst>
              <a:ext uri="{FF2B5EF4-FFF2-40B4-BE49-F238E27FC236}">
                <a16:creationId xmlns:a16="http://schemas.microsoft.com/office/drawing/2014/main" id="{A19929DD-9A00-954B-8635-2A52A249D4B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0993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8">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1" grpId="0" animBg="1"/>
      <p:bldP spid="37" grpId="0" animBg="1"/>
      <p:bldP spid="38" grpId="0" animBg="1"/>
      <p:bldP spid="39" grpId="0" animBg="1"/>
      <p:bldP spid="40" grpId="0" animBg="1"/>
      <p:bldP spid="42" grpId="0" animBg="1"/>
      <p:bldP spid="55" grpId="0"/>
      <p:bldP spid="56" grpId="0"/>
      <p:bldP spid="57" grpId="0"/>
      <p:bldP spid="58" grpId="0" build="p" animBg="1"/>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Rev. Rul. 81-289</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
        <p:nvSpPr>
          <p:cNvPr id="6" name="Oval 5"/>
          <p:cNvSpPr/>
          <p:nvPr/>
        </p:nvSpPr>
        <p:spPr>
          <a:xfrm>
            <a:off x="2194529" y="801662"/>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endParaRPr lang="en-US" dirty="0">
              <a:solidFill>
                <a:schemeClr val="tx1"/>
              </a:solidFill>
            </a:endParaRPr>
          </a:p>
        </p:txBody>
      </p:sp>
      <p:sp>
        <p:nvSpPr>
          <p:cNvPr id="7" name="Rectangle 6"/>
          <p:cNvSpPr/>
          <p:nvPr/>
        </p:nvSpPr>
        <p:spPr>
          <a:xfrm>
            <a:off x="1409924" y="213715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8" name="Straight Connector 7"/>
          <p:cNvCxnSpPr>
            <a:stCxn id="6" idx="4"/>
            <a:endCxn id="7" idx="0"/>
          </p:cNvCxnSpPr>
          <p:nvPr/>
        </p:nvCxnSpPr>
        <p:spPr>
          <a:xfrm flipH="1">
            <a:off x="1930735" y="1469572"/>
            <a:ext cx="784605" cy="6675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6096001" y="709645"/>
            <a:ext cx="17416" cy="3892314"/>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675766" y="823281"/>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Other </a:t>
            </a:r>
            <a:r>
              <a:rPr lang="en-US" dirty="0" err="1">
                <a:solidFill>
                  <a:schemeClr val="tx1"/>
                </a:solidFill>
              </a:rPr>
              <a:t>SHs</a:t>
            </a:r>
            <a:endParaRPr lang="en-US" dirty="0">
              <a:solidFill>
                <a:schemeClr val="tx1"/>
              </a:solidFill>
            </a:endParaRPr>
          </a:p>
        </p:txBody>
      </p:sp>
      <p:cxnSp>
        <p:nvCxnSpPr>
          <p:cNvPr id="26" name="Straight Connector 25"/>
          <p:cNvCxnSpPr>
            <a:stCxn id="25" idx="4"/>
            <a:endCxn id="7" idx="0"/>
          </p:cNvCxnSpPr>
          <p:nvPr/>
        </p:nvCxnSpPr>
        <p:spPr>
          <a:xfrm>
            <a:off x="1196577" y="1491191"/>
            <a:ext cx="734158" cy="6459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649167" y="1608244"/>
            <a:ext cx="604653" cy="276999"/>
          </a:xfrm>
          <a:prstGeom prst="rect">
            <a:avLst/>
          </a:prstGeom>
          <a:noFill/>
        </p:spPr>
        <p:txBody>
          <a:bodyPr wrap="none" rtlCol="0">
            <a:spAutoFit/>
          </a:bodyPr>
          <a:lstStyle/>
          <a:p>
            <a:r>
              <a:rPr lang="en-US" sz="1200" dirty="0"/>
              <a:t>2,000x</a:t>
            </a:r>
          </a:p>
        </p:txBody>
      </p:sp>
      <p:sp>
        <p:nvSpPr>
          <p:cNvPr id="30" name="TextBox 29"/>
          <p:cNvSpPr txBox="1"/>
          <p:nvPr/>
        </p:nvSpPr>
        <p:spPr>
          <a:xfrm>
            <a:off x="2529898" y="2301251"/>
            <a:ext cx="928139" cy="461665"/>
          </a:xfrm>
          <a:prstGeom prst="rect">
            <a:avLst/>
          </a:prstGeom>
          <a:noFill/>
        </p:spPr>
        <p:txBody>
          <a:bodyPr wrap="none" rtlCol="0">
            <a:spAutoFit/>
          </a:bodyPr>
          <a:lstStyle/>
          <a:p>
            <a:r>
              <a:rPr lang="en-US" sz="1200" dirty="0"/>
              <a:t>1,000,000x </a:t>
            </a:r>
          </a:p>
          <a:p>
            <a:r>
              <a:rPr lang="en-US" sz="1200" dirty="0"/>
              <a:t>outstanding</a:t>
            </a:r>
          </a:p>
        </p:txBody>
      </p:sp>
      <p:sp>
        <p:nvSpPr>
          <p:cNvPr id="33" name="TextBox 32"/>
          <p:cNvSpPr txBox="1"/>
          <p:nvPr/>
        </p:nvSpPr>
        <p:spPr>
          <a:xfrm>
            <a:off x="925340" y="3317493"/>
            <a:ext cx="2479354" cy="307777"/>
          </a:xfrm>
          <a:prstGeom prst="rect">
            <a:avLst/>
          </a:prstGeom>
          <a:noFill/>
          <a:ln>
            <a:solidFill>
              <a:schemeClr val="accent1">
                <a:shade val="95000"/>
                <a:satMod val="105000"/>
              </a:schemeClr>
            </a:solidFill>
          </a:ln>
        </p:spPr>
        <p:txBody>
          <a:bodyPr wrap="square" rtlCol="0">
            <a:spAutoFit/>
          </a:bodyPr>
          <a:lstStyle/>
          <a:p>
            <a:r>
              <a:rPr lang="en-US" sz="1400" b="1" dirty="0"/>
              <a:t>X redeems 20,000x shares (2%)</a:t>
            </a:r>
          </a:p>
        </p:txBody>
      </p:sp>
      <p:sp>
        <p:nvSpPr>
          <p:cNvPr id="35" name="Oval 34"/>
          <p:cNvSpPr/>
          <p:nvPr/>
        </p:nvSpPr>
        <p:spPr>
          <a:xfrm>
            <a:off x="8480125" y="1181769"/>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endParaRPr lang="en-US" dirty="0">
              <a:solidFill>
                <a:schemeClr val="tx1"/>
              </a:solidFill>
            </a:endParaRPr>
          </a:p>
        </p:txBody>
      </p:sp>
      <p:sp>
        <p:nvSpPr>
          <p:cNvPr id="36" name="Rectangle 35"/>
          <p:cNvSpPr/>
          <p:nvPr/>
        </p:nvSpPr>
        <p:spPr>
          <a:xfrm>
            <a:off x="7695520" y="2517257"/>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Corp X</a:t>
            </a:r>
          </a:p>
        </p:txBody>
      </p:sp>
      <p:cxnSp>
        <p:nvCxnSpPr>
          <p:cNvPr id="43" name="Straight Connector 42"/>
          <p:cNvCxnSpPr>
            <a:stCxn id="46" idx="4"/>
            <a:endCxn id="47" idx="0"/>
          </p:cNvCxnSpPr>
          <p:nvPr/>
        </p:nvCxnSpPr>
        <p:spPr>
          <a:xfrm flipH="1">
            <a:off x="8216331" y="1849679"/>
            <a:ext cx="784605" cy="6675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6961362" y="1203388"/>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Other </a:t>
            </a:r>
            <a:r>
              <a:rPr lang="en-US" dirty="0" err="1">
                <a:solidFill>
                  <a:schemeClr val="tx1"/>
                </a:solidFill>
              </a:rPr>
              <a:t>SHs</a:t>
            </a:r>
            <a:endParaRPr lang="en-US" dirty="0">
              <a:solidFill>
                <a:schemeClr val="tx1"/>
              </a:solidFill>
            </a:endParaRPr>
          </a:p>
        </p:txBody>
      </p:sp>
      <p:cxnSp>
        <p:nvCxnSpPr>
          <p:cNvPr id="46" name="Straight Connector 45"/>
          <p:cNvCxnSpPr>
            <a:endCxn id="47" idx="0"/>
          </p:cNvCxnSpPr>
          <p:nvPr/>
        </p:nvCxnSpPr>
        <p:spPr>
          <a:xfrm>
            <a:off x="7482173" y="1871298"/>
            <a:ext cx="734158" cy="6459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934763" y="1988351"/>
            <a:ext cx="1024639" cy="276999"/>
          </a:xfrm>
          <a:prstGeom prst="rect">
            <a:avLst/>
          </a:prstGeom>
          <a:noFill/>
        </p:spPr>
        <p:txBody>
          <a:bodyPr wrap="none" rtlCol="0">
            <a:spAutoFit/>
          </a:bodyPr>
          <a:lstStyle/>
          <a:p>
            <a:r>
              <a:rPr lang="en-US" sz="1200" dirty="0"/>
              <a:t>1,960x</a:t>
            </a:r>
          </a:p>
        </p:txBody>
      </p:sp>
      <p:sp>
        <p:nvSpPr>
          <p:cNvPr id="48" name="TextBox 47"/>
          <p:cNvSpPr txBox="1"/>
          <p:nvPr/>
        </p:nvSpPr>
        <p:spPr>
          <a:xfrm>
            <a:off x="8815494" y="2681358"/>
            <a:ext cx="928139" cy="461665"/>
          </a:xfrm>
          <a:prstGeom prst="rect">
            <a:avLst/>
          </a:prstGeom>
          <a:noFill/>
        </p:spPr>
        <p:txBody>
          <a:bodyPr wrap="none" rtlCol="0">
            <a:spAutoFit/>
          </a:bodyPr>
          <a:lstStyle/>
          <a:p>
            <a:r>
              <a:rPr lang="en-US" sz="1200" dirty="0"/>
              <a:t>980,000x </a:t>
            </a:r>
          </a:p>
          <a:p>
            <a:r>
              <a:rPr lang="en-US" sz="1200" dirty="0"/>
              <a:t>outstanding</a:t>
            </a:r>
          </a:p>
        </p:txBody>
      </p:sp>
      <p:sp>
        <p:nvSpPr>
          <p:cNvPr id="49" name="TextBox 48"/>
          <p:cNvSpPr txBox="1"/>
          <p:nvPr/>
        </p:nvSpPr>
        <p:spPr>
          <a:xfrm>
            <a:off x="3404694" y="1587403"/>
            <a:ext cx="2479354" cy="307777"/>
          </a:xfrm>
          <a:prstGeom prst="rect">
            <a:avLst/>
          </a:prstGeom>
          <a:noFill/>
          <a:ln>
            <a:solidFill>
              <a:schemeClr val="accent1">
                <a:shade val="95000"/>
                <a:satMod val="105000"/>
              </a:schemeClr>
            </a:solidFill>
          </a:ln>
        </p:spPr>
        <p:txBody>
          <a:bodyPr wrap="square" rtlCol="0">
            <a:spAutoFit/>
          </a:bodyPr>
          <a:lstStyle/>
          <a:p>
            <a:r>
              <a:rPr lang="en-US" sz="1400" b="1" dirty="0"/>
              <a:t>A tenders 40x </a:t>
            </a:r>
            <a:r>
              <a:rPr lang="en-US" sz="1400" b="1"/>
              <a:t>shares (2</a:t>
            </a:r>
            <a:r>
              <a:rPr lang="en-US" sz="1400" b="1" dirty="0"/>
              <a:t>%)</a:t>
            </a:r>
          </a:p>
        </p:txBody>
      </p:sp>
      <p:sp>
        <p:nvSpPr>
          <p:cNvPr id="50" name="Content Placeholder 1"/>
          <p:cNvSpPr>
            <a:spLocks noGrp="1"/>
          </p:cNvSpPr>
          <p:nvPr>
            <p:ph idx="1"/>
          </p:nvPr>
        </p:nvSpPr>
        <p:spPr>
          <a:xfrm>
            <a:off x="2451546" y="5096643"/>
            <a:ext cx="7970083" cy="490258"/>
          </a:xfrm>
          <a:ln>
            <a:solidFill>
              <a:schemeClr val="accent1">
                <a:lumMod val="40000"/>
                <a:lumOff val="60000"/>
              </a:schemeClr>
            </a:solidFill>
          </a:ln>
        </p:spPr>
        <p:txBody>
          <a:bodyPr/>
          <a:lstStyle/>
          <a:p>
            <a:r>
              <a:rPr lang="en-US" sz="2000" dirty="0"/>
              <a:t>What was A’s ownership interest in X before and after the redemption? </a:t>
            </a:r>
          </a:p>
        </p:txBody>
      </p:sp>
      <p:sp>
        <p:nvSpPr>
          <p:cNvPr id="51" name="Oval 50"/>
          <p:cNvSpPr/>
          <p:nvPr/>
        </p:nvSpPr>
        <p:spPr>
          <a:xfrm>
            <a:off x="4308622" y="1199561"/>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2" name="Oval 51"/>
          <p:cNvSpPr/>
          <p:nvPr/>
        </p:nvSpPr>
        <p:spPr>
          <a:xfrm>
            <a:off x="1944285" y="2918820"/>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Footer Placeholder 4">
            <a:extLst>
              <a:ext uri="{FF2B5EF4-FFF2-40B4-BE49-F238E27FC236}">
                <a16:creationId xmlns:a16="http://schemas.microsoft.com/office/drawing/2014/main" id="{37351D54-4056-9D49-AEA1-17993A725544}"/>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03089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bg/>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5" grpId="0" animBg="1"/>
      <p:bldP spid="29" grpId="0"/>
      <p:bldP spid="30" grpId="0"/>
      <p:bldP spid="33" grpId="0" animBg="1"/>
      <p:bldP spid="35" grpId="0" animBg="1"/>
      <p:bldP spid="36" grpId="0" animBg="1"/>
      <p:bldP spid="45" grpId="0" animBg="1"/>
      <p:bldP spid="47" grpId="0"/>
      <p:bldP spid="48" grpId="0"/>
      <p:bldP spid="49" grpId="0" animBg="1"/>
      <p:bldP spid="50" grpId="0" uiExpand="1" build="p" animBg="1"/>
      <p:bldP spid="51" grpId="0" animBg="1"/>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233363" indent="-222250">
              <a:defRPr/>
            </a:pPr>
            <a:r>
              <a:rPr lang="en-US" sz="2600" dirty="0"/>
              <a:t>Applies to </a:t>
            </a:r>
            <a:r>
              <a:rPr lang="en-US" sz="2600" b="1" dirty="0"/>
              <a:t>noncorporate</a:t>
            </a:r>
            <a:r>
              <a:rPr lang="en-US" sz="2600" dirty="0"/>
              <a:t> shareholder</a:t>
            </a:r>
          </a:p>
          <a:p>
            <a:pPr marL="233363" indent="-222250">
              <a:defRPr/>
            </a:pPr>
            <a:r>
              <a:rPr lang="en-US" sz="2600" dirty="0"/>
              <a:t>Can be non pro-rata or pro rata</a:t>
            </a:r>
          </a:p>
          <a:p>
            <a:pPr marL="233363" indent="-222250">
              <a:defRPr/>
            </a:pPr>
            <a:r>
              <a:rPr lang="en-US" sz="2600" dirty="0"/>
              <a:t>Partial liquidation of corporation</a:t>
            </a:r>
          </a:p>
          <a:p>
            <a:pPr marL="461963" lvl="1" indent="-222250">
              <a:defRPr/>
            </a:pPr>
            <a:r>
              <a:rPr lang="en-US" dirty="0"/>
              <a:t>Distribution not essentially equivalent to a dividend (</a:t>
            </a:r>
            <a:r>
              <a:rPr lang="en-US" i="1" dirty="0"/>
              <a:t>determined at the corporate level</a:t>
            </a:r>
            <a:r>
              <a:rPr lang="en-US" dirty="0"/>
              <a:t>)</a:t>
            </a:r>
          </a:p>
          <a:p>
            <a:pPr marL="461963" lvl="1" indent="-222250">
              <a:defRPr/>
            </a:pPr>
            <a:r>
              <a:rPr lang="en-US" dirty="0"/>
              <a:t>Pursuant to a plan and occurs w/in the TY the plan is adopted or succeeding TY. §302(e)(1).</a:t>
            </a:r>
          </a:p>
          <a:p>
            <a:pPr marL="233363" indent="-222250">
              <a:defRPr/>
            </a:pPr>
            <a:r>
              <a:rPr lang="en-US" sz="2800" dirty="0"/>
              <a:t>Distribution is attributable to corporation’s ceasing to conduct (or consists of the assets of) </a:t>
            </a:r>
            <a:r>
              <a:rPr lang="en-US" sz="2800" b="1" dirty="0"/>
              <a:t>a </a:t>
            </a:r>
            <a:r>
              <a:rPr lang="en-US" sz="2800" dirty="0"/>
              <a:t>Qualified T/B; and immediately after distribution, distributing corporation is actively engaged in </a:t>
            </a:r>
            <a:r>
              <a:rPr lang="en-US" sz="2800" b="1" dirty="0"/>
              <a:t>a </a:t>
            </a:r>
            <a:r>
              <a:rPr lang="en-US" sz="2800" dirty="0"/>
              <a:t>Qualified T/B</a:t>
            </a:r>
          </a:p>
          <a:p>
            <a:pPr marL="461963" lvl="1" indent="-222250">
              <a:defRPr/>
            </a:pPr>
            <a:r>
              <a:rPr lang="en-US" sz="2400" i="1" dirty="0"/>
              <a:t>Qualified T/B</a:t>
            </a:r>
            <a:r>
              <a:rPr lang="en-US" sz="2400" dirty="0"/>
              <a:t>:  actively conducted throughout 5-year period ending on date of redemption; and not acquired in taxable transaction w/5 previous 5 years.</a:t>
            </a:r>
            <a:r>
              <a:rPr lang="en-US" sz="1800" dirty="0">
                <a:solidFill>
                  <a:srgbClr val="000000"/>
                </a:solidFill>
                <a:ea typeface="ＭＳ Ｐゴシック" pitchFamily="84" charset="-128"/>
              </a:rPr>
              <a:t> </a:t>
            </a:r>
            <a:r>
              <a:rPr lang="en-US" sz="2400" dirty="0"/>
              <a:t>§</a:t>
            </a:r>
            <a:r>
              <a:rPr lang="en-US" sz="2400" dirty="0">
                <a:solidFill>
                  <a:srgbClr val="000000"/>
                </a:solidFill>
                <a:ea typeface="ＭＳ Ｐゴシック" pitchFamily="84" charset="-128"/>
              </a:rPr>
              <a:t>302(e)(3).</a:t>
            </a:r>
          </a:p>
          <a:p>
            <a:pPr marL="173038" lvl="1" indent="-173038">
              <a:buFont typeface="Wingdings 2" pitchFamily="18" charset="2"/>
              <a:buChar char=""/>
              <a:defRPr/>
            </a:pPr>
            <a:r>
              <a:rPr lang="en-US" sz="2800" i="1" dirty="0">
                <a:solidFill>
                  <a:srgbClr val="000000"/>
                </a:solidFill>
              </a:rPr>
              <a:t>Corporate </a:t>
            </a:r>
            <a:r>
              <a:rPr lang="en-US" sz="2800" i="1" dirty="0" err="1">
                <a:solidFill>
                  <a:srgbClr val="000000"/>
                </a:solidFill>
              </a:rPr>
              <a:t>SH</a:t>
            </a:r>
            <a:r>
              <a:rPr lang="en-US" sz="2800" dirty="0">
                <a:solidFill>
                  <a:srgbClr val="000000"/>
                </a:solidFill>
              </a:rPr>
              <a:t>: any amount treated as dividend in a partial liquidation is an extraordinary dividend. </a:t>
            </a:r>
            <a:r>
              <a:rPr lang="en-US" sz="2800" dirty="0"/>
              <a:t>§</a:t>
            </a:r>
            <a:r>
              <a:rPr lang="en-US" sz="2800" dirty="0">
                <a:solidFill>
                  <a:srgbClr val="000000"/>
                </a:solidFill>
                <a:ea typeface="ＭＳ Ｐゴシック" pitchFamily="84" charset="-128"/>
              </a:rPr>
              <a:t>1059(e)(1)(A)(</a:t>
            </a:r>
            <a:r>
              <a:rPr lang="en-US" sz="2800" dirty="0" err="1">
                <a:solidFill>
                  <a:srgbClr val="000000"/>
                </a:solidFill>
                <a:ea typeface="ＭＳ Ｐゴシック" pitchFamily="84" charset="-128"/>
              </a:rPr>
              <a:t>i</a:t>
            </a:r>
            <a:r>
              <a:rPr lang="en-US" sz="2800" dirty="0">
                <a:solidFill>
                  <a:srgbClr val="000000"/>
                </a:solidFill>
                <a:ea typeface="ＭＳ Ｐゴシック" pitchFamily="84" charset="-128"/>
              </a:rPr>
              <a:t>).</a:t>
            </a:r>
          </a:p>
          <a:p>
            <a:pPr marL="173038" lvl="1" indent="-173038">
              <a:buFont typeface="Wingdings 2" pitchFamily="18" charset="2"/>
              <a:buChar char=""/>
              <a:defRPr/>
            </a:pPr>
            <a:r>
              <a:rPr lang="en-US" sz="2800" dirty="0">
                <a:solidFill>
                  <a:srgbClr val="000000"/>
                </a:solidFill>
                <a:ea typeface="ＭＳ Ｐゴシック" pitchFamily="84" charset="-128"/>
              </a:rPr>
              <a:t>For ruling purposes, the distribution must result in at least a 20% reduction in gross revenues, net fair market value of assets, and employees.  Rev. Proc. 2008-3.</a:t>
            </a:r>
            <a:endParaRPr lang="en-US" sz="2800" dirty="0"/>
          </a:p>
          <a:p>
            <a:endParaRPr lang="en-US" dirty="0"/>
          </a:p>
        </p:txBody>
      </p:sp>
      <p:sp>
        <p:nvSpPr>
          <p:cNvPr id="3" name="Title 2"/>
          <p:cNvSpPr>
            <a:spLocks noGrp="1"/>
          </p:cNvSpPr>
          <p:nvPr>
            <p:ph type="title"/>
          </p:nvPr>
        </p:nvSpPr>
        <p:spPr/>
        <p:txBody>
          <a:bodyPr/>
          <a:lstStyle/>
          <a:p>
            <a:r>
              <a:rPr lang="en-US" dirty="0"/>
              <a:t>Redemptions: Partial Liquidations--Section 302(e)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
        <p:nvSpPr>
          <p:cNvPr id="5" name="Footer Placeholder 4">
            <a:extLst>
              <a:ext uri="{FF2B5EF4-FFF2-40B4-BE49-F238E27FC236}">
                <a16:creationId xmlns:a16="http://schemas.microsoft.com/office/drawing/2014/main" id="{D1383048-090D-AA49-A651-0E2169B958C9}"/>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11385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Rev. Rul. 60-322</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6" name="Oval 5"/>
          <p:cNvSpPr/>
          <p:nvPr/>
        </p:nvSpPr>
        <p:spPr>
          <a:xfrm>
            <a:off x="2843599" y="1741169"/>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SHs</a:t>
            </a:r>
            <a:endParaRPr lang="en-US" sz="2400" dirty="0">
              <a:solidFill>
                <a:schemeClr val="tx1"/>
              </a:solidFill>
            </a:endParaRPr>
          </a:p>
        </p:txBody>
      </p:sp>
      <p:sp>
        <p:nvSpPr>
          <p:cNvPr id="7" name="Rectangle 6"/>
          <p:cNvSpPr/>
          <p:nvPr/>
        </p:nvSpPr>
        <p:spPr>
          <a:xfrm>
            <a:off x="2058994" y="3076657"/>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Corp X</a:t>
            </a:r>
          </a:p>
        </p:txBody>
      </p:sp>
      <p:cxnSp>
        <p:nvCxnSpPr>
          <p:cNvPr id="8" name="Straight Connector 7"/>
          <p:cNvCxnSpPr>
            <a:stCxn id="6" idx="4"/>
            <a:endCxn id="7" idx="0"/>
          </p:cNvCxnSpPr>
          <p:nvPr/>
        </p:nvCxnSpPr>
        <p:spPr>
          <a:xfrm flipH="1">
            <a:off x="2579805" y="2409079"/>
            <a:ext cx="784605" cy="6675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6089881" y="669073"/>
            <a:ext cx="6119" cy="5109427"/>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1324836" y="1762788"/>
            <a:ext cx="1041621" cy="66791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SHs</a:t>
            </a:r>
            <a:endParaRPr lang="en-US" sz="2400" dirty="0">
              <a:solidFill>
                <a:schemeClr val="tx1"/>
              </a:solidFill>
            </a:endParaRPr>
          </a:p>
        </p:txBody>
      </p:sp>
      <p:cxnSp>
        <p:nvCxnSpPr>
          <p:cNvPr id="26" name="Straight Connector 25"/>
          <p:cNvCxnSpPr>
            <a:stCxn id="25" idx="4"/>
            <a:endCxn id="7" idx="0"/>
          </p:cNvCxnSpPr>
          <p:nvPr/>
        </p:nvCxnSpPr>
        <p:spPr>
          <a:xfrm>
            <a:off x="1845647" y="2430698"/>
            <a:ext cx="734158" cy="6459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417070" y="3076657"/>
            <a:ext cx="1236749" cy="830997"/>
          </a:xfrm>
          <a:prstGeom prst="rect">
            <a:avLst/>
          </a:prstGeom>
          <a:noFill/>
        </p:spPr>
        <p:txBody>
          <a:bodyPr wrap="none" rtlCol="0">
            <a:spAutoFit/>
          </a:bodyPr>
          <a:lstStyle/>
          <a:p>
            <a:r>
              <a:rPr lang="en-US" sz="1600" dirty="0"/>
              <a:t>3,800 shares</a:t>
            </a:r>
          </a:p>
          <a:p>
            <a:r>
              <a:rPr lang="en-US" sz="1600" dirty="0"/>
              <a:t>outstanding</a:t>
            </a:r>
          </a:p>
          <a:p>
            <a:endParaRPr lang="en-US" sz="1600" dirty="0"/>
          </a:p>
        </p:txBody>
      </p:sp>
      <p:sp>
        <p:nvSpPr>
          <p:cNvPr id="33" name="TextBox 32"/>
          <p:cNvSpPr txBox="1"/>
          <p:nvPr/>
        </p:nvSpPr>
        <p:spPr>
          <a:xfrm>
            <a:off x="1324837" y="4006899"/>
            <a:ext cx="2707304" cy="369332"/>
          </a:xfrm>
          <a:prstGeom prst="rect">
            <a:avLst/>
          </a:prstGeom>
          <a:noFill/>
          <a:ln>
            <a:solidFill>
              <a:schemeClr val="accent1">
                <a:shade val="95000"/>
                <a:satMod val="105000"/>
              </a:schemeClr>
            </a:solidFill>
          </a:ln>
        </p:spPr>
        <p:txBody>
          <a:bodyPr wrap="square" rtlCol="0">
            <a:spAutoFit/>
          </a:bodyPr>
          <a:lstStyle/>
          <a:p>
            <a:r>
              <a:rPr lang="en-US" dirty="0"/>
              <a:t>Accumulated </a:t>
            </a:r>
            <a:r>
              <a:rPr lang="en-US" dirty="0" err="1"/>
              <a:t>E&amp;Ps</a:t>
            </a:r>
            <a:r>
              <a:rPr lang="en-US" dirty="0"/>
              <a:t>: 1,500X</a:t>
            </a:r>
          </a:p>
        </p:txBody>
      </p:sp>
      <p:sp>
        <p:nvSpPr>
          <p:cNvPr id="2" name="Content Placeholder 1"/>
          <p:cNvSpPr>
            <a:spLocks noGrp="1"/>
          </p:cNvSpPr>
          <p:nvPr>
            <p:ph idx="1"/>
          </p:nvPr>
        </p:nvSpPr>
        <p:spPr>
          <a:xfrm>
            <a:off x="6359795" y="753601"/>
            <a:ext cx="5429869" cy="5477107"/>
          </a:xfrm>
        </p:spPr>
        <p:txBody>
          <a:bodyPr/>
          <a:lstStyle/>
          <a:p>
            <a:r>
              <a:rPr lang="en-US" dirty="0"/>
              <a:t>Leather trade no longer profitable</a:t>
            </a:r>
          </a:p>
          <a:p>
            <a:r>
              <a:rPr lang="en-US" dirty="0"/>
              <a:t>Losses</a:t>
            </a:r>
          </a:p>
          <a:p>
            <a:r>
              <a:rPr lang="en-US" dirty="0"/>
              <a:t>Excess inventory (5,000X)</a:t>
            </a:r>
          </a:p>
          <a:p>
            <a:r>
              <a:rPr lang="en-US" dirty="0"/>
              <a:t>Liquidation of inventory</a:t>
            </a:r>
          </a:p>
          <a:p>
            <a:r>
              <a:rPr lang="en-US" dirty="0"/>
              <a:t>Redeem portion of stock with cash from sale of G bonds and liquidation of inventory</a:t>
            </a:r>
          </a:p>
          <a:p>
            <a:r>
              <a:rPr lang="en-US" i="1" dirty="0"/>
              <a:t>Genuine contraction of the business?</a:t>
            </a:r>
          </a:p>
        </p:txBody>
      </p:sp>
      <p:sp>
        <p:nvSpPr>
          <p:cNvPr id="5" name="Footer Placeholder 4">
            <a:extLst>
              <a:ext uri="{FF2B5EF4-FFF2-40B4-BE49-F238E27FC236}">
                <a16:creationId xmlns:a16="http://schemas.microsoft.com/office/drawing/2014/main" id="{9ACE982D-1D1D-8647-9916-A28F9C887E0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54639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Redemption of an amount to pay estate, inheritance, legacy, and succession taxes and the amount of funeral and administration expenses treated as a sale/X.  </a:t>
            </a:r>
          </a:p>
          <a:p>
            <a:r>
              <a:rPr lang="en-US" dirty="0"/>
              <a:t>Applies only if the value of the stock which is included in  determining the value of the decedent’s gross estates exceeds 35% of the value of the gross estate over allowable deductions.</a:t>
            </a:r>
          </a:p>
        </p:txBody>
      </p:sp>
      <p:sp>
        <p:nvSpPr>
          <p:cNvPr id="3" name="Title 2"/>
          <p:cNvSpPr>
            <a:spLocks noGrp="1"/>
          </p:cNvSpPr>
          <p:nvPr>
            <p:ph type="title"/>
          </p:nvPr>
        </p:nvSpPr>
        <p:spPr/>
        <p:txBody>
          <a:bodyPr/>
          <a:lstStyle/>
          <a:p>
            <a:r>
              <a:rPr lang="en-US" dirty="0"/>
              <a:t>Redemptions: Section 303</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87F251A7-9E90-E546-927C-73EFAA978451}"/>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02157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77800" indent="-231775"/>
            <a:r>
              <a:rPr lang="en-US" altLang="en-US" sz="3200" b="1" dirty="0">
                <a:ea typeface="ＭＳ Ｐゴシック" charset="-128"/>
              </a:rPr>
              <a:t>Current Distribution</a:t>
            </a:r>
            <a:r>
              <a:rPr lang="en-US" altLang="en-US" sz="3200" dirty="0">
                <a:ea typeface="ＭＳ Ｐゴシック" charset="-128"/>
              </a:rPr>
              <a:t>:  </a:t>
            </a:r>
          </a:p>
          <a:p>
            <a:pPr marL="406400" lvl="1" indent="-231775"/>
            <a:r>
              <a:rPr lang="en-US" altLang="en-US" sz="2800" dirty="0" err="1">
                <a:ea typeface="ＭＳ Ｐゴシック" charset="-128"/>
              </a:rPr>
              <a:t>E&amp;Ps</a:t>
            </a:r>
            <a:r>
              <a:rPr lang="en-US" altLang="en-US" sz="2800" dirty="0">
                <a:ea typeface="ＭＳ Ｐゴシック" charset="-128"/>
              </a:rPr>
              <a:t> reduced by the amount of money; </a:t>
            </a:r>
          </a:p>
          <a:p>
            <a:pPr marL="406400" lvl="1" indent="-231775"/>
            <a:r>
              <a:rPr lang="en-US" altLang="en-US" sz="2800" dirty="0" err="1">
                <a:ea typeface="ＭＳ Ｐゴシック" charset="-128"/>
              </a:rPr>
              <a:t>E&amp;Ps</a:t>
            </a:r>
            <a:r>
              <a:rPr lang="en-US" altLang="en-US" sz="2800" dirty="0">
                <a:ea typeface="ＭＳ Ｐゴシック" charset="-128"/>
              </a:rPr>
              <a:t> reduced by adjusted basis of property (if greater than </a:t>
            </a:r>
            <a:r>
              <a:rPr lang="en-US" altLang="en-US" sz="2800" dirty="0" err="1">
                <a:ea typeface="ＭＳ Ｐゴシック" charset="-128"/>
              </a:rPr>
              <a:t>FMV</a:t>
            </a:r>
            <a:r>
              <a:rPr lang="en-US" altLang="en-US" sz="2800" dirty="0">
                <a:ea typeface="ＭＳ Ｐゴシック" charset="-128"/>
              </a:rPr>
              <a:t>); or </a:t>
            </a:r>
          </a:p>
          <a:p>
            <a:pPr marL="406400" lvl="1" indent="-231775"/>
            <a:r>
              <a:rPr lang="en-US" altLang="en-US" sz="2800" dirty="0" err="1">
                <a:ea typeface="ＭＳ Ｐゴシック" charset="-128"/>
              </a:rPr>
              <a:t>E&amp;Ps</a:t>
            </a:r>
            <a:r>
              <a:rPr lang="en-US" altLang="en-US" sz="2800" dirty="0">
                <a:ea typeface="ＭＳ Ｐゴシック" charset="-128"/>
              </a:rPr>
              <a:t> reduced by </a:t>
            </a:r>
            <a:r>
              <a:rPr lang="en-US" altLang="en-US" sz="2800" dirty="0" err="1">
                <a:ea typeface="ＭＳ Ｐゴシック" charset="-128"/>
              </a:rPr>
              <a:t>FMV</a:t>
            </a:r>
            <a:r>
              <a:rPr lang="en-US" altLang="en-US" sz="2800" dirty="0">
                <a:ea typeface="ＭＳ Ｐゴシック" charset="-128"/>
              </a:rPr>
              <a:t> of property if greater than AB of property (after first increasing </a:t>
            </a:r>
            <a:r>
              <a:rPr lang="en-US" altLang="en-US" sz="2800" dirty="0" err="1">
                <a:ea typeface="ＭＳ Ｐゴシック" charset="-128"/>
              </a:rPr>
              <a:t>E&amp;Ps</a:t>
            </a:r>
            <a:r>
              <a:rPr lang="en-US" altLang="en-US" sz="2800" dirty="0">
                <a:ea typeface="ＭＳ Ｐゴシック" charset="-128"/>
              </a:rPr>
              <a:t> for gain recognized). </a:t>
            </a:r>
            <a:r>
              <a:rPr lang="en-US" sz="2800" dirty="0"/>
              <a:t>§</a:t>
            </a:r>
            <a:r>
              <a:rPr lang="en-US" altLang="en-US" sz="2800" dirty="0">
                <a:ea typeface="ＭＳ Ｐゴシック" charset="-128"/>
              </a:rPr>
              <a:t>312(a) and (b).</a:t>
            </a:r>
          </a:p>
          <a:p>
            <a:pPr marL="177800" indent="-231775"/>
            <a:endParaRPr lang="en-US" altLang="en-US" sz="3200" dirty="0">
              <a:ea typeface="ＭＳ Ｐゴシック" charset="-128"/>
            </a:endParaRPr>
          </a:p>
          <a:p>
            <a:pPr marL="177800" indent="-231775"/>
            <a:r>
              <a:rPr lang="en-US" altLang="en-US" sz="3200" b="1" dirty="0">
                <a:ea typeface="ＭＳ Ｐゴシック" charset="-128"/>
              </a:rPr>
              <a:t>Sale/Exchange</a:t>
            </a:r>
            <a:r>
              <a:rPr lang="en-US" altLang="en-US" sz="3200" dirty="0">
                <a:ea typeface="ＭＳ Ｐゴシック" charset="-128"/>
              </a:rPr>
              <a:t>:  </a:t>
            </a:r>
          </a:p>
          <a:p>
            <a:pPr marL="406400" lvl="1" indent="-231775"/>
            <a:r>
              <a:rPr lang="en-US" altLang="en-US" sz="2800" dirty="0">
                <a:ea typeface="ＭＳ Ｐゴシック" charset="-128"/>
              </a:rPr>
              <a:t>E&amp;Ps reduced by </a:t>
            </a:r>
            <a:r>
              <a:rPr lang="en-US" altLang="en-US" sz="2800" b="1" i="1" dirty="0">
                <a:ea typeface="ＭＳ Ｐゴシック" charset="-128"/>
              </a:rPr>
              <a:t>ratable share </a:t>
            </a:r>
            <a:r>
              <a:rPr lang="en-US" altLang="en-US" sz="2800" dirty="0">
                <a:ea typeface="ＭＳ Ｐゴシック" charset="-128"/>
              </a:rPr>
              <a:t>of E&amp;Ps attributable to stock redeemed but capped at the actual amount of the distribution.  </a:t>
            </a:r>
            <a:r>
              <a:rPr lang="en-US" sz="2800" dirty="0"/>
              <a:t>§</a:t>
            </a:r>
            <a:r>
              <a:rPr lang="en-US" altLang="en-US" sz="2800" dirty="0">
                <a:ea typeface="ＭＳ Ｐゴシック" charset="-128"/>
              </a:rPr>
              <a:t>312(n)(7).</a:t>
            </a:r>
          </a:p>
          <a:p>
            <a:pPr marL="406400" lvl="1" indent="-231775"/>
            <a:r>
              <a:rPr lang="en-US" altLang="en-US" sz="2800" dirty="0">
                <a:ea typeface="ＭＳ Ｐゴシック" charset="-128"/>
              </a:rPr>
              <a:t>Is there another approach?</a:t>
            </a:r>
          </a:p>
          <a:p>
            <a:pPr marL="177800" indent="-231775"/>
            <a:endParaRPr lang="en-US" altLang="en-US" sz="2800" dirty="0">
              <a:ea typeface="ＭＳ Ｐゴシック" charset="-128"/>
            </a:endParaRPr>
          </a:p>
          <a:p>
            <a:endParaRPr lang="en-US" sz="2800" dirty="0"/>
          </a:p>
        </p:txBody>
      </p:sp>
      <p:sp>
        <p:nvSpPr>
          <p:cNvPr id="3" name="Title 2"/>
          <p:cNvSpPr>
            <a:spLocks noGrp="1"/>
          </p:cNvSpPr>
          <p:nvPr>
            <p:ph type="title"/>
          </p:nvPr>
        </p:nvSpPr>
        <p:spPr/>
        <p:txBody>
          <a:bodyPr/>
          <a:lstStyle/>
          <a:p>
            <a:r>
              <a:rPr lang="en-US" dirty="0"/>
              <a:t>Redemptions: Corporate-Level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a:extLst>
              <a:ext uri="{FF2B5EF4-FFF2-40B4-BE49-F238E27FC236}">
                <a16:creationId xmlns:a16="http://schemas.microsoft.com/office/drawing/2014/main" id="{EC539B86-0081-094D-A30D-78C78E8669A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67897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and Tax Planning:  </a:t>
            </a:r>
            <a:r>
              <a:rPr lang="en-US" i="1" dirty="0" err="1"/>
              <a:t>Zenz</a:t>
            </a:r>
            <a:r>
              <a:rPr lang="en-US" i="1" dirty="0"/>
              <a:t> v. </a:t>
            </a:r>
            <a:r>
              <a:rPr lang="en-US" i="1" dirty="0" err="1"/>
              <a:t>Quinlivan</a:t>
            </a:r>
            <a:r>
              <a:rPr lang="en-US" i="1" dirty="0"/>
              <a:t>, </a:t>
            </a:r>
            <a:r>
              <a:rPr lang="en-US" dirty="0"/>
              <a:t>(6</a:t>
            </a:r>
            <a:r>
              <a:rPr lang="en-US" baseline="30000" dirty="0"/>
              <a:t>th</a:t>
            </a:r>
            <a:r>
              <a:rPr lang="en-US" dirty="0"/>
              <a:t> Cir. 1954)</a:t>
            </a:r>
            <a:endParaRPr lang="en-US" i="1"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6" name="Rectangle 5"/>
          <p:cNvSpPr>
            <a:spLocks noChangeArrowheads="1"/>
          </p:cNvSpPr>
          <p:nvPr/>
        </p:nvSpPr>
        <p:spPr bwMode="auto">
          <a:xfrm>
            <a:off x="2547049" y="3938072"/>
            <a:ext cx="1677094" cy="820594"/>
          </a:xfrm>
          <a:prstGeom prst="rect">
            <a:avLst/>
          </a:prstGeom>
          <a:solidFill>
            <a:schemeClr val="accent3">
              <a:lumMod val="25000"/>
              <a:lumOff val="75000"/>
            </a:schemeClr>
          </a:solidFill>
          <a:ln w="12700">
            <a:solidFill>
              <a:schemeClr val="tx1"/>
            </a:solidFill>
            <a:miter lim="800000"/>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400" b="1" dirty="0"/>
              <a:t>Corp</a:t>
            </a:r>
          </a:p>
        </p:txBody>
      </p:sp>
      <p:sp>
        <p:nvSpPr>
          <p:cNvPr id="7" name="Oval 6"/>
          <p:cNvSpPr>
            <a:spLocks noChangeArrowheads="1"/>
          </p:cNvSpPr>
          <p:nvPr/>
        </p:nvSpPr>
        <p:spPr bwMode="auto">
          <a:xfrm>
            <a:off x="2522343" y="1894313"/>
            <a:ext cx="1701800" cy="732648"/>
          </a:xfrm>
          <a:prstGeom prst="ellipse">
            <a:avLst/>
          </a:prstGeom>
          <a:solidFill>
            <a:schemeClr val="accent5">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400" b="1"/>
              <a:t>Zenz</a:t>
            </a:r>
            <a:endParaRPr lang="en-US" altLang="en-US" dirty="0"/>
          </a:p>
        </p:txBody>
      </p:sp>
      <p:sp>
        <p:nvSpPr>
          <p:cNvPr id="9" name="Line 8"/>
          <p:cNvSpPr>
            <a:spLocks noChangeShapeType="1"/>
          </p:cNvSpPr>
          <p:nvPr/>
        </p:nvSpPr>
        <p:spPr bwMode="auto">
          <a:xfrm flipV="1">
            <a:off x="4184068" y="2438400"/>
            <a:ext cx="1349607"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9"/>
          <p:cNvSpPr>
            <a:spLocks noChangeShapeType="1"/>
          </p:cNvSpPr>
          <p:nvPr/>
        </p:nvSpPr>
        <p:spPr bwMode="auto">
          <a:xfrm flipH="1">
            <a:off x="4260268" y="2125146"/>
            <a:ext cx="1193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
          <p:cNvSpPr>
            <a:spLocks noChangeShapeType="1"/>
          </p:cNvSpPr>
          <p:nvPr/>
        </p:nvSpPr>
        <p:spPr bwMode="auto">
          <a:xfrm flipV="1">
            <a:off x="2884526" y="2727325"/>
            <a:ext cx="0" cy="118357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1"/>
          <p:cNvSpPr txBox="1">
            <a:spLocks noChangeArrowheads="1"/>
          </p:cNvSpPr>
          <p:nvPr/>
        </p:nvSpPr>
        <p:spPr bwMode="auto">
          <a:xfrm>
            <a:off x="4772914" y="1752600"/>
            <a:ext cx="39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000" b="1" dirty="0"/>
              <a:t>$ </a:t>
            </a:r>
          </a:p>
        </p:txBody>
      </p:sp>
      <p:sp>
        <p:nvSpPr>
          <p:cNvPr id="13" name="Text Box 13"/>
          <p:cNvSpPr txBox="1">
            <a:spLocks noChangeArrowheads="1"/>
          </p:cNvSpPr>
          <p:nvPr/>
        </p:nvSpPr>
        <p:spPr bwMode="auto">
          <a:xfrm>
            <a:off x="4431602" y="2514600"/>
            <a:ext cx="138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000" b="1"/>
              <a:t>47 Shares</a:t>
            </a:r>
          </a:p>
        </p:txBody>
      </p:sp>
      <p:sp>
        <p:nvSpPr>
          <p:cNvPr id="14" name="Oval 14"/>
          <p:cNvSpPr>
            <a:spLocks noChangeArrowheads="1"/>
          </p:cNvSpPr>
          <p:nvPr/>
        </p:nvSpPr>
        <p:spPr bwMode="auto">
          <a:xfrm>
            <a:off x="5441523" y="1894313"/>
            <a:ext cx="1701800" cy="685188"/>
          </a:xfrm>
          <a:prstGeom prst="ellipse">
            <a:avLst/>
          </a:prstGeom>
          <a:solidFill>
            <a:schemeClr val="accent5">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000" b="1" dirty="0"/>
              <a:t>3rd</a:t>
            </a:r>
          </a:p>
          <a:p>
            <a:pPr algn="ctr"/>
            <a:r>
              <a:rPr lang="en-US" altLang="en-US" sz="2000" b="1" dirty="0"/>
              <a:t>Party</a:t>
            </a:r>
          </a:p>
        </p:txBody>
      </p:sp>
      <p:sp>
        <p:nvSpPr>
          <p:cNvPr id="15" name="Oval 16"/>
          <p:cNvSpPr>
            <a:spLocks noChangeArrowheads="1"/>
          </p:cNvSpPr>
          <p:nvPr/>
        </p:nvSpPr>
        <p:spPr bwMode="auto">
          <a:xfrm>
            <a:off x="4595114" y="1143000"/>
            <a:ext cx="609600" cy="4572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800" b="1"/>
              <a:t>1</a:t>
            </a:r>
            <a:endParaRPr lang="en-US" altLang="en-US"/>
          </a:p>
        </p:txBody>
      </p:sp>
      <p:sp>
        <p:nvSpPr>
          <p:cNvPr id="16" name="Oval 17"/>
          <p:cNvSpPr>
            <a:spLocks noChangeArrowheads="1"/>
          </p:cNvSpPr>
          <p:nvPr/>
        </p:nvSpPr>
        <p:spPr bwMode="auto">
          <a:xfrm>
            <a:off x="200724" y="2743200"/>
            <a:ext cx="609600" cy="4572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800" b="1" dirty="0"/>
              <a:t>2</a:t>
            </a:r>
            <a:endParaRPr lang="en-US" altLang="en-US" dirty="0"/>
          </a:p>
        </p:txBody>
      </p:sp>
      <p:sp>
        <p:nvSpPr>
          <p:cNvPr id="17" name="Text Box 18"/>
          <p:cNvSpPr txBox="1">
            <a:spLocks noChangeArrowheads="1"/>
          </p:cNvSpPr>
          <p:nvPr/>
        </p:nvSpPr>
        <p:spPr bwMode="auto">
          <a:xfrm>
            <a:off x="880174" y="2727325"/>
            <a:ext cx="1666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2000" b="1" dirty="0"/>
              <a:t>Redemption</a:t>
            </a:r>
          </a:p>
          <a:p>
            <a:pPr algn="ctr"/>
            <a:r>
              <a:rPr lang="en-US" altLang="en-US" sz="2000" b="1" dirty="0"/>
              <a:t>of 61 shares</a:t>
            </a:r>
          </a:p>
        </p:txBody>
      </p:sp>
      <p:cxnSp>
        <p:nvCxnSpPr>
          <p:cNvPr id="19" name="Straight Connector 18"/>
          <p:cNvCxnSpPr>
            <a:stCxn id="7" idx="4"/>
            <a:endCxn id="6" idx="0"/>
          </p:cNvCxnSpPr>
          <p:nvPr/>
        </p:nvCxnSpPr>
        <p:spPr>
          <a:xfrm>
            <a:off x="3373243" y="2626961"/>
            <a:ext cx="12353" cy="1311111"/>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026400" y="1894313"/>
            <a:ext cx="3548472" cy="461665"/>
          </a:xfrm>
          <a:prstGeom prst="rect">
            <a:avLst/>
          </a:prstGeom>
          <a:noFill/>
        </p:spPr>
        <p:txBody>
          <a:bodyPr wrap="none" rtlCol="0">
            <a:spAutoFit/>
          </a:bodyPr>
          <a:lstStyle/>
          <a:p>
            <a:pPr marL="285750" indent="-285750">
              <a:buFont typeface="Arial" charset="0"/>
              <a:buChar char="•"/>
            </a:pPr>
            <a:r>
              <a:rPr lang="en-US" sz="2400" b="1" dirty="0"/>
              <a:t>What did the IRS argue?</a:t>
            </a:r>
          </a:p>
        </p:txBody>
      </p:sp>
      <p:sp>
        <p:nvSpPr>
          <p:cNvPr id="5" name="Footer Placeholder 4">
            <a:extLst>
              <a:ext uri="{FF2B5EF4-FFF2-40B4-BE49-F238E27FC236}">
                <a16:creationId xmlns:a16="http://schemas.microsoft.com/office/drawing/2014/main" id="{8BBF7935-23EB-E246-9EC4-73E45366CA56}"/>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5703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p:bldP spid="13" grpId="0"/>
      <p:bldP spid="14" grpId="0" animBg="1"/>
      <p:bldP spid="15" grpId="0" animBg="1"/>
      <p:bldP spid="16" grpId="0" animBg="1"/>
      <p:bldP spid="17"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Redemptions and Tax Planning:  Rev. Rul. 75-447</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6" name="Rectangle 7"/>
          <p:cNvSpPr>
            <a:spLocks noChangeArrowheads="1"/>
          </p:cNvSpPr>
          <p:nvPr/>
        </p:nvSpPr>
        <p:spPr bwMode="auto">
          <a:xfrm>
            <a:off x="1512731" y="1774953"/>
            <a:ext cx="914400" cy="914400"/>
          </a:xfrm>
          <a:prstGeom prst="rect">
            <a:avLst/>
          </a:prstGeom>
          <a:solidFill>
            <a:schemeClr val="accent1">
              <a:lumMod val="40000"/>
              <a:lumOff val="60000"/>
            </a:schemeClr>
          </a:solidFill>
          <a:ln w="9525">
            <a:solidFill>
              <a:schemeClr val="accent1">
                <a:lumMod val="20000"/>
                <a:lumOff val="80000"/>
              </a:schemeClr>
            </a:solidFill>
            <a:miter lim="800000"/>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X </a:t>
            </a:r>
            <a:endParaRPr lang="en-US" altLang="en-US" dirty="0"/>
          </a:p>
        </p:txBody>
      </p:sp>
      <p:sp>
        <p:nvSpPr>
          <p:cNvPr id="7" name="Oval 9"/>
          <p:cNvSpPr>
            <a:spLocks noChangeArrowheads="1"/>
          </p:cNvSpPr>
          <p:nvPr/>
        </p:nvSpPr>
        <p:spPr bwMode="auto">
          <a:xfrm>
            <a:off x="685800" y="700017"/>
            <a:ext cx="1066800" cy="533400"/>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A</a:t>
            </a:r>
          </a:p>
        </p:txBody>
      </p:sp>
      <p:sp>
        <p:nvSpPr>
          <p:cNvPr id="9" name="Oval 19"/>
          <p:cNvSpPr>
            <a:spLocks noChangeArrowheads="1"/>
          </p:cNvSpPr>
          <p:nvPr/>
        </p:nvSpPr>
        <p:spPr bwMode="auto">
          <a:xfrm>
            <a:off x="2193073" y="658190"/>
            <a:ext cx="1066800" cy="533400"/>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B</a:t>
            </a:r>
          </a:p>
        </p:txBody>
      </p:sp>
      <p:sp>
        <p:nvSpPr>
          <p:cNvPr id="11" name="TextBox 26"/>
          <p:cNvSpPr txBox="1">
            <a:spLocks noChangeArrowheads="1"/>
          </p:cNvSpPr>
          <p:nvPr/>
        </p:nvSpPr>
        <p:spPr bwMode="auto">
          <a:xfrm>
            <a:off x="736610" y="2866810"/>
            <a:ext cx="2577061" cy="584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600" dirty="0"/>
              <a:t>A and B each </a:t>
            </a:r>
          </a:p>
          <a:p>
            <a:pPr algn="ctr"/>
            <a:r>
              <a:rPr lang="en-US" altLang="en-US" sz="1600" dirty="0"/>
              <a:t>owns 50 shares of X </a:t>
            </a:r>
          </a:p>
        </p:txBody>
      </p:sp>
      <p:cxnSp>
        <p:nvCxnSpPr>
          <p:cNvPr id="13" name="Straight Connector 12"/>
          <p:cNvCxnSpPr>
            <a:stCxn id="9" idx="4"/>
            <a:endCxn id="6" idx="0"/>
          </p:cNvCxnSpPr>
          <p:nvPr/>
        </p:nvCxnSpPr>
        <p:spPr>
          <a:xfrm flipH="1">
            <a:off x="1969931" y="1191590"/>
            <a:ext cx="756542" cy="5833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4"/>
            <a:endCxn id="6" idx="0"/>
          </p:cNvCxnSpPr>
          <p:nvPr/>
        </p:nvCxnSpPr>
        <p:spPr>
          <a:xfrm>
            <a:off x="1219200" y="1233417"/>
            <a:ext cx="750731" cy="5415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9"/>
          <p:cNvCxnSpPr>
            <a:cxnSpLocks noChangeShapeType="1"/>
          </p:cNvCxnSpPr>
          <p:nvPr/>
        </p:nvCxnSpPr>
        <p:spPr bwMode="auto">
          <a:xfrm>
            <a:off x="4043209" y="780588"/>
            <a:ext cx="51417" cy="3090372"/>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cxnSp>
      <p:sp>
        <p:nvSpPr>
          <p:cNvPr id="24" name="Rectangle 7"/>
          <p:cNvSpPr>
            <a:spLocks noChangeArrowheads="1"/>
          </p:cNvSpPr>
          <p:nvPr/>
        </p:nvSpPr>
        <p:spPr bwMode="auto">
          <a:xfrm>
            <a:off x="5681197" y="1537799"/>
            <a:ext cx="914400" cy="914400"/>
          </a:xfrm>
          <a:prstGeom prst="rect">
            <a:avLst/>
          </a:prstGeom>
          <a:solidFill>
            <a:schemeClr val="accent1">
              <a:lumMod val="40000"/>
              <a:lumOff val="60000"/>
            </a:schemeClr>
          </a:solidFill>
          <a:ln w="9525">
            <a:solidFill>
              <a:schemeClr val="accent1">
                <a:lumMod val="20000"/>
                <a:lumOff val="80000"/>
              </a:schemeClr>
            </a:solidFill>
            <a:miter lim="800000"/>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X </a:t>
            </a:r>
            <a:endParaRPr lang="en-US" altLang="en-US"/>
          </a:p>
        </p:txBody>
      </p:sp>
      <p:sp>
        <p:nvSpPr>
          <p:cNvPr id="25" name="Oval 9"/>
          <p:cNvSpPr>
            <a:spLocks noChangeArrowheads="1"/>
          </p:cNvSpPr>
          <p:nvPr/>
        </p:nvSpPr>
        <p:spPr bwMode="auto">
          <a:xfrm>
            <a:off x="4995398" y="642964"/>
            <a:ext cx="478065" cy="355880"/>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A</a:t>
            </a:r>
          </a:p>
        </p:txBody>
      </p:sp>
      <p:sp>
        <p:nvSpPr>
          <p:cNvPr id="26" name="Oval 19"/>
          <p:cNvSpPr>
            <a:spLocks noChangeArrowheads="1"/>
          </p:cNvSpPr>
          <p:nvPr/>
        </p:nvSpPr>
        <p:spPr bwMode="auto">
          <a:xfrm>
            <a:off x="5899365" y="609949"/>
            <a:ext cx="478065" cy="355880"/>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B</a:t>
            </a:r>
          </a:p>
        </p:txBody>
      </p:sp>
      <p:cxnSp>
        <p:nvCxnSpPr>
          <p:cNvPr id="27" name="Straight Connector 26"/>
          <p:cNvCxnSpPr>
            <a:stCxn id="26" idx="4"/>
            <a:endCxn id="24" idx="0"/>
          </p:cNvCxnSpPr>
          <p:nvPr/>
        </p:nvCxnSpPr>
        <p:spPr>
          <a:xfrm flipH="1">
            <a:off x="6138397" y="965829"/>
            <a:ext cx="1" cy="571970"/>
          </a:xfrm>
          <a:prstGeom prst="line">
            <a:avLst/>
          </a:prstGeom>
        </p:spPr>
        <p:style>
          <a:lnRef idx="1">
            <a:schemeClr val="accent1"/>
          </a:lnRef>
          <a:fillRef idx="0">
            <a:schemeClr val="accent1"/>
          </a:fillRef>
          <a:effectRef idx="0">
            <a:schemeClr val="accent1"/>
          </a:effectRef>
          <a:fontRef idx="minor">
            <a:schemeClr val="tx1"/>
          </a:fontRef>
        </p:style>
      </p:cxnSp>
      <p:sp>
        <p:nvSpPr>
          <p:cNvPr id="31" name="Oval 19"/>
          <p:cNvSpPr>
            <a:spLocks noChangeArrowheads="1"/>
          </p:cNvSpPr>
          <p:nvPr/>
        </p:nvSpPr>
        <p:spPr bwMode="auto">
          <a:xfrm>
            <a:off x="6682701" y="630384"/>
            <a:ext cx="478065" cy="355880"/>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C</a:t>
            </a:r>
          </a:p>
        </p:txBody>
      </p:sp>
      <p:cxnSp>
        <p:nvCxnSpPr>
          <p:cNvPr id="266" name="Straight Connector 265"/>
          <p:cNvCxnSpPr>
            <a:stCxn id="25" idx="4"/>
            <a:endCxn id="24" idx="0"/>
          </p:cNvCxnSpPr>
          <p:nvPr/>
        </p:nvCxnSpPr>
        <p:spPr>
          <a:xfrm>
            <a:off x="5234431" y="998844"/>
            <a:ext cx="903966" cy="538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7" name="Straight Connector 266"/>
          <p:cNvCxnSpPr>
            <a:stCxn id="31" idx="4"/>
            <a:endCxn id="24" idx="0"/>
          </p:cNvCxnSpPr>
          <p:nvPr/>
        </p:nvCxnSpPr>
        <p:spPr>
          <a:xfrm flipH="1">
            <a:off x="6138397" y="986264"/>
            <a:ext cx="783337" cy="5515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Straight Connector 29"/>
          <p:cNvCxnSpPr>
            <a:cxnSpLocks noChangeShapeType="1"/>
          </p:cNvCxnSpPr>
          <p:nvPr/>
        </p:nvCxnSpPr>
        <p:spPr bwMode="auto">
          <a:xfrm>
            <a:off x="8422432" y="780588"/>
            <a:ext cx="29856" cy="3289019"/>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cxnSp>
      <p:sp>
        <p:nvSpPr>
          <p:cNvPr id="273" name="TextBox 26"/>
          <p:cNvSpPr txBox="1">
            <a:spLocks noChangeArrowheads="1"/>
          </p:cNvSpPr>
          <p:nvPr/>
        </p:nvSpPr>
        <p:spPr bwMode="auto">
          <a:xfrm>
            <a:off x="4735002" y="2617295"/>
            <a:ext cx="3284855" cy="116955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u="sng" dirty="0"/>
              <a:t>Situation 1</a:t>
            </a:r>
          </a:p>
          <a:p>
            <a:r>
              <a:rPr lang="en-US" altLang="en-US" sz="1400" dirty="0"/>
              <a:t>A and B cause X to:</a:t>
            </a:r>
          </a:p>
          <a:p>
            <a:pPr marL="342900" indent="-342900">
              <a:buFont typeface="+mj-lt"/>
              <a:buAutoNum type="arabicPeriod"/>
            </a:pPr>
            <a:r>
              <a:rPr lang="en-US" altLang="en-US" sz="1400" dirty="0"/>
              <a:t>Issue 25 shares to C, and </a:t>
            </a:r>
          </a:p>
          <a:p>
            <a:pPr marL="342900" indent="-342900">
              <a:buFont typeface="+mj-lt"/>
              <a:buAutoNum type="arabicPeriod"/>
            </a:pPr>
            <a:r>
              <a:rPr lang="en-US" altLang="en-US" sz="1400" dirty="0"/>
              <a:t>Redeem 25 shares of stock from each of them  </a:t>
            </a:r>
          </a:p>
        </p:txBody>
      </p:sp>
      <p:sp>
        <p:nvSpPr>
          <p:cNvPr id="274" name="Line 10"/>
          <p:cNvSpPr>
            <a:spLocks noChangeShapeType="1"/>
          </p:cNvSpPr>
          <p:nvPr/>
        </p:nvSpPr>
        <p:spPr bwMode="auto">
          <a:xfrm flipV="1">
            <a:off x="6671938" y="1093961"/>
            <a:ext cx="584255" cy="45403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5" name="Line 10"/>
          <p:cNvSpPr>
            <a:spLocks noChangeShapeType="1"/>
          </p:cNvSpPr>
          <p:nvPr/>
        </p:nvSpPr>
        <p:spPr bwMode="auto">
          <a:xfrm>
            <a:off x="4899971" y="1093960"/>
            <a:ext cx="704885" cy="45403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 name="Line 10"/>
          <p:cNvSpPr>
            <a:spLocks noChangeShapeType="1"/>
          </p:cNvSpPr>
          <p:nvPr/>
        </p:nvSpPr>
        <p:spPr bwMode="auto">
          <a:xfrm flipH="1">
            <a:off x="6039677" y="998844"/>
            <a:ext cx="0" cy="41082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2" name="Rectangle 7"/>
          <p:cNvSpPr>
            <a:spLocks noChangeArrowheads="1"/>
          </p:cNvSpPr>
          <p:nvPr/>
        </p:nvSpPr>
        <p:spPr bwMode="auto">
          <a:xfrm>
            <a:off x="9846692" y="2313908"/>
            <a:ext cx="818028" cy="513267"/>
          </a:xfrm>
          <a:prstGeom prst="rect">
            <a:avLst/>
          </a:prstGeom>
          <a:solidFill>
            <a:schemeClr val="accent1">
              <a:lumMod val="40000"/>
              <a:lumOff val="60000"/>
            </a:schemeClr>
          </a:solidFill>
          <a:ln w="9525">
            <a:solidFill>
              <a:schemeClr val="accent1">
                <a:lumMod val="20000"/>
                <a:lumOff val="80000"/>
              </a:schemeClr>
            </a:solidFill>
            <a:miter lim="800000"/>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X </a:t>
            </a:r>
            <a:endParaRPr lang="en-US" altLang="en-US" dirty="0"/>
          </a:p>
        </p:txBody>
      </p:sp>
      <p:sp>
        <p:nvSpPr>
          <p:cNvPr id="283" name="Oval 9"/>
          <p:cNvSpPr>
            <a:spLocks noChangeArrowheads="1"/>
          </p:cNvSpPr>
          <p:nvPr/>
        </p:nvSpPr>
        <p:spPr bwMode="auto">
          <a:xfrm>
            <a:off x="9064521" y="1419073"/>
            <a:ext cx="478065" cy="285705"/>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A</a:t>
            </a:r>
          </a:p>
        </p:txBody>
      </p:sp>
      <p:sp>
        <p:nvSpPr>
          <p:cNvPr id="284" name="Oval 19"/>
          <p:cNvSpPr>
            <a:spLocks noChangeArrowheads="1"/>
          </p:cNvSpPr>
          <p:nvPr/>
        </p:nvSpPr>
        <p:spPr bwMode="auto">
          <a:xfrm>
            <a:off x="9968488" y="1386058"/>
            <a:ext cx="478065" cy="285705"/>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a:t>B</a:t>
            </a:r>
          </a:p>
        </p:txBody>
      </p:sp>
      <p:cxnSp>
        <p:nvCxnSpPr>
          <p:cNvPr id="285" name="Straight Connector 284"/>
          <p:cNvCxnSpPr/>
          <p:nvPr/>
        </p:nvCxnSpPr>
        <p:spPr>
          <a:xfrm flipH="1">
            <a:off x="10207519" y="1741938"/>
            <a:ext cx="3" cy="459185"/>
          </a:xfrm>
          <a:prstGeom prst="line">
            <a:avLst/>
          </a:prstGeom>
        </p:spPr>
        <p:style>
          <a:lnRef idx="1">
            <a:schemeClr val="accent1"/>
          </a:lnRef>
          <a:fillRef idx="0">
            <a:schemeClr val="accent1"/>
          </a:fillRef>
          <a:effectRef idx="0">
            <a:schemeClr val="accent1"/>
          </a:effectRef>
          <a:fontRef idx="minor">
            <a:schemeClr val="tx1"/>
          </a:fontRef>
        </p:style>
      </p:cxnSp>
      <p:sp>
        <p:nvSpPr>
          <p:cNvPr id="286" name="Oval 19"/>
          <p:cNvSpPr>
            <a:spLocks noChangeArrowheads="1"/>
          </p:cNvSpPr>
          <p:nvPr/>
        </p:nvSpPr>
        <p:spPr bwMode="auto">
          <a:xfrm>
            <a:off x="10751824" y="1406493"/>
            <a:ext cx="478065" cy="285705"/>
          </a:xfrm>
          <a:prstGeom prst="ellipse">
            <a:avLst/>
          </a:prstGeom>
          <a:solidFill>
            <a:schemeClr val="accent3">
              <a:lumMod val="10000"/>
              <a:lumOff val="90000"/>
            </a:schemeClr>
          </a:solidFill>
          <a:ln w="9525">
            <a:solidFill>
              <a:schemeClr val="accent1">
                <a:lumMod val="20000"/>
                <a:lumOff val="80000"/>
              </a:schemeClr>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b="1" dirty="0"/>
              <a:t>C</a:t>
            </a:r>
          </a:p>
        </p:txBody>
      </p:sp>
      <p:cxnSp>
        <p:nvCxnSpPr>
          <p:cNvPr id="287" name="Straight Connector 286"/>
          <p:cNvCxnSpPr/>
          <p:nvPr/>
        </p:nvCxnSpPr>
        <p:spPr>
          <a:xfrm>
            <a:off x="9303554" y="1774953"/>
            <a:ext cx="903966" cy="538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p:nvCxnSpPr>
        <p:spPr>
          <a:xfrm flipH="1">
            <a:off x="10207521" y="1762373"/>
            <a:ext cx="783337" cy="551535"/>
          </a:xfrm>
          <a:prstGeom prst="line">
            <a:avLst/>
          </a:prstGeom>
        </p:spPr>
        <p:style>
          <a:lnRef idx="1">
            <a:schemeClr val="accent1"/>
          </a:lnRef>
          <a:fillRef idx="0">
            <a:schemeClr val="accent1"/>
          </a:fillRef>
          <a:effectRef idx="0">
            <a:schemeClr val="accent1"/>
          </a:effectRef>
          <a:fontRef idx="minor">
            <a:schemeClr val="tx1"/>
          </a:fontRef>
        </p:style>
      </p:cxnSp>
      <p:sp>
        <p:nvSpPr>
          <p:cNvPr id="289" name="TextBox 26"/>
          <p:cNvSpPr txBox="1">
            <a:spLocks noChangeArrowheads="1"/>
          </p:cNvSpPr>
          <p:nvPr/>
        </p:nvSpPr>
        <p:spPr bwMode="auto">
          <a:xfrm>
            <a:off x="8935003" y="2900056"/>
            <a:ext cx="2577061" cy="116955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u="sng" dirty="0"/>
              <a:t>Situation 2</a:t>
            </a:r>
          </a:p>
          <a:p>
            <a:pPr marL="342900" indent="-342900">
              <a:buFont typeface="+mj-lt"/>
              <a:buAutoNum type="arabicPeriod"/>
            </a:pPr>
            <a:r>
              <a:rPr lang="en-US" altLang="en-US" sz="1400" dirty="0"/>
              <a:t>A and B each sells 15 of X to C, and </a:t>
            </a:r>
          </a:p>
          <a:p>
            <a:pPr marL="342900" indent="-342900">
              <a:buFont typeface="+mj-lt"/>
              <a:buAutoNum type="arabicPeriod"/>
            </a:pPr>
            <a:r>
              <a:rPr lang="en-US" altLang="en-US" sz="1400" dirty="0"/>
              <a:t>X redeems 5 shares from both A and B</a:t>
            </a:r>
          </a:p>
        </p:txBody>
      </p:sp>
      <p:sp>
        <p:nvSpPr>
          <p:cNvPr id="291" name="Line 10"/>
          <p:cNvSpPr>
            <a:spLocks noChangeShapeType="1"/>
          </p:cNvSpPr>
          <p:nvPr/>
        </p:nvSpPr>
        <p:spPr bwMode="auto">
          <a:xfrm>
            <a:off x="8969094" y="1870070"/>
            <a:ext cx="704885" cy="36450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2" name="Line 10"/>
          <p:cNvSpPr>
            <a:spLocks noChangeShapeType="1"/>
          </p:cNvSpPr>
          <p:nvPr/>
        </p:nvSpPr>
        <p:spPr bwMode="auto">
          <a:xfrm flipH="1">
            <a:off x="10108800" y="1774953"/>
            <a:ext cx="0" cy="32981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3" name="Oval 16"/>
          <p:cNvSpPr>
            <a:spLocks noChangeArrowheads="1"/>
          </p:cNvSpPr>
          <p:nvPr/>
        </p:nvSpPr>
        <p:spPr bwMode="auto">
          <a:xfrm>
            <a:off x="9519043" y="583915"/>
            <a:ext cx="430055" cy="22312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dirty="0"/>
              <a:t>1</a:t>
            </a:r>
            <a:endParaRPr lang="en-US" altLang="en-US" sz="1050" dirty="0"/>
          </a:p>
        </p:txBody>
      </p:sp>
      <p:sp>
        <p:nvSpPr>
          <p:cNvPr id="294" name="Line 10"/>
          <p:cNvSpPr>
            <a:spLocks noChangeShapeType="1"/>
          </p:cNvSpPr>
          <p:nvPr/>
        </p:nvSpPr>
        <p:spPr bwMode="auto">
          <a:xfrm>
            <a:off x="9215120" y="1035281"/>
            <a:ext cx="1656080" cy="27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5" name="Line 10"/>
          <p:cNvSpPr>
            <a:spLocks noChangeShapeType="1"/>
          </p:cNvSpPr>
          <p:nvPr/>
        </p:nvSpPr>
        <p:spPr bwMode="auto">
          <a:xfrm flipV="1">
            <a:off x="10207520" y="1208723"/>
            <a:ext cx="663680"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6" name="Oval 16"/>
          <p:cNvSpPr>
            <a:spLocks noChangeArrowheads="1"/>
          </p:cNvSpPr>
          <p:nvPr/>
        </p:nvSpPr>
        <p:spPr bwMode="auto">
          <a:xfrm>
            <a:off x="5471387" y="928973"/>
            <a:ext cx="430055" cy="230349"/>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dirty="0"/>
              <a:t>2</a:t>
            </a:r>
            <a:endParaRPr lang="en-US" altLang="en-US" sz="1050" dirty="0"/>
          </a:p>
        </p:txBody>
      </p:sp>
      <p:sp>
        <p:nvSpPr>
          <p:cNvPr id="297" name="Oval 16"/>
          <p:cNvSpPr>
            <a:spLocks noChangeArrowheads="1"/>
          </p:cNvSpPr>
          <p:nvPr/>
        </p:nvSpPr>
        <p:spPr bwMode="auto">
          <a:xfrm>
            <a:off x="6905416" y="1342144"/>
            <a:ext cx="430055" cy="277923"/>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dirty="0"/>
              <a:t>1</a:t>
            </a:r>
            <a:endParaRPr lang="en-US" altLang="en-US" sz="1050" dirty="0"/>
          </a:p>
        </p:txBody>
      </p:sp>
      <p:sp>
        <p:nvSpPr>
          <p:cNvPr id="298" name="Rectangle 297"/>
          <p:cNvSpPr/>
          <p:nvPr/>
        </p:nvSpPr>
        <p:spPr>
          <a:xfrm>
            <a:off x="512064" y="4234703"/>
            <a:ext cx="11277600" cy="2031325"/>
          </a:xfrm>
          <a:prstGeom prst="rect">
            <a:avLst/>
          </a:prstGeom>
          <a:ln>
            <a:solidFill>
              <a:srgbClr val="C0C0C0"/>
            </a:solidFill>
          </a:ln>
        </p:spPr>
        <p:txBody>
          <a:bodyPr wrap="square">
            <a:spAutoFit/>
          </a:bodyPr>
          <a:lstStyle/>
          <a:p>
            <a:pPr fontAlgn="base"/>
            <a:r>
              <a:rPr lang="en-US" i="1" dirty="0">
                <a:solidFill>
                  <a:srgbClr val="373739"/>
                </a:solidFill>
              </a:rPr>
              <a:t>Since the </a:t>
            </a:r>
            <a:r>
              <a:rPr lang="en-US" i="1" dirty="0" err="1">
                <a:solidFill>
                  <a:srgbClr val="373739"/>
                </a:solidFill>
              </a:rPr>
              <a:t>Zenz</a:t>
            </a:r>
            <a:r>
              <a:rPr lang="en-US" i="1" dirty="0">
                <a:solidFill>
                  <a:srgbClr val="373739"/>
                </a:solidFill>
              </a:rPr>
              <a:t> holding requires that effect be given only to the overall result and proscribes the fragmenting of the whole transaction into its component parts, the computation of the voting stock of the corporation owned by the shareholder immediately before the redemption for purposes of section 302(b) (2) (C) (ii) of the Code should </a:t>
            </a:r>
            <a:r>
              <a:rPr lang="en-US" b="1" i="1" dirty="0">
                <a:solidFill>
                  <a:srgbClr val="373739"/>
                </a:solidFill>
              </a:rPr>
              <a:t>be made before any part of the transaction occurs</a:t>
            </a:r>
            <a:r>
              <a:rPr lang="en-US" i="1" dirty="0">
                <a:solidFill>
                  <a:srgbClr val="373739"/>
                </a:solidFill>
              </a:rPr>
              <a:t>. Likewise, the computation of the voting stock of the corporation owned by the shareholder immediately after the redemption for purposes of section 302(b) (2) (C) (</a:t>
            </a:r>
            <a:r>
              <a:rPr lang="en-US" i="1" dirty="0" err="1">
                <a:solidFill>
                  <a:srgbClr val="373739"/>
                </a:solidFill>
              </a:rPr>
              <a:t>i</a:t>
            </a:r>
            <a:r>
              <a:rPr lang="en-US" i="1" dirty="0">
                <a:solidFill>
                  <a:srgbClr val="373739"/>
                </a:solidFill>
              </a:rPr>
              <a:t>) should be </a:t>
            </a:r>
            <a:r>
              <a:rPr lang="en-US" b="1" i="1" dirty="0">
                <a:solidFill>
                  <a:srgbClr val="373739"/>
                </a:solidFill>
              </a:rPr>
              <a:t>made after the whole transaction is consummated</a:t>
            </a:r>
            <a:r>
              <a:rPr lang="is-IS" i="1" dirty="0">
                <a:solidFill>
                  <a:srgbClr val="373739"/>
                </a:solidFill>
              </a:rPr>
              <a:t>…</a:t>
            </a:r>
            <a:r>
              <a:rPr lang="en-US" i="1" dirty="0"/>
              <a:t> Furthermore</a:t>
            </a:r>
            <a:r>
              <a:rPr lang="en-US" b="1" i="1" dirty="0"/>
              <a:t>, in each situation, the result would be the same if the redemption had preceded the issuance, or sale, of stock.</a:t>
            </a:r>
            <a:endParaRPr lang="en-US" sz="1600" b="1" i="1" dirty="0"/>
          </a:p>
        </p:txBody>
      </p:sp>
      <p:sp>
        <p:nvSpPr>
          <p:cNvPr id="40" name="Oval 16">
            <a:extLst>
              <a:ext uri="{FF2B5EF4-FFF2-40B4-BE49-F238E27FC236}">
                <a16:creationId xmlns:a16="http://schemas.microsoft.com/office/drawing/2014/main" id="{CD8E68C7-766E-B14D-8C02-EF332C8534AE}"/>
              </a:ext>
            </a:extLst>
          </p:cNvPr>
          <p:cNvSpPr>
            <a:spLocks noChangeArrowheads="1"/>
          </p:cNvSpPr>
          <p:nvPr/>
        </p:nvSpPr>
        <p:spPr bwMode="auto">
          <a:xfrm>
            <a:off x="8777811" y="2106761"/>
            <a:ext cx="430055" cy="230349"/>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a:r>
              <a:rPr lang="en-US" altLang="en-US" sz="1400" b="1" dirty="0"/>
              <a:t>2</a:t>
            </a:r>
            <a:endParaRPr lang="en-US" altLang="en-US" sz="1050" dirty="0"/>
          </a:p>
        </p:txBody>
      </p:sp>
      <p:sp>
        <p:nvSpPr>
          <p:cNvPr id="5" name="Footer Placeholder 4">
            <a:extLst>
              <a:ext uri="{FF2B5EF4-FFF2-40B4-BE49-F238E27FC236}">
                <a16:creationId xmlns:a16="http://schemas.microsoft.com/office/drawing/2014/main" id="{31E9EBF1-0857-F84F-886F-C86C443C286A}"/>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50230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8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8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9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9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9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24" grpId="0" animBg="1"/>
      <p:bldP spid="25" grpId="0" animBg="1"/>
      <p:bldP spid="26" grpId="0" animBg="1"/>
      <p:bldP spid="31" grpId="0" animBg="1"/>
      <p:bldP spid="273" grpId="0" animBg="1"/>
      <p:bldP spid="274" grpId="0" animBg="1"/>
      <p:bldP spid="275" grpId="0" animBg="1"/>
      <p:bldP spid="276" grpId="0" animBg="1"/>
      <p:bldP spid="282" grpId="0" animBg="1"/>
      <p:bldP spid="283" grpId="0" animBg="1"/>
      <p:bldP spid="284" grpId="0" animBg="1"/>
      <p:bldP spid="286" grpId="0" animBg="1"/>
      <p:bldP spid="289" grpId="0" animBg="1"/>
      <p:bldP spid="291" grpId="0" animBg="1"/>
      <p:bldP spid="292" grpId="0" animBg="1"/>
      <p:bldP spid="293" grpId="0" animBg="1"/>
      <p:bldP spid="294" grpId="0" animBg="1"/>
      <p:bldP spid="295" grpId="0" animBg="1"/>
      <p:bldP spid="296" grpId="0" animBg="1"/>
      <p:bldP spid="297" grpId="0" animBg="1"/>
      <p:bldP spid="298" grpId="0" animBg="1"/>
      <p:bldP spid="4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Sit. 1 &amp; 2:  </a:t>
            </a:r>
            <a:r>
              <a:rPr lang="en-US" dirty="0" err="1"/>
              <a:t>SH</a:t>
            </a:r>
            <a:r>
              <a:rPr lang="en-US" dirty="0"/>
              <a:t>-level buy-sell agreement </a:t>
            </a:r>
            <a:r>
              <a:rPr lang="en-US" dirty="0" err="1"/>
              <a:t>btwn</a:t>
            </a:r>
            <a:r>
              <a:rPr lang="en-US" dirty="0"/>
              <a:t> A &amp; B assigned to X after departure and death of B.  X redeemed B’s shares.</a:t>
            </a:r>
          </a:p>
          <a:p>
            <a:r>
              <a:rPr lang="en-US" b="1" dirty="0"/>
              <a:t>Sit 3: </a:t>
            </a:r>
            <a:r>
              <a:rPr lang="en-US" dirty="0"/>
              <a:t>Trust owns shares of X terminates in ‘69. A purchases B’s interest in trust for 25x and deferred payment of 20x in </a:t>
            </a:r>
            <a:r>
              <a:rPr lang="uk-UA" dirty="0"/>
              <a:t>’</a:t>
            </a:r>
            <a:r>
              <a:rPr lang="en-US" dirty="0"/>
              <a:t>66.  In ‘69, X reimburses A for 25x and redeems B’s shares for 20x.</a:t>
            </a:r>
          </a:p>
          <a:p>
            <a:r>
              <a:rPr lang="en-US" b="1" dirty="0"/>
              <a:t>Sit 4: </a:t>
            </a:r>
            <a:r>
              <a:rPr lang="en-US" dirty="0"/>
              <a:t>A agreed to purchase (or cause to be purchased) B’s shares.  B was free to sell to 3</a:t>
            </a:r>
            <a:r>
              <a:rPr lang="en-US" baseline="30000" dirty="0"/>
              <a:t>rd</a:t>
            </a:r>
            <a:r>
              <a:rPr lang="en-US" dirty="0"/>
              <a:t> party.  A causes X to redeem B’s shares when A had no obligation to purchase stock.</a:t>
            </a:r>
          </a:p>
          <a:p>
            <a:r>
              <a:rPr lang="en-US" b="1" dirty="0"/>
              <a:t>Sit 5: </a:t>
            </a:r>
            <a:r>
              <a:rPr lang="en-US" dirty="0"/>
              <a:t>Agreement </a:t>
            </a:r>
            <a:r>
              <a:rPr lang="en-US" dirty="0" err="1"/>
              <a:t>btwn</a:t>
            </a:r>
            <a:r>
              <a:rPr lang="en-US" dirty="0"/>
              <a:t> A &amp; B provided that X would redeem their shares upon death, with either shareholder being liable to satisfy the obligation if X didn’t redeem.</a:t>
            </a:r>
          </a:p>
          <a:p>
            <a:r>
              <a:rPr lang="en-US" b="1" dirty="0"/>
              <a:t>Sit 6: </a:t>
            </a:r>
            <a:r>
              <a:rPr lang="en-US" dirty="0"/>
              <a:t>A owns 100% of X.  B agreed to purchase A’s shares, but PA permitted B to fully assign purchase obligation to Corp.  B assigned PA to Y, which purchased X shares.  Y subsequently merged into X.</a:t>
            </a:r>
          </a:p>
          <a:p>
            <a:r>
              <a:rPr lang="en-US" b="1" dirty="0"/>
              <a:t>Sit 7: </a:t>
            </a:r>
            <a:r>
              <a:rPr lang="en-US" dirty="0"/>
              <a:t>Original buy-sell agreement </a:t>
            </a:r>
            <a:r>
              <a:rPr lang="en-US" dirty="0" err="1"/>
              <a:t>btwn</a:t>
            </a:r>
            <a:r>
              <a:rPr lang="en-US" dirty="0"/>
              <a:t> A &amp; B to repurchase upon death was rescinded; new agreement provided that X would redeem.</a:t>
            </a:r>
            <a:endParaRPr lang="en-US" b="1" dirty="0"/>
          </a:p>
          <a:p>
            <a:endParaRPr lang="en-US" dirty="0"/>
          </a:p>
        </p:txBody>
      </p:sp>
      <p:sp>
        <p:nvSpPr>
          <p:cNvPr id="3" name="Title 2"/>
          <p:cNvSpPr>
            <a:spLocks noGrp="1"/>
          </p:cNvSpPr>
          <p:nvPr>
            <p:ph type="title"/>
          </p:nvPr>
        </p:nvSpPr>
        <p:spPr/>
        <p:txBody>
          <a:bodyPr/>
          <a:lstStyle/>
          <a:p>
            <a:r>
              <a:rPr lang="en-US" dirty="0"/>
              <a:t>Redemptions and Buy-Sell Agreements: Rev. Rul. 69-608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a:extLst>
              <a:ext uri="{FF2B5EF4-FFF2-40B4-BE49-F238E27FC236}">
                <a16:creationId xmlns:a16="http://schemas.microsoft.com/office/drawing/2014/main" id="{62983E52-1AFE-3B42-A973-555D4122F3E6}"/>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43804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dirty="0"/>
              <a:t>Redemption treated as </a:t>
            </a:r>
            <a:r>
              <a:rPr lang="en-US" sz="2800" b="1" dirty="0"/>
              <a:t>sale/X  </a:t>
            </a:r>
          </a:p>
          <a:p>
            <a:pPr lvl="1"/>
            <a:r>
              <a:rPr lang="en-US" sz="2400" dirty="0"/>
              <a:t>G/L (value minus AB of shares)</a:t>
            </a:r>
          </a:p>
          <a:p>
            <a:pPr lvl="1"/>
            <a:r>
              <a:rPr lang="en-US" sz="2400" dirty="0"/>
              <a:t>Any loss recognized may be limited by §267 (50%-or-more owned corporation) </a:t>
            </a:r>
          </a:p>
          <a:p>
            <a:r>
              <a:rPr lang="en-US" sz="2800" dirty="0"/>
              <a:t>Basis Issues in the case of </a:t>
            </a:r>
            <a:r>
              <a:rPr lang="en-US" sz="2800" b="1" dirty="0"/>
              <a:t>Ordinary Distributions</a:t>
            </a:r>
          </a:p>
          <a:p>
            <a:pPr lvl="1"/>
            <a:r>
              <a:rPr lang="en-US" sz="2400" dirty="0"/>
              <a:t>Basis probably reduced on a </a:t>
            </a:r>
            <a:r>
              <a:rPr lang="en-US" sz="2400" i="1" dirty="0"/>
              <a:t>share-by-share</a:t>
            </a:r>
            <a:r>
              <a:rPr lang="en-US" sz="2400" dirty="0"/>
              <a:t> basis (instead of </a:t>
            </a:r>
            <a:r>
              <a:rPr lang="en-US" sz="2400" i="1" dirty="0"/>
              <a:t>aggregate</a:t>
            </a:r>
            <a:r>
              <a:rPr lang="en-US" sz="2400" dirty="0"/>
              <a:t> basis).  Withdrawn Prop. Reg. §1.301-2(a).</a:t>
            </a:r>
          </a:p>
          <a:p>
            <a:r>
              <a:rPr lang="en-US" sz="2800" dirty="0"/>
              <a:t>Basis Issues in the case of </a:t>
            </a:r>
            <a:r>
              <a:rPr lang="en-US" sz="2800" b="1" dirty="0"/>
              <a:t>Redemption Treated as a Dividend</a:t>
            </a:r>
          </a:p>
          <a:p>
            <a:pPr lvl="1"/>
            <a:r>
              <a:rPr lang="en-US" sz="2400" dirty="0"/>
              <a:t>Where does the basis of the redeemed shares go? </a:t>
            </a:r>
          </a:p>
          <a:p>
            <a:pPr lvl="1"/>
            <a:r>
              <a:rPr lang="en-US" sz="2400" dirty="0"/>
              <a:t>“</a:t>
            </a:r>
            <a:r>
              <a:rPr lang="en-US" sz="2400" i="1" dirty="0"/>
              <a:t>Proper adjustment </a:t>
            </a:r>
            <a:r>
              <a:rPr lang="en-US" sz="2400" dirty="0"/>
              <a:t>of basis of remaining stock will be made with respect to stock redeemed</a:t>
            </a:r>
            <a:r>
              <a:rPr lang="is-IS" sz="2400" dirty="0"/>
              <a:t>…</a:t>
            </a:r>
            <a:r>
              <a:rPr lang="en-US" sz="2400" dirty="0"/>
              <a:t>” Reg. §1.302-2(c).</a:t>
            </a:r>
          </a:p>
          <a:p>
            <a:pPr lvl="1"/>
            <a:r>
              <a:rPr lang="en-US" sz="2400" dirty="0"/>
              <a:t>If </a:t>
            </a:r>
            <a:r>
              <a:rPr lang="en-US" sz="2400" dirty="0" err="1"/>
              <a:t>SH</a:t>
            </a:r>
            <a:r>
              <a:rPr lang="en-US" sz="2400" dirty="0"/>
              <a:t> retains any other shares, basis goes to those shares. Reg. §1.302-2(c), </a:t>
            </a:r>
            <a:r>
              <a:rPr lang="en-US" sz="2400" dirty="0" err="1"/>
              <a:t>Exs</a:t>
            </a:r>
            <a:r>
              <a:rPr lang="en-US" sz="2400" dirty="0"/>
              <a:t>. 1 and 3.</a:t>
            </a:r>
          </a:p>
          <a:p>
            <a:pPr lvl="1"/>
            <a:r>
              <a:rPr lang="en-US" sz="2400" dirty="0"/>
              <a:t>If no other shares retained, basis transferred to shares of related person if those shares attributed to the redeemed SH. Reg. §1.302-2(c), Ex. 2. </a:t>
            </a:r>
          </a:p>
        </p:txBody>
      </p:sp>
      <p:sp>
        <p:nvSpPr>
          <p:cNvPr id="3" name="Title 2"/>
          <p:cNvSpPr>
            <a:spLocks noGrp="1"/>
          </p:cNvSpPr>
          <p:nvPr>
            <p:ph type="title"/>
          </p:nvPr>
        </p:nvSpPr>
        <p:spPr/>
        <p:txBody>
          <a:bodyPr/>
          <a:lstStyle/>
          <a:p>
            <a:r>
              <a:rPr lang="en-US" dirty="0"/>
              <a:t>Redemptions:  Shareholder-Level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5" name="Footer Placeholder 4">
            <a:extLst>
              <a:ext uri="{FF2B5EF4-FFF2-40B4-BE49-F238E27FC236}">
                <a16:creationId xmlns:a16="http://schemas.microsoft.com/office/drawing/2014/main" id="{9CDDDA39-A0E6-8644-8409-518BF0E7D581}"/>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70085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533400"/>
            <a:ext cx="11277600" cy="5812064"/>
          </a:xfrm>
        </p:spPr>
        <p:txBody>
          <a:bodyPr/>
          <a:lstStyle/>
          <a:p>
            <a:r>
              <a:rPr lang="en-US" dirty="0"/>
              <a:t>Corp X and unrelated Corp Y each purchase 1,000X shares of Corp Z.</a:t>
            </a:r>
          </a:p>
          <a:p>
            <a:r>
              <a:rPr lang="en-US" dirty="0"/>
              <a:t>Corp Y is a tax-indifferent party (maybe tax-exempt or foreign corporation).</a:t>
            </a:r>
          </a:p>
          <a:p>
            <a:r>
              <a:rPr lang="en-US" dirty="0"/>
              <a:t>Corp Y purchases from Corp X an option to purchase 2,000X shares of Corp Z stock.</a:t>
            </a:r>
          </a:p>
          <a:p>
            <a:r>
              <a:rPr lang="en-US" dirty="0"/>
              <a:t>Corp Z redeems Corp Y’s shares in a transaction that is treated as a dividend.  Why?  </a:t>
            </a:r>
            <a:r>
              <a:rPr lang="en-US" i="1" dirty="0"/>
              <a:t>Hint:  </a:t>
            </a:r>
            <a:r>
              <a:rPr lang="en-US" dirty="0"/>
              <a:t>Option attribution rules.</a:t>
            </a:r>
          </a:p>
          <a:p>
            <a:r>
              <a:rPr lang="en-US" dirty="0"/>
              <a:t>Corp Y’s basis in the redeemed shares go to Corp X’s shares of Corp Z under Reg. §1.302-2, Ex. 2.</a:t>
            </a:r>
          </a:p>
          <a:p>
            <a:r>
              <a:rPr lang="en-US" dirty="0"/>
              <a:t>Corp X now sells the shares for a loss.  What was Corp X’s economic loss?</a:t>
            </a:r>
          </a:p>
        </p:txBody>
      </p:sp>
      <p:sp>
        <p:nvSpPr>
          <p:cNvPr id="3" name="Title 2"/>
          <p:cNvSpPr>
            <a:spLocks noGrp="1"/>
          </p:cNvSpPr>
          <p:nvPr>
            <p:ph type="title"/>
          </p:nvPr>
        </p:nvSpPr>
        <p:spPr/>
        <p:txBody>
          <a:bodyPr/>
          <a:lstStyle/>
          <a:p>
            <a:r>
              <a:rPr lang="en-US" dirty="0"/>
              <a:t>Redemptions:  Notice 2001-45 (Basis Shifting Shelters)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a:extLst>
              <a:ext uri="{FF2B5EF4-FFF2-40B4-BE49-F238E27FC236}">
                <a16:creationId xmlns:a16="http://schemas.microsoft.com/office/drawing/2014/main" id="{1ECB21CD-DB0B-4A47-9AEF-6AC7E469199D}"/>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45598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Transaction</a:t>
            </a:r>
          </a:p>
        </p:txBody>
      </p:sp>
      <p:sp>
        <p:nvSpPr>
          <p:cNvPr id="3" name="Text Placeholder 2"/>
          <p:cNvSpPr>
            <a:spLocks noGrp="1"/>
          </p:cNvSpPr>
          <p:nvPr>
            <p:ph type="body" idx="19"/>
          </p:nvPr>
        </p:nvSpPr>
        <p:spPr/>
        <p:txBody>
          <a:bodyPr/>
          <a:lstStyle/>
          <a:p>
            <a:r>
              <a:rPr lang="en-US" dirty="0"/>
              <a:t>Structuring Points</a:t>
            </a:r>
          </a:p>
        </p:txBody>
      </p:sp>
      <p:sp>
        <p:nvSpPr>
          <p:cNvPr id="5" name="Content Placeholder 4"/>
          <p:cNvSpPr>
            <a:spLocks noGrp="1"/>
          </p:cNvSpPr>
          <p:nvPr>
            <p:ph sz="quarter" idx="21"/>
          </p:nvPr>
        </p:nvSpPr>
        <p:spPr>
          <a:xfrm>
            <a:off x="6311842" y="1195227"/>
            <a:ext cx="5376222" cy="4955707"/>
          </a:xfrm>
        </p:spPr>
        <p:txBody>
          <a:bodyPr>
            <a:normAutofit fontScale="92500" lnSpcReduction="10000"/>
          </a:bodyPr>
          <a:lstStyle/>
          <a:p>
            <a:r>
              <a:rPr lang="en-US" sz="2400" b="1" dirty="0"/>
              <a:t>Cash flows</a:t>
            </a:r>
          </a:p>
          <a:p>
            <a:pPr lvl="1"/>
            <a:r>
              <a:rPr lang="en-US" sz="2400" dirty="0"/>
              <a:t>-131mm stock purchase price</a:t>
            </a:r>
          </a:p>
          <a:p>
            <a:pPr lvl="1"/>
            <a:r>
              <a:rPr lang="en-US" sz="2400" dirty="0"/>
              <a:t>+137.5mm from sale of stock to AT&amp;T (7mm) and Note (130.5mm)</a:t>
            </a:r>
          </a:p>
          <a:p>
            <a:pPr lvl="1"/>
            <a:r>
              <a:rPr lang="en-US" sz="2400" dirty="0"/>
              <a:t>+1.7mm dividends</a:t>
            </a:r>
          </a:p>
          <a:p>
            <a:pPr lvl="1"/>
            <a:r>
              <a:rPr lang="en-US" sz="2400" b="1" dirty="0"/>
              <a:t>Net</a:t>
            </a:r>
            <a:r>
              <a:rPr lang="en-US" sz="2400" dirty="0"/>
              <a:t>: 6.5mm (less interest cost) + 1.7mm (</a:t>
            </a:r>
            <a:r>
              <a:rPr lang="en-US" sz="2400" dirty="0" err="1"/>
              <a:t>Div</a:t>
            </a:r>
            <a:r>
              <a:rPr lang="en-US" sz="2400" dirty="0"/>
              <a:t>)</a:t>
            </a:r>
          </a:p>
          <a:p>
            <a:r>
              <a:rPr lang="en-US" sz="2400" b="1" dirty="0"/>
              <a:t>Tax</a:t>
            </a:r>
          </a:p>
          <a:p>
            <a:pPr lvl="1"/>
            <a:r>
              <a:rPr lang="en-US" sz="2400" dirty="0"/>
              <a:t>Basis of shares sold to Heinz (124.2mm)</a:t>
            </a:r>
          </a:p>
          <a:p>
            <a:pPr lvl="1"/>
            <a:r>
              <a:rPr lang="en-US" sz="2400" dirty="0"/>
              <a:t>Treatment of redemption? (</a:t>
            </a:r>
            <a:r>
              <a:rPr lang="en-US" sz="2400" dirty="0" err="1"/>
              <a:t>Div</a:t>
            </a:r>
            <a:r>
              <a:rPr lang="en-US" sz="2400" dirty="0"/>
              <a:t> or sale/X?)</a:t>
            </a:r>
          </a:p>
          <a:p>
            <a:pPr lvl="1"/>
            <a:r>
              <a:rPr lang="en-US" sz="2400" dirty="0"/>
              <a:t>If dividend, where does the basis go? </a:t>
            </a:r>
          </a:p>
          <a:p>
            <a:pPr lvl="1"/>
            <a:r>
              <a:rPr lang="en-US" sz="2400" dirty="0"/>
              <a:t>Basis of remaining 175k shares (124.2mm + 7mm, or 131mm); </a:t>
            </a:r>
            <a:r>
              <a:rPr lang="en-US" sz="2400" dirty="0" err="1"/>
              <a:t>FMV</a:t>
            </a:r>
            <a:r>
              <a:rPr lang="en-US" sz="2400" dirty="0"/>
              <a:t> = 7mm</a:t>
            </a:r>
          </a:p>
          <a:p>
            <a:pPr lvl="1"/>
            <a:endParaRPr lang="en-US" sz="24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26</a:t>
            </a:fld>
            <a:endParaRPr lang="en-US" altLang="en-US"/>
          </a:p>
        </p:txBody>
      </p:sp>
      <p:sp>
        <p:nvSpPr>
          <p:cNvPr id="8" name="Title 7"/>
          <p:cNvSpPr>
            <a:spLocks noGrp="1"/>
          </p:cNvSpPr>
          <p:nvPr>
            <p:ph type="title"/>
          </p:nvPr>
        </p:nvSpPr>
        <p:spPr/>
        <p:txBody>
          <a:bodyPr/>
          <a:lstStyle/>
          <a:p>
            <a:r>
              <a:rPr lang="en-US" dirty="0"/>
              <a:t>Redemptions:  </a:t>
            </a:r>
            <a:r>
              <a:rPr lang="en-US" i="1" dirty="0"/>
              <a:t>H.J. Heinz Co. v. US</a:t>
            </a:r>
            <a:r>
              <a:rPr lang="en-US" dirty="0"/>
              <a:t> (Fed. Cl. 2007)</a:t>
            </a:r>
          </a:p>
        </p:txBody>
      </p:sp>
      <p:sp>
        <p:nvSpPr>
          <p:cNvPr id="10" name="Rectangle 9"/>
          <p:cNvSpPr/>
          <p:nvPr/>
        </p:nvSpPr>
        <p:spPr>
          <a:xfrm>
            <a:off x="618861" y="3822462"/>
            <a:ext cx="1310185" cy="66791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HCC</a:t>
            </a:r>
          </a:p>
        </p:txBody>
      </p:sp>
      <p:cxnSp>
        <p:nvCxnSpPr>
          <p:cNvPr id="11" name="Straight Connector 10"/>
          <p:cNvCxnSpPr>
            <a:stCxn id="12" idx="2"/>
            <a:endCxn id="10" idx="0"/>
          </p:cNvCxnSpPr>
          <p:nvPr/>
        </p:nvCxnSpPr>
        <p:spPr>
          <a:xfrm flipH="1">
            <a:off x="1273954" y="2164434"/>
            <a:ext cx="1" cy="16580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18862" y="1496524"/>
            <a:ext cx="1310185" cy="6679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Heinz</a:t>
            </a:r>
            <a:endParaRPr lang="en-US" sz="1400" b="1" dirty="0">
              <a:solidFill>
                <a:schemeClr val="tx1"/>
              </a:solidFill>
            </a:endParaRPr>
          </a:p>
        </p:txBody>
      </p:sp>
      <p:sp>
        <p:nvSpPr>
          <p:cNvPr id="16" name="TextBox 15"/>
          <p:cNvSpPr txBox="1"/>
          <p:nvPr/>
        </p:nvSpPr>
        <p:spPr>
          <a:xfrm>
            <a:off x="1547333" y="4653242"/>
            <a:ext cx="1789464" cy="369332"/>
          </a:xfrm>
          <a:prstGeom prst="rect">
            <a:avLst/>
          </a:prstGeom>
          <a:noFill/>
        </p:spPr>
        <p:txBody>
          <a:bodyPr wrap="none" rtlCol="0">
            <a:spAutoFit/>
          </a:bodyPr>
          <a:lstStyle/>
          <a:p>
            <a:r>
              <a:rPr lang="en-US" b="1" dirty="0"/>
              <a:t>Borrow $129mm</a:t>
            </a:r>
          </a:p>
        </p:txBody>
      </p:sp>
      <p:sp>
        <p:nvSpPr>
          <p:cNvPr id="20" name="Oval 19"/>
          <p:cNvSpPr/>
          <p:nvPr/>
        </p:nvSpPr>
        <p:spPr>
          <a:xfrm>
            <a:off x="1141831" y="4713385"/>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1" name="Straight Arrow Connector 20"/>
          <p:cNvCxnSpPr/>
          <p:nvPr/>
        </p:nvCxnSpPr>
        <p:spPr>
          <a:xfrm flipV="1">
            <a:off x="1562015" y="2379920"/>
            <a:ext cx="0" cy="1227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2368422" y="4044220"/>
            <a:ext cx="3676778" cy="338554"/>
          </a:xfrm>
          <a:prstGeom prst="rect">
            <a:avLst/>
          </a:prstGeom>
          <a:noFill/>
        </p:spPr>
        <p:txBody>
          <a:bodyPr wrap="square" rtlCol="0">
            <a:spAutoFit/>
          </a:bodyPr>
          <a:lstStyle/>
          <a:p>
            <a:r>
              <a:rPr lang="en-US" sz="1600" b="1" dirty="0"/>
              <a:t>Purchase 3.5mm Heinz </a:t>
            </a:r>
            <a:r>
              <a:rPr lang="en-US" sz="1600" b="1"/>
              <a:t>shares for 131mm</a:t>
            </a:r>
            <a:endParaRPr lang="en-US" sz="1600" b="1" dirty="0"/>
          </a:p>
        </p:txBody>
      </p:sp>
      <p:sp>
        <p:nvSpPr>
          <p:cNvPr id="25" name="Oval 24"/>
          <p:cNvSpPr/>
          <p:nvPr/>
        </p:nvSpPr>
        <p:spPr>
          <a:xfrm>
            <a:off x="2078864" y="4086497"/>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p:cNvSpPr/>
          <p:nvPr/>
        </p:nvSpPr>
        <p:spPr>
          <a:xfrm>
            <a:off x="1712812" y="2717474"/>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TextBox 25"/>
          <p:cNvSpPr txBox="1"/>
          <p:nvPr/>
        </p:nvSpPr>
        <p:spPr>
          <a:xfrm>
            <a:off x="2010094" y="2519585"/>
            <a:ext cx="4035106" cy="584775"/>
          </a:xfrm>
          <a:prstGeom prst="rect">
            <a:avLst/>
          </a:prstGeom>
          <a:noFill/>
        </p:spPr>
        <p:txBody>
          <a:bodyPr wrap="square" rtlCol="0">
            <a:spAutoFit/>
          </a:bodyPr>
          <a:lstStyle/>
          <a:p>
            <a:r>
              <a:rPr lang="en-US" sz="1600" b="1" dirty="0"/>
              <a:t>Sell 3.325mm shares to Heinz for $197mm ZC  </a:t>
            </a:r>
            <a:r>
              <a:rPr lang="en-US" sz="1600" b="1" u="sng" dirty="0"/>
              <a:t>convertible</a:t>
            </a:r>
            <a:r>
              <a:rPr lang="en-US" sz="1600" b="1" dirty="0"/>
              <a:t> note (into 3.51mm shares)</a:t>
            </a:r>
          </a:p>
        </p:txBody>
      </p:sp>
      <p:cxnSp>
        <p:nvCxnSpPr>
          <p:cNvPr id="27" name="Straight Arrow Connector 26"/>
          <p:cNvCxnSpPr/>
          <p:nvPr/>
        </p:nvCxnSpPr>
        <p:spPr>
          <a:xfrm flipH="1">
            <a:off x="1562015" y="5126768"/>
            <a:ext cx="1297943"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681600" y="4421444"/>
            <a:ext cx="2195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2099035" y="3681088"/>
            <a:ext cx="264244" cy="3091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7" name="TextBox 36"/>
          <p:cNvSpPr txBox="1"/>
          <p:nvPr/>
        </p:nvSpPr>
        <p:spPr>
          <a:xfrm>
            <a:off x="2368423" y="3679908"/>
            <a:ext cx="3207280" cy="338554"/>
          </a:xfrm>
          <a:prstGeom prst="rect">
            <a:avLst/>
          </a:prstGeom>
          <a:noFill/>
        </p:spPr>
        <p:txBody>
          <a:bodyPr wrap="square" rtlCol="0">
            <a:spAutoFit/>
          </a:bodyPr>
          <a:lstStyle/>
          <a:p>
            <a:r>
              <a:rPr lang="en-US" sz="1600" b="1" dirty="0"/>
              <a:t>Sell remaining 175k shares to AT&amp;T</a:t>
            </a:r>
          </a:p>
        </p:txBody>
      </p:sp>
      <p:cxnSp>
        <p:nvCxnSpPr>
          <p:cNvPr id="38" name="Straight Arrow Connector 37"/>
          <p:cNvCxnSpPr/>
          <p:nvPr/>
        </p:nvCxnSpPr>
        <p:spPr>
          <a:xfrm flipH="1" flipV="1">
            <a:off x="3285274" y="3679511"/>
            <a:ext cx="1350226" cy="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71002B10-9D61-ED43-9266-6660E36D3650}"/>
              </a:ext>
            </a:extLst>
          </p:cNvPr>
          <p:cNvSpPr>
            <a:spLocks noGrp="1"/>
          </p:cNvSpPr>
          <p:nvPr>
            <p:ph type="ftr" sz="quarter" idx="23"/>
          </p:nvPr>
        </p:nvSpPr>
        <p:spPr/>
        <p:txBody>
          <a:bodyPr/>
          <a:lstStyle/>
          <a:p>
            <a:pPr>
              <a:defRPr/>
            </a:pPr>
            <a:r>
              <a:rPr lang="en-US"/>
              <a:t>Redemptions</a:t>
            </a:r>
          </a:p>
        </p:txBody>
      </p:sp>
    </p:spTree>
    <p:extLst>
      <p:ext uri="{BB962C8B-B14F-4D97-AF65-F5344CB8AC3E}">
        <p14:creationId xmlns:p14="http://schemas.microsoft.com/office/powerpoint/2010/main" val="78616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3" grpId="0" build="p" animBg="1"/>
      <p:bldP spid="10" grpId="0" animBg="1"/>
      <p:bldP spid="12" grpId="0" animBg="1"/>
      <p:bldP spid="16" grpId="0"/>
      <p:bldP spid="20" grpId="0" animBg="1"/>
      <p:bldP spid="24" grpId="0"/>
      <p:bldP spid="25" grpId="0" animBg="1"/>
      <p:bldP spid="23" grpId="0" animBg="1"/>
      <p:bldP spid="26" grpId="0"/>
      <p:bldP spid="36" grpId="0" animBg="1"/>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600" dirty="0"/>
              <a:t>Proposed Regulations:</a:t>
            </a:r>
          </a:p>
          <a:p>
            <a:pPr lvl="1"/>
            <a:r>
              <a:rPr lang="en-US"/>
              <a:t>Generally</a:t>
            </a:r>
            <a:r>
              <a:rPr lang="en-US" dirty="0"/>
              <a:t>, </a:t>
            </a:r>
            <a:r>
              <a:rPr lang="en-US" b="1" dirty="0"/>
              <a:t>no reallocation</a:t>
            </a:r>
            <a:r>
              <a:rPr lang="en-US" dirty="0"/>
              <a:t> of basis to either retained shares or shares held by </a:t>
            </a:r>
            <a:r>
              <a:rPr lang="en-US"/>
              <a:t>another through </a:t>
            </a:r>
            <a:r>
              <a:rPr lang="en-US" dirty="0"/>
              <a:t>attribution rules</a:t>
            </a:r>
          </a:p>
          <a:p>
            <a:pPr lvl="1"/>
            <a:r>
              <a:rPr lang="en-US" dirty="0"/>
              <a:t>For </a:t>
            </a:r>
            <a:r>
              <a:rPr lang="en-US" b="1" dirty="0"/>
              <a:t>redemptions treated as a dividend distribution,</a:t>
            </a:r>
            <a:r>
              <a:rPr lang="en-US" dirty="0"/>
              <a:t> once there are no additional </a:t>
            </a:r>
            <a:r>
              <a:rPr lang="en-US" dirty="0" err="1"/>
              <a:t>E&amp;Ps</a:t>
            </a:r>
            <a:r>
              <a:rPr lang="en-US" dirty="0"/>
              <a:t>, basis of shares is reduced on a </a:t>
            </a:r>
            <a:r>
              <a:rPr lang="en-US" b="1" dirty="0"/>
              <a:t>share-by-share </a:t>
            </a:r>
            <a:r>
              <a:rPr lang="en-US" dirty="0"/>
              <a:t>basis.  Thus, you can have gain on some shares but not on others. </a:t>
            </a:r>
            <a:r>
              <a:rPr lang="en-US" sz="2000" dirty="0"/>
              <a:t>Prop. Reg. §1.302-5(a)(1).</a:t>
            </a:r>
            <a:endParaRPr lang="en-US" dirty="0"/>
          </a:p>
          <a:p>
            <a:pPr lvl="1"/>
            <a:r>
              <a:rPr lang="en-US" dirty="0"/>
              <a:t>If </a:t>
            </a:r>
            <a:r>
              <a:rPr lang="en-US" b="1" dirty="0"/>
              <a:t>some shares are retained </a:t>
            </a:r>
            <a:r>
              <a:rPr lang="en-US" dirty="0"/>
              <a:t>after the redemption, the proposed regulations create a deemed exchange (aka: recapitalization) of all of the shares owned immediately before the redemption for all of the shares owned immediately after the redemption.  The basis of the redeemed shares is retained in the remaining shares under a </a:t>
            </a:r>
            <a:r>
              <a:rPr lang="en-US" b="1" dirty="0"/>
              <a:t>tracing approach</a:t>
            </a:r>
            <a:r>
              <a:rPr lang="en-US" dirty="0"/>
              <a:t>. </a:t>
            </a:r>
            <a:r>
              <a:rPr lang="en-US" sz="2000" dirty="0"/>
              <a:t>Prop. Reg. §1.302-5(a)(2).  Basic idea:  same result in this case and the case in which </a:t>
            </a:r>
            <a:r>
              <a:rPr lang="en-US" sz="2000" b="1" dirty="0"/>
              <a:t>no shares</a:t>
            </a:r>
            <a:r>
              <a:rPr lang="en-US" sz="2000" dirty="0"/>
              <a:t> are cancelled.</a:t>
            </a:r>
          </a:p>
          <a:p>
            <a:pPr lvl="1"/>
            <a:r>
              <a:rPr lang="en-US" sz="2000" dirty="0"/>
              <a:t>If </a:t>
            </a:r>
            <a:r>
              <a:rPr lang="en-US" sz="2000" b="1" dirty="0"/>
              <a:t>no shares are retained</a:t>
            </a:r>
            <a:r>
              <a:rPr lang="en-US" sz="2000" dirty="0"/>
              <a:t> after the redemption, under the proposed regulations, the unrecovered basis of the redeemed shares (after taking into account the above adjustments) is a </a:t>
            </a:r>
            <a:r>
              <a:rPr lang="en-US" sz="2000" b="1" dirty="0"/>
              <a:t>deferred loss </a:t>
            </a:r>
            <a:r>
              <a:rPr lang="en-US" sz="2000" dirty="0"/>
              <a:t> that can only be recognized</a:t>
            </a:r>
            <a:r>
              <a:rPr lang="en-US" dirty="0"/>
              <a:t> when, for example, the redeemed SH would satisfy </a:t>
            </a:r>
            <a:r>
              <a:rPr lang="en-US" sz="2400" dirty="0"/>
              <a:t>§</a:t>
            </a:r>
            <a:r>
              <a:rPr lang="en-US" dirty="0"/>
              <a:t>30</a:t>
            </a:r>
            <a:r>
              <a:rPr lang="en-US" b="1" dirty="0">
                <a:solidFill>
                  <a:srgbClr val="FF0000"/>
                </a:solidFill>
              </a:rPr>
              <a:t>2</a:t>
            </a:r>
            <a:r>
              <a:rPr lang="en-US" dirty="0"/>
              <a:t>(b)(1), (2), or (3), if the facts and circumstances existing at the end of such day existed immediately after the redemption. </a:t>
            </a:r>
            <a:r>
              <a:rPr lang="en-US" sz="2000" dirty="0"/>
              <a:t>Prop. Reg. §1.302-5(a)(3), (b)(4)(A).</a:t>
            </a:r>
          </a:p>
          <a:p>
            <a:pPr lvl="1"/>
            <a:endParaRPr lang="en-US" dirty="0"/>
          </a:p>
        </p:txBody>
      </p:sp>
      <p:sp>
        <p:nvSpPr>
          <p:cNvPr id="3" name="Title 2"/>
          <p:cNvSpPr>
            <a:spLocks noGrp="1"/>
          </p:cNvSpPr>
          <p:nvPr>
            <p:ph type="title"/>
          </p:nvPr>
        </p:nvSpPr>
        <p:spPr/>
        <p:txBody>
          <a:bodyPr/>
          <a:lstStyle/>
          <a:p>
            <a:r>
              <a:rPr lang="en-US" dirty="0"/>
              <a:t>Redemptions:  Shareholder-Level Consequences (Proposed Regulations, </a:t>
            </a:r>
            <a:r>
              <a:rPr lang="en-US" i="1" dirty="0">
                <a:solidFill>
                  <a:srgbClr val="FF0000"/>
                </a:solidFill>
              </a:rPr>
              <a:t>withdrawn</a:t>
            </a:r>
            <a:r>
              <a:rPr lang="en-US" dirty="0"/>
              <a:t> 3/2019)</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5" name="Footer Placeholder 4">
            <a:extLst>
              <a:ext uri="{FF2B5EF4-FFF2-40B4-BE49-F238E27FC236}">
                <a16:creationId xmlns:a16="http://schemas.microsoft.com/office/drawing/2014/main" id="{CDC02061-1BE4-FB42-98D8-E5EFEEBB2FF8}"/>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57077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492760" indent="-342900">
              <a:lnSpc>
                <a:spcPts val="3180"/>
              </a:lnSpc>
            </a:pPr>
            <a:r>
              <a:rPr lang="en-US" sz="2800" dirty="0">
                <a:latin typeface="+mn-lt"/>
              </a:rPr>
              <a:t>What can a company do with its earnings?</a:t>
            </a:r>
          </a:p>
          <a:p>
            <a:pPr marL="721360" lvl="1" indent="-342900">
              <a:lnSpc>
                <a:spcPts val="3180"/>
              </a:lnSpc>
            </a:pPr>
            <a:r>
              <a:rPr lang="en-US" sz="2400" dirty="0">
                <a:latin typeface="+mn-lt"/>
              </a:rPr>
              <a:t>Retain them and then either spend or reinvest </a:t>
            </a:r>
          </a:p>
          <a:p>
            <a:pPr marL="721360" lvl="1" indent="-342900">
              <a:lnSpc>
                <a:spcPts val="3180"/>
              </a:lnSpc>
            </a:pPr>
            <a:r>
              <a:rPr lang="en-US" sz="2400" dirty="0">
                <a:latin typeface="+mn-lt"/>
              </a:rPr>
              <a:t>Pay off liabilities</a:t>
            </a:r>
          </a:p>
          <a:p>
            <a:pPr marL="721360" lvl="1" indent="-342900">
              <a:lnSpc>
                <a:spcPts val="3180"/>
              </a:lnSpc>
            </a:pPr>
            <a:r>
              <a:rPr lang="en-US" sz="2400" b="1" dirty="0">
                <a:solidFill>
                  <a:srgbClr val="FF0000"/>
                </a:solidFill>
                <a:latin typeface="+mn-lt"/>
              </a:rPr>
              <a:t>Pay dividends in cash or (very rarely) in property </a:t>
            </a:r>
          </a:p>
          <a:p>
            <a:pPr marL="721360" lvl="1" indent="-342900">
              <a:lnSpc>
                <a:spcPts val="3180"/>
              </a:lnSpc>
            </a:pPr>
            <a:r>
              <a:rPr lang="en-US" sz="2400" b="1" dirty="0">
                <a:solidFill>
                  <a:srgbClr val="FF0000"/>
                </a:solidFill>
                <a:latin typeface="+mn-lt"/>
              </a:rPr>
              <a:t>Repurchase shares from shareholders</a:t>
            </a:r>
          </a:p>
          <a:p>
            <a:endParaRPr lang="en-US" dirty="0">
              <a:latin typeface="+mn-lt"/>
            </a:endParaRPr>
          </a:p>
        </p:txBody>
      </p:sp>
      <p:sp>
        <p:nvSpPr>
          <p:cNvPr id="4" name="Title 3"/>
          <p:cNvSpPr>
            <a:spLocks noGrp="1"/>
          </p:cNvSpPr>
          <p:nvPr>
            <p:ph type="title"/>
          </p:nvPr>
        </p:nvSpPr>
        <p:spPr/>
        <p:txBody>
          <a:bodyPr/>
          <a:lstStyle/>
          <a:p>
            <a:r>
              <a:rPr lang="en-US" dirty="0"/>
              <a:t>Equity Payouts: Dividends and Share Repurchases</a:t>
            </a:r>
          </a:p>
        </p:txBody>
      </p:sp>
      <p:sp>
        <p:nvSpPr>
          <p:cNvPr id="2" name="Slide Number Placeholder 1"/>
          <p:cNvSpPr>
            <a:spLocks noGrp="1"/>
          </p:cNvSpPr>
          <p:nvPr>
            <p:ph type="sldNum" sz="quarter" idx="10"/>
          </p:nvPr>
        </p:nvSpPr>
        <p:spPr/>
        <p:txBody>
          <a:bodyPr/>
          <a:lstStyle/>
          <a:p>
            <a:fld id="{22D706CB-156B-8643-9A07-D8448DABBCBD}" type="slidenum">
              <a:rPr lang="en-US" altLang="en-US" smtClean="0"/>
              <a:pPr/>
              <a:t>28</a:t>
            </a:fld>
            <a:endParaRPr lang="en-US" altLang="en-US" dirty="0"/>
          </a:p>
        </p:txBody>
      </p:sp>
      <p:sp>
        <p:nvSpPr>
          <p:cNvPr id="3" name="Footer Placeholder 2"/>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4088403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CE9EAD-5815-79D9-ED9D-E402C6A1EF74}"/>
              </a:ext>
            </a:extLst>
          </p:cNvPr>
          <p:cNvSpPr>
            <a:spLocks noGrp="1"/>
          </p:cNvSpPr>
          <p:nvPr>
            <p:ph idx="1"/>
          </p:nvPr>
        </p:nvSpPr>
        <p:spPr/>
        <p:txBody>
          <a:bodyPr/>
          <a:lstStyle/>
          <a:p>
            <a:r>
              <a:rPr lang="en-US" dirty="0"/>
              <a:t>1% excise tax on the FMV of repurchased stock of US, publicly traded corporations (</a:t>
            </a:r>
            <a:r>
              <a:rPr lang="en-US" i="1" dirty="0"/>
              <a:t>covered corporation</a:t>
            </a:r>
            <a:r>
              <a:rPr lang="en-US" dirty="0"/>
              <a:t>) </a:t>
            </a:r>
            <a:r>
              <a:rPr lang="en-US" i="1" dirty="0"/>
              <a:t>reduced</a:t>
            </a:r>
            <a:r>
              <a:rPr lang="en-US" dirty="0"/>
              <a:t> by the FMV of any stock issued by a covered corporation.</a:t>
            </a:r>
          </a:p>
          <a:p>
            <a:endParaRPr lang="en-US" dirty="0"/>
          </a:p>
          <a:p>
            <a:r>
              <a:rPr lang="en-US" dirty="0"/>
              <a:t>Repurchase</a:t>
            </a:r>
          </a:p>
          <a:p>
            <a:pPr lvl="1"/>
            <a:r>
              <a:rPr lang="en-US" dirty="0"/>
              <a:t>Redemption  (§317(b)) or economically similar transaction</a:t>
            </a:r>
          </a:p>
          <a:p>
            <a:pPr lvl="1"/>
            <a:r>
              <a:rPr lang="en-US" dirty="0"/>
              <a:t>Purchase by </a:t>
            </a:r>
            <a:r>
              <a:rPr lang="en-US" i="1" dirty="0"/>
              <a:t>specified affiliates </a:t>
            </a:r>
            <a:r>
              <a:rPr lang="en-US" dirty="0"/>
              <a:t>(&gt;50% owned corporations or partnerships) treated as repurchase by covered corporation</a:t>
            </a:r>
          </a:p>
          <a:p>
            <a:endParaRPr lang="en-US" dirty="0"/>
          </a:p>
          <a:p>
            <a:r>
              <a:rPr lang="en-US" dirty="0"/>
              <a:t>Exceptions</a:t>
            </a:r>
          </a:p>
          <a:p>
            <a:pPr lvl="1"/>
            <a:r>
              <a:rPr lang="en-US" dirty="0"/>
              <a:t>repurchases part of reorganization</a:t>
            </a:r>
          </a:p>
          <a:p>
            <a:pPr lvl="1"/>
            <a:r>
              <a:rPr lang="en-US" dirty="0"/>
              <a:t>total value of stock repurchased doesn’t exceed 1MM</a:t>
            </a:r>
          </a:p>
          <a:p>
            <a:pPr lvl="1"/>
            <a:r>
              <a:rPr lang="en-US" dirty="0"/>
              <a:t>repurchases by ETFs, MFs, or REITs</a:t>
            </a:r>
          </a:p>
          <a:p>
            <a:pPr lvl="1"/>
            <a:r>
              <a:rPr lang="en-US" b="1" dirty="0">
                <a:solidFill>
                  <a:srgbClr val="FF0000"/>
                </a:solidFill>
              </a:rPr>
              <a:t>repurchases treated as a dividend</a:t>
            </a:r>
          </a:p>
        </p:txBody>
      </p:sp>
      <p:sp>
        <p:nvSpPr>
          <p:cNvPr id="3" name="Title 2">
            <a:extLst>
              <a:ext uri="{FF2B5EF4-FFF2-40B4-BE49-F238E27FC236}">
                <a16:creationId xmlns:a16="http://schemas.microsoft.com/office/drawing/2014/main" id="{7ED6AA2D-59F8-873F-684C-F094ECB6B29A}"/>
              </a:ext>
            </a:extLst>
          </p:cNvPr>
          <p:cNvSpPr>
            <a:spLocks noGrp="1"/>
          </p:cNvSpPr>
          <p:nvPr>
            <p:ph type="title"/>
          </p:nvPr>
        </p:nvSpPr>
        <p:spPr/>
        <p:txBody>
          <a:bodyPr/>
          <a:lstStyle/>
          <a:p>
            <a:r>
              <a:rPr lang="en-US" dirty="0"/>
              <a:t>New (and not improved) </a:t>
            </a:r>
            <a:r>
              <a:rPr lang="en-US" sz="2400" dirty="0"/>
              <a:t>§4501: 1% Excise Tax on Redemptions</a:t>
            </a:r>
            <a:endParaRPr lang="en-US" dirty="0"/>
          </a:p>
        </p:txBody>
      </p:sp>
      <p:sp>
        <p:nvSpPr>
          <p:cNvPr id="4" name="Slide Number Placeholder 3">
            <a:extLst>
              <a:ext uri="{FF2B5EF4-FFF2-40B4-BE49-F238E27FC236}">
                <a16:creationId xmlns:a16="http://schemas.microsoft.com/office/drawing/2014/main" id="{C809835D-8603-CEDB-720C-0D3B7A847B05}"/>
              </a:ext>
            </a:extLst>
          </p:cNvPr>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5" name="Footer Placeholder 4">
            <a:extLst>
              <a:ext uri="{FF2B5EF4-FFF2-40B4-BE49-F238E27FC236}">
                <a16:creationId xmlns:a16="http://schemas.microsoft.com/office/drawing/2014/main" id="{2D2A73F2-8BD4-E61F-AABE-1836919AA3E3}"/>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408912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75CB669-D3DA-7A47-94DC-3A070792CFF2}"/>
              </a:ext>
            </a:extLst>
          </p:cNvPr>
          <p:cNvPicPr>
            <a:picLocks noGrp="1" noChangeAspect="1"/>
          </p:cNvPicPr>
          <p:nvPr>
            <p:ph idx="1"/>
          </p:nvPr>
        </p:nvPicPr>
        <p:blipFill>
          <a:blip r:embed="rId2"/>
          <a:stretch>
            <a:fillRect/>
          </a:stretch>
        </p:blipFill>
        <p:spPr>
          <a:xfrm>
            <a:off x="512063" y="539293"/>
            <a:ext cx="10824803" cy="4761912"/>
          </a:xfrm>
        </p:spPr>
      </p:pic>
      <p:sp>
        <p:nvSpPr>
          <p:cNvPr id="3" name="Title 2">
            <a:extLst>
              <a:ext uri="{FF2B5EF4-FFF2-40B4-BE49-F238E27FC236}">
                <a16:creationId xmlns:a16="http://schemas.microsoft.com/office/drawing/2014/main" id="{46A5F442-083B-874F-AC8E-47AEF890BC33}"/>
              </a:ext>
            </a:extLst>
          </p:cNvPr>
          <p:cNvSpPr>
            <a:spLocks noGrp="1"/>
          </p:cNvSpPr>
          <p:nvPr>
            <p:ph type="title"/>
          </p:nvPr>
        </p:nvSpPr>
        <p:spPr/>
        <p:txBody>
          <a:bodyPr/>
          <a:lstStyle/>
          <a:p>
            <a:r>
              <a:rPr lang="en-US" dirty="0"/>
              <a:t>Political Concerns with Buybacks</a:t>
            </a:r>
          </a:p>
        </p:txBody>
      </p:sp>
      <p:sp>
        <p:nvSpPr>
          <p:cNvPr id="4" name="Slide Number Placeholder 3">
            <a:extLst>
              <a:ext uri="{FF2B5EF4-FFF2-40B4-BE49-F238E27FC236}">
                <a16:creationId xmlns:a16="http://schemas.microsoft.com/office/drawing/2014/main" id="{5FDAF8FC-AF1E-6545-8AC3-E0BC3FF2EB2C}"/>
              </a:ext>
            </a:extLst>
          </p:cNvPr>
          <p:cNvSpPr>
            <a:spLocks noGrp="1"/>
          </p:cNvSpPr>
          <p:nvPr>
            <p:ph type="sldNum" sz="quarter" idx="10"/>
          </p:nvPr>
        </p:nvSpPr>
        <p:spPr/>
        <p:txBody>
          <a:bodyPr/>
          <a:lstStyle/>
          <a:p>
            <a:fld id="{7B3E355C-57B9-BC4B-95D8-406A1F834537}" type="slidenum">
              <a:rPr lang="en-US" altLang="en-US" smtClean="0"/>
              <a:pPr/>
              <a:t>30</a:t>
            </a:fld>
            <a:endParaRPr lang="en-US" altLang="en-US"/>
          </a:p>
        </p:txBody>
      </p:sp>
      <p:sp>
        <p:nvSpPr>
          <p:cNvPr id="5" name="Footer Placeholder 4">
            <a:extLst>
              <a:ext uri="{FF2B5EF4-FFF2-40B4-BE49-F238E27FC236}">
                <a16:creationId xmlns:a16="http://schemas.microsoft.com/office/drawing/2014/main" id="{6D000D2D-3EA0-E14C-8DA0-C32FDEB35B0C}"/>
              </a:ext>
            </a:extLst>
          </p:cNvPr>
          <p:cNvSpPr>
            <a:spLocks noGrp="1"/>
          </p:cNvSpPr>
          <p:nvPr>
            <p:ph type="ftr" sz="quarter" idx="11"/>
          </p:nvPr>
        </p:nvSpPr>
        <p:spPr/>
        <p:txBody>
          <a:bodyPr/>
          <a:lstStyle/>
          <a:p>
            <a:pPr>
              <a:defRPr/>
            </a:pPr>
            <a:r>
              <a:rPr lang="en-US"/>
              <a:t>Redemptions</a:t>
            </a:r>
            <a:endParaRPr lang="en-US" dirty="0"/>
          </a:p>
        </p:txBody>
      </p:sp>
      <p:cxnSp>
        <p:nvCxnSpPr>
          <p:cNvPr id="6" name="Straight Connector 5"/>
          <p:cNvCxnSpPr/>
          <p:nvPr/>
        </p:nvCxnSpPr>
        <p:spPr>
          <a:xfrm>
            <a:off x="685800" y="3141133"/>
            <a:ext cx="800946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647267" y="4385733"/>
            <a:ext cx="5689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19200" y="5054599"/>
            <a:ext cx="800946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268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person wearing glasses&#10;&#10;Description automatically generated with medium confidence">
            <a:extLst>
              <a:ext uri="{FF2B5EF4-FFF2-40B4-BE49-F238E27FC236}">
                <a16:creationId xmlns:a16="http://schemas.microsoft.com/office/drawing/2014/main" id="{DEDE1BE5-FA51-58D8-48FD-127DAB05C8A2}"/>
              </a:ext>
            </a:extLst>
          </p:cNvPr>
          <p:cNvPicPr>
            <a:picLocks noGrp="1" noChangeAspect="1"/>
          </p:cNvPicPr>
          <p:nvPr>
            <p:ph idx="1"/>
          </p:nvPr>
        </p:nvPicPr>
        <p:blipFill>
          <a:blip r:embed="rId2"/>
          <a:stretch>
            <a:fillRect/>
          </a:stretch>
        </p:blipFill>
        <p:spPr>
          <a:xfrm>
            <a:off x="6710766" y="677908"/>
            <a:ext cx="4892560" cy="3861042"/>
          </a:xfrm>
        </p:spPr>
      </p:pic>
      <p:sp>
        <p:nvSpPr>
          <p:cNvPr id="3" name="Title 2">
            <a:extLst>
              <a:ext uri="{FF2B5EF4-FFF2-40B4-BE49-F238E27FC236}">
                <a16:creationId xmlns:a16="http://schemas.microsoft.com/office/drawing/2014/main" id="{4AACA588-3622-6EDE-C0F7-BE796A79D7FB}"/>
              </a:ext>
            </a:extLst>
          </p:cNvPr>
          <p:cNvSpPr>
            <a:spLocks noGrp="1"/>
          </p:cNvSpPr>
          <p:nvPr>
            <p:ph type="title"/>
          </p:nvPr>
        </p:nvSpPr>
        <p:spPr/>
        <p:txBody>
          <a:bodyPr/>
          <a:lstStyle/>
          <a:p>
            <a:r>
              <a:rPr lang="en-US" dirty="0"/>
              <a:t>Political Concerns with Buybacks</a:t>
            </a:r>
          </a:p>
        </p:txBody>
      </p:sp>
      <p:sp>
        <p:nvSpPr>
          <p:cNvPr id="4" name="Slide Number Placeholder 3">
            <a:extLst>
              <a:ext uri="{FF2B5EF4-FFF2-40B4-BE49-F238E27FC236}">
                <a16:creationId xmlns:a16="http://schemas.microsoft.com/office/drawing/2014/main" id="{A162BEE7-2735-A791-7C51-F71D7A9707B5}"/>
              </a:ext>
            </a:extLst>
          </p:cNvPr>
          <p:cNvSpPr>
            <a:spLocks noGrp="1"/>
          </p:cNvSpPr>
          <p:nvPr>
            <p:ph type="sldNum" sz="quarter" idx="10"/>
          </p:nvPr>
        </p:nvSpPr>
        <p:spPr/>
        <p:txBody>
          <a:bodyPr/>
          <a:lstStyle/>
          <a:p>
            <a:fld id="{7B3E355C-57B9-BC4B-95D8-406A1F834537}" type="slidenum">
              <a:rPr lang="en-US" altLang="en-US" smtClean="0"/>
              <a:pPr/>
              <a:t>31</a:t>
            </a:fld>
            <a:endParaRPr lang="en-US" altLang="en-US"/>
          </a:p>
        </p:txBody>
      </p:sp>
      <p:sp>
        <p:nvSpPr>
          <p:cNvPr id="5" name="Footer Placeholder 4">
            <a:extLst>
              <a:ext uri="{FF2B5EF4-FFF2-40B4-BE49-F238E27FC236}">
                <a16:creationId xmlns:a16="http://schemas.microsoft.com/office/drawing/2014/main" id="{9B13283A-D8AF-F7A2-BEFF-7D15099E13FF}"/>
              </a:ext>
            </a:extLst>
          </p:cNvPr>
          <p:cNvSpPr>
            <a:spLocks noGrp="1"/>
          </p:cNvSpPr>
          <p:nvPr>
            <p:ph type="ftr" sz="quarter" idx="11"/>
          </p:nvPr>
        </p:nvSpPr>
        <p:spPr/>
        <p:txBody>
          <a:bodyPr/>
          <a:lstStyle/>
          <a:p>
            <a:pPr>
              <a:defRPr/>
            </a:pPr>
            <a:r>
              <a:rPr lang="en-US"/>
              <a:t>Redemptions</a:t>
            </a:r>
            <a:endParaRPr lang="en-US" dirty="0"/>
          </a:p>
        </p:txBody>
      </p:sp>
      <p:sp>
        <p:nvSpPr>
          <p:cNvPr id="8" name="TextBox 7">
            <a:extLst>
              <a:ext uri="{FF2B5EF4-FFF2-40B4-BE49-F238E27FC236}">
                <a16:creationId xmlns:a16="http://schemas.microsoft.com/office/drawing/2014/main" id="{DF609D55-FDDF-0630-C763-24175499CDD9}"/>
              </a:ext>
            </a:extLst>
          </p:cNvPr>
          <p:cNvSpPr txBox="1"/>
          <p:nvPr/>
        </p:nvSpPr>
        <p:spPr>
          <a:xfrm>
            <a:off x="588674" y="956877"/>
            <a:ext cx="5734633" cy="4154984"/>
          </a:xfrm>
          <a:prstGeom prst="rect">
            <a:avLst/>
          </a:prstGeom>
          <a:noFill/>
        </p:spPr>
        <p:txBody>
          <a:bodyPr wrap="square" rtlCol="0">
            <a:spAutoFit/>
          </a:bodyPr>
          <a:lstStyle/>
          <a:p>
            <a:r>
              <a:rPr lang="en-US" sz="2400" b="0" i="0" dirty="0">
                <a:solidFill>
                  <a:srgbClr val="000000"/>
                </a:solidFill>
                <a:effectLst/>
                <a:latin typeface="Georgia" panose="02040502050405020303" pitchFamily="18" charset="0"/>
              </a:rPr>
              <a:t>“I hate stock buybacks,” Senate Majority Leader Chuck Schumer (D-N.Y.) said Friday. “I think they’re one of the most self-serving things that corporate America does. Instead of investing in workers and in training and in research and in equipment, they simply — they don’t do a thing to make their company better and they artificially raise the stock price by just reducing the number of shares.”</a:t>
            </a:r>
            <a:endParaRPr lang="en-US" sz="2400" dirty="0"/>
          </a:p>
        </p:txBody>
      </p:sp>
      <p:sp>
        <p:nvSpPr>
          <p:cNvPr id="9" name="TextBox 8">
            <a:extLst>
              <a:ext uri="{FF2B5EF4-FFF2-40B4-BE49-F238E27FC236}">
                <a16:creationId xmlns:a16="http://schemas.microsoft.com/office/drawing/2014/main" id="{58A0B124-B2A4-F33F-F356-7B6AAC60D520}"/>
              </a:ext>
            </a:extLst>
          </p:cNvPr>
          <p:cNvSpPr txBox="1"/>
          <p:nvPr/>
        </p:nvSpPr>
        <p:spPr>
          <a:xfrm>
            <a:off x="759417" y="5280988"/>
            <a:ext cx="1207831" cy="276999"/>
          </a:xfrm>
          <a:prstGeom prst="rect">
            <a:avLst/>
          </a:prstGeom>
          <a:noFill/>
        </p:spPr>
        <p:txBody>
          <a:bodyPr wrap="none" rtlCol="0">
            <a:spAutoFit/>
          </a:bodyPr>
          <a:lstStyle/>
          <a:p>
            <a:r>
              <a:rPr lang="en-US" sz="1200" dirty="0"/>
              <a:t>Politico (8/5/22)</a:t>
            </a:r>
          </a:p>
        </p:txBody>
      </p:sp>
      <p:cxnSp>
        <p:nvCxnSpPr>
          <p:cNvPr id="6" name="Straight Connector 5">
            <a:extLst>
              <a:ext uri="{FF2B5EF4-FFF2-40B4-BE49-F238E27FC236}">
                <a16:creationId xmlns:a16="http://schemas.microsoft.com/office/drawing/2014/main" id="{63AF0823-73C0-0423-1C82-181346B6E5F8}"/>
              </a:ext>
            </a:extLst>
          </p:cNvPr>
          <p:cNvCxnSpPr/>
          <p:nvPr/>
        </p:nvCxnSpPr>
        <p:spPr>
          <a:xfrm>
            <a:off x="1967248" y="4305300"/>
            <a:ext cx="4356059"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BF5614F-1C11-73E3-A5DC-D5B214AB1933}"/>
              </a:ext>
            </a:extLst>
          </p:cNvPr>
          <p:cNvCxnSpPr>
            <a:cxnSpLocks/>
          </p:cNvCxnSpPr>
          <p:nvPr/>
        </p:nvCxnSpPr>
        <p:spPr>
          <a:xfrm>
            <a:off x="588674" y="4699000"/>
            <a:ext cx="5037426"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676707E-3CDD-7E05-B592-9AA18614CE9F}"/>
              </a:ext>
            </a:extLst>
          </p:cNvPr>
          <p:cNvCxnSpPr>
            <a:cxnSpLocks/>
          </p:cNvCxnSpPr>
          <p:nvPr/>
        </p:nvCxnSpPr>
        <p:spPr>
          <a:xfrm>
            <a:off x="759417" y="5093700"/>
            <a:ext cx="922885" cy="0"/>
          </a:xfrm>
          <a:prstGeom prst="line">
            <a:avLst/>
          </a:prstGeom>
          <a:ln w="412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373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FBD7D4-583E-FE21-7A8D-9F998EDD1BAA}"/>
              </a:ext>
            </a:extLst>
          </p:cNvPr>
          <p:cNvSpPr>
            <a:spLocks noGrp="1"/>
          </p:cNvSpPr>
          <p:nvPr>
            <p:ph idx="1"/>
          </p:nvPr>
        </p:nvSpPr>
        <p:spPr/>
        <p:txBody>
          <a:bodyPr>
            <a:normAutofit/>
          </a:bodyPr>
          <a:lstStyle/>
          <a:p>
            <a:r>
              <a:rPr lang="en-US" sz="2000" dirty="0"/>
              <a:t>A very minor gain in per-share intrinsic value took place in 2022 through Berkshire share repurchases as well as similar moves at Apple and American Express, both significant investees of ours. At Berkshire, we directly increased your interest in our unique collection of businesses by repurchasing 1.2% of the company’s outstanding shares. At Apple and Amex, repurchases increased Berkshire’s ownership a bit without any cost to us. </a:t>
            </a:r>
          </a:p>
          <a:p>
            <a:r>
              <a:rPr lang="en-US" sz="2000" dirty="0"/>
              <a:t>The math isn’t complicated: When the share count goes down, your interest in our many businesses goes up. Every small bit helps </a:t>
            </a:r>
            <a:r>
              <a:rPr lang="en-US" sz="2000" b="1" dirty="0"/>
              <a:t>if repurchases are made at value-accretive prices</a:t>
            </a:r>
            <a:r>
              <a:rPr lang="en-US" sz="2000" dirty="0"/>
              <a:t>. Just as surely, </a:t>
            </a:r>
            <a:r>
              <a:rPr lang="en-US" sz="2000" b="1" dirty="0"/>
              <a:t>when a company overpays for repurchases, the continuing shareholders lose</a:t>
            </a:r>
            <a:r>
              <a:rPr lang="en-US" sz="2000" dirty="0"/>
              <a:t>. At such times, gains flow only to the selling shareholders and to the friendly, but expensive, investment banker who recommended the foolish purchases. </a:t>
            </a:r>
            <a:r>
              <a:rPr lang="en-US" sz="2000" b="1" dirty="0"/>
              <a:t>Gains from value-accretive repurchases, it should be emphasized, benefit all owners – in every respect. </a:t>
            </a:r>
            <a:r>
              <a:rPr lang="en-US" sz="2000" dirty="0"/>
              <a:t>Imagine, if you will, three fully-informed shareholders of a local auto dealership, one of whom manages the business. Imagine, further, that one of the passive owners wishes to sell his interest back to the company at a price attractive to the two continuing shareholders. When completed, has this transaction harmed anyone? Is the manager somehow favored over the continuing passive owners? Has the public been hurt? </a:t>
            </a:r>
          </a:p>
          <a:p>
            <a:r>
              <a:rPr lang="en-US" sz="2000" b="1" dirty="0"/>
              <a:t>When you are told that all repurchases are harmful to shareholders or to the country, or particularly beneficial to CEOs, you are listening to either an economic illiterate or a silver-tongued demagogue (characters that are not mutually exclusive).</a:t>
            </a:r>
          </a:p>
        </p:txBody>
      </p:sp>
      <p:sp>
        <p:nvSpPr>
          <p:cNvPr id="3" name="Title 2">
            <a:extLst>
              <a:ext uri="{FF2B5EF4-FFF2-40B4-BE49-F238E27FC236}">
                <a16:creationId xmlns:a16="http://schemas.microsoft.com/office/drawing/2014/main" id="{EDDAA91F-0117-AB2E-5C1D-BBD4D1B3AA58}"/>
              </a:ext>
            </a:extLst>
          </p:cNvPr>
          <p:cNvSpPr>
            <a:spLocks noGrp="1"/>
          </p:cNvSpPr>
          <p:nvPr>
            <p:ph type="title"/>
          </p:nvPr>
        </p:nvSpPr>
        <p:spPr/>
        <p:txBody>
          <a:bodyPr/>
          <a:lstStyle/>
          <a:p>
            <a:r>
              <a:rPr lang="en-US" dirty="0"/>
              <a:t>Warren Buffet: 2022 Letter to Shareholders</a:t>
            </a:r>
          </a:p>
        </p:txBody>
      </p:sp>
      <p:sp>
        <p:nvSpPr>
          <p:cNvPr id="4" name="Slide Number Placeholder 3">
            <a:extLst>
              <a:ext uri="{FF2B5EF4-FFF2-40B4-BE49-F238E27FC236}">
                <a16:creationId xmlns:a16="http://schemas.microsoft.com/office/drawing/2014/main" id="{8458CEA3-3AD4-0249-76D9-C5ABFFAC32AB}"/>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5" name="Footer Placeholder 4">
            <a:extLst>
              <a:ext uri="{FF2B5EF4-FFF2-40B4-BE49-F238E27FC236}">
                <a16:creationId xmlns:a16="http://schemas.microsoft.com/office/drawing/2014/main" id="{0535E359-4332-2FE5-EAA8-5CA97FEB8F2B}"/>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2167511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4AEE80-07F7-1244-8B82-18A651BD784B}"/>
              </a:ext>
            </a:extLst>
          </p:cNvPr>
          <p:cNvSpPr>
            <a:spLocks noGrp="1"/>
          </p:cNvSpPr>
          <p:nvPr>
            <p:ph idx="1"/>
          </p:nvPr>
        </p:nvSpPr>
        <p:spPr/>
        <p:txBody>
          <a:bodyPr/>
          <a:lstStyle/>
          <a:p>
            <a:r>
              <a:rPr lang="en-US" dirty="0"/>
              <a:t>Buybacks help remaining SHs because there are now fewer shares outstanding. </a:t>
            </a:r>
          </a:p>
          <a:p>
            <a:r>
              <a:rPr lang="en-US" dirty="0"/>
              <a:t>Only tendering SHs gain from share repurchases because they get the cash.</a:t>
            </a:r>
          </a:p>
          <a:p>
            <a:pPr marL="228600" lvl="1" indent="0">
              <a:buNone/>
            </a:pPr>
            <a:endParaRPr lang="en-US" dirty="0"/>
          </a:p>
          <a:p>
            <a:pPr marL="228600" lvl="1" indent="0">
              <a:buNone/>
            </a:pPr>
            <a:r>
              <a:rPr lang="en-US" sz="2400" dirty="0"/>
              <a:t>Consider the value of the firm and value of the remaining shares after a redemption:</a:t>
            </a:r>
          </a:p>
          <a:p>
            <a:pPr lvl="1"/>
            <a:r>
              <a:rPr lang="en-US" sz="2400" dirty="0"/>
              <a:t>(A) Firm is worth $100 with 10 shareholders each owning 1 share.  The company  repurchases 1 share for $10.  Results to exiting SH and remaining SHs? </a:t>
            </a:r>
          </a:p>
          <a:p>
            <a:pPr lvl="1"/>
            <a:r>
              <a:rPr lang="en-US" sz="2400" dirty="0"/>
              <a:t>(B) Firm is worth $100 with 10 shareholders each owning 1 share.  The company  repurchases 1 share for $11.  Results to exiting SH and remaining SHs? </a:t>
            </a:r>
          </a:p>
          <a:p>
            <a:pPr lvl="1"/>
            <a:r>
              <a:rPr lang="en-US" sz="2400" dirty="0"/>
              <a:t>(C) Firm is worth $100 with 10 shareholders each owning 1 share.  The company  repurchases 1 share for $9.  Results to exiting SH and remaining SHs? </a:t>
            </a:r>
          </a:p>
          <a:p>
            <a:pPr lvl="1"/>
            <a:endParaRPr lang="en-US" dirty="0"/>
          </a:p>
          <a:p>
            <a:pPr lvl="1"/>
            <a:endParaRPr lang="en-US" dirty="0"/>
          </a:p>
        </p:txBody>
      </p:sp>
      <p:sp>
        <p:nvSpPr>
          <p:cNvPr id="3" name="Title 2">
            <a:extLst>
              <a:ext uri="{FF2B5EF4-FFF2-40B4-BE49-F238E27FC236}">
                <a16:creationId xmlns:a16="http://schemas.microsoft.com/office/drawing/2014/main" id="{7E5FA44E-B5C4-B644-BFF3-6A6F052C894F}"/>
              </a:ext>
            </a:extLst>
          </p:cNvPr>
          <p:cNvSpPr>
            <a:spLocks noGrp="1"/>
          </p:cNvSpPr>
          <p:nvPr>
            <p:ph type="title"/>
          </p:nvPr>
        </p:nvSpPr>
        <p:spPr/>
        <p:txBody>
          <a:bodyPr/>
          <a:lstStyle/>
          <a:p>
            <a:r>
              <a:rPr lang="en-US" sz="2000" dirty="0"/>
              <a:t>Naive Conceptions</a:t>
            </a:r>
            <a:r>
              <a:rPr lang="mr-IN" sz="2000" dirty="0"/>
              <a:t> </a:t>
            </a:r>
            <a:endParaRPr lang="en-US" dirty="0"/>
          </a:p>
        </p:txBody>
      </p:sp>
      <p:sp>
        <p:nvSpPr>
          <p:cNvPr id="4" name="Slide Number Placeholder 3">
            <a:extLst>
              <a:ext uri="{FF2B5EF4-FFF2-40B4-BE49-F238E27FC236}">
                <a16:creationId xmlns:a16="http://schemas.microsoft.com/office/drawing/2014/main" id="{2122C1D8-A749-FF4C-ABB6-BC18E4198B76}"/>
              </a:ext>
            </a:extLst>
          </p:cNvPr>
          <p:cNvSpPr>
            <a:spLocks noGrp="1"/>
          </p:cNvSpPr>
          <p:nvPr>
            <p:ph type="sldNum" sz="quarter" idx="10"/>
          </p:nvPr>
        </p:nvSpPr>
        <p:spPr/>
        <p:txBody>
          <a:bodyPr/>
          <a:lstStyle/>
          <a:p>
            <a:fld id="{7B3E355C-57B9-BC4B-95D8-406A1F834537}" type="slidenum">
              <a:rPr lang="en-US" altLang="en-US" smtClean="0"/>
              <a:pPr/>
              <a:t>33</a:t>
            </a:fld>
            <a:endParaRPr lang="en-US" altLang="en-US"/>
          </a:p>
        </p:txBody>
      </p:sp>
      <p:sp>
        <p:nvSpPr>
          <p:cNvPr id="5" name="Footer Placeholder 4">
            <a:extLst>
              <a:ext uri="{FF2B5EF4-FFF2-40B4-BE49-F238E27FC236}">
                <a16:creationId xmlns:a16="http://schemas.microsoft.com/office/drawing/2014/main" id="{95714052-E1F8-384F-984C-D2AF69078647}"/>
              </a:ext>
            </a:extLst>
          </p:cNvPr>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144932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E95733-08F5-064D-9AB5-6A090150D050}"/>
              </a:ext>
            </a:extLst>
          </p:cNvPr>
          <p:cNvSpPr>
            <a:spLocks noGrp="1"/>
          </p:cNvSpPr>
          <p:nvPr>
            <p:ph type="title"/>
          </p:nvPr>
        </p:nvSpPr>
        <p:spPr/>
        <p:txBody>
          <a:bodyPr/>
          <a:lstStyle/>
          <a:p>
            <a:r>
              <a:rPr lang="en-US" dirty="0"/>
              <a:t>Apple FY 2025 10-K</a:t>
            </a:r>
          </a:p>
        </p:txBody>
      </p:sp>
      <p:sp>
        <p:nvSpPr>
          <p:cNvPr id="4" name="Slide Number Placeholder 3">
            <a:extLst>
              <a:ext uri="{FF2B5EF4-FFF2-40B4-BE49-F238E27FC236}">
                <a16:creationId xmlns:a16="http://schemas.microsoft.com/office/drawing/2014/main" id="{2269C727-5D9E-2D4D-B520-119B7343455D}"/>
              </a:ext>
            </a:extLst>
          </p:cNvPr>
          <p:cNvSpPr>
            <a:spLocks noGrp="1"/>
          </p:cNvSpPr>
          <p:nvPr>
            <p:ph type="sldNum" sz="quarter" idx="10"/>
          </p:nvPr>
        </p:nvSpPr>
        <p:spPr/>
        <p:txBody>
          <a:bodyPr/>
          <a:lstStyle/>
          <a:p>
            <a:fld id="{7B3E355C-57B9-BC4B-95D8-406A1F834537}" type="slidenum">
              <a:rPr lang="en-US" altLang="en-US" smtClean="0"/>
              <a:pPr/>
              <a:t>34</a:t>
            </a:fld>
            <a:endParaRPr lang="en-US" altLang="en-US"/>
          </a:p>
        </p:txBody>
      </p:sp>
      <p:sp>
        <p:nvSpPr>
          <p:cNvPr id="5" name="Footer Placeholder 4">
            <a:extLst>
              <a:ext uri="{FF2B5EF4-FFF2-40B4-BE49-F238E27FC236}">
                <a16:creationId xmlns:a16="http://schemas.microsoft.com/office/drawing/2014/main" id="{281B27FD-F1BB-4044-85A9-79409B8183FA}"/>
              </a:ext>
            </a:extLst>
          </p:cNvPr>
          <p:cNvSpPr>
            <a:spLocks noGrp="1"/>
          </p:cNvSpPr>
          <p:nvPr>
            <p:ph type="ftr" sz="quarter" idx="11"/>
          </p:nvPr>
        </p:nvSpPr>
        <p:spPr/>
        <p:txBody>
          <a:bodyPr/>
          <a:lstStyle/>
          <a:p>
            <a:pPr>
              <a:defRPr/>
            </a:pPr>
            <a:r>
              <a:rPr lang="en-US"/>
              <a:t>Buybacks</a:t>
            </a:r>
            <a:endParaRPr lang="en-US" dirty="0"/>
          </a:p>
        </p:txBody>
      </p:sp>
      <p:pic>
        <p:nvPicPr>
          <p:cNvPr id="6" name="Picture 5" descr="A close up of a text&#10;&#10;AI-generated content may be incorrect.">
            <a:extLst>
              <a:ext uri="{FF2B5EF4-FFF2-40B4-BE49-F238E27FC236}">
                <a16:creationId xmlns:a16="http://schemas.microsoft.com/office/drawing/2014/main" id="{E69EC58D-4A28-13E7-58C6-DD048F77D702}"/>
              </a:ext>
            </a:extLst>
          </p:cNvPr>
          <p:cNvPicPr>
            <a:picLocks noChangeAspect="1"/>
          </p:cNvPicPr>
          <p:nvPr/>
        </p:nvPicPr>
        <p:blipFill>
          <a:blip r:embed="rId2"/>
          <a:stretch>
            <a:fillRect/>
          </a:stretch>
        </p:blipFill>
        <p:spPr>
          <a:xfrm>
            <a:off x="512063" y="677606"/>
            <a:ext cx="11277599" cy="2419812"/>
          </a:xfrm>
          <a:prstGeom prst="rect">
            <a:avLst/>
          </a:prstGeom>
        </p:spPr>
      </p:pic>
      <p:pic>
        <p:nvPicPr>
          <p:cNvPr id="10" name="Picture 9" descr="A close up of a document&#10;&#10;AI-generated content may be incorrect.">
            <a:extLst>
              <a:ext uri="{FF2B5EF4-FFF2-40B4-BE49-F238E27FC236}">
                <a16:creationId xmlns:a16="http://schemas.microsoft.com/office/drawing/2014/main" id="{97931F88-4445-F50F-69BC-9155DBADCEC1}"/>
              </a:ext>
            </a:extLst>
          </p:cNvPr>
          <p:cNvPicPr>
            <a:picLocks noChangeAspect="1"/>
          </p:cNvPicPr>
          <p:nvPr/>
        </p:nvPicPr>
        <p:blipFill>
          <a:blip r:embed="rId3"/>
          <a:stretch>
            <a:fillRect/>
          </a:stretch>
        </p:blipFill>
        <p:spPr>
          <a:xfrm>
            <a:off x="512063" y="3359511"/>
            <a:ext cx="11277599" cy="2820883"/>
          </a:xfrm>
          <a:prstGeom prst="rect">
            <a:avLst/>
          </a:prstGeom>
        </p:spPr>
      </p:pic>
      <p:cxnSp>
        <p:nvCxnSpPr>
          <p:cNvPr id="12" name="Straight Connector 11">
            <a:extLst>
              <a:ext uri="{FF2B5EF4-FFF2-40B4-BE49-F238E27FC236}">
                <a16:creationId xmlns:a16="http://schemas.microsoft.com/office/drawing/2014/main" id="{3D1B9117-7F7C-1DE3-6F45-44D25EB437C3}"/>
              </a:ext>
            </a:extLst>
          </p:cNvPr>
          <p:cNvCxnSpPr>
            <a:cxnSpLocks/>
          </p:cNvCxnSpPr>
          <p:nvPr/>
        </p:nvCxnSpPr>
        <p:spPr>
          <a:xfrm>
            <a:off x="4165600" y="2094271"/>
            <a:ext cx="5052142"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756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6566A6-4E61-B34E-82D3-F49705D47CC3}"/>
              </a:ext>
            </a:extLst>
          </p:cNvPr>
          <p:cNvSpPr>
            <a:spLocks noGrp="1"/>
          </p:cNvSpPr>
          <p:nvPr>
            <p:ph type="title"/>
          </p:nvPr>
        </p:nvSpPr>
        <p:spPr/>
        <p:txBody>
          <a:bodyPr/>
          <a:lstStyle/>
          <a:p>
            <a:r>
              <a:rPr lang="en-US" dirty="0"/>
              <a:t>Apple FY 2025 10-K: CF (Financing); Retained Earnings</a:t>
            </a:r>
          </a:p>
        </p:txBody>
      </p:sp>
      <p:sp>
        <p:nvSpPr>
          <p:cNvPr id="4" name="Slide Number Placeholder 3">
            <a:extLst>
              <a:ext uri="{FF2B5EF4-FFF2-40B4-BE49-F238E27FC236}">
                <a16:creationId xmlns:a16="http://schemas.microsoft.com/office/drawing/2014/main" id="{35672F43-A28B-AC47-A064-F9FDEF36136A}"/>
              </a:ext>
            </a:extLst>
          </p:cNvPr>
          <p:cNvSpPr>
            <a:spLocks noGrp="1"/>
          </p:cNvSpPr>
          <p:nvPr>
            <p:ph type="sldNum" sz="quarter" idx="10"/>
          </p:nvPr>
        </p:nvSpPr>
        <p:spPr/>
        <p:txBody>
          <a:bodyPr/>
          <a:lstStyle/>
          <a:p>
            <a:fld id="{7B3E355C-57B9-BC4B-95D8-406A1F834537}" type="slidenum">
              <a:rPr lang="en-US" altLang="en-US" smtClean="0"/>
              <a:pPr/>
              <a:t>35</a:t>
            </a:fld>
            <a:endParaRPr lang="en-US" altLang="en-US"/>
          </a:p>
        </p:txBody>
      </p:sp>
      <p:sp>
        <p:nvSpPr>
          <p:cNvPr id="5" name="Footer Placeholder 4">
            <a:extLst>
              <a:ext uri="{FF2B5EF4-FFF2-40B4-BE49-F238E27FC236}">
                <a16:creationId xmlns:a16="http://schemas.microsoft.com/office/drawing/2014/main" id="{6CBA6D83-C24E-A14A-B221-25283E27D3E0}"/>
              </a:ext>
            </a:extLst>
          </p:cNvPr>
          <p:cNvSpPr>
            <a:spLocks noGrp="1"/>
          </p:cNvSpPr>
          <p:nvPr>
            <p:ph type="ftr" sz="quarter" idx="11"/>
          </p:nvPr>
        </p:nvSpPr>
        <p:spPr/>
        <p:txBody>
          <a:bodyPr/>
          <a:lstStyle/>
          <a:p>
            <a:pPr>
              <a:defRPr/>
            </a:pPr>
            <a:r>
              <a:rPr lang="en-US"/>
              <a:t>Buybacks</a:t>
            </a:r>
            <a:endParaRPr lang="en-US" dirty="0"/>
          </a:p>
        </p:txBody>
      </p:sp>
      <p:cxnSp>
        <p:nvCxnSpPr>
          <p:cNvPr id="11" name="Straight Connector 10">
            <a:extLst>
              <a:ext uri="{FF2B5EF4-FFF2-40B4-BE49-F238E27FC236}">
                <a16:creationId xmlns:a16="http://schemas.microsoft.com/office/drawing/2014/main" id="{0DA30E66-73EE-7F4B-AB47-BA0F7E42940D}"/>
              </a:ext>
            </a:extLst>
          </p:cNvPr>
          <p:cNvCxnSpPr/>
          <p:nvPr/>
        </p:nvCxnSpPr>
        <p:spPr>
          <a:xfrm>
            <a:off x="344556" y="3521765"/>
            <a:ext cx="11502887"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descr="A white rectangle with black text&#10;&#10;AI-generated content may be incorrect.">
            <a:extLst>
              <a:ext uri="{FF2B5EF4-FFF2-40B4-BE49-F238E27FC236}">
                <a16:creationId xmlns:a16="http://schemas.microsoft.com/office/drawing/2014/main" id="{011AB110-6505-D831-1BB7-058DEA32623E}"/>
              </a:ext>
            </a:extLst>
          </p:cNvPr>
          <p:cNvPicPr>
            <a:picLocks noChangeAspect="1"/>
          </p:cNvPicPr>
          <p:nvPr/>
        </p:nvPicPr>
        <p:blipFill>
          <a:blip r:embed="rId2"/>
          <a:stretch>
            <a:fillRect/>
          </a:stretch>
        </p:blipFill>
        <p:spPr>
          <a:xfrm>
            <a:off x="7542994" y="549164"/>
            <a:ext cx="4216400" cy="5461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A702575E-875B-CA69-713D-9DFA882053B7}"/>
              </a:ext>
            </a:extLst>
          </p:cNvPr>
          <p:cNvPicPr>
            <a:picLocks noChangeAspect="1"/>
          </p:cNvPicPr>
          <p:nvPr/>
        </p:nvPicPr>
        <p:blipFill>
          <a:blip r:embed="rId3"/>
          <a:stretch>
            <a:fillRect/>
          </a:stretch>
        </p:blipFill>
        <p:spPr>
          <a:xfrm>
            <a:off x="762806" y="1073711"/>
            <a:ext cx="10996587" cy="2262519"/>
          </a:xfrm>
          <a:prstGeom prst="rect">
            <a:avLst/>
          </a:prstGeom>
        </p:spPr>
      </p:pic>
      <p:cxnSp>
        <p:nvCxnSpPr>
          <p:cNvPr id="13" name="Straight Arrow Connector 12">
            <a:extLst>
              <a:ext uri="{FF2B5EF4-FFF2-40B4-BE49-F238E27FC236}">
                <a16:creationId xmlns:a16="http://schemas.microsoft.com/office/drawing/2014/main" id="{22A737AC-AE19-AEC4-FEA8-F65825F0BF43}"/>
              </a:ext>
            </a:extLst>
          </p:cNvPr>
          <p:cNvCxnSpPr/>
          <p:nvPr/>
        </p:nvCxnSpPr>
        <p:spPr>
          <a:xfrm>
            <a:off x="6728822" y="1522176"/>
            <a:ext cx="1297577" cy="4615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EAC32FF-A9ED-8666-95D4-8FEC91042522}"/>
              </a:ext>
            </a:extLst>
          </p:cNvPr>
          <p:cNvCxnSpPr/>
          <p:nvPr/>
        </p:nvCxnSpPr>
        <p:spPr>
          <a:xfrm>
            <a:off x="6728823" y="1266052"/>
            <a:ext cx="1297577" cy="4615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20" name="Picture 19" descr="A screenshot of a computer&#10;&#10;AI-generated content may be incorrect.">
            <a:extLst>
              <a:ext uri="{FF2B5EF4-FFF2-40B4-BE49-F238E27FC236}">
                <a16:creationId xmlns:a16="http://schemas.microsoft.com/office/drawing/2014/main" id="{8D641D3B-5B93-F315-0F16-7A6A6A8A9118}"/>
              </a:ext>
            </a:extLst>
          </p:cNvPr>
          <p:cNvPicPr>
            <a:picLocks noChangeAspect="1"/>
          </p:cNvPicPr>
          <p:nvPr/>
        </p:nvPicPr>
        <p:blipFill>
          <a:blip r:embed="rId4"/>
          <a:stretch>
            <a:fillRect/>
          </a:stretch>
        </p:blipFill>
        <p:spPr>
          <a:xfrm>
            <a:off x="762805" y="3676143"/>
            <a:ext cx="11084637" cy="2580804"/>
          </a:xfrm>
          <a:prstGeom prst="rect">
            <a:avLst/>
          </a:prstGeom>
        </p:spPr>
      </p:pic>
      <p:cxnSp>
        <p:nvCxnSpPr>
          <p:cNvPr id="25" name="Straight Arrow Connector 24">
            <a:extLst>
              <a:ext uri="{FF2B5EF4-FFF2-40B4-BE49-F238E27FC236}">
                <a16:creationId xmlns:a16="http://schemas.microsoft.com/office/drawing/2014/main" id="{193BFB55-A2BF-1710-E688-E110AEAA22D8}"/>
              </a:ext>
            </a:extLst>
          </p:cNvPr>
          <p:cNvCxnSpPr/>
          <p:nvPr/>
        </p:nvCxnSpPr>
        <p:spPr>
          <a:xfrm>
            <a:off x="6406151" y="4016097"/>
            <a:ext cx="1297577" cy="4615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01A2DA3-794D-9D2C-A27B-DF56AC239EF3}"/>
              </a:ext>
            </a:extLst>
          </p:cNvPr>
          <p:cNvCxnSpPr/>
          <p:nvPr/>
        </p:nvCxnSpPr>
        <p:spPr>
          <a:xfrm>
            <a:off x="6406151" y="4339644"/>
            <a:ext cx="1297577" cy="4615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F1AB7B0-C70C-2EAF-E89D-A71479281EA4}"/>
              </a:ext>
            </a:extLst>
          </p:cNvPr>
          <p:cNvCxnSpPr/>
          <p:nvPr/>
        </p:nvCxnSpPr>
        <p:spPr>
          <a:xfrm>
            <a:off x="6645543" y="5268404"/>
            <a:ext cx="1297577" cy="4615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35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Auction-based repurchase</a:t>
            </a:r>
          </a:p>
          <a:p>
            <a:r>
              <a:rPr lang="en-US" dirty="0"/>
              <a:t>Private negotiations </a:t>
            </a:r>
          </a:p>
          <a:p>
            <a:r>
              <a:rPr lang="en-US" b="1" dirty="0"/>
              <a:t>Open-market Repurchase (most common)</a:t>
            </a:r>
          </a:p>
          <a:p>
            <a:pPr lvl="1"/>
            <a:r>
              <a:rPr lang="en-US" i="1" dirty="0"/>
              <a:t>The company announces a new $20 billion share repurchase program to replace its existing authorization and expects to utilize the new authorization over an approximate two-year period.  </a:t>
            </a:r>
            <a:r>
              <a:rPr lang="en-US" dirty="0"/>
              <a:t>Walmart (Oct. 2017)</a:t>
            </a:r>
          </a:p>
          <a:p>
            <a:pPr lvl="1"/>
            <a:r>
              <a:rPr lang="en-US" dirty="0"/>
              <a:t>Rule 10b-18 Safe Harbor (</a:t>
            </a:r>
            <a:r>
              <a:rPr lang="en-US" b="1" dirty="0"/>
              <a:t>very, very</a:t>
            </a:r>
            <a:r>
              <a:rPr lang="en-US" dirty="0"/>
              <a:t> abbreviated)</a:t>
            </a:r>
          </a:p>
          <a:p>
            <a:pPr lvl="2"/>
            <a:r>
              <a:rPr lang="en-US" dirty="0"/>
              <a:t>Must purchase all shares from single broker on any single day</a:t>
            </a:r>
          </a:p>
          <a:p>
            <a:pPr lvl="2"/>
            <a:r>
              <a:rPr lang="en-US" dirty="0"/>
              <a:t>Limits on when during the day purchases can be made</a:t>
            </a:r>
          </a:p>
          <a:p>
            <a:pPr lvl="2"/>
            <a:r>
              <a:rPr lang="en-US" dirty="0"/>
              <a:t>Limits on the purchase price</a:t>
            </a:r>
          </a:p>
          <a:p>
            <a:pPr lvl="2"/>
            <a:r>
              <a:rPr lang="en-US" dirty="0"/>
              <a:t>Can’t exceed 25% of ADTV over prior 4 weeks</a:t>
            </a:r>
          </a:p>
          <a:p>
            <a:r>
              <a:rPr lang="en-US" dirty="0"/>
              <a:t>Where can you find information about share buybacks on the financials?</a:t>
            </a:r>
          </a:p>
        </p:txBody>
      </p:sp>
      <p:sp>
        <p:nvSpPr>
          <p:cNvPr id="3" name="Title 2"/>
          <p:cNvSpPr>
            <a:spLocks noGrp="1"/>
          </p:cNvSpPr>
          <p:nvPr>
            <p:ph type="title"/>
          </p:nvPr>
        </p:nvSpPr>
        <p:spPr/>
        <p:txBody>
          <a:bodyPr/>
          <a:lstStyle/>
          <a:p>
            <a:r>
              <a:rPr lang="en-US" sz="2400" dirty="0">
                <a:latin typeface="+mn-lt"/>
              </a:rPr>
              <a:t>Stock Repurchases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36</a:t>
            </a:fld>
            <a:endParaRPr lang="en-US" altLang="en-US"/>
          </a:p>
        </p:txBody>
      </p:sp>
      <p:sp>
        <p:nvSpPr>
          <p:cNvPr id="5" name="Footer Placeholder 4"/>
          <p:cNvSpPr>
            <a:spLocks noGrp="1"/>
          </p:cNvSpPr>
          <p:nvPr>
            <p:ph type="ftr" sz="quarter" idx="11"/>
          </p:nvPr>
        </p:nvSpPr>
        <p:spPr/>
        <p:txBody>
          <a:bodyPr/>
          <a:lstStyle/>
          <a:p>
            <a:pPr>
              <a:defRPr/>
            </a:pPr>
            <a:r>
              <a:rPr lang="en-US"/>
              <a:t>Redemptions</a:t>
            </a:r>
          </a:p>
        </p:txBody>
      </p:sp>
    </p:spTree>
    <p:extLst>
      <p:ext uri="{BB962C8B-B14F-4D97-AF65-F5344CB8AC3E}">
        <p14:creationId xmlns:p14="http://schemas.microsoft.com/office/powerpoint/2010/main" val="164541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660493"/>
            <a:ext cx="11277600" cy="5574938"/>
          </a:xfrm>
        </p:spPr>
        <p:txBody>
          <a:bodyPr/>
          <a:lstStyle/>
          <a:p>
            <a:r>
              <a:rPr lang="en-US" sz="2000" dirty="0"/>
              <a:t>Signaling: Why might stock rise after a repurchase announcement?</a:t>
            </a:r>
          </a:p>
          <a:p>
            <a:r>
              <a:rPr lang="en-US" sz="2000" dirty="0"/>
              <a:t>Dividend smoothing </a:t>
            </a:r>
          </a:p>
          <a:p>
            <a:pPr lvl="1"/>
            <a:r>
              <a:rPr lang="en-US" sz="2000" dirty="0"/>
              <a:t>Firms are reluctant to cut dividends, so they prefer to slowly increase them over time </a:t>
            </a:r>
          </a:p>
          <a:p>
            <a:pPr lvl="1"/>
            <a:r>
              <a:rPr lang="en-US" sz="2000" dirty="0"/>
              <a:t>Earnings shocks are transitory, and firms would rather do a repurchase with these shocks </a:t>
            </a:r>
          </a:p>
          <a:p>
            <a:r>
              <a:rPr lang="en-US" sz="2000" dirty="0"/>
              <a:t>Executive stock options </a:t>
            </a:r>
          </a:p>
          <a:p>
            <a:pPr lvl="1"/>
            <a:r>
              <a:rPr lang="en-US" sz="2000" dirty="0"/>
              <a:t>Call options lose value after dividend payout, so executives/owners prefer repurchases </a:t>
            </a:r>
          </a:p>
          <a:p>
            <a:r>
              <a:rPr lang="en-US" sz="2000" dirty="0"/>
              <a:t>Executive ownership </a:t>
            </a:r>
          </a:p>
          <a:p>
            <a:pPr lvl="1"/>
            <a:r>
              <a:rPr lang="en-US" sz="2000" dirty="0"/>
              <a:t>Restricted stocks do not participate in repurchase offers so they get more of the company after a repurchase, but may not get dividends </a:t>
            </a:r>
          </a:p>
          <a:p>
            <a:r>
              <a:rPr lang="en-US" sz="2000" dirty="0"/>
              <a:t>Increased leverage to fund repurchases</a:t>
            </a:r>
          </a:p>
          <a:p>
            <a:r>
              <a:rPr lang="en-US" sz="2000" dirty="0"/>
              <a:t>Investor preferences </a:t>
            </a:r>
          </a:p>
          <a:p>
            <a:pPr lvl="1"/>
            <a:r>
              <a:rPr lang="en-US" sz="2000" dirty="0"/>
              <a:t>Behavioral finance demonstrates than unsophisticated small investors prefer dividends when it would have been more beneficial (tax shield) if they sold shares instead </a:t>
            </a:r>
          </a:p>
          <a:p>
            <a:r>
              <a:rPr lang="en-US" sz="2000" dirty="0"/>
              <a:t>Fund charter exclusion clauses </a:t>
            </a:r>
          </a:p>
          <a:p>
            <a:pPr lvl="1"/>
            <a:r>
              <a:rPr lang="en-US" sz="2000" dirty="0"/>
              <a:t>Institutional charters may restrict them to holding ONLY dividend paying stocks </a:t>
            </a:r>
          </a:p>
          <a:p>
            <a:pPr marL="0" indent="0">
              <a:buNone/>
            </a:pPr>
            <a:endParaRPr lang="en-US" dirty="0"/>
          </a:p>
        </p:txBody>
      </p:sp>
      <p:sp>
        <p:nvSpPr>
          <p:cNvPr id="3" name="Title 2"/>
          <p:cNvSpPr>
            <a:spLocks noGrp="1"/>
          </p:cNvSpPr>
          <p:nvPr>
            <p:ph type="title"/>
          </p:nvPr>
        </p:nvSpPr>
        <p:spPr/>
        <p:txBody>
          <a:bodyPr/>
          <a:lstStyle/>
          <a:p>
            <a:r>
              <a:rPr lang="en-US" dirty="0"/>
              <a:t>Dividends &amp; Repurchases Issues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37</a:t>
            </a:fld>
            <a:endParaRPr lang="en-US" altLang="en-US"/>
          </a:p>
        </p:txBody>
      </p:sp>
      <p:sp>
        <p:nvSpPr>
          <p:cNvPr id="5" name="Footer Placeholder 4"/>
          <p:cNvSpPr>
            <a:spLocks noGrp="1"/>
          </p:cNvSpPr>
          <p:nvPr>
            <p:ph type="ftr" sz="quarter" idx="11"/>
          </p:nvPr>
        </p:nvSpPr>
        <p:spPr/>
        <p:txBody>
          <a:bodyPr/>
          <a:lstStyle/>
          <a:p>
            <a:pPr>
              <a:defRPr/>
            </a:pPr>
            <a:r>
              <a:rPr lang="en-US"/>
              <a:t>Redemptions</a:t>
            </a:r>
            <a:endParaRPr lang="en-US" dirty="0"/>
          </a:p>
        </p:txBody>
      </p:sp>
    </p:spTree>
    <p:extLst>
      <p:ext uri="{BB962C8B-B14F-4D97-AF65-F5344CB8AC3E}">
        <p14:creationId xmlns:p14="http://schemas.microsoft.com/office/powerpoint/2010/main" val="40947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18524</TotalTime>
  <Words>3760</Words>
  <Application>Microsoft Macintosh PowerPoint</Application>
  <PresentationFormat>Widescreen</PresentationFormat>
  <Paragraphs>476</Paragraphs>
  <Slides>37</Slides>
  <Notes>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8" baseType="lpstr">
      <vt:lpstr>ＭＳ Ｐゴシック</vt:lpstr>
      <vt:lpstr>NSimSun</vt:lpstr>
      <vt:lpstr>Arial</vt:lpstr>
      <vt:lpstr>Calibri</vt:lpstr>
      <vt:lpstr>Courier New</vt:lpstr>
      <vt:lpstr>Georgia</vt:lpstr>
      <vt:lpstr>Times New Roman</vt:lpstr>
      <vt:lpstr>Wingdings</vt:lpstr>
      <vt:lpstr>Wingdings 2</vt:lpstr>
      <vt:lpstr>CG Body - Standard</vt:lpstr>
      <vt:lpstr>Equation</vt:lpstr>
      <vt:lpstr>Corporate Taxation: Redemptions </vt:lpstr>
      <vt:lpstr>Equity Payouts: Dividends and Share Repurchases</vt:lpstr>
      <vt:lpstr>Redemptions</vt:lpstr>
      <vt:lpstr>Redemptions: Shareholder Consequences</vt:lpstr>
      <vt:lpstr>Constructive Ownership Rules</vt:lpstr>
      <vt:lpstr>Substantially Disproportionate Redemptions: §302(b)(2)</vt:lpstr>
      <vt:lpstr>Substantially Disproportionate Redemptions: Rev. Rul. 81-41</vt:lpstr>
      <vt:lpstr>Substantially Disproportionate Redemptions and §302(b)(2)(D): Rev. Rul. 85-14</vt:lpstr>
      <vt:lpstr>Redemptions that Completely Terminate a Shareholder’s Interest: §302(b)(3) and (c)(2) </vt:lpstr>
      <vt:lpstr>Redemptions: Lynch v. CIR, 801 F.2d 1176 (9th Cir. 1986)</vt:lpstr>
      <vt:lpstr>Redemptions: Section 302(b)(6)</vt:lpstr>
      <vt:lpstr>Redemptions: Section 302(c)(2)(B)(i) and (ii)</vt:lpstr>
      <vt:lpstr>Redemptions: Rev. Rul. 77-293</vt:lpstr>
      <vt:lpstr>Redemptions: US v. Davis, 397 US 301 (1970) </vt:lpstr>
      <vt:lpstr>Redemptions: Rev. Rul. 76-385</vt:lpstr>
      <vt:lpstr>Redemptions: Rev. Rul. 81-289</vt:lpstr>
      <vt:lpstr>Redemptions: Partial Liquidations--Section 302(e)</vt:lpstr>
      <vt:lpstr>Redemptions: Rev. Rul. 60-322</vt:lpstr>
      <vt:lpstr>Redemptions: Section 303</vt:lpstr>
      <vt:lpstr>Redemptions: Corporate-Level Consequences</vt:lpstr>
      <vt:lpstr>Redemptions and Tax Planning:  Zenz v. Quinlivan, (6th Cir. 1954)</vt:lpstr>
      <vt:lpstr>Redemptions and Tax Planning:  Rev. Rul. 75-447</vt:lpstr>
      <vt:lpstr>Redemptions and Buy-Sell Agreements: Rev. Rul. 69-608</vt:lpstr>
      <vt:lpstr>Redemptions:  Shareholder-Level Consequences</vt:lpstr>
      <vt:lpstr>Redemptions:  Notice 2001-45 (Basis Shifting Shelters)</vt:lpstr>
      <vt:lpstr>Redemptions:  H.J. Heinz Co. v. US (Fed. Cl. 2007)</vt:lpstr>
      <vt:lpstr>Redemptions:  Shareholder-Level Consequences (Proposed Regulations, withdrawn 3/2019)</vt:lpstr>
      <vt:lpstr>Equity Payouts: Dividends and Share Repurchases</vt:lpstr>
      <vt:lpstr>New (and not improved) §4501: 1% Excise Tax on Redemptions</vt:lpstr>
      <vt:lpstr>Political Concerns with Buybacks</vt:lpstr>
      <vt:lpstr>Political Concerns with Buybacks</vt:lpstr>
      <vt:lpstr>Warren Buffet: 2022 Letter to Shareholders</vt:lpstr>
      <vt:lpstr>Naive Conceptions </vt:lpstr>
      <vt:lpstr>Apple FY 2025 10-K</vt:lpstr>
      <vt:lpstr>Apple FY 2025 10-K: CF (Financing); Retained Earnings</vt:lpstr>
      <vt:lpstr>Stock Repurchases</vt:lpstr>
      <vt:lpstr>Dividends &amp; Repurchases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 Simplications</dc:title>
  <dc:creator>J Colon</dc:creator>
  <cp:lastModifiedBy>Colon, Jeffrey M.</cp:lastModifiedBy>
  <cp:revision>307</cp:revision>
  <cp:lastPrinted>2023-03-01T20:01:35Z</cp:lastPrinted>
  <dcterms:created xsi:type="dcterms:W3CDTF">2016-08-01T04:04:31Z</dcterms:created>
  <dcterms:modified xsi:type="dcterms:W3CDTF">2026-02-28T23:13:37Z</dcterms:modified>
</cp:coreProperties>
</file>